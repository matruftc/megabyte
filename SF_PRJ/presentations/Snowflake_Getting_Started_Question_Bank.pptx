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01"/>
    <p:sldId id="257" r:id="rId102"/>
    <p:sldId id="258" r:id="rId103"/>
    <p:sldId id="259" r:id="rId104"/>
    <p:sldId id="260" r:id="rId105"/>
    <p:sldId id="261" r:id="rId106"/>
    <p:sldId id="262" r:id="rId107"/>
    <p:sldId id="263" r:id="rId108"/>
    <p:sldId id="264" r:id="rId109"/>
    <p:sldId id="265" r:id="rId110"/>
    <p:sldId id="266" r:id="rId111"/>
    <p:sldId id="267" r:id="rId112"/>
    <p:sldId id="268" r:id="rId113"/>
    <p:sldId id="269" r:id="rId114"/>
    <p:sldId id="270" r:id="rId115"/>
    <p:sldId id="271" r:id="rId116"/>
    <p:sldId id="272" r:id="rId117"/>
    <p:sldId id="273" r:id="rId118"/>
    <p:sldId id="274" r:id="rId119"/>
    <p:sldId id="275" r:id="rId120"/>
    <p:sldId id="276" r:id="rId121"/>
    <p:sldId id="277" r:id="rId122"/>
    <p:sldId id="278" r:id="rId123"/>
    <p:sldId id="279" r:id="rId124"/>
    <p:sldId id="280" r:id="rId125"/>
    <p:sldId id="281" r:id="rId126"/>
    <p:sldId id="282" r:id="rId127"/>
    <p:sldId id="283" r:id="rId128"/>
    <p:sldId id="284" r:id="rId129"/>
    <p:sldId id="285" r:id="rId130"/>
    <p:sldId id="286" r:id="rId131"/>
    <p:sldId id="287" r:id="rId132"/>
    <p:sldId id="288" r:id="rId133"/>
    <p:sldId id="289" r:id="rId134"/>
    <p:sldId id="290" r:id="rId135"/>
    <p:sldId id="291" r:id="rId136"/>
    <p:sldId id="292" r:id="rId137"/>
    <p:sldId id="293" r:id="rId138"/>
    <p:sldId id="294" r:id="rId139"/>
    <p:sldId id="295" r:id="rId140"/>
    <p:sldId id="296" r:id="rId141"/>
    <p:sldId id="297" r:id="rId142"/>
    <p:sldId id="298" r:id="rId143"/>
    <p:sldId id="299" r:id="rId144"/>
    <p:sldId id="300" r:id="rId145"/>
    <p:sldId id="301" r:id="rId146"/>
    <p:sldId id="302" r:id="rId147"/>
    <p:sldId id="303" r:id="rId148"/>
    <p:sldId id="304" r:id="rId149"/>
    <p:sldId id="305" r:id="rId150"/>
    <p:sldId id="306" r:id="rId151"/>
    <p:sldId id="307" r:id="rId152"/>
    <p:sldId id="308" r:id="rId153"/>
    <p:sldId id="309" r:id="rId154"/>
    <p:sldId id="310" r:id="rId155"/>
    <p:sldId id="311" r:id="rId156"/>
    <p:sldId id="312" r:id="rId157"/>
    <p:sldId id="313" r:id="rId158"/>
    <p:sldId id="314" r:id="rId159"/>
    <p:sldId id="315" r:id="rId160"/>
    <p:sldId id="316" r:id="rId161"/>
    <p:sldId id="317" r:id="rId162"/>
    <p:sldId id="318" r:id="rId163"/>
    <p:sldId id="319" r:id="rId164"/>
    <p:sldId id="320" r:id="rId165"/>
    <p:sldId id="321" r:id="rId166"/>
    <p:sldId id="322" r:id="rId167"/>
    <p:sldId id="323" r:id="rId168"/>
    <p:sldId id="324" r:id="rId169"/>
    <p:sldId id="325" r:id="rId170"/>
    <p:sldId id="326" r:id="rId171"/>
    <p:sldId id="327" r:id="rId172"/>
    <p:sldId id="328" r:id="rId173"/>
    <p:sldId id="329" r:id="rId174"/>
    <p:sldId id="330" r:id="rId175"/>
    <p:sldId id="331" r:id="rId176"/>
    <p:sldId id="332" r:id="rId177"/>
    <p:sldId id="333" r:id="rId178"/>
    <p:sldId id="334" r:id="rId179"/>
    <p:sldId id="335" r:id="rId180"/>
    <p:sldId id="336" r:id="rId181"/>
    <p:sldId id="337" r:id="rId182"/>
    <p:sldId id="338" r:id="rId183"/>
    <p:sldId id="339" r:id="rId184"/>
    <p:sldId id="340" r:id="rId185"/>
    <p:sldId id="341" r:id="rId186"/>
    <p:sldId id="342" r:id="rId187"/>
    <p:sldId id="343" r:id="rId188"/>
    <p:sldId id="344" r:id="rId189"/>
    <p:sldId id="345" r:id="rId190"/>
    <p:sldId id="346" r:id="rId191"/>
    <p:sldId id="347" r:id="rId192"/>
    <p:sldId id="348" r:id="rId193"/>
    <p:sldId id="349" r:id="rId194"/>
    <p:sldId id="350" r:id="rId195"/>
    <p:sldId id="351" r:id="rId196"/>
    <p:sldId id="352" r:id="rId197"/>
    <p:sldId id="353" r:id="rId198"/>
    <p:sldId id="354" r:id="rId199"/>
    <p:sldId id="355" r:id="rId200"/>
    <p:sldId id="356" r:id="rId201"/>
    <p:sldId id="357" r:id="rId202"/>
    <p:sldId id="358" r:id="rId203"/>
    <p:sldId id="359" r:id="rId204"/>
    <p:sldId id="360" r:id="rId205"/>
    <p:sldId id="361" r:id="rId206"/>
    <p:sldId id="362" r:id="rId207"/>
    <p:sldId id="363" r:id="rId208"/>
    <p:sldId id="364" r:id="rId209"/>
    <p:sldId id="365" r:id="rId210"/>
    <p:sldId id="366" r:id="rId211"/>
    <p:sldId id="367" r:id="rId212"/>
    <p:sldId id="368" r:id="rId213"/>
    <p:sldId id="369" r:id="rId214"/>
    <p:sldId id="370" r:id="rId215"/>
    <p:sldId id="371" r:id="rId216"/>
    <p:sldId id="372" r:id="rId217"/>
    <p:sldId id="373" r:id="rId218"/>
    <p:sldId id="374" r:id="rId219"/>
    <p:sldId id="375" r:id="rId220"/>
    <p:sldId id="376" r:id="rId221"/>
    <p:sldId id="377" r:id="rId222"/>
    <p:sldId id="378" r:id="rId223"/>
    <p:sldId id="379" r:id="rId224"/>
    <p:sldId id="380" r:id="rId225"/>
    <p:sldId id="381" r:id="rId226"/>
    <p:sldId id="382" r:id="rId227"/>
    <p:sldId id="383" r:id="rId228"/>
    <p:sldId id="384" r:id="rId229"/>
    <p:sldId id="385" r:id="rId230"/>
    <p:sldId id="386" r:id="rId231"/>
    <p:sldId id="387" r:id="rId232"/>
    <p:sldId id="388" r:id="rId233"/>
    <p:sldId id="389" r:id="rId234"/>
    <p:sldId id="390" r:id="rId235"/>
    <p:sldId id="391" r:id="rId236"/>
    <p:sldId id="392" r:id="rId237"/>
    <p:sldId id="393" r:id="rId238"/>
    <p:sldId id="394" r:id="rId239"/>
    <p:sldId id="395" r:id="rId240"/>
    <p:sldId id="396" r:id="rId241"/>
    <p:sldId id="397" r:id="rId24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 Id="rId120" Type="http://schemas.openxmlformats.org/officeDocument/2006/relationships/slide" Target="slides/slide20.xml"/><Relationship Id="rId121" Type="http://schemas.openxmlformats.org/officeDocument/2006/relationships/slide" Target="slides/slide21.xml"/><Relationship Id="rId122" Type="http://schemas.openxmlformats.org/officeDocument/2006/relationships/slide" Target="slides/slide22.xml"/><Relationship Id="rId123" Type="http://schemas.openxmlformats.org/officeDocument/2006/relationships/slide" Target="slides/slide23.xml"/><Relationship Id="rId124" Type="http://schemas.openxmlformats.org/officeDocument/2006/relationships/slide" Target="slides/slide24.xml"/><Relationship Id="rId125" Type="http://schemas.openxmlformats.org/officeDocument/2006/relationships/slide" Target="slides/slide25.xml"/><Relationship Id="rId126" Type="http://schemas.openxmlformats.org/officeDocument/2006/relationships/slide" Target="slides/slide26.xml"/><Relationship Id="rId127" Type="http://schemas.openxmlformats.org/officeDocument/2006/relationships/slide" Target="slides/slide27.xml"/><Relationship Id="rId128" Type="http://schemas.openxmlformats.org/officeDocument/2006/relationships/slide" Target="slides/slide28.xml"/><Relationship Id="rId129" Type="http://schemas.openxmlformats.org/officeDocument/2006/relationships/slide" Target="slides/slide29.xml"/><Relationship Id="rId130" Type="http://schemas.openxmlformats.org/officeDocument/2006/relationships/slide" Target="slides/slide30.xml"/><Relationship Id="rId131" Type="http://schemas.openxmlformats.org/officeDocument/2006/relationships/slide" Target="slides/slide31.xml"/><Relationship Id="rId132" Type="http://schemas.openxmlformats.org/officeDocument/2006/relationships/slide" Target="slides/slide32.xml"/><Relationship Id="rId133" Type="http://schemas.openxmlformats.org/officeDocument/2006/relationships/slide" Target="slides/slide33.xml"/><Relationship Id="rId134" Type="http://schemas.openxmlformats.org/officeDocument/2006/relationships/slide" Target="slides/slide34.xml"/><Relationship Id="rId135" Type="http://schemas.openxmlformats.org/officeDocument/2006/relationships/slide" Target="slides/slide35.xml"/><Relationship Id="rId136" Type="http://schemas.openxmlformats.org/officeDocument/2006/relationships/slide" Target="slides/slide36.xml"/><Relationship Id="rId137" Type="http://schemas.openxmlformats.org/officeDocument/2006/relationships/slide" Target="slides/slide37.xml"/><Relationship Id="rId138" Type="http://schemas.openxmlformats.org/officeDocument/2006/relationships/slide" Target="slides/slide38.xml"/><Relationship Id="rId139" Type="http://schemas.openxmlformats.org/officeDocument/2006/relationships/slide" Target="slides/slide39.xml"/><Relationship Id="rId140" Type="http://schemas.openxmlformats.org/officeDocument/2006/relationships/slide" Target="slides/slide40.xml"/><Relationship Id="rId141" Type="http://schemas.openxmlformats.org/officeDocument/2006/relationships/slide" Target="slides/slide41.xml"/><Relationship Id="rId142" Type="http://schemas.openxmlformats.org/officeDocument/2006/relationships/slide" Target="slides/slide42.xml"/><Relationship Id="rId143" Type="http://schemas.openxmlformats.org/officeDocument/2006/relationships/slide" Target="slides/slide43.xml"/><Relationship Id="rId144" Type="http://schemas.openxmlformats.org/officeDocument/2006/relationships/slide" Target="slides/slide44.xml"/><Relationship Id="rId145" Type="http://schemas.openxmlformats.org/officeDocument/2006/relationships/slide" Target="slides/slide45.xml"/><Relationship Id="rId146" Type="http://schemas.openxmlformats.org/officeDocument/2006/relationships/slide" Target="slides/slide46.xml"/><Relationship Id="rId147" Type="http://schemas.openxmlformats.org/officeDocument/2006/relationships/slide" Target="slides/slide47.xml"/><Relationship Id="rId148" Type="http://schemas.openxmlformats.org/officeDocument/2006/relationships/slide" Target="slides/slide48.xml"/><Relationship Id="rId149" Type="http://schemas.openxmlformats.org/officeDocument/2006/relationships/slide" Target="slides/slide49.xml"/><Relationship Id="rId150" Type="http://schemas.openxmlformats.org/officeDocument/2006/relationships/slide" Target="slides/slide50.xml"/><Relationship Id="rId151" Type="http://schemas.openxmlformats.org/officeDocument/2006/relationships/slide" Target="slides/slide51.xml"/><Relationship Id="rId152" Type="http://schemas.openxmlformats.org/officeDocument/2006/relationships/slide" Target="slides/slide52.xml"/><Relationship Id="rId153" Type="http://schemas.openxmlformats.org/officeDocument/2006/relationships/slide" Target="slides/slide53.xml"/><Relationship Id="rId154" Type="http://schemas.openxmlformats.org/officeDocument/2006/relationships/slide" Target="slides/slide54.xml"/><Relationship Id="rId155" Type="http://schemas.openxmlformats.org/officeDocument/2006/relationships/slide" Target="slides/slide55.xml"/><Relationship Id="rId156" Type="http://schemas.openxmlformats.org/officeDocument/2006/relationships/slide" Target="slides/slide56.xml"/><Relationship Id="rId157" Type="http://schemas.openxmlformats.org/officeDocument/2006/relationships/slide" Target="slides/slide57.xml"/><Relationship Id="rId158" Type="http://schemas.openxmlformats.org/officeDocument/2006/relationships/slide" Target="slides/slide58.xml"/><Relationship Id="rId159" Type="http://schemas.openxmlformats.org/officeDocument/2006/relationships/slide" Target="slides/slide59.xml"/><Relationship Id="rId160" Type="http://schemas.openxmlformats.org/officeDocument/2006/relationships/slide" Target="slides/slide60.xml"/><Relationship Id="rId161" Type="http://schemas.openxmlformats.org/officeDocument/2006/relationships/slide" Target="slides/slide61.xml"/><Relationship Id="rId162" Type="http://schemas.openxmlformats.org/officeDocument/2006/relationships/slide" Target="slides/slide62.xml"/><Relationship Id="rId163" Type="http://schemas.openxmlformats.org/officeDocument/2006/relationships/slide" Target="slides/slide63.xml"/><Relationship Id="rId164" Type="http://schemas.openxmlformats.org/officeDocument/2006/relationships/slide" Target="slides/slide64.xml"/><Relationship Id="rId165" Type="http://schemas.openxmlformats.org/officeDocument/2006/relationships/slide" Target="slides/slide65.xml"/><Relationship Id="rId166" Type="http://schemas.openxmlformats.org/officeDocument/2006/relationships/slide" Target="slides/slide66.xml"/><Relationship Id="rId167" Type="http://schemas.openxmlformats.org/officeDocument/2006/relationships/slide" Target="slides/slide67.xml"/><Relationship Id="rId168" Type="http://schemas.openxmlformats.org/officeDocument/2006/relationships/slide" Target="slides/slide68.xml"/><Relationship Id="rId169" Type="http://schemas.openxmlformats.org/officeDocument/2006/relationships/slide" Target="slides/slide69.xml"/><Relationship Id="rId170" Type="http://schemas.openxmlformats.org/officeDocument/2006/relationships/slide" Target="slides/slide70.xml"/><Relationship Id="rId171" Type="http://schemas.openxmlformats.org/officeDocument/2006/relationships/slide" Target="slides/slide71.xml"/><Relationship Id="rId172" Type="http://schemas.openxmlformats.org/officeDocument/2006/relationships/slide" Target="slides/slide72.xml"/><Relationship Id="rId173" Type="http://schemas.openxmlformats.org/officeDocument/2006/relationships/slide" Target="slides/slide73.xml"/><Relationship Id="rId174" Type="http://schemas.openxmlformats.org/officeDocument/2006/relationships/slide" Target="slides/slide74.xml"/><Relationship Id="rId175" Type="http://schemas.openxmlformats.org/officeDocument/2006/relationships/slide" Target="slides/slide75.xml"/><Relationship Id="rId176" Type="http://schemas.openxmlformats.org/officeDocument/2006/relationships/slide" Target="slides/slide76.xml"/><Relationship Id="rId177" Type="http://schemas.openxmlformats.org/officeDocument/2006/relationships/slide" Target="slides/slide77.xml"/><Relationship Id="rId178" Type="http://schemas.openxmlformats.org/officeDocument/2006/relationships/slide" Target="slides/slide78.xml"/><Relationship Id="rId179" Type="http://schemas.openxmlformats.org/officeDocument/2006/relationships/slide" Target="slides/slide79.xml"/><Relationship Id="rId180" Type="http://schemas.openxmlformats.org/officeDocument/2006/relationships/slide" Target="slides/slide80.xml"/><Relationship Id="rId181" Type="http://schemas.openxmlformats.org/officeDocument/2006/relationships/slide" Target="slides/slide81.xml"/><Relationship Id="rId182" Type="http://schemas.openxmlformats.org/officeDocument/2006/relationships/slide" Target="slides/slide82.xml"/><Relationship Id="rId183" Type="http://schemas.openxmlformats.org/officeDocument/2006/relationships/slide" Target="slides/slide83.xml"/><Relationship Id="rId184" Type="http://schemas.openxmlformats.org/officeDocument/2006/relationships/slide" Target="slides/slide84.xml"/><Relationship Id="rId185" Type="http://schemas.openxmlformats.org/officeDocument/2006/relationships/slide" Target="slides/slide85.xml"/><Relationship Id="rId186" Type="http://schemas.openxmlformats.org/officeDocument/2006/relationships/slide" Target="slides/slide86.xml"/><Relationship Id="rId187" Type="http://schemas.openxmlformats.org/officeDocument/2006/relationships/slide" Target="slides/slide87.xml"/><Relationship Id="rId188" Type="http://schemas.openxmlformats.org/officeDocument/2006/relationships/slide" Target="slides/slide88.xml"/><Relationship Id="rId189" Type="http://schemas.openxmlformats.org/officeDocument/2006/relationships/slide" Target="slides/slide89.xml"/><Relationship Id="rId190" Type="http://schemas.openxmlformats.org/officeDocument/2006/relationships/slide" Target="slides/slide90.xml"/><Relationship Id="rId191" Type="http://schemas.openxmlformats.org/officeDocument/2006/relationships/slide" Target="slides/slide91.xml"/><Relationship Id="rId192" Type="http://schemas.openxmlformats.org/officeDocument/2006/relationships/slide" Target="slides/slide92.xml"/><Relationship Id="rId193" Type="http://schemas.openxmlformats.org/officeDocument/2006/relationships/slide" Target="slides/slide93.xml"/><Relationship Id="rId194" Type="http://schemas.openxmlformats.org/officeDocument/2006/relationships/slide" Target="slides/slide94.xml"/><Relationship Id="rId195" Type="http://schemas.openxmlformats.org/officeDocument/2006/relationships/slide" Target="slides/slide95.xml"/><Relationship Id="rId196" Type="http://schemas.openxmlformats.org/officeDocument/2006/relationships/slide" Target="slides/slide96.xml"/><Relationship Id="rId197" Type="http://schemas.openxmlformats.org/officeDocument/2006/relationships/slide" Target="slides/slide97.xml"/><Relationship Id="rId198" Type="http://schemas.openxmlformats.org/officeDocument/2006/relationships/slide" Target="slides/slide98.xml"/><Relationship Id="rId199" Type="http://schemas.openxmlformats.org/officeDocument/2006/relationships/slide" Target="slides/slide99.xml"/><Relationship Id="rId200" Type="http://schemas.openxmlformats.org/officeDocument/2006/relationships/slide" Target="slides/slide100.xml"/><Relationship Id="rId201" Type="http://schemas.openxmlformats.org/officeDocument/2006/relationships/slide" Target="slides/slide101.xml"/><Relationship Id="rId202" Type="http://schemas.openxmlformats.org/officeDocument/2006/relationships/slide" Target="slides/slide102.xml"/><Relationship Id="rId203" Type="http://schemas.openxmlformats.org/officeDocument/2006/relationships/slide" Target="slides/slide103.xml"/><Relationship Id="rId204" Type="http://schemas.openxmlformats.org/officeDocument/2006/relationships/slide" Target="slides/slide104.xml"/><Relationship Id="rId205" Type="http://schemas.openxmlformats.org/officeDocument/2006/relationships/slide" Target="slides/slide105.xml"/><Relationship Id="rId206" Type="http://schemas.openxmlformats.org/officeDocument/2006/relationships/slide" Target="slides/slide106.xml"/><Relationship Id="rId207" Type="http://schemas.openxmlformats.org/officeDocument/2006/relationships/slide" Target="slides/slide107.xml"/><Relationship Id="rId208" Type="http://schemas.openxmlformats.org/officeDocument/2006/relationships/slide" Target="slides/slide108.xml"/><Relationship Id="rId209" Type="http://schemas.openxmlformats.org/officeDocument/2006/relationships/slide" Target="slides/slide109.xml"/><Relationship Id="rId210" Type="http://schemas.openxmlformats.org/officeDocument/2006/relationships/slide" Target="slides/slide110.xml"/><Relationship Id="rId211" Type="http://schemas.openxmlformats.org/officeDocument/2006/relationships/slide" Target="slides/slide111.xml"/><Relationship Id="rId212" Type="http://schemas.openxmlformats.org/officeDocument/2006/relationships/slide" Target="slides/slide112.xml"/><Relationship Id="rId213" Type="http://schemas.openxmlformats.org/officeDocument/2006/relationships/slide" Target="slides/slide113.xml"/><Relationship Id="rId214" Type="http://schemas.openxmlformats.org/officeDocument/2006/relationships/slide" Target="slides/slide114.xml"/><Relationship Id="rId215" Type="http://schemas.openxmlformats.org/officeDocument/2006/relationships/slide" Target="slides/slide115.xml"/><Relationship Id="rId216" Type="http://schemas.openxmlformats.org/officeDocument/2006/relationships/slide" Target="slides/slide116.xml"/><Relationship Id="rId217" Type="http://schemas.openxmlformats.org/officeDocument/2006/relationships/slide" Target="slides/slide117.xml"/><Relationship Id="rId218" Type="http://schemas.openxmlformats.org/officeDocument/2006/relationships/slide" Target="slides/slide118.xml"/><Relationship Id="rId219" Type="http://schemas.openxmlformats.org/officeDocument/2006/relationships/slide" Target="slides/slide119.xml"/><Relationship Id="rId220" Type="http://schemas.openxmlformats.org/officeDocument/2006/relationships/slide" Target="slides/slide120.xml"/><Relationship Id="rId221" Type="http://schemas.openxmlformats.org/officeDocument/2006/relationships/slide" Target="slides/slide121.xml"/><Relationship Id="rId222" Type="http://schemas.openxmlformats.org/officeDocument/2006/relationships/slide" Target="slides/slide122.xml"/><Relationship Id="rId223" Type="http://schemas.openxmlformats.org/officeDocument/2006/relationships/slide" Target="slides/slide123.xml"/><Relationship Id="rId224" Type="http://schemas.openxmlformats.org/officeDocument/2006/relationships/slide" Target="slides/slide124.xml"/><Relationship Id="rId225" Type="http://schemas.openxmlformats.org/officeDocument/2006/relationships/slide" Target="slides/slide125.xml"/><Relationship Id="rId226" Type="http://schemas.openxmlformats.org/officeDocument/2006/relationships/slide" Target="slides/slide126.xml"/><Relationship Id="rId227" Type="http://schemas.openxmlformats.org/officeDocument/2006/relationships/slide" Target="slides/slide127.xml"/><Relationship Id="rId228" Type="http://schemas.openxmlformats.org/officeDocument/2006/relationships/slide" Target="slides/slide128.xml"/><Relationship Id="rId229" Type="http://schemas.openxmlformats.org/officeDocument/2006/relationships/slide" Target="slides/slide129.xml"/><Relationship Id="rId230" Type="http://schemas.openxmlformats.org/officeDocument/2006/relationships/slide" Target="slides/slide130.xml"/><Relationship Id="rId231" Type="http://schemas.openxmlformats.org/officeDocument/2006/relationships/slide" Target="slides/slide131.xml"/><Relationship Id="rId232" Type="http://schemas.openxmlformats.org/officeDocument/2006/relationships/slide" Target="slides/slide132.xml"/><Relationship Id="rId233" Type="http://schemas.openxmlformats.org/officeDocument/2006/relationships/slide" Target="slides/slide133.xml"/><Relationship Id="rId234" Type="http://schemas.openxmlformats.org/officeDocument/2006/relationships/slide" Target="slides/slide134.xml"/><Relationship Id="rId235" Type="http://schemas.openxmlformats.org/officeDocument/2006/relationships/slide" Target="slides/slide135.xml"/><Relationship Id="rId236" Type="http://schemas.openxmlformats.org/officeDocument/2006/relationships/slide" Target="slides/slide136.xml"/><Relationship Id="rId237" Type="http://schemas.openxmlformats.org/officeDocument/2006/relationships/slide" Target="slides/slide137.xml"/><Relationship Id="rId238" Type="http://schemas.openxmlformats.org/officeDocument/2006/relationships/slide" Target="slides/slide138.xml"/><Relationship Id="rId239" Type="http://schemas.openxmlformats.org/officeDocument/2006/relationships/slide" Target="slides/slide139.xml"/><Relationship Id="rId240" Type="http://schemas.openxmlformats.org/officeDocument/2006/relationships/slide" Target="slides/slide140.xml"/><Relationship Id="rId241" Type="http://schemas.openxmlformats.org/officeDocument/2006/relationships/slide" Target="slides/slide141.xml"/><Relationship Id="rId242" Type="http://schemas.openxmlformats.org/officeDocument/2006/relationships/slide" Target="slides/slide142.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cNvSpPr>
            <a:spLocks noGrp="1"/>
          </p:cNvSpPr>
          <p:nvPr>
            <p:ph type="sldImg" idx="2"/>
          </p:nvPr>
        </p:nvSpPr>
        <p:spPr>
          <a:xfrm>
            <a:off x="381000" y="685800"/>
            <a:ext cx="6096000" cy="3429000"/>
          </a:xfrm>
          <a:prstGeom prst="rect">
            <a:avLst/>
          </a:prstGeom>
        </p:spPr>
      </p:sp>
      <p:sp>
        <p:nvSpPr>
          <p:cNvPr id="3" name="Notes"/>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a:defRPr sz="1200">
        <a:solidFill>
          <a:schemeClr val="tx1"/>
        </a:solidFill>
        <a:latin typeface="+mn-lt"/>
      </a:defRPr>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Question bank covering every slide of 'Getting Started with Snowflake'. Each question has its answer and difficulty level. Use it for self-study, team quizzes, or interview preparation.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Levels: BASIC = definitions and facts from the slides; INTERMEDIATE = how and why, reading SQL and predicting results; ADVANCED = scenarios, troubleshooting and interview-style design questions.</a:t>
            </a:r>
          </a:p>
          <a:p>
            <a:endParaRPr lang="en-US" sz="1200" dirty="0"/>
          </a:p>
          <a:p>
            <a:r>
              <a:rPr lang="en-US" sz="1200" dirty="0"/>
              <a:t>Quiz tip: in Slide Show mode, read the question, pause, then reveal the answer (or cover the answer lines when printing).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 What is Snowflake?. 15 questions. Covers Deck slide 3 of the main deck.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 [BASIC] What is Snowflake?</a:t>
            </a:r>
          </a:p>
          <a:p>
            <a:r>
              <a:rPr lang="en-US" sz="1200" dirty="0"/>
              <a:t>Answer: A fully managed cloud data platform delivered as software-as-a-service (SaaS), used for data warehousing, data lakes, data engineering, data science, apps and data sharing.</a:t>
            </a:r>
          </a:p>
          <a:p>
            <a:r>
              <a:rPr lang="en-US" sz="1200" dirty="0"/>
              <a:t>Explanation: Think of it as renting a complete, ready-made data platform in the cloud: you sign in and start using SQL, while Snowflake runs the servers, storage and upgrades behind the scenes.</a:t>
            </a:r>
          </a:p>
          <a:p>
            <a:endParaRPr lang="en-US" sz="1200" dirty="0"/>
          </a:p>
          <a:p>
            <a:r>
              <a:rPr lang="en-US" sz="1200" dirty="0"/>
              <a:t>Q2 [BASIC] What does 'SaaS' mean for a Snowflake user?</a:t>
            </a:r>
          </a:p>
          <a:p>
            <a:r>
              <a:rPr lang="en-US" sz="1200" dirty="0"/>
              <a:t>Answer: There is no hardware to buy and no software to install, configure, patch or upgrade. Snowflake handles maintenance, upgrades, tuning and availability.</a:t>
            </a:r>
          </a:p>
          <a:p>
            <a:r>
              <a:rPr lang="en-US" sz="1200" dirty="0"/>
              <a:t>Explanation: Example: when Snowflake releases a new version, your account is upgraded automatically, with no downtime or maintenance window. Your team spends its time on data, not on servers.</a:t>
            </a:r>
          </a:p>
          <a:p>
            <a:endParaRPr lang="en-US" sz="1200" dirty="0"/>
          </a:p>
          <a:p>
            <a:r>
              <a:rPr lang="en-US" sz="1200" dirty="0"/>
              <a:t>Q3 [BASIC] Which cloud providers can Snowflake run on?</a:t>
            </a:r>
          </a:p>
          <a:p>
            <a:r>
              <a:rPr lang="en-US" sz="1200" dirty="0"/>
              <a:t>Answer: Amazon Web Services (AWS), Microsoft Azure and Google Cloud Platform (GCP).</a:t>
            </a:r>
          </a:p>
          <a:p>
            <a:r>
              <a:rPr lang="en-US" sz="1200" dirty="0"/>
              <a:t>Explanation: You choose the provider when the account is created. Features are almost identical across clouds, so you usually pick the cloud where your other data and applications already live.</a:t>
            </a:r>
          </a:p>
          <a:p>
            <a:endParaRPr 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Q4 [BASIC] Can you install Snowflake on your own on-premises servers?</a:t>
            </a:r>
          </a:p>
          <a:p>
            <a:r>
              <a:rPr lang="en-US" sz="1200" dirty="0"/>
              <a:t>Answer: No. Snowflake runs only on public cloud infrastructure; there is no on-premises version.</a:t>
            </a:r>
          </a:p>
          <a:p>
            <a:r>
              <a:rPr lang="en-US" sz="1200" dirty="0"/>
              <a:t>Explanation: Snowflake's architecture depends on cloud object storage and on-demand compute. Companies with on-prem data first move or copy it into cloud storage, then load it into Snowflake.</a:t>
            </a:r>
          </a:p>
          <a:p>
            <a:endParaRPr lang="en-US" sz="1200" dirty="0"/>
          </a:p>
          <a:p>
            <a:r>
              <a:rPr lang="en-US" sz="1200" dirty="0"/>
              <a:t>Q5 [BASIC] What is the single most important design idea in Snowflake?</a:t>
            </a:r>
          </a:p>
          <a:p>
            <a:r>
              <a:rPr lang="en-US" sz="1200" dirty="0"/>
              <a:t>Answer: Separation of storage and compute: data is stored once, and any number of independent compute clusters (virtual warehouses) can process it.</a:t>
            </a:r>
          </a:p>
          <a:p>
            <a:r>
              <a:rPr lang="en-US" sz="1200" dirty="0"/>
              <a:t>Explanation: In traditional databases the same servers hold the data and do the work, so more power means bigger machines. Snowflake keeps one copy of the data and attaches as much or as little compute as needed.</a:t>
            </a:r>
          </a:p>
          <a:p>
            <a:endParaRPr lang="en-US" sz="1200" dirty="0"/>
          </a:p>
          <a:p>
            <a:r>
              <a:rPr lang="en-US" sz="1200" dirty="0"/>
              <a:t>Q6 [INTERMEDIATE] Why is separating storage and compute useful?</a:t>
            </a:r>
          </a:p>
          <a:p>
            <a:r>
              <a:rPr lang="en-US" sz="1200" dirty="0"/>
              <a:t>Answer: Each scales and is billed independently: you can store petabytes cheaply while turning compute up, down or off on demand, and workloads don't compete for the same compute.</a:t>
            </a:r>
          </a:p>
          <a:p>
            <a:r>
              <a:rPr lang="en-US" sz="1200" dirty="0"/>
              <a:t>Explanation: Example: 100 TB of history costs only storage. At month-end you run a 2X-Large warehouse for one hour, then suspend it, so you pay for that hour only.</a:t>
            </a:r>
          </a:p>
          <a:p>
            <a:endParaRPr lang="en-US"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Q7 [BASIC] Which query language does Snowflake use?</a:t>
            </a:r>
          </a:p>
          <a:p>
            <a:r>
              <a:rPr lang="en-US" sz="1200" dirty="0"/>
              <a:t>Answer: Standard ANSI SQL, with Snowflake extensions (e.g. VARIANT path notation, FLATTEN, Time Travel clauses, QUALIFY).</a:t>
            </a:r>
          </a:p>
          <a:p>
            <a:r>
              <a:rPr lang="en-US" sz="1200" dirty="0"/>
              <a:t>Explanation: Anyone who knows SQL from Oracle, SQL Server or Postgres is productive quickly: SELECT, JOIN, GROUP BY and window functions work the same way.</a:t>
            </a:r>
          </a:p>
          <a:p>
            <a:endParaRPr lang="en-US" sz="1200" dirty="0"/>
          </a:p>
          <a:p>
            <a:r>
              <a:rPr lang="en-US" sz="1200" dirty="0"/>
              <a:t>Q8 [BASIC] Which semi-structured formats does Snowflake support natively?</a:t>
            </a:r>
          </a:p>
          <a:p>
            <a:r>
              <a:rPr lang="en-US" sz="1200" dirty="0"/>
              <a:t>Answer: JSON, Avro, ORC, Parquet and XML, stored in the VARIANT (and OBJECT / ARRAY) data types.</a:t>
            </a:r>
          </a:p>
          <a:p>
            <a:r>
              <a:rPr lang="en-US" sz="1200" dirty="0"/>
              <a:t>Explanation: You don't need to design a schema before loading JSON: load it into a VARIANT column and query fields with path notation like v:customer.name (see Example 6).</a:t>
            </a:r>
          </a:p>
          <a:p>
            <a:endParaRPr lang="en-US" sz="1200" dirty="0"/>
          </a:p>
          <a:p>
            <a:r>
              <a:rPr lang="en-US" sz="1200" dirty="0"/>
              <a:t>Q9 [INTERMEDIATE] What is Snowpark?</a:t>
            </a:r>
          </a:p>
          <a:p>
            <a:r>
              <a:rPr lang="en-US" sz="1200" dirty="0"/>
              <a:t>Answer: A developer framework that lets you write Python, Java or Scala (DataFrames, UDFs, stored procedures) that executes inside Snowflake's compute, close to the data.</a:t>
            </a:r>
          </a:p>
          <a:p>
            <a:r>
              <a:rPr lang="en-US" sz="1200" dirty="0"/>
              <a:t>Explanation: Instead of pulling data out to a separate Python server, Snowpark sends your code to Snowflake, where it runs next to the data. That's faster, more secure and governed by the same roles.</a:t>
            </a:r>
          </a:p>
          <a:p>
            <a:endParaRPr 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Q10 [INTERMEDIATE] What is Secure Data Sharing?</a:t>
            </a:r>
          </a:p>
          <a:p>
            <a:r>
              <a:rPr lang="en-US" sz="1200" dirty="0"/>
              <a:t>Answer: Sharing live, read-only data with other Snowflake accounts without copying or moving it; consumers query the provider's data using their own compute.</a:t>
            </a:r>
          </a:p>
          <a:p>
            <a:r>
              <a:rPr lang="en-US" sz="1200" dirty="0"/>
              <a:t>Explanation: The provider grants access and the consumer sees the data immediately. There are no files, no FTP and no stale copies: when the provider updates a row, the consumer sees the change.</a:t>
            </a:r>
          </a:p>
          <a:p>
            <a:endParaRPr lang="en-US" sz="1200" dirty="0"/>
          </a:p>
          <a:p>
            <a:r>
              <a:rPr lang="en-US" sz="1200" dirty="0"/>
              <a:t>Q11 [INTERMEDIATE] What is the Snowflake Marketplace?</a:t>
            </a:r>
          </a:p>
          <a:p>
            <a:r>
              <a:rPr lang="en-US" sz="1200" dirty="0"/>
              <a:t>Answer: A catalog where providers publish free or paid data sets, data products and native apps that consumers can access directly in their accounts.</a:t>
            </a:r>
          </a:p>
          <a:p>
            <a:r>
              <a:rPr lang="en-US" sz="1200" dirty="0"/>
              <a:t>Explanation: Example: a retailer can add weather or demographic data from the Marketplace in minutes and join it to its own sales tables with plain SQL.</a:t>
            </a:r>
          </a:p>
          <a:p>
            <a:endParaRPr lang="en-US" sz="1200" dirty="0"/>
          </a:p>
          <a:p>
            <a:r>
              <a:rPr lang="en-US" sz="1200" dirty="0"/>
              <a:t>Q12 [INTERMEDIATE] What is Snowflake Cortex?</a:t>
            </a:r>
          </a:p>
          <a:p>
            <a:r>
              <a:rPr lang="en-US" sz="1200" dirty="0"/>
              <a:t>Answer: Snowflake's built-in AI/ML layer: SQL-callable LLM functions (e.g. COMPLETE, SUMMARIZE, SENTIMENT, TRANSLATE), search and ML functions running inside Snowflake.</a:t>
            </a:r>
          </a:p>
          <a:p>
            <a:r>
              <a:rPr lang="en-US" sz="1200" dirty="0"/>
              <a:t>Explanation: Example: SELECT SNOWFLAKE.CORTEX.SENTIMENT(review_text) FROM reviews; scores customer reviews without sending data to an external AI service.</a:t>
            </a:r>
          </a:p>
          <a:p>
            <a:endParaRPr 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Q13 [BASIC] Name four business benefits highlighted on the 'What is Snowflake' slide.</a:t>
            </a:r>
          </a:p>
          <a:p>
            <a:r>
              <a:rPr lang="en-US" sz="1200" dirty="0"/>
              <a:t>Answer: Elastic scale, pay-per-use billing, near-zero administration, and governed data sharing.</a:t>
            </a:r>
          </a:p>
          <a:p>
            <a:r>
              <a:rPr lang="en-US" sz="1200" dirty="0"/>
              <a:t>Explanation: These are the four 'why it matters' cards on the slide. All four come from the storage/compute separation plus the fully managed service model.</a:t>
            </a:r>
          </a:p>
          <a:p>
            <a:endParaRPr lang="en-US" sz="1200" dirty="0"/>
          </a:p>
          <a:p>
            <a:r>
              <a:rPr lang="en-US" sz="1200" dirty="0"/>
              <a:t>Q14 [INTERMEDIATE] What 'administration' does Snowflake remove compared with traditional databases?</a:t>
            </a:r>
          </a:p>
          <a:p>
            <a:r>
              <a:rPr lang="en-US" sz="1200" dirty="0"/>
              <a:t>Answer: No indexes to build, no vacuuming or statistics jobs, no storage file management, no partition management; micro-partitioning, compression and caching are automatic.</a:t>
            </a:r>
          </a:p>
          <a:p>
            <a:r>
              <a:rPr lang="en-US" sz="1200" dirty="0"/>
              <a:t>Explanation: Snowflake splits data into micro-partitions automatically, keeps statistics, compresses data and caches results, which are all tasks a DBA would normally schedule and monitor.</a:t>
            </a:r>
          </a:p>
          <a:p>
            <a:endParaRPr lang="en-US" sz="1200" dirty="0"/>
          </a:p>
          <a:p>
            <a:r>
              <a:rPr lang="en-US" sz="1200" dirty="0"/>
              <a:t>Q15 [ADVANCED] Your manager asks: 'Is Snowflake just a database?' How do you answer?</a:t>
            </a:r>
          </a:p>
          <a:p>
            <a:r>
              <a:rPr lang="en-US" sz="1200" dirty="0"/>
              <a:t>Answer: It's a cloud data platform: a SQL data warehouse at its core, plus data lake, data engineering (pipelines, tasks), Snowpark apps, AI (Cortex), Streamlit/Native Apps and cross-account sharing.</a:t>
            </a:r>
          </a:p>
          <a:p>
            <a:r>
              <a:rPr lang="en-US" sz="1200" dirty="0"/>
              <a:t>Explanation: A strong answer shows breadth: SQL warehousing is the foundation, but the same governed data also serves pipelines, apps, AI and sharing without copying it to other systems.</a:t>
            </a:r>
          </a:p>
          <a:p>
            <a:endParaRPr lang="en-US" sz="12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2: Architecture. 20 questions. Covers Deck slide 4 of the main deck.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Q16 [BASIC] Name Snowflake's three architectural layers.</a:t>
            </a:r>
          </a:p>
          <a:p>
            <a:r>
              <a:rPr lang="en-US" sz="1200" dirty="0"/>
              <a:t>Answer: 1) Database Storage, 2) Query Processing (virtual warehouses), 3) Cloud Services.</a:t>
            </a:r>
          </a:p>
          <a:p>
            <a:r>
              <a:rPr lang="en-US" sz="1200" dirty="0"/>
              <a:t>Explanation: Bottom to top: storage keeps the data, compute (warehouses) processes it, and cloud services coordinates everything. Each layer scales independently.</a:t>
            </a:r>
          </a:p>
          <a:p>
            <a:endParaRPr lang="en-US" sz="1200" dirty="0"/>
          </a:p>
          <a:p>
            <a:r>
              <a:rPr lang="en-US" sz="1200" dirty="0"/>
              <a:t>Q17 [INTERMEDIATE] Why is Snowflake called a 'hybrid' architecture?</a:t>
            </a:r>
          </a:p>
          <a:p>
            <a:r>
              <a:rPr lang="en-US" sz="1200" dirty="0"/>
              <a:t>Answer: It combines shared-disk (one central data repository accessible from all compute) with shared-nothing (MPP compute clusters where each node stores part of the data locally while processing).</a:t>
            </a:r>
          </a:p>
          <a:p>
            <a:r>
              <a:rPr lang="en-US" sz="1200" dirty="0"/>
              <a:t>Explanation: Shared-disk gives simplicity (one copy of the data); shared-nothing gives performance (each compute node works on its own slice in parallel). Snowflake takes the best of both.</a:t>
            </a:r>
          </a:p>
          <a:p>
            <a:endParaRPr lang="en-US" sz="1200" dirty="0"/>
          </a:p>
          <a:p>
            <a:r>
              <a:rPr lang="en-US" sz="1200" dirty="0"/>
              <a:t>Q18 [BASIC] What does the Database Storage layer do?</a:t>
            </a:r>
          </a:p>
          <a:p>
            <a:r>
              <a:rPr lang="en-US" sz="1200" dirty="0"/>
              <a:t>Answer: Stores all table data in a compressed, columnar, optimized format in cloud object storage (S3, Azure Blob, GCS), fully managed by Snowflake.</a:t>
            </a:r>
          </a:p>
          <a:p>
            <a:r>
              <a:rPr lang="en-US" sz="1200" dirty="0"/>
              <a:t>Explanation: When you load data, Snowflake reorganizes it into its own columnar format. Columnar storage reads only the columns a query needs, and compression lowers cost.</a:t>
            </a:r>
          </a:p>
          <a:p>
            <a:endParaRPr lang="en-US" sz="12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Q19 [BASIC] Can you see or access the underlying storage files directly?</a:t>
            </a:r>
          </a:p>
          <a:p>
            <a:r>
              <a:rPr lang="en-US" sz="1200" dirty="0"/>
              <a:t>Answer: No. Data objects are not directly visible or accessible to customers; you access data only through SQL operations.</a:t>
            </a:r>
          </a:p>
          <a:p>
            <a:r>
              <a:rPr lang="en-US" sz="1200" dirty="0"/>
              <a:t>Explanation: This is why Snowflake can change and optimize the internal format freely: you only ever interact through SQL, never with raw files.</a:t>
            </a:r>
          </a:p>
          <a:p>
            <a:endParaRPr lang="en-US" sz="1200" dirty="0"/>
          </a:p>
          <a:p>
            <a:r>
              <a:rPr lang="en-US" sz="1200" dirty="0"/>
              <a:t>Q20 [BASIC] What is the Query Processing layer?</a:t>
            </a:r>
          </a:p>
          <a:p>
            <a:r>
              <a:rPr lang="en-US" sz="1200" dirty="0"/>
              <a:t>Answer: The compute layer made of virtual warehouses: independent MPP compute clusters that execute queries, DML and data loading.</a:t>
            </a:r>
          </a:p>
          <a:p>
            <a:r>
              <a:rPr lang="en-US" sz="1200" dirty="0"/>
              <a:t>Explanation: A warehouse is like a team of workers: the same data can be processed by a small team (X-Small) or a huge one (4X-Large), and many teams can work at once.</a:t>
            </a:r>
          </a:p>
          <a:p>
            <a:endParaRPr lang="en-US" sz="1200" dirty="0"/>
          </a:p>
          <a:p>
            <a:r>
              <a:rPr lang="en-US" sz="1200" dirty="0"/>
              <a:t>Q21 [INTERMEDIATE] Do virtual warehouses share compute resources with each other?</a:t>
            </a:r>
          </a:p>
          <a:p>
            <a:r>
              <a:rPr lang="en-US" sz="1200" dirty="0"/>
              <a:t>Answer: No. Each warehouse is independent, so a heavy ETL warehouse does not affect the performance of a BI warehouse.</a:t>
            </a:r>
          </a:p>
          <a:p>
            <a:r>
              <a:rPr lang="en-US" sz="1200" dirty="0"/>
              <a:t>Explanation: Each warehouse has its own CPU, memory and local disk. They read the same stored data but never compete for the same processing power, which is why workloads are isolated.</a:t>
            </a:r>
          </a:p>
          <a:p>
            <a:endParaRPr lang="en-US" sz="12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Q22 [BASIC] List the services provided by the Cloud Services layer.</a:t>
            </a:r>
          </a:p>
          <a:p>
            <a:r>
              <a:rPr lang="en-US" sz="1200" dirty="0"/>
              <a:t>Answer: Authentication, access control, infrastructure management, metadata management, query parsing &amp; optimization, and security.</a:t>
            </a:r>
          </a:p>
          <a:p>
            <a:r>
              <a:rPr lang="en-US" sz="1200" dirty="0"/>
              <a:t>Explanation: Every query passes through this layer first: who are you, what may you do, where is the data (metadata), and what's the best plan. Only then does a warehouse do the work.</a:t>
            </a:r>
          </a:p>
          <a:p>
            <a:endParaRPr lang="en-US" sz="1200" dirty="0"/>
          </a:p>
          <a:p>
            <a:r>
              <a:rPr lang="en-US" sz="1200" dirty="0"/>
              <a:t>Q23 [INTERMEDIATE] Which layer is often called Snowflake's 'brain'?</a:t>
            </a:r>
          </a:p>
          <a:p>
            <a:r>
              <a:rPr lang="en-US" sz="1200" dirty="0"/>
              <a:t>Answer: The Cloud Services layer. It coordinates everything: logins, metadata, optimization, transactions and access control.</a:t>
            </a:r>
          </a:p>
          <a:p>
            <a:r>
              <a:rPr lang="en-US" sz="1200" dirty="0"/>
              <a:t>Explanation: Like a brain, it doesn't do the heavy lifting itself (warehouses do), but it decides and coordinates everything, and it is always running.</a:t>
            </a:r>
          </a:p>
          <a:p>
            <a:endParaRPr lang="en-US" sz="1200" dirty="0"/>
          </a:p>
          <a:p>
            <a:r>
              <a:rPr lang="en-US" sz="1200" dirty="0"/>
              <a:t>Q24 [INTERMEDIATE] Where is the query result cache kept?</a:t>
            </a:r>
          </a:p>
          <a:p>
            <a:r>
              <a:rPr lang="en-US" sz="1200" dirty="0"/>
              <a:t>Answer: In the Cloud Services layer. Results are held for 24 hours and can be reused without any running warehouse.</a:t>
            </a:r>
          </a:p>
          <a:p>
            <a:r>
              <a:rPr lang="en-US" sz="1200" dirty="0"/>
              <a:t>Explanation: Because the cache lives in Cloud Services (not in a warehouse), a repeated query can return instantly even when every warehouse is suspended, at no compute cost.</a:t>
            </a:r>
          </a:p>
          <a:p>
            <a:endParaRPr 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Q25 [ADVANCED] How long can a cached result live, and what resets its clock?</a:t>
            </a:r>
          </a:p>
          <a:p>
            <a:r>
              <a:rPr lang="en-US" sz="1200" dirty="0"/>
              <a:t>Answer: 24 hours; each time the result is reused the 24-hour period resets, up to a maximum of 31 days from first execution.</a:t>
            </a:r>
          </a:p>
          <a:p>
            <a:r>
              <a:rPr lang="en-US" sz="1200" dirty="0"/>
              <a:t>Explanation: Example: a dashboard query run every morning on unchanged data keeps reusing the cached result, but after 31 days Snowflake re-executes it regardless.</a:t>
            </a:r>
          </a:p>
          <a:p>
            <a:endParaRPr lang="en-US" sz="1200" dirty="0"/>
          </a:p>
          <a:p>
            <a:r>
              <a:rPr lang="en-US" sz="1200" dirty="0"/>
              <a:t>Q26 [ADVANCED] When is the result cache NOT used?</a:t>
            </a:r>
          </a:p>
          <a:p>
            <a:r>
              <a:rPr lang="en-US" sz="1200" dirty="0"/>
              <a:t>Answer: When underlying data changed, the query text differs, it uses non-deterministic functions (e.g. RANDOM, CURRENT_TIMESTAMP), external functions, or USE_CACHED_RESULT = FALSE.</a:t>
            </a:r>
          </a:p>
          <a:p>
            <a:r>
              <a:rPr lang="en-US" sz="1200" dirty="0"/>
              <a:t>Explanation: The cache must guarantee identical results. If data changed, or a function returns a different value each time (RANDOM()), reusing an old result would be wrong.</a:t>
            </a:r>
          </a:p>
          <a:p>
            <a:endParaRPr lang="en-US" sz="1200" dirty="0"/>
          </a:p>
          <a:p>
            <a:r>
              <a:rPr lang="en-US" sz="1200" dirty="0"/>
              <a:t>Q27 [INTERMEDIATE] What is the warehouse (local disk) cache?</a:t>
            </a:r>
          </a:p>
          <a:p>
            <a:r>
              <a:rPr lang="en-US" sz="1200" dirty="0"/>
              <a:t>Answer: Table data read by a running warehouse is cached on its local SSD/memory; later queries on the same warehouse reuse it. It is lost when the warehouse suspends.</a:t>
            </a:r>
          </a:p>
          <a:p>
            <a:r>
              <a:rPr lang="en-US" sz="1200" dirty="0"/>
              <a:t>Explanation: Example: the first query after a resume reads from remote storage; a similar query right after is faster because the data is already on the warehouse's local SSD.</a:t>
            </a:r>
          </a:p>
          <a:p>
            <a:endParaRPr lang="en-US" sz="12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Q28 [ADVANCED] What is the metadata cache used for?</a:t>
            </a:r>
          </a:p>
          <a:p>
            <a:r>
              <a:rPr lang="en-US" sz="1200" dirty="0"/>
              <a:t>Answer: Cloud Services stores statistics (row counts, MIN/MAX per micro-partition), so queries like COUNT(*) or MIN(col) on a table can be answered without a warehouse.</a:t>
            </a:r>
          </a:p>
          <a:p>
            <a:r>
              <a:rPr lang="en-US" sz="1200" dirty="0"/>
              <a:t>Explanation: Example: SELECT COUNT(*) FROM big_table returns instantly on billions of rows, because the count is already in metadata. No warehouse needs to resume.</a:t>
            </a:r>
          </a:p>
          <a:p>
            <a:endParaRPr lang="en-US" sz="1200" dirty="0"/>
          </a:p>
          <a:p>
            <a:r>
              <a:rPr lang="en-US" sz="1200" dirty="0"/>
              <a:t>Q29 [BASIC] What is a micro-partition?</a:t>
            </a:r>
          </a:p>
          <a:p>
            <a:r>
              <a:rPr lang="en-US" sz="1200" dirty="0"/>
              <a:t>Answer: Snowflake's automatic storage unit: a contiguous, compressed, columnar block holding roughly 50–500 MB of uncompressed data.</a:t>
            </a:r>
          </a:p>
          <a:p>
            <a:r>
              <a:rPr lang="en-US" sz="1200" dirty="0"/>
              <a:t>Explanation: Micro-partitions are created automatically as data loads. Each one records MIN/MAX and other statistics per column, which is what makes pruning possible.</a:t>
            </a:r>
          </a:p>
          <a:p>
            <a:endParaRPr lang="en-US" sz="1200" dirty="0"/>
          </a:p>
          <a:p>
            <a:r>
              <a:rPr lang="en-US" sz="1200" dirty="0"/>
              <a:t>Q30 [INTERMEDIATE] Do you have to define partitions in Snowflake?</a:t>
            </a:r>
          </a:p>
          <a:p>
            <a:r>
              <a:rPr lang="en-US" sz="1200" dirty="0"/>
              <a:t>Answer: No. Micro-partitioning happens automatically as data is loaded, in insertion order. You may optionally add a clustering key for very large tables.</a:t>
            </a:r>
          </a:p>
          <a:p>
            <a:r>
              <a:rPr lang="en-US" sz="1200" dirty="0"/>
              <a:t>Explanation: Many databases make you choose partition columns up front. In Snowflake the natural load order (often by date) already gives good pruning for most tables.</a:t>
            </a:r>
          </a:p>
          <a:p>
            <a:endParaRPr lang="en-US" sz="12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Q31 [INTERMEDIATE] What is partition pruning?</a:t>
            </a:r>
          </a:p>
          <a:p>
            <a:r>
              <a:rPr lang="en-US" sz="1200" dirty="0"/>
              <a:t>Answer: Using micro-partition metadata (MIN/MAX per column) to skip partitions that can't contain matching rows, so fewer bytes are scanned.</a:t>
            </a:r>
          </a:p>
          <a:p>
            <a:r>
              <a:rPr lang="en-US" sz="1200" dirty="0"/>
              <a:t>Explanation: Example: WHERE order_date = '2026-09-01' on a table loaded daily makes Snowflake read only micro-partitions whose date range includes that day and skip the rest.</a:t>
            </a:r>
          </a:p>
          <a:p>
            <a:endParaRPr lang="en-US" sz="1200" dirty="0"/>
          </a:p>
          <a:p>
            <a:r>
              <a:rPr lang="en-US" sz="1200" dirty="0"/>
              <a:t>Q32 [ADVANCED] What is a clustering key and when would you define one?</a:t>
            </a:r>
          </a:p>
          <a:p>
            <a:r>
              <a:rPr lang="en-US" sz="1200" dirty="0"/>
              <a:t>Answer: A column set that Snowflake uses to co-locate similar rows in micro-partitions. Use it on very large (multi-TB) tables with poor pruning on frequently filtered columns.</a:t>
            </a:r>
          </a:p>
          <a:p>
            <a:r>
              <a:rPr lang="en-US" sz="1200" dirty="0"/>
              <a:t>Explanation: Clustering keys help when load order doesn't match your filters. Keeping data clustered costs serverless credits, so add one only when the benefit is proven.</a:t>
            </a:r>
          </a:p>
          <a:p>
            <a:endParaRPr lang="en-US" sz="1200" dirty="0"/>
          </a:p>
          <a:p>
            <a:r>
              <a:rPr lang="en-US" sz="1200" dirty="0"/>
              <a:t>Q33 [INTERMEDIATE] How is storage billed?</a:t>
            </a:r>
          </a:p>
          <a:p>
            <a:r>
              <a:rPr lang="en-US" sz="1200" dirty="0"/>
              <a:t>Answer: By the average compressed terabytes stored per month, including Time Travel and Fail-safe data.</a:t>
            </a:r>
          </a:p>
          <a:p>
            <a:r>
              <a:rPr lang="en-US" sz="1200" dirty="0"/>
              <a:t>Explanation: Example: 10 TB of raw data may compress to about 2–3 TB, and you pay for the compressed size. Time Travel and Fail-safe copies of changed data also count.</a:t>
            </a:r>
          </a:p>
          <a:p>
            <a:endParaRPr lang="en-US" sz="12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Q34 [INTERMEDIATE] When do cloud services cost you money?</a:t>
            </a:r>
          </a:p>
          <a:p>
            <a:r>
              <a:rPr lang="en-US" sz="1200" dirty="0"/>
              <a:t>Answer: Only when daily cloud services usage exceeds 10% of that day's warehouse compute usage; the first 10% is not billed.</a:t>
            </a:r>
          </a:p>
          <a:p>
            <a:r>
              <a:rPr lang="en-US" sz="1200" dirty="0"/>
              <a:t>Explanation: Most accounts never pay for cloud services, because normal usage stays well under 10% of compute. Very metadata-heavy workloads (thousands of tiny queries) can exceed it.</a:t>
            </a:r>
          </a:p>
          <a:p>
            <a:endParaRPr lang="en-US" sz="1200" dirty="0"/>
          </a:p>
          <a:p>
            <a:r>
              <a:rPr lang="en-US" sz="1200" dirty="0"/>
              <a:t>Q35 [ADVANCED] An ETL job slows a dashboard. What architectural feature fixes this and how?</a:t>
            </a:r>
          </a:p>
          <a:p>
            <a:r>
              <a:rPr lang="en-US" sz="1200" dirty="0"/>
              <a:t>Answer: Compute isolation: put ETL and BI on separate virtual warehouses. They share the same data but not compute, so neither slows the other.</a:t>
            </a:r>
          </a:p>
          <a:p>
            <a:r>
              <a:rPr lang="en-US" sz="1200" dirty="0"/>
              <a:t>Explanation: This is the classic Snowflake answer to 'noisy neighbor' problems: separate warehouses per workload, sized independently, with no duplicated data.</a:t>
            </a:r>
          </a:p>
          <a:p>
            <a:endParaRPr lang="en-US" sz="12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3: Key Terms Glossary. 15 questions. Covers Deck slide 5 of the main deck.</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Q36 [BASIC] What is a Snowflake account?</a:t>
            </a:r>
          </a:p>
          <a:p>
            <a:r>
              <a:rPr lang="en-US" sz="1200" dirty="0"/>
              <a:t>Answer: Your Snowflake instance, hosted in one region of one cloud provider, identified by an account identifier such as myorg-analytics.</a:t>
            </a:r>
          </a:p>
          <a:p>
            <a:r>
              <a:rPr lang="en-US" sz="1200" dirty="0"/>
              <a:t>Explanation: Everything else (warehouses, databases, users) lives inside an account. Companies often have several accounts (e.g. dev and prod) grouped under one organization.</a:t>
            </a:r>
          </a:p>
          <a:p>
            <a:endParaRPr lang="en-US" sz="1200" dirty="0"/>
          </a:p>
          <a:p>
            <a:r>
              <a:rPr lang="en-US" sz="1200" dirty="0"/>
              <a:t>Q37 [BASIC] What is a virtual warehouse?</a:t>
            </a:r>
          </a:p>
          <a:p>
            <a:r>
              <a:rPr lang="en-US" sz="1200" dirty="0"/>
              <a:t>Answer: A named cluster of compute resources that runs queries, DML and loads. It consumes credits only while running.</a:t>
            </a:r>
          </a:p>
          <a:p>
            <a:r>
              <a:rPr lang="en-US" sz="1200" dirty="0"/>
              <a:t>Explanation: A warehouse is compute only and holds no data permanently. Name it after its workload (ETL_WH, BI_WH) so costs are easy to read.</a:t>
            </a:r>
          </a:p>
          <a:p>
            <a:endParaRPr lang="en-US" sz="1200" dirty="0"/>
          </a:p>
          <a:p>
            <a:r>
              <a:rPr lang="en-US" sz="1200" dirty="0"/>
              <a:t>Q38 [BASIC] Is a warehouse the same thing as a database in Snowflake?</a:t>
            </a:r>
          </a:p>
          <a:p>
            <a:r>
              <a:rPr lang="en-US" sz="1200" dirty="0"/>
              <a:t>Answer: No. A warehouse is COMPUTE; a database is a logical container of STORED data. You need both to run a query on table data.</a:t>
            </a:r>
          </a:p>
          <a:p>
            <a:r>
              <a:rPr lang="en-US" sz="1200" dirty="0"/>
              <a:t>Explanation: A common beginner confusion: elsewhere 'data warehouse' means the database. In Snowflake the database holds data and the 'warehouse' is the engine that runs queries.</a:t>
            </a:r>
          </a:p>
          <a:p>
            <a:endParaRPr lang="en-US"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Q39 [BASIC] What is a database?</a:t>
            </a:r>
          </a:p>
          <a:p>
            <a:r>
              <a:rPr lang="en-US" sz="1200" dirty="0"/>
              <a:t>Answer: The top-level logical container that holds schemas.</a:t>
            </a:r>
          </a:p>
          <a:p>
            <a:r>
              <a:rPr lang="en-US" sz="1200" dirty="0"/>
              <a:t>Explanation: Typical pattern: one database per domain or environment, e.g. SALES_DB, FINANCE_DB, or RAW_DB / ANALYTICS_DB.</a:t>
            </a:r>
          </a:p>
          <a:p>
            <a:endParaRPr lang="en-US" sz="1200" dirty="0"/>
          </a:p>
          <a:p>
            <a:r>
              <a:rPr lang="en-US" sz="1200" dirty="0"/>
              <a:t>Q40 [BASIC] What is a schema?</a:t>
            </a:r>
          </a:p>
          <a:p>
            <a:r>
              <a:rPr lang="en-US" sz="1200" dirty="0"/>
              <a:t>Answer: A logical grouping inside a database that holds tables, views, stages, file formats, sequences, functions, procedures, tasks, streams and pipes.</a:t>
            </a:r>
          </a:p>
          <a:p>
            <a:r>
              <a:rPr lang="en-US" sz="1200" dirty="0"/>
              <a:t>Explanation: Schemas organize objects by purpose or layer, e.g. RAW (landing), STAGING (cleaned), MART (reporting), and are a natural unit for granting access.</a:t>
            </a:r>
          </a:p>
          <a:p>
            <a:endParaRPr lang="en-US" sz="1200" dirty="0"/>
          </a:p>
          <a:p>
            <a:r>
              <a:rPr lang="en-US" sz="1200" dirty="0"/>
              <a:t>Q41 [BASIC] What is the difference between a table and a view?</a:t>
            </a:r>
          </a:p>
          <a:p>
            <a:r>
              <a:rPr lang="en-US" sz="1200" dirty="0"/>
              <a:t>Answer: A table stores rows of data; a view is a saved SQL query that returns data from tables when queried (a materialized view stores the pre-computed result).</a:t>
            </a:r>
          </a:p>
          <a:p>
            <a:r>
              <a:rPr lang="en-US" sz="1200" dirty="0"/>
              <a:t>Explanation: Views hide complexity and control access (e.g. expose only some columns). Materialized views (Enterprise) store results for speed and are kept up to date automatically.</a:t>
            </a:r>
          </a:p>
          <a:p>
            <a:endParaRPr lang="en-US" sz="12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Q42 [BASIC] What is a stage?</a:t>
            </a:r>
          </a:p>
          <a:p>
            <a:r>
              <a:rPr lang="en-US" sz="1200" dirty="0"/>
              <a:t>Answer: A location where data files are stored for loading into or unloading out of tables. It can be internal (Snowflake-managed) or external (S3/Azure/GCS).</a:t>
            </a:r>
          </a:p>
          <a:p>
            <a:r>
              <a:rPr lang="en-US" sz="1200" dirty="0"/>
              <a:t>Explanation: Files must be in a stage before COPY INTO can load them. Think of a stage as the loading dock between the outside world and your tables.</a:t>
            </a:r>
          </a:p>
          <a:p>
            <a:endParaRPr lang="en-US" sz="1200" dirty="0"/>
          </a:p>
          <a:p>
            <a:r>
              <a:rPr lang="en-US" sz="1200" dirty="0"/>
              <a:t>Q43 [BASIC] What is a file format object?</a:t>
            </a:r>
          </a:p>
          <a:p>
            <a:r>
              <a:rPr lang="en-US" sz="1200" dirty="0"/>
              <a:t>Answer: A named object describing how to parse files (type, delimiter, header, quoting, NULL handling, compression, etc.).</a:t>
            </a:r>
          </a:p>
          <a:p>
            <a:r>
              <a:rPr lang="en-US" sz="1200" dirty="0"/>
              <a:t>Explanation: Define a file format once and reuse it across stages and COPY statements, so everyone parses files the same way.</a:t>
            </a:r>
          </a:p>
          <a:p>
            <a:endParaRPr lang="en-US" sz="1200" dirty="0"/>
          </a:p>
          <a:p>
            <a:r>
              <a:rPr lang="en-US" sz="1200" dirty="0"/>
              <a:t>Q44 [BASIC] What is a role?</a:t>
            </a:r>
          </a:p>
          <a:p>
            <a:r>
              <a:rPr lang="en-US" sz="1200" dirty="0"/>
              <a:t>Answer: A named set of privileges. Roles are granted to users (and other roles); users act through roles.</a:t>
            </a:r>
          </a:p>
          <a:p>
            <a:r>
              <a:rPr lang="en-US" sz="1200" dirty="0"/>
              <a:t>Explanation: Example: role ANALYST has SELECT on sales tables. Grant it to 50 users once; changing the role's privileges updates access for all of them.</a:t>
            </a:r>
          </a:p>
          <a:p>
            <a:endParaRPr 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Q45 [BASIC] What is a credit?</a:t>
            </a:r>
          </a:p>
          <a:p>
            <a:r>
              <a:rPr lang="en-US" sz="1200" dirty="0"/>
              <a:t>Answer: The unit used to measure (and bill) compute usage. An X-Small warehouse uses 1 credit per hour.</a:t>
            </a:r>
          </a:p>
          <a:p>
            <a:r>
              <a:rPr lang="en-US" sz="1200" dirty="0"/>
              <a:t>Explanation: Credits turn compute time into money: cost = credits used × price per credit (depends on edition and region). Serverless features consume credits too.</a:t>
            </a:r>
          </a:p>
          <a:p>
            <a:endParaRPr lang="en-US" sz="1200" dirty="0"/>
          </a:p>
          <a:p>
            <a:r>
              <a:rPr lang="en-US" sz="1200" dirty="0"/>
              <a:t>Q46 [BASIC] What is Time Travel?</a:t>
            </a:r>
          </a:p>
          <a:p>
            <a:r>
              <a:rPr lang="en-US" sz="1200" dirty="0"/>
              <a:t>Answer: The ability to query, clone or restore data as it existed at an earlier point within the retention period.</a:t>
            </a:r>
          </a:p>
          <a:p>
            <a:r>
              <a:rPr lang="en-US" sz="1200" dirty="0"/>
              <a:t>Explanation: Example: deleted rows by mistake an hour ago? SELECT * FROM orders AT(OFFSET =&gt; -3600) shows the table as it was an hour ago.</a:t>
            </a:r>
          </a:p>
          <a:p>
            <a:endParaRPr lang="en-US" sz="1200" dirty="0"/>
          </a:p>
          <a:p>
            <a:r>
              <a:rPr lang="en-US" sz="1200" dirty="0"/>
              <a:t>Q47 [INTERMEDIATE] What is Fail-safe?</a:t>
            </a:r>
          </a:p>
          <a:p>
            <a:r>
              <a:rPr lang="en-US" sz="1200" dirty="0"/>
              <a:t>Answer: A 7-day period after Time Travel ends during which Snowflake itself can recover permanent-table data. It's not user-accessible, for disaster recovery only.</a:t>
            </a:r>
          </a:p>
          <a:p>
            <a:r>
              <a:rPr lang="en-US" sz="1200" dirty="0"/>
              <a:t>Explanation: Fail-safe is Snowflake's last line of defense. You can't query it yourself, only Support can recover from it, and it adds storage cost.</a:t>
            </a:r>
          </a:p>
          <a:p>
            <a:endParaRPr lang="en-US"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Q48 [BASIC] What is a fully-qualified name?</a:t>
            </a:r>
          </a:p>
          <a:p>
            <a:r>
              <a:rPr lang="en-US" sz="1200" dirty="0"/>
              <a:t>Answer: DATABASE.SCHEMA.OBJECT, for example SALES_DB.RAW.ORDERS.</a:t>
            </a:r>
          </a:p>
          <a:p>
            <a:r>
              <a:rPr lang="en-US" sz="1200" dirty="0"/>
              <a:t>Explanation: Fully qualifying names avoids ambiguity when the session context is different. Always use them in scripts and scheduled jobs.</a:t>
            </a:r>
          </a:p>
          <a:p>
            <a:endParaRPr lang="en-US" sz="1200" dirty="0"/>
          </a:p>
          <a:p>
            <a:r>
              <a:rPr lang="en-US" sz="1200" dirty="0"/>
              <a:t>Q49 [INTERMEDIATE] What is an organization in Snowflake?</a:t>
            </a:r>
          </a:p>
          <a:p>
            <a:r>
              <a:rPr lang="en-US" sz="1200" dirty="0"/>
              <a:t>Answer: A top-level entity that groups and manages all accounts owned by a business, administered by the ORGADMIN role.</a:t>
            </a:r>
          </a:p>
          <a:p>
            <a:r>
              <a:rPr lang="en-US" sz="1200" dirty="0"/>
              <a:t>Explanation: ORGADMIN (or the organization account) can create new accounts, view usage across all accounts, and manage replication between them.</a:t>
            </a:r>
          </a:p>
          <a:p>
            <a:endParaRPr lang="en-US" sz="1200" dirty="0"/>
          </a:p>
          <a:p>
            <a:r>
              <a:rPr lang="en-US" sz="1200" dirty="0"/>
              <a:t>Q50 [INTERMEDIATE] What do the symbols @~, @%orders and @my_stage mean?</a:t>
            </a:r>
          </a:p>
          <a:p>
            <a:r>
              <a:rPr lang="en-US" sz="1200" dirty="0"/>
              <a:t>Answer: @~ = your user stage; @%orders = the table stage of ORDERS; @my_stage = a named stage.</a:t>
            </a:r>
          </a:p>
          <a:p>
            <a:r>
              <a:rPr lang="en-US" sz="1200" dirty="0"/>
              <a:t>Explanation: The @ prefix always means 'stage'. ~ is your personal area, % plus a table name is that table's own area, and a plain name is a stage object you created.</a:t>
            </a:r>
          </a:p>
          <a:p>
            <a:endParaRPr 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4: Editions, Clouds &amp; Regions. 15 questions. Covers Deck slide 6 of the main deck.</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Q51 [BASIC] Name the four Snowflake editions.</a:t>
            </a:r>
          </a:p>
          <a:p>
            <a:r>
              <a:rPr lang="en-US" sz="1200" dirty="0"/>
              <a:t>Answer: Standard, Enterprise, Business Critical, and Virtual Private Snowflake (VPS).</a:t>
            </a:r>
          </a:p>
          <a:p>
            <a:r>
              <a:rPr lang="en-US" sz="1200" dirty="0"/>
              <a:t>Explanation: Editions differ in features, security and price per credit, not in core performance. An account's edition can be upgraded later.</a:t>
            </a:r>
          </a:p>
          <a:p>
            <a:endParaRPr lang="en-US" sz="1200" dirty="0"/>
          </a:p>
          <a:p>
            <a:r>
              <a:rPr lang="en-US" sz="1200" dirty="0"/>
              <a:t>Q52 [BASIC] Are the editions cumulative?</a:t>
            </a:r>
          </a:p>
          <a:p>
            <a:r>
              <a:rPr lang="en-US" sz="1200" dirty="0"/>
              <a:t>Answer: Yes. Each higher edition includes all features of the editions below it.</a:t>
            </a:r>
          </a:p>
          <a:p>
            <a:r>
              <a:rPr lang="en-US" sz="1200" dirty="0"/>
              <a:t>Explanation: Everything in Standard is also in Enterprise, and so on up. Choosing an edition means asking 'which extra features do I need?'</a:t>
            </a:r>
          </a:p>
          <a:p>
            <a:endParaRPr lang="en-US" sz="1200" dirty="0"/>
          </a:p>
          <a:p>
            <a:r>
              <a:rPr lang="en-US" sz="1200" dirty="0"/>
              <a:t>Q53 [BASIC] What is the maximum Time Travel retention on Standard edition?</a:t>
            </a:r>
          </a:p>
          <a:p>
            <a:r>
              <a:rPr lang="en-US" sz="1200" dirty="0"/>
              <a:t>Answer: 1 day.</a:t>
            </a:r>
          </a:p>
          <a:p>
            <a:r>
              <a:rPr lang="en-US" sz="1200" dirty="0"/>
              <a:t>Explanation: On Standard you can recover from a mistake yourself only within 24 hours (after that, 7-day Fail-safe via Support).</a:t>
            </a:r>
          </a:p>
          <a:p>
            <a:endParaRPr lang="en-US" sz="12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Q54 [BASIC] What is the maximum Time Travel retention on Enterprise and above?</a:t>
            </a:r>
          </a:p>
          <a:p>
            <a:r>
              <a:rPr lang="en-US" sz="1200" dirty="0"/>
              <a:t>Answer: Up to 90 days (for permanent objects).</a:t>
            </a:r>
          </a:p>
          <a:p>
            <a:r>
              <a:rPr lang="en-US" sz="1200" dirty="0"/>
              <a:t>Explanation: Longer retention protects against late-discovered mistakes but raises storage cost for frequently changed tables. It can be set per database, schema or table.</a:t>
            </a:r>
          </a:p>
          <a:p>
            <a:endParaRPr lang="en-US" sz="1200" dirty="0"/>
          </a:p>
          <a:p>
            <a:r>
              <a:rPr lang="en-US" sz="1200" dirty="0"/>
              <a:t>Q55 [INTERMEDIATE] Which edition first offers multi-cluster warehouses?</a:t>
            </a:r>
          </a:p>
          <a:p>
            <a:r>
              <a:rPr lang="en-US" sz="1200" dirty="0"/>
              <a:t>Answer: Enterprise edition.</a:t>
            </a:r>
          </a:p>
          <a:p>
            <a:r>
              <a:rPr lang="en-US" sz="1200" dirty="0"/>
              <a:t>Explanation: Multi-cluster warehouses scale out automatically for concurrency, which BI with many users needs. It's one of the main reasons companies choose Enterprise.</a:t>
            </a:r>
          </a:p>
          <a:p>
            <a:endParaRPr lang="en-US" sz="1200" dirty="0"/>
          </a:p>
          <a:p>
            <a:r>
              <a:rPr lang="en-US" sz="1200" dirty="0"/>
              <a:t>Q56 [INTERMEDIATE] Name four features Enterprise adds over Standard.</a:t>
            </a:r>
          </a:p>
          <a:p>
            <a:r>
              <a:rPr lang="en-US" sz="1200" dirty="0"/>
              <a:t>Answer: Multi-cluster warehouses, up to 90-day Time Travel, materialized views, search optimization, column-level (masking) and row-access policies, periodic rekeying.</a:t>
            </a:r>
          </a:p>
          <a:p>
            <a:r>
              <a:rPr lang="en-US" sz="1200" dirty="0"/>
              <a:t>Explanation: These are mostly governance and performance features for larger organizations: longer recovery windows, concurrency, and fine-grained data security.</a:t>
            </a:r>
          </a:p>
          <a:p>
            <a:endParaRPr 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Q57 [INTERMEDIATE] What does Business Critical add?</a:t>
            </a:r>
          </a:p>
          <a:p>
            <a:r>
              <a:rPr lang="en-US" sz="1200" dirty="0"/>
              <a:t>Answer: Support for regulated data (HIPAA, PCI DSS), Tri-Secret Secure (customer-managed keys), private connectivity (AWS PrivateLink / Azure Private Link / GCP PSC), and account failover/failback.</a:t>
            </a:r>
          </a:p>
          <a:p>
            <a:r>
              <a:rPr lang="en-US" sz="1200" dirty="0"/>
              <a:t>Explanation: Business Critical targets regulated industries (healthcare, finance) and companies that need disaster recovery with failover to another region.</a:t>
            </a:r>
          </a:p>
          <a:p>
            <a:endParaRPr lang="en-US" sz="1200" dirty="0"/>
          </a:p>
          <a:p>
            <a:r>
              <a:rPr lang="en-US" sz="1200" dirty="0"/>
              <a:t>Q58 [INTERMEDIATE] What is Tri-Secret Secure?</a:t>
            </a:r>
          </a:p>
          <a:p>
            <a:r>
              <a:rPr lang="en-US" sz="1200" dirty="0"/>
              <a:t>Answer: Encryption using a composite master key combining a Snowflake-managed key and a customer-managed key in the cloud provider's KMS (Business Critical).</a:t>
            </a:r>
          </a:p>
          <a:p>
            <a:r>
              <a:rPr lang="en-US" sz="1200" dirty="0"/>
              <a:t>Explanation: The customer can revoke its own key at any time, making the data unreadable even to Snowflake. It's the strongest encryption control available.</a:t>
            </a:r>
          </a:p>
          <a:p>
            <a:endParaRPr lang="en-US" sz="1200" dirty="0"/>
          </a:p>
          <a:p>
            <a:r>
              <a:rPr lang="en-US" sz="1200" dirty="0"/>
              <a:t>Q59 [INTERMEDIATE] What is Virtual Private Snowflake (VPS)?</a:t>
            </a:r>
          </a:p>
          <a:p>
            <a:r>
              <a:rPr lang="en-US" sz="1200" dirty="0"/>
              <a:t>Answer: The highest edition: a completely separate Snowflake environment (including metadata store and compute) isolated from other accounts.</a:t>
            </a:r>
          </a:p>
          <a:p>
            <a:r>
              <a:rPr lang="en-US" sz="1200" dirty="0"/>
              <a:t>Explanation: Used by organizations such as large financial institutions with the strictest regulatory needs. Nothing is shared with other customers' accounts.</a:t>
            </a:r>
          </a:p>
          <a:p>
            <a:endParaRPr lang="en-US" sz="12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Q60 [BASIC] How many regions/clouds does a single account live in?</a:t>
            </a:r>
          </a:p>
          <a:p>
            <a:r>
              <a:rPr lang="en-US" sz="1200" dirty="0"/>
              <a:t>Answer: Exactly one region on one cloud provider.</a:t>
            </a:r>
          </a:p>
          <a:p>
            <a:r>
              <a:rPr lang="en-US" sz="1200" dirty="0"/>
              <a:t>Explanation: The account's data and compute stay in that region. Data isn't spread across regions unless you replicate it to another account.</a:t>
            </a:r>
          </a:p>
          <a:p>
            <a:endParaRPr lang="en-US" sz="1200" dirty="0"/>
          </a:p>
          <a:p>
            <a:r>
              <a:rPr lang="en-US" sz="1200" dirty="0"/>
              <a:t>Q61 [INTERMEDIATE] How do you choose a region?</a:t>
            </a:r>
          </a:p>
          <a:p>
            <a:r>
              <a:rPr lang="en-US" sz="1200" dirty="0"/>
              <a:t>Answer: Close to your data sources and users (latency, egress cost), matching data-residency/compliance requirements and your cloud provider.</a:t>
            </a:r>
          </a:p>
          <a:p>
            <a:r>
              <a:rPr lang="en-US" sz="1200" dirty="0"/>
              <a:t>Explanation: Example: if raw files live in AWS S3 us-east-1, create the account in AWS US East to avoid cross-region transfer charges and extra latency.</a:t>
            </a:r>
          </a:p>
          <a:p>
            <a:endParaRPr lang="en-US" sz="1200" dirty="0"/>
          </a:p>
          <a:p>
            <a:r>
              <a:rPr lang="en-US" sz="1200" dirty="0"/>
              <a:t>Q62 [INTERMEDIATE] How do you make data available in another region or cloud?</a:t>
            </a:r>
          </a:p>
          <a:p>
            <a:r>
              <a:rPr lang="en-US" sz="1200" dirty="0"/>
              <a:t>Answer: Database/account replication (and replication/failover groups) to an account in the other region; or listings with cross-cloud auto-fulfillment for sharing.</a:t>
            </a:r>
          </a:p>
          <a:p>
            <a:r>
              <a:rPr lang="en-US" sz="1200" dirty="0"/>
              <a:t>Explanation: Replication keeps a secondary copy in sync with the primary (refreshed on a schedule), for disaster recovery or serving global users locally.</a:t>
            </a:r>
          </a:p>
          <a:p>
            <a:endParaRPr lang="en-US" sz="12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Q63 [ADVANCED] Which edition do you need for account failover/failback (business continuity)?</a:t>
            </a:r>
          </a:p>
          <a:p>
            <a:r>
              <a:rPr lang="en-US" sz="1200" dirty="0"/>
              <a:t>Answer: Business Critical (or higher). Database replication itself is available on all editions.</a:t>
            </a:r>
          </a:p>
          <a:p>
            <a:r>
              <a:rPr lang="en-US" sz="1200" dirty="0"/>
              <a:t>Explanation: Any edition can replicate databases for copies; failover (switching which account is primary, including users and roles) needs Business Critical.</a:t>
            </a:r>
          </a:p>
          <a:p>
            <a:endParaRPr lang="en-US" sz="1200" dirty="0"/>
          </a:p>
          <a:p>
            <a:r>
              <a:rPr lang="en-US" sz="1200" dirty="0"/>
              <a:t>Q64 [ADVANCED] A healthcare client must store PHI. Which edition should you recommend?</a:t>
            </a:r>
          </a:p>
          <a:p>
            <a:r>
              <a:rPr lang="en-US" sz="1200" dirty="0"/>
              <a:t>Answer: Business Critical (or VPS): it supports HIPAA/HITRUST requirements, Tri-Secret Secure and private connectivity.</a:t>
            </a:r>
          </a:p>
          <a:p>
            <a:r>
              <a:rPr lang="en-US" sz="1200" dirty="0"/>
              <a:t>Explanation: Regulated data needs specific compliance controls and a signed BAA with Snowflake. Standard or Enterprise alone doesn't meet these requirements.</a:t>
            </a:r>
          </a:p>
          <a:p>
            <a:endParaRPr lang="en-US" sz="1200" dirty="0"/>
          </a:p>
          <a:p>
            <a:r>
              <a:rPr lang="en-US" sz="1200" dirty="0"/>
              <a:t>Q65 [BASIC] Does the edition affect the price of a credit?</a:t>
            </a:r>
          </a:p>
          <a:p>
            <a:r>
              <a:rPr lang="en-US" sz="1200" dirty="0"/>
              <a:t>Answer: Yes. Credit price depends on edition, cloud provider and region; higher editions cost more per credit.</a:t>
            </a:r>
          </a:p>
          <a:p>
            <a:r>
              <a:rPr lang="en-US" sz="1200" dirty="0"/>
              <a:t>Explanation: Example: the same query using the same number of credits costs more money on Business Critical than on Standard in the same region.</a:t>
            </a:r>
          </a:p>
          <a:p>
            <a:endParaRPr lang="en-US" sz="12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5: Account &amp; Logging In. 12 questions. Covers Deck slides 7–8 of the main deck.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Q66 [BASIC] How long is the Snowflake free trial?</a:t>
            </a:r>
          </a:p>
          <a:p>
            <a:r>
              <a:rPr lang="en-US" sz="1200" dirty="0"/>
              <a:t>Answer: 30 days, with free usage credits and no credit card required.</a:t>
            </a:r>
          </a:p>
          <a:p>
            <a:r>
              <a:rPr lang="en-US" sz="1200" dirty="0"/>
              <a:t>Explanation: The trial is a full working account, so it's ideal for running every example in the main deck at no cost.</a:t>
            </a:r>
          </a:p>
          <a:p>
            <a:endParaRPr lang="en-US" sz="1200" dirty="0"/>
          </a:p>
          <a:p>
            <a:r>
              <a:rPr lang="en-US" sz="1200" dirty="0"/>
              <a:t>Q67 [BASIC] What three choices do you make when creating a trial account?</a:t>
            </a:r>
          </a:p>
          <a:p>
            <a:r>
              <a:rPr lang="en-US" sz="1200" dirty="0"/>
              <a:t>Answer: Edition, cloud provider, and region.</a:t>
            </a:r>
          </a:p>
          <a:p>
            <a:r>
              <a:rPr lang="en-US" sz="1200" dirty="0"/>
              <a:t>Explanation: Region and cloud are fixed for the account, so choose them to match where you'll actually use it.</a:t>
            </a:r>
          </a:p>
          <a:p>
            <a:endParaRPr lang="en-US" sz="1200" dirty="0"/>
          </a:p>
          <a:p>
            <a:r>
              <a:rPr lang="en-US" sz="1200" dirty="0"/>
              <a:t>Q68 [BASIC] What is Snowsight?</a:t>
            </a:r>
          </a:p>
          <a:p>
            <a:r>
              <a:rPr lang="en-US" sz="1200" dirty="0"/>
              <a:t>Answer: Snowflake's web user interface, used for worksheets, notebooks, dashboards, data browsing and administration.</a:t>
            </a:r>
          </a:p>
          <a:p>
            <a:r>
              <a:rPr lang="en-US" sz="1200" dirty="0"/>
              <a:t>Explanation: Snowsight replaced the older 'Classic Console'. Every example in the deck can be run from a Snowsight worksheet.</a:t>
            </a:r>
          </a:p>
          <a:p>
            <a:endParaRPr lang="en-US" sz="120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Q69 [BASIC] What URL do you use to open Snowsight?</a:t>
            </a:r>
          </a:p>
          <a:p>
            <a:r>
              <a:rPr lang="en-US" sz="1200" dirty="0"/>
              <a:t>Answer: app.snowflake.com (you then pick your account), or your account URL.</a:t>
            </a:r>
          </a:p>
          <a:p>
            <a:r>
              <a:rPr lang="en-US" sz="1200" dirty="0"/>
              <a:t>Explanation: app.snowflake.com lets you sign in and choose among the accounts you can access; direct account URLs also work.</a:t>
            </a:r>
          </a:p>
          <a:p>
            <a:endParaRPr lang="en-US" sz="1200" dirty="0"/>
          </a:p>
          <a:p>
            <a:r>
              <a:rPr lang="en-US" sz="1200" dirty="0"/>
              <a:t>Q70 [BASIC] What is the preferred account identifier format?</a:t>
            </a:r>
          </a:p>
          <a:p>
            <a:r>
              <a:rPr lang="en-US" sz="1200" dirty="0"/>
              <a:t>Answer: &lt;orgname&gt;-&lt;account_name&gt;, for example myorg-analytics.</a:t>
            </a:r>
          </a:p>
          <a:p>
            <a:r>
              <a:rPr lang="en-US" sz="1200" dirty="0"/>
              <a:t>Explanation: Org-based names are readable and stay stable even if the account moves. Drivers and the CLI accept this format in the account parameter.</a:t>
            </a:r>
          </a:p>
          <a:p>
            <a:endParaRPr lang="en-US" sz="1200" dirty="0"/>
          </a:p>
          <a:p>
            <a:r>
              <a:rPr lang="en-US" sz="1200" dirty="0"/>
              <a:t>Q71 [INTERMEDIATE] What is an account locator?</a:t>
            </a:r>
          </a:p>
          <a:p>
            <a:r>
              <a:rPr lang="en-US" sz="1200" dirty="0"/>
              <a:t>Answer: The legacy identifier format, e.g. xy12345.us-east-2.aws: a system-assigned locator plus region and cloud. It still works but the org-account name is preferred.</a:t>
            </a:r>
          </a:p>
          <a:p>
            <a:r>
              <a:rPr lang="en-US" sz="1200" dirty="0"/>
              <a:t>Explanation: The locator is auto-generated and tied to a region, so it's harder to remember. You'll still see it in older scripts and connection strings.</a:t>
            </a:r>
          </a:p>
          <a:p>
            <a:endParaRPr lang="en-US" sz="12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Q72 [BASIC] What does an account URL look like?</a:t>
            </a:r>
          </a:p>
          <a:p>
            <a:r>
              <a:rPr lang="en-US" sz="1200" dirty="0"/>
              <a:t>Answer: https://&lt;orgname&gt;-&lt;account_name&gt;.snowflakecomputing.com, e.g. https://myorg-analytics.snowflakecomputing.com.</a:t>
            </a:r>
          </a:p>
          <a:p>
            <a:r>
              <a:rPr lang="en-US" sz="1200" dirty="0"/>
              <a:t>Explanation: This URL is what drivers, BI tools and browsers use to reach your account. PrivateLink setups use a separate 'privatelink' URL.</a:t>
            </a:r>
          </a:p>
          <a:p>
            <a:endParaRPr lang="en-US" sz="1200" dirty="0"/>
          </a:p>
          <a:p>
            <a:r>
              <a:rPr lang="en-US" sz="1200" dirty="0"/>
              <a:t>Q73 [BASIC] Where can you find your account identifier in Snowsight?</a:t>
            </a:r>
          </a:p>
          <a:p>
            <a:r>
              <a:rPr lang="en-US" sz="1200" dirty="0"/>
              <a:t>Answer: The account menu at the bottom-left → account details (or 'Connect a tool to Snowflake').</a:t>
            </a:r>
          </a:p>
          <a:p>
            <a:r>
              <a:rPr lang="en-US" sz="1200" dirty="0"/>
              <a:t>Explanation: You'll need these values whenever you configure a tool (Snowflake CLI, Python, BI), so copy them from account details.</a:t>
            </a:r>
          </a:p>
          <a:p>
            <a:endParaRPr lang="en-US" sz="1200" dirty="0"/>
          </a:p>
          <a:p>
            <a:r>
              <a:rPr lang="en-US" sz="1200" dirty="0"/>
              <a:t>Q74 [INTERMEDIATE] Why should you enable MFA immediately?</a:t>
            </a:r>
          </a:p>
          <a:p>
            <a:r>
              <a:rPr lang="en-US" sz="1200" dirty="0"/>
              <a:t>Answer: Password-only (single-factor) sign-in for human users is being phased out by Snowflake, and MFA prevents credential-stuffing attacks.</a:t>
            </a:r>
          </a:p>
          <a:p>
            <a:r>
              <a:rPr lang="en-US" sz="1200" dirty="0"/>
              <a:t>Explanation: A stolen password alone can't open an MFA-protected account. Snowflake has been enforcing MFA for password-based human users.</a:t>
            </a:r>
          </a:p>
          <a:p>
            <a:endParaRPr lang="en-US" sz="12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Q75 [INTERMEDIATE] What authentication methods does Snowflake support?</a:t>
            </a:r>
          </a:p>
          <a:p>
            <a:r>
              <a:rPr lang="en-US" sz="1200" dirty="0"/>
              <a:t>Answer: Password + MFA, SSO via SAML (e.g. Okta/Azure AD), OAuth, key-pair authentication, and programmatic access tokens for services.</a:t>
            </a:r>
          </a:p>
          <a:p>
            <a:r>
              <a:rPr lang="en-US" sz="1200" dirty="0"/>
              <a:t>Explanation: Companies typically use SSO so people log in with corporate credentials, key-pair for automation, and OAuth for tools acting on a user's behalf.</a:t>
            </a:r>
          </a:p>
          <a:p>
            <a:endParaRPr lang="en-US" sz="1200" dirty="0"/>
          </a:p>
          <a:p>
            <a:r>
              <a:rPr lang="en-US" sz="1200" dirty="0"/>
              <a:t>Q76 [INTERMEDIATE] Which auth method is best for a service account running scheduled scripts?</a:t>
            </a:r>
          </a:p>
          <a:p>
            <a:r>
              <a:rPr lang="en-US" sz="1200" dirty="0"/>
              <a:t>Answer: Key-pair authentication (or OAuth / programmatic access tokens), not a password. Mark the user as TYPE = SERVICE.</a:t>
            </a:r>
          </a:p>
          <a:p>
            <a:r>
              <a:rPr lang="en-US" sz="1200" dirty="0"/>
              <a:t>Explanation: Passwords in scripts get leaked and expire. Key-pair uses a private key file (optionally encrypted) that's far harder to misuse.</a:t>
            </a:r>
          </a:p>
          <a:p>
            <a:endParaRPr lang="en-US" sz="1200" dirty="0"/>
          </a:p>
          <a:p>
            <a:r>
              <a:rPr lang="en-US" sz="1200" dirty="0"/>
              <a:t>Q77 [ADVANCED] Which SQL function returns your account and region?</a:t>
            </a:r>
          </a:p>
          <a:p>
            <a:r>
              <a:rPr lang="en-US" sz="1200" dirty="0"/>
              <a:t>Answer: SELECT CURRENT_ACCOUNT(), CURRENT_ACCOUNT_NAME(), CURRENT_ORGANIZATION_NAME(), CURRENT_REGION();</a:t>
            </a:r>
          </a:p>
          <a:p>
            <a:r>
              <a:rPr lang="en-US" sz="1200" dirty="0"/>
              <a:t>Explanation: Useful when you have several accounts (dev/test/prod): confirm you're in the right one before running changes.</a:t>
            </a:r>
          </a:p>
          <a:p>
            <a:endParaRPr lang="en-US" sz="12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6: Ways to Connect. 15 questions. Covers Deck slide 9 of the main deck.</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Q78 [BASIC] Name four ways to connect to Snowflake.</a:t>
            </a:r>
          </a:p>
          <a:p>
            <a:r>
              <a:rPr lang="en-US" sz="1200" dirty="0"/>
              <a:t>Answer: Snowsight (web UI), Snowflake CLI / SnowSQL (command line), drivers (JDBC, ODBC, Python, etc.), and connectors / partner tools (Spark, Kafka, dbt, Tableau, Power BI).</a:t>
            </a:r>
          </a:p>
          <a:p>
            <a:r>
              <a:rPr lang="en-US" sz="1200" dirty="0"/>
              <a:t>Explanation: Pick the tool for the job: Snowsight for interactive work, CLI for scripts and CI/CD, drivers for applications, partner tools for BI and ETL.</a:t>
            </a:r>
          </a:p>
          <a:p>
            <a:endParaRPr lang="en-US" sz="1200" dirty="0"/>
          </a:p>
          <a:p>
            <a:r>
              <a:rPr lang="en-US" sz="1200" dirty="0"/>
              <a:t>Q79 [BASIC] What is the Snowflake CLI?</a:t>
            </a:r>
          </a:p>
          <a:p>
            <a:r>
              <a:rPr lang="en-US" sz="1200" dirty="0"/>
              <a:t>Answer: The current command-line tool (command: snow) for running SQL and managing Snowpark, Streamlit and Native App projects.</a:t>
            </a:r>
          </a:p>
          <a:p>
            <a:r>
              <a:rPr lang="en-US" sz="1200" dirty="0"/>
              <a:t>Explanation: snow also deploys Streamlit apps, Snowpark functions and Native Apps, making it the all-in-one developer CLI.</a:t>
            </a:r>
          </a:p>
          <a:p>
            <a:endParaRPr lang="en-US" sz="1200" dirty="0"/>
          </a:p>
          <a:p>
            <a:r>
              <a:rPr lang="en-US" sz="1200" dirty="0"/>
              <a:t>Q80 [BASIC] What is SnowSQL?</a:t>
            </a:r>
          </a:p>
          <a:p>
            <a:r>
              <a:rPr lang="en-US" sz="1200" dirty="0"/>
              <a:t>Answer: Snowflake's older (legacy) command-line SQL client, still common in existing shell scripts.</a:t>
            </a:r>
          </a:p>
          <a:p>
            <a:r>
              <a:rPr lang="en-US" sz="1200" dirty="0"/>
              <a:t>Explanation: You'll still see snowsql -a &lt;account&gt; -u &lt;user&gt; in older automation. It works, but new features go to Snowflake CLI.</a:t>
            </a:r>
          </a:p>
          <a:p>
            <a:endParaRPr lang="en-US" sz="120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Q81 [BASIC] Which command-line tool is recommended for new projects?</a:t>
            </a:r>
          </a:p>
          <a:p>
            <a:r>
              <a:rPr lang="en-US" sz="1200" dirty="0"/>
              <a:t>Answer: Snowflake CLI (snow).</a:t>
            </a:r>
          </a:p>
          <a:p>
            <a:r>
              <a:rPr lang="en-US" sz="1200" dirty="0"/>
              <a:t>Explanation: Snowflake actively develops the new CLI and it covers both SQL and app development, so starting there avoids a migration later.</a:t>
            </a:r>
          </a:p>
          <a:p>
            <a:endParaRPr lang="en-US" sz="1200" dirty="0"/>
          </a:p>
          <a:p>
            <a:r>
              <a:rPr lang="en-US" sz="1200" dirty="0"/>
              <a:t>Q82 [INTERMEDIATE] How do you run a single query with Snowflake CLI?</a:t>
            </a:r>
          </a:p>
          <a:p>
            <a:r>
              <a:rPr lang="en-US" sz="1200" dirty="0"/>
              <a:t>Answer: snow sql -q "SELECT CURRENT_VERSION();" -c my_conn (where my_conn is a configured connection).</a:t>
            </a:r>
          </a:p>
          <a:p>
            <a:r>
              <a:rPr lang="en-US" sz="1200" dirty="0"/>
              <a:t>Explanation: -q passes the query text and -c picks a named connection holding account, user and auth details, so no credentials appear on the command line.</a:t>
            </a:r>
          </a:p>
          <a:p>
            <a:endParaRPr lang="en-US" sz="1200" dirty="0"/>
          </a:p>
          <a:p>
            <a:r>
              <a:rPr lang="en-US" sz="1200" dirty="0"/>
              <a:t>Q83 [INTERMEDIATE] Where are Snowflake CLI connections stored?</a:t>
            </a:r>
          </a:p>
          <a:p>
            <a:r>
              <a:rPr lang="en-US" sz="1200" dirty="0"/>
              <a:t>Answer: In ~/.snowflake/config.toml (created or edited with snow connection add).</a:t>
            </a:r>
          </a:p>
          <a:p>
            <a:r>
              <a:rPr lang="en-US" sz="1200" dirty="0"/>
              <a:t>Explanation: Keep this file private (it can contain credentials). Several named connections (dev, prod) can live side by side in it.</a:t>
            </a:r>
          </a:p>
          <a:p>
            <a:endParaRPr lang="en-US" sz="120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Q84 [BASIC] Name the main Snowflake drivers.</a:t>
            </a:r>
          </a:p>
          <a:p>
            <a:r>
              <a:rPr lang="en-US" sz="1200" dirty="0"/>
              <a:t>Answer: JDBC, ODBC, Python connector, Node.js, Go, .NET and PHP.</a:t>
            </a:r>
          </a:p>
          <a:p>
            <a:r>
              <a:rPr lang="en-US" sz="1200" dirty="0"/>
              <a:t>Explanation: Drivers let custom applications (Java apps, Python scripts, Node services) connect exactly like a SQL client.</a:t>
            </a:r>
          </a:p>
          <a:p>
            <a:endParaRPr lang="en-US" sz="1200" dirty="0"/>
          </a:p>
          <a:p>
            <a:r>
              <a:rPr lang="en-US" sz="1200" dirty="0"/>
              <a:t>Q85 [BASIC] How do you install the Python connector?</a:t>
            </a:r>
          </a:p>
          <a:p>
            <a:r>
              <a:rPr lang="en-US" sz="1200" dirty="0"/>
              <a:t>Answer: pip install snowflake-connector-python</a:t>
            </a:r>
          </a:p>
          <a:p>
            <a:r>
              <a:rPr lang="en-US" sz="1200" dirty="0"/>
              <a:t>Explanation: Add the pandas extra (snowflake-connector-python[pandas]) to fetch results directly as pandas DataFrames.</a:t>
            </a:r>
          </a:p>
          <a:p>
            <a:endParaRPr lang="en-US" sz="1200" dirty="0"/>
          </a:p>
          <a:p>
            <a:r>
              <a:rPr lang="en-US" sz="1200" dirty="0"/>
              <a:t>Q86 [INTERMEDIATE] What does authenticator='externalbrowser' do?</a:t>
            </a:r>
          </a:p>
          <a:p>
            <a:r>
              <a:rPr lang="en-US" sz="1200" dirty="0"/>
              <a:t>Answer: Opens your web browser for SSO login (e.g. corporate identity provider) instead of sending a password from the script.</a:t>
            </a:r>
          </a:p>
          <a:p>
            <a:r>
              <a:rPr lang="en-US" sz="1200" dirty="0"/>
              <a:t>Explanation: Ideal with Okta/Azure AD SSO: the user authenticates in the browser (with MFA) and the script receives a session, without storing a password.</a:t>
            </a:r>
          </a:p>
          <a:p>
            <a:endParaRPr lang="en-US" sz="120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Q87 [INTERMEDIATE] In the Python example, which parameters set the session context?</a:t>
            </a:r>
          </a:p>
          <a:p>
            <a:r>
              <a:rPr lang="en-US" sz="1200" dirty="0"/>
              <a:t>Answer: warehouse, database and schema (optionally role) in snowflake.connector.connect(...).</a:t>
            </a:r>
          </a:p>
          <a:p>
            <a:r>
              <a:rPr lang="en-US" sz="1200" dirty="0"/>
              <a:t>Explanation: Setting these at connect time avoids USE statements in the script and prevents 'no active warehouse' errors.</a:t>
            </a:r>
          </a:p>
          <a:p>
            <a:endParaRPr lang="en-US" sz="1200" dirty="0"/>
          </a:p>
          <a:p>
            <a:r>
              <a:rPr lang="en-US" sz="1200" dirty="0"/>
              <a:t>Q88 [BASIC] What does SELECT CURRENT_VERSION() return?</a:t>
            </a:r>
          </a:p>
          <a:p>
            <a:r>
              <a:rPr lang="en-US" sz="1200" dirty="0"/>
              <a:t>Answer: The version of Snowflake your account is currently running.</a:t>
            </a:r>
          </a:p>
          <a:p>
            <a:r>
              <a:rPr lang="en-US" sz="1200" dirty="0"/>
              <a:t>Explanation: A quick smoke test: if it returns a version number, your connection, authentication and settings all work.</a:t>
            </a:r>
          </a:p>
          <a:p>
            <a:endParaRPr lang="en-US" sz="1200" dirty="0"/>
          </a:p>
          <a:p>
            <a:r>
              <a:rPr lang="en-US" sz="1200" dirty="0"/>
              <a:t>Q89 [INTERMEDIATE] Can you run PUT from a Snowsight worksheet?</a:t>
            </a:r>
          </a:p>
          <a:p>
            <a:r>
              <a:rPr lang="en-US" sz="1200" dirty="0"/>
              <a:t>Answer: No. PUT/GET transfer local files, so they need a client with file-system access (Snowflake CLI, SnowSQL or a driver). In Snowsight use the Load Data / Add data UI.</a:t>
            </a:r>
          </a:p>
          <a:p>
            <a:r>
              <a:rPr lang="en-US" sz="1200" dirty="0"/>
              <a:t>Explanation: A browser worksheet can't read files on your computer's disk for PUT. Snowsight's upload UI uses a separate browser-based mechanism.</a:t>
            </a:r>
          </a:p>
          <a:p>
            <a:endParaRPr lang="en-US"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Q90 [INTERMEDIATE] What is Partner Connect?</a:t>
            </a:r>
          </a:p>
          <a:p>
            <a:r>
              <a:rPr lang="en-US" sz="1200" dirty="0"/>
              <a:t>Answer: A Snowsight feature that lets you quickly create trial accounts with certified partners (ETL, BI, etc.) pre-connected to your Snowflake account.</a:t>
            </a:r>
          </a:p>
          <a:p>
            <a:r>
              <a:rPr lang="en-US" sz="1200" dirty="0"/>
              <a:t>Explanation: It saves hours of setup: the partner tool's database, warehouse and role are created and connected automatically.</a:t>
            </a:r>
          </a:p>
          <a:p>
            <a:endParaRPr lang="en-US" sz="1200" dirty="0"/>
          </a:p>
          <a:p>
            <a:r>
              <a:rPr lang="en-US" sz="1200" dirty="0"/>
              <a:t>Q91 [INTERMEDIATE] Name two Snowflake connectors (not drivers).</a:t>
            </a:r>
          </a:p>
          <a:p>
            <a:r>
              <a:rPr lang="en-US" sz="1200" dirty="0"/>
              <a:t>Answer: Snowflake Connector for Spark and Snowflake Connector for Kafka (also Python connector is technically a connector).</a:t>
            </a:r>
          </a:p>
          <a:p>
            <a:r>
              <a:rPr lang="en-US" sz="1200" dirty="0"/>
              <a:t>Explanation: Connectors integrate Snowflake with other platforms (Spark jobs, Kafka streams); drivers are generic database APIs.</a:t>
            </a:r>
          </a:p>
          <a:p>
            <a:endParaRPr lang="en-US" sz="1200" dirty="0"/>
          </a:p>
          <a:p>
            <a:r>
              <a:rPr lang="en-US" sz="1200" dirty="0"/>
              <a:t>Q92 [ADVANCED] A BI tool needs a connection. What 5 things must you give it?</a:t>
            </a:r>
          </a:p>
          <a:p>
            <a:r>
              <a:rPr lang="en-US" sz="1200" dirty="0"/>
              <a:t>Answer: Account identifier, user + authentication method, role, warehouse, and default database/schema.</a:t>
            </a:r>
          </a:p>
          <a:p>
            <a:r>
              <a:rPr lang="en-US" sz="1200" dirty="0"/>
              <a:t>Explanation: These map directly to the Snowflake session context. A missing one is the most common cause of connection or 'not authorized' errors in BI tools.</a:t>
            </a:r>
          </a:p>
          <a:p>
            <a:endParaRPr lang="en-US" sz="120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7: Snowsight Tour. 10 questions. Covers Deck slide 10 of the main deck.</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Q93 [BASIC] What are the main areas of the Snowsight left navigation?</a:t>
            </a:r>
          </a:p>
          <a:p>
            <a:r>
              <a:rPr lang="en-US" sz="1200" dirty="0"/>
              <a:t>Answer: Projects, Data, Data Products, AI &amp; ML, Monitoring and Admin (exact labels may change between releases).</a:t>
            </a:r>
          </a:p>
          <a:p>
            <a:r>
              <a:rPr lang="en-US" sz="1200" dirty="0"/>
              <a:t>Explanation: Labels change between Snowsight releases, so learn the purpose of each area rather than its exact name.</a:t>
            </a:r>
          </a:p>
          <a:p>
            <a:endParaRPr lang="en-US" sz="1200" dirty="0"/>
          </a:p>
          <a:p>
            <a:r>
              <a:rPr lang="en-US" sz="1200" dirty="0"/>
              <a:t>Q94 [BASIC] What can you create under Projects?</a:t>
            </a:r>
          </a:p>
          <a:p>
            <a:r>
              <a:rPr lang="en-US" sz="1200" dirty="0"/>
              <a:t>Answer: Worksheets (SQL / Python), Notebooks, Streamlit apps and Dashboards.</a:t>
            </a:r>
          </a:p>
          <a:p>
            <a:r>
              <a:rPr lang="en-US" sz="1200" dirty="0"/>
              <a:t>Explanation: Worksheets hold SQL scripts, Notebooks mix SQL/Python/Markdown cells, Streamlit builds data apps, and Dashboards show charts from worksheet queries.</a:t>
            </a:r>
          </a:p>
          <a:p>
            <a:endParaRPr lang="en-US" sz="1200" dirty="0"/>
          </a:p>
          <a:p>
            <a:r>
              <a:rPr lang="en-US" sz="1200" dirty="0"/>
              <a:t>Q95 [BASIC] Where do you browse databases, schemas and tables?</a:t>
            </a:r>
          </a:p>
          <a:p>
            <a:r>
              <a:rPr lang="en-US" sz="1200" dirty="0"/>
              <a:t>Answer: Data → Databases (the database explorer / object browser).</a:t>
            </a:r>
          </a:p>
          <a:p>
            <a:r>
              <a:rPr lang="en-US" sz="1200" dirty="0"/>
              <a:t>Explanation: The explorer shows columns, a data preview, privileges and DDL for each object, a quick way to understand a table without writing SQL.</a:t>
            </a:r>
          </a:p>
          <a:p>
            <a:endParaRPr lang="en-US" sz="12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Q96 [BASIC] Where do you find past queries?</a:t>
            </a:r>
          </a:p>
          <a:p>
            <a:r>
              <a:rPr lang="en-US" sz="1200" dirty="0"/>
              <a:t>Answer: Monitoring → Query History.</a:t>
            </a:r>
          </a:p>
          <a:p>
            <a:r>
              <a:rPr lang="en-US" sz="1200" dirty="0"/>
              <a:t>Explanation: Filter by user, warehouse, status or time, then open any query to see its SQL, duration and Query Profile.</a:t>
            </a:r>
          </a:p>
          <a:p>
            <a:endParaRPr lang="en-US" sz="1200" dirty="0"/>
          </a:p>
          <a:p>
            <a:r>
              <a:rPr lang="en-US" sz="1200" dirty="0"/>
              <a:t>Q97 [INTERMEDIATE] What is Copy History used for?</a:t>
            </a:r>
          </a:p>
          <a:p>
            <a:r>
              <a:rPr lang="en-US" sz="1200" dirty="0"/>
              <a:t>Answer: Viewing the results of data loads (COPY INTO and Snowpipe): files, rows loaded, errors.</a:t>
            </a:r>
          </a:p>
          <a:p>
            <a:r>
              <a:rPr lang="en-US" sz="1200" dirty="0"/>
              <a:t>Explanation: Check here first when a load 'didn't work': it shows which files were loaded, skipped or failed, with error messages.</a:t>
            </a:r>
          </a:p>
          <a:p>
            <a:endParaRPr lang="en-US" sz="1200" dirty="0"/>
          </a:p>
          <a:p>
            <a:r>
              <a:rPr lang="en-US" sz="1200" dirty="0"/>
              <a:t>Q98 [BASIC] Where do you manage warehouses, users/roles and cost?</a:t>
            </a:r>
          </a:p>
          <a:p>
            <a:r>
              <a:rPr lang="en-US" sz="1200" dirty="0"/>
              <a:t>Answer: Admin → Warehouses, Users &amp; Roles, Cost Management.</a:t>
            </a:r>
          </a:p>
          <a:p>
            <a:r>
              <a:rPr lang="en-US" sz="1200" dirty="0"/>
              <a:t>Explanation: Admins use these pages to create or resize warehouses, manage users and follow cost trends without writing SQL.</a:t>
            </a:r>
          </a:p>
          <a:p>
            <a:endParaRPr lang="en-US" sz="12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Q99 [BASIC] What are the three context selectors at the top of a worksheet?</a:t>
            </a:r>
          </a:p>
          <a:p>
            <a:r>
              <a:rPr lang="en-US" sz="1200" dirty="0"/>
              <a:t>Answer: Role, warehouse, and database.schema.</a:t>
            </a:r>
          </a:p>
          <a:p>
            <a:r>
              <a:rPr lang="en-US" sz="1200" dirty="0"/>
              <a:t>Explanation: These three decide what you can see and which compute you use. They're the same as running USE ROLE, USE WAREHOUSE and USE SCHEMA.</a:t>
            </a:r>
          </a:p>
          <a:p>
            <a:endParaRPr lang="en-US" sz="1200" dirty="0"/>
          </a:p>
          <a:p>
            <a:r>
              <a:rPr lang="en-US" sz="1200" dirty="0"/>
              <a:t>Q100 [BASIC] What keyboard shortcut runs the current statement in a worksheet?</a:t>
            </a:r>
          </a:p>
          <a:p>
            <a:r>
              <a:rPr lang="en-US" sz="1200" dirty="0"/>
              <a:t>Answer: Cmd + Enter (Mac) / Ctrl + Enter (Windows).</a:t>
            </a:r>
          </a:p>
          <a:p>
            <a:r>
              <a:rPr lang="en-US" sz="1200" dirty="0"/>
              <a:t>Explanation: Run All executes the whole worksheet; the shortcut runs only the statement under your cursor, which is safer while learning.</a:t>
            </a:r>
          </a:p>
          <a:p>
            <a:endParaRPr lang="en-US" sz="1200" dirty="0"/>
          </a:p>
          <a:p>
            <a:r>
              <a:rPr lang="en-US" sz="1200" dirty="0"/>
              <a:t>Q101 [INTERMEDIATE] What is the Query Profile?</a:t>
            </a:r>
          </a:p>
          <a:p>
            <a:r>
              <a:rPr lang="en-US" sz="1200" dirty="0"/>
              <a:t>Answer: A graphical plan of an executed query showing operators, time spent, bytes scanned, partitions pruned, spilling, etc. It's used for performance tuning.</a:t>
            </a:r>
          </a:p>
          <a:p>
            <a:r>
              <a:rPr lang="en-US" sz="1200" dirty="0"/>
              <a:t>Explanation: Look for the most expensive operator, 'bytes spilled', partitions scanned vs total (pruning) and exploding joins to see why a query is slow.</a:t>
            </a:r>
          </a:p>
          <a:p>
            <a:endParaRPr lang="en-US" sz="12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Q102 [ADVANCED] Your query result looks wrong in Snowsight. What is the first thing to check?</a:t>
            </a:r>
          </a:p>
          <a:p>
            <a:r>
              <a:rPr lang="en-US" sz="1200" dirty="0"/>
              <a:t>Answer: The context selectors (role, warehouse, database.schema). You may be querying a different schema's table with the same name, or using a role that sees fewer rows.</a:t>
            </a:r>
          </a:p>
          <a:p>
            <a:r>
              <a:rPr lang="en-US" sz="1200" dirty="0"/>
              <a:t>Explanation: Two schemas can each contain an ORDERS table. With the wrong schema selected you'll query the wrong one and get no error.</a:t>
            </a:r>
          </a:p>
          <a:p>
            <a:endParaRPr lang="en-US" sz="1200"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8: Object Hierarchy &amp; Naming. 15 questions. Covers Deck slide 11 of the main deck.</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Q103 [BASIC] Describe the object hierarchy from top to bottom.</a:t>
            </a:r>
          </a:p>
          <a:p>
            <a:r>
              <a:rPr lang="en-US" sz="1200" dirty="0"/>
              <a:t>Answer: Organization → Account → Database → Schema → schema objects (tables, views, stages, etc.).</a:t>
            </a:r>
          </a:p>
          <a:p>
            <a:r>
              <a:rPr lang="en-US" sz="1200" dirty="0"/>
              <a:t>Explanation: Each level is a container for the next. Privileges follow the same path: you need access at every level to reach an object.</a:t>
            </a:r>
          </a:p>
          <a:p>
            <a:endParaRPr lang="en-US" sz="1200" dirty="0"/>
          </a:p>
          <a:p>
            <a:r>
              <a:rPr lang="en-US" sz="1200" dirty="0"/>
              <a:t>Q104 [BASIC] Name five account-level objects.</a:t>
            </a:r>
          </a:p>
          <a:p>
            <a:r>
              <a:rPr lang="en-US" sz="1200" dirty="0"/>
              <a:t>Answer: Users, roles, warehouses, databases, integrations, resource monitors (also network policies, shares).</a:t>
            </a:r>
          </a:p>
          <a:p>
            <a:r>
              <a:rPr lang="en-US" sz="1200" dirty="0"/>
              <a:t>Explanation: These aren't inside any database. For example, a warehouse can work with any database, and a user can access many databases.</a:t>
            </a:r>
          </a:p>
          <a:p>
            <a:endParaRPr lang="en-US" sz="1200" dirty="0"/>
          </a:p>
          <a:p>
            <a:r>
              <a:rPr lang="en-US" sz="1200" dirty="0"/>
              <a:t>Q105 [BASIC] Name six schema-level objects.</a:t>
            </a:r>
          </a:p>
          <a:p>
            <a:r>
              <a:rPr lang="en-US" sz="1200" dirty="0"/>
              <a:t>Answer: Tables, views, stages, file formats, sequences, functions/UDFs, stored procedures, tasks, streams, pipes.</a:t>
            </a:r>
          </a:p>
          <a:p>
            <a:r>
              <a:rPr lang="en-US" sz="1200" dirty="0"/>
              <a:t>Explanation: Almost all data work uses schema-level objects, referenced as database.schema.object.</a:t>
            </a:r>
          </a:p>
          <a:p>
            <a:endParaRPr lang="en-US" sz="1200"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Q106 [BASIC] Which two schemas does every new database get automatically?</a:t>
            </a:r>
          </a:p>
          <a:p>
            <a:r>
              <a:rPr lang="en-US" sz="1200" dirty="0"/>
              <a:t>Answer: PUBLIC and INFORMATION_SCHEMA.</a:t>
            </a:r>
          </a:p>
          <a:p>
            <a:r>
              <a:rPr lang="en-US" sz="1200" dirty="0"/>
              <a:t>Explanation: PUBLIC is an empty default schema for your objects; INFORMATION_SCHEMA is created automatically, read-only, and can't be dropped.</a:t>
            </a:r>
          </a:p>
          <a:p>
            <a:endParaRPr lang="en-US" sz="1200" dirty="0"/>
          </a:p>
          <a:p>
            <a:r>
              <a:rPr lang="en-US" sz="1200" dirty="0"/>
              <a:t>Q107 [BASIC] What is INFORMATION_SCHEMA?</a:t>
            </a:r>
          </a:p>
          <a:p>
            <a:r>
              <a:rPr lang="en-US" sz="1200" dirty="0"/>
              <a:t>Answer: A read-only schema of views and table functions describing the objects in that database (tables, columns, etc.) plus some account-level functions (e.g. QUERY_HISTORY).</a:t>
            </a:r>
          </a:p>
          <a:p>
            <a:r>
              <a:rPr lang="en-US" sz="1200" dirty="0"/>
              <a:t>Explanation: Example: SELECT table_name, row_count FROM sales_db.information_schema.tables WHERE table_schema = 'RAW';</a:t>
            </a:r>
          </a:p>
          <a:p>
            <a:endParaRPr lang="en-US" sz="1200" dirty="0"/>
          </a:p>
          <a:p>
            <a:r>
              <a:rPr lang="en-US" sz="1200" dirty="0"/>
              <a:t>Q108 [BASIC] Is a warehouse a schema object?</a:t>
            </a:r>
          </a:p>
          <a:p>
            <a:r>
              <a:rPr lang="en-US" sz="1200" dirty="0"/>
              <a:t>Answer: No. Warehouses are account-level objects, independent of any database.</a:t>
            </a:r>
          </a:p>
          <a:p>
            <a:r>
              <a:rPr lang="en-US" sz="1200" dirty="0"/>
              <a:t>Explanation: That's why any warehouse can query any database: compute isn't tied to data.</a:t>
            </a:r>
          </a:p>
          <a:p>
            <a:endParaRPr lang="en-US" sz="1200"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Q109 [BASIC] How are unquoted identifiers stored?</a:t>
            </a:r>
          </a:p>
          <a:p>
            <a:r>
              <a:rPr lang="en-US" sz="1200" dirty="0"/>
              <a:t>Answer: In UPPERCASE and resolved case-insensitively: orders, Orders and ORDERS are the same table.</a:t>
            </a:r>
          </a:p>
          <a:p>
            <a:r>
              <a:rPr lang="en-US" sz="1200" dirty="0"/>
              <a:t>Explanation: This matches the SQL standard and means you rarely worry about case, as long as you don't use double quotes.</a:t>
            </a:r>
          </a:p>
          <a:p>
            <a:endParaRPr lang="en-US" sz="1200" dirty="0"/>
          </a:p>
          <a:p>
            <a:r>
              <a:rPr lang="en-US" sz="1200" dirty="0"/>
              <a:t>Q110 [INTERMEDIATE] What happens with a quoted identifier like "orders"?</a:t>
            </a:r>
          </a:p>
          <a:p>
            <a:r>
              <a:rPr lang="en-US" sz="1200" dirty="0"/>
              <a:t>Answer: It is stored exactly as written and is case-sensitive; you must always quote it ("orders"). SELECT * FROM orders would look for ORDERS and fail.</a:t>
            </a:r>
          </a:p>
          <a:p>
            <a:r>
              <a:rPr lang="en-US" sz="1200" dirty="0"/>
              <a:t>Explanation: Tools that auto-generate DDL (some ETL tools, pandas to_sql) often create quoted lowercase names, a frequent source of confusion.</a:t>
            </a:r>
          </a:p>
          <a:p>
            <a:endParaRPr lang="en-US" sz="1200" dirty="0"/>
          </a:p>
          <a:p>
            <a:r>
              <a:rPr lang="en-US" sz="1200" dirty="0"/>
              <a:t>Q111 [INTERMEDIATE] Why avoid quoted identifiers?</a:t>
            </a:r>
          </a:p>
          <a:p>
            <a:r>
              <a:rPr lang="en-US" sz="1200" dirty="0"/>
              <a:t>Answer: They force exact-case quoting everywhere, cause 'object does not exist' errors, and break tools that uppercase names.</a:t>
            </a:r>
          </a:p>
          <a:p>
            <a:r>
              <a:rPr lang="en-US" sz="1200" dirty="0"/>
              <a:t>Explanation: Rule of thumb: unquoted UPPER_SNAKE_CASE names everywhere avoid a whole class of bugs.</a:t>
            </a:r>
          </a:p>
          <a:p>
            <a:endParaRPr lang="en-US" sz="1200"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Q112 [BASIC] Write two ways to query the ORDERS table in SALES_DB.RAW.</a:t>
            </a:r>
          </a:p>
          <a:p>
            <a:r>
              <a:rPr lang="en-US" sz="1200" dirty="0"/>
              <a:t>Answer: SELECT * FROM sales_db.raw.orders;  or  USE SCHEMA sales_db.raw; SELECT * FROM orders;</a:t>
            </a:r>
          </a:p>
          <a:p>
            <a:r>
              <a:rPr lang="en-US" sz="1200" dirty="0"/>
              <a:t>Explanation: Fully qualified names are safer in scripts; USE is convenient interactively. Both reach the same object.</a:t>
            </a:r>
          </a:p>
          <a:p>
            <a:endParaRPr lang="en-US" sz="1200" dirty="0"/>
          </a:p>
          <a:p>
            <a:r>
              <a:rPr lang="en-US" sz="1200" dirty="0"/>
              <a:t>Q113 [INTERMEDIATE] What does USE SCHEMA sales_db.raw do?</a:t>
            </a:r>
          </a:p>
          <a:p>
            <a:r>
              <a:rPr lang="en-US" sz="1200" dirty="0"/>
              <a:t>Answer: Sets both the current database (SALES_DB) and current schema (RAW) for the session.</a:t>
            </a:r>
          </a:p>
          <a:p>
            <a:r>
              <a:rPr lang="en-US" sz="1200" dirty="0"/>
              <a:t>Explanation: USE DATABASE sets only the database (the schema defaults to PUBLIC); USE SCHEMA db.schema sets both at once.</a:t>
            </a:r>
          </a:p>
          <a:p>
            <a:endParaRPr lang="en-US" sz="1200" dirty="0"/>
          </a:p>
          <a:p>
            <a:r>
              <a:rPr lang="en-US" sz="1200" dirty="0"/>
              <a:t>Q114 [INTERMEDIATE] Can two schemas contain tables with the same name?</a:t>
            </a:r>
          </a:p>
          <a:p>
            <a:r>
              <a:rPr lang="en-US" sz="1200" dirty="0"/>
              <a:t>Answer: Yes. Names are unique only within a schema, which is why fully qualifying names avoids mistakes.</a:t>
            </a:r>
          </a:p>
          <a:p>
            <a:r>
              <a:rPr lang="en-US" sz="1200" dirty="0"/>
              <a:t>Explanation: Example: RAW.ORDERS and MART.ORDERS can coexist. Qualify names to be sure which one you're querying.</a:t>
            </a:r>
          </a:p>
          <a:p>
            <a:endParaRPr lang="en-US" sz="1200"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Q115 [ADVANCED] When would you still use a quoted identifier?</a:t>
            </a:r>
          </a:p>
          <a:p>
            <a:r>
              <a:rPr lang="en-US" sz="1200" dirty="0"/>
              <a:t>Answer: When a name needs special characters, spaces, reserved words, or preserved case, e.g. matching an external system's column names. Keep it rare.</a:t>
            </a:r>
          </a:p>
          <a:p>
            <a:r>
              <a:rPr lang="en-US" sz="1200" dirty="0"/>
              <a:t>Explanation: Example: a source column named "Order Date" (with a space) needs quotes every time. It's better to rename such columns when loading.</a:t>
            </a:r>
          </a:p>
          <a:p>
            <a:endParaRPr lang="en-US" sz="1200" dirty="0"/>
          </a:p>
          <a:p>
            <a:r>
              <a:rPr lang="en-US" sz="1200" dirty="0"/>
              <a:t>Q116 [ADVANCED] What is the difference between a database and a schema in terms of access?</a:t>
            </a:r>
          </a:p>
          <a:p>
            <a:r>
              <a:rPr lang="en-US" sz="1200" dirty="0"/>
              <a:t>Answer: Both need USAGE for a role to reach objects inside. A role needs USAGE on the database AND the schema, plus a privilege on the object.</a:t>
            </a:r>
          </a:p>
          <a:p>
            <a:r>
              <a:rPr lang="en-US" sz="1200" dirty="0"/>
              <a:t>Explanation: Missing USAGE on the database or schema blocks access even when SELECT on the table was granted, a very common grant mistake.</a:t>
            </a:r>
          </a:p>
          <a:p>
            <a:endParaRPr lang="en-US" sz="1200" dirty="0"/>
          </a:p>
          <a:p>
            <a:r>
              <a:rPr lang="en-US" sz="1200" dirty="0"/>
              <a:t>Q117 [INTERMEDIATE] Which function lists the current database and schema?</a:t>
            </a:r>
          </a:p>
          <a:p>
            <a:r>
              <a:rPr lang="en-US" sz="1200" dirty="0"/>
              <a:t>Answer: SELECT CURRENT_DATABASE(), CURRENT_SCHEMA();</a:t>
            </a:r>
          </a:p>
          <a:p>
            <a:r>
              <a:rPr lang="en-US" sz="1200" dirty="0"/>
              <a:t>Explanation: Handy when debugging which schema an unqualified table name is resolving to.</a:t>
            </a:r>
          </a:p>
          <a:p>
            <a:endParaRPr lang="en-US" sz="12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9: Roles &amp; Access Control. 22 questions. Covers Deck slide 12 of the main deck.</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Q118 [BASIC] What access-control model does Snowflake use?</a:t>
            </a:r>
          </a:p>
          <a:p>
            <a:r>
              <a:rPr lang="en-US" sz="1200" dirty="0"/>
              <a:t>Answer: Role-Based Access Control (RBAC), combined with Discretionary Access Control (DAC): object owners can grant access.</a:t>
            </a:r>
          </a:p>
          <a:p>
            <a:r>
              <a:rPr lang="en-US" sz="1200" dirty="0"/>
              <a:t>Explanation: RBAC: access flows through roles. DAC: an object's owner can grant access to it. Together they give flexible yet controlled security.</a:t>
            </a:r>
          </a:p>
          <a:p>
            <a:endParaRPr lang="en-US" sz="1200" dirty="0"/>
          </a:p>
          <a:p>
            <a:r>
              <a:rPr lang="en-US" sz="1200" dirty="0"/>
              <a:t>Q119 [BASIC] Are privileges granted to users or to roles?</a:t>
            </a:r>
          </a:p>
          <a:p>
            <a:r>
              <a:rPr lang="en-US" sz="1200" dirty="0"/>
              <a:t>Answer: To roles. Roles are then granted to users (and to other roles).</a:t>
            </a:r>
          </a:p>
          <a:p>
            <a:r>
              <a:rPr lang="en-US" sz="1200" dirty="0"/>
              <a:t>Explanation: Because access goes through roles, onboarding or offboarding someone is just granting or revoking roles, not hundreds of individual privileges.</a:t>
            </a:r>
          </a:p>
          <a:p>
            <a:endParaRPr lang="en-US" sz="1200" dirty="0"/>
          </a:p>
          <a:p>
            <a:r>
              <a:rPr lang="en-US" sz="1200" dirty="0"/>
              <a:t>Q120 [BASIC] Name the system-defined roles.</a:t>
            </a:r>
          </a:p>
          <a:p>
            <a:r>
              <a:rPr lang="en-US" sz="1200" dirty="0"/>
              <a:t>Answer: ORGADMIN, ACCOUNTADMIN, SECURITYADMIN, USERADMIN, SYSADMIN and PUBLIC.</a:t>
            </a:r>
          </a:p>
          <a:p>
            <a:r>
              <a:rPr lang="en-US" sz="1200" dirty="0"/>
              <a:t>Explanation: ORGADMIN is organization-level; the other five exist in every account. System roles can't be dropped.</a:t>
            </a:r>
          </a:p>
          <a:p>
            <a:endParaRPr lang="en-US" sz="1200"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Q121 [BASIC] What is ACCOUNTADMIN?</a:t>
            </a:r>
          </a:p>
          <a:p>
            <a:r>
              <a:rPr lang="en-US" sz="1200" dirty="0"/>
              <a:t>Answer: The most powerful role in an account. It encapsulates SYSADMIN and SECURITYADMIN and manages billing, resource monitors and integrations.</a:t>
            </a:r>
          </a:p>
          <a:p>
            <a:r>
              <a:rPr lang="en-US" sz="1200" dirty="0"/>
              <a:t>Explanation: Treat ACCOUNTADMIN like a root account: at least two people for continuity, all with MFA, and never as anyone's default role.</a:t>
            </a:r>
          </a:p>
          <a:p>
            <a:endParaRPr lang="en-US" sz="1200" dirty="0"/>
          </a:p>
          <a:p>
            <a:r>
              <a:rPr lang="en-US" sz="1200" dirty="0"/>
              <a:t>Q122 [INTERMEDIATE] Why shouldn't you use ACCOUNTADMIN for daily work?</a:t>
            </a:r>
          </a:p>
          <a:p>
            <a:r>
              <a:rPr lang="en-US" sz="1200" dirty="0"/>
              <a:t>Answer: Least privilege: mistakes have maximum impact, and objects created with it are owned by ACCOUNTADMIN, so other admins can't manage them.</a:t>
            </a:r>
          </a:p>
          <a:p>
            <a:r>
              <a:rPr lang="en-US" sz="1200" dirty="0"/>
              <a:t>Explanation: Example: a table created as ACCOUNTADMIN can't be altered by SYSADMIN, because SYSADMIN neither owns it nor sits above ACCOUNTADMIN.</a:t>
            </a:r>
          </a:p>
          <a:p>
            <a:endParaRPr lang="en-US" sz="1200" dirty="0"/>
          </a:p>
          <a:p>
            <a:r>
              <a:rPr lang="en-US" sz="1200" dirty="0"/>
              <a:t>Q123 [BASIC] What does SECURITYADMIN do?</a:t>
            </a:r>
          </a:p>
          <a:p>
            <a:r>
              <a:rPr lang="en-US" sz="1200" dirty="0"/>
              <a:t>Answer: Manages grants globally (it has MANAGE GRANTS) and inherits USERADMIN, so it can create users and roles too.</a:t>
            </a:r>
          </a:p>
          <a:p>
            <a:r>
              <a:rPr lang="en-US" sz="1200" dirty="0"/>
              <a:t>Explanation: MANAGE GRANTS can grant or revoke any privilege on any object, so SECURITYADMIN membership must be tightly controlled.</a:t>
            </a:r>
          </a:p>
          <a:p>
            <a:endParaRPr lang="en-US" sz="1200"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Q124 [BASIC] What does USERADMIN do?</a:t>
            </a:r>
          </a:p>
          <a:p>
            <a:r>
              <a:rPr lang="en-US" sz="1200" dirty="0"/>
              <a:t>Answer: Creates and manages users and roles (CREATE USER, CREATE ROLE).</a:t>
            </a:r>
          </a:p>
          <a:p>
            <a:r>
              <a:rPr lang="en-US" sz="1200" dirty="0"/>
              <a:t>Explanation: USERADMIN is the day-to-day identity role. In SSO/SCIM setups it's often what the provisioning integration uses.</a:t>
            </a:r>
          </a:p>
          <a:p>
            <a:endParaRPr lang="en-US" sz="1200" dirty="0"/>
          </a:p>
          <a:p>
            <a:r>
              <a:rPr lang="en-US" sz="1200" dirty="0"/>
              <a:t>Q125 [BASIC] What does SYSADMIN do?</a:t>
            </a:r>
          </a:p>
          <a:p>
            <a:r>
              <a:rPr lang="en-US" sz="1200" dirty="0"/>
              <a:t>Answer: Creates warehouses, databases and other objects. It's the recommended owner of data objects.</a:t>
            </a:r>
          </a:p>
          <a:p>
            <a:r>
              <a:rPr lang="en-US" sz="1200" dirty="0"/>
              <a:t>Explanation: If SYSADMIN (or roles below it) owns every database and warehouse, admins can always manage every object.</a:t>
            </a:r>
          </a:p>
          <a:p>
            <a:endParaRPr lang="en-US" sz="1200" dirty="0"/>
          </a:p>
          <a:p>
            <a:r>
              <a:rPr lang="en-US" sz="1200" dirty="0"/>
              <a:t>Q126 [BASIC] What is the PUBLIC role?</a:t>
            </a:r>
          </a:p>
          <a:p>
            <a:r>
              <a:rPr lang="en-US" sz="1200" dirty="0"/>
              <a:t>Answer: A role automatically granted to every user and every role; anything granted to PUBLIC is available to everyone.</a:t>
            </a:r>
          </a:p>
          <a:p>
            <a:r>
              <a:rPr lang="en-US" sz="1200" dirty="0"/>
              <a:t>Explanation: Be careful: anything granted to PUBLIC is exposed to every user in the account.</a:t>
            </a:r>
          </a:p>
          <a:p>
            <a:endParaRPr lang="en-US" sz="1200"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Q127 [INTERMEDIATE] What does ORGADMIN do?</a:t>
            </a:r>
          </a:p>
          <a:p>
            <a:r>
              <a:rPr lang="en-US" sz="1200" dirty="0"/>
              <a:t>Answer: Organization-level operations: creating accounts, viewing all accounts and org-wide usage.</a:t>
            </a:r>
          </a:p>
          <a:p>
            <a:r>
              <a:rPr lang="en-US" sz="1200" dirty="0"/>
              <a:t>Explanation: ORGADMIN is usually enabled in one account per organization and used rarely, e.g. to create a new dev account.</a:t>
            </a:r>
          </a:p>
          <a:p>
            <a:endParaRPr lang="en-US" sz="1200" dirty="0"/>
          </a:p>
          <a:p>
            <a:r>
              <a:rPr lang="en-US" sz="1200" dirty="0"/>
              <a:t>Q128 [INTERMEDIATE] What does 'role hierarchy' / 'inheritance' mean?</a:t>
            </a:r>
          </a:p>
          <a:p>
            <a:r>
              <a:rPr lang="en-US" sz="1200" dirty="0"/>
              <a:t>Answer: If role A is granted to role B, B inherits all of A's privileges. Higher roles accumulate the privileges of roles below them.</a:t>
            </a:r>
          </a:p>
          <a:p>
            <a:r>
              <a:rPr lang="en-US" sz="1200" dirty="0"/>
              <a:t>Explanation: Example: ANALYST can SELECT sales. Grant ANALYST to MANAGER and MANAGER can SELECT sales too, in addition to its own privileges.</a:t>
            </a:r>
          </a:p>
          <a:p>
            <a:endParaRPr lang="en-US" sz="1200" dirty="0"/>
          </a:p>
          <a:p>
            <a:r>
              <a:rPr lang="en-US" sz="1200" dirty="0"/>
              <a:t>Q129 [INTERMEDIATE] Why grant custom roles to SYSADMIN?</a:t>
            </a:r>
          </a:p>
          <a:p>
            <a:r>
              <a:rPr lang="en-US" sz="1200" dirty="0"/>
              <a:t>Answer: So SYSADMIN (and ACCOUNTADMIN above it) inherit their privileges and can manage the objects those roles own. Otherwise objects become 'orphaned' from admins.</a:t>
            </a:r>
          </a:p>
          <a:p>
            <a:r>
              <a:rPr lang="en-US" sz="1200" dirty="0"/>
              <a:t>Explanation: If a custom role owns tables but isn't granted to SYSADMIN, no admin role inherits them. That's the 'orphaned objects' problem.</a:t>
            </a:r>
          </a:p>
          <a:p>
            <a:endParaRPr lang="en-US" sz="1200"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Q130 [BASIC] How do you switch roles?</a:t>
            </a:r>
          </a:p>
          <a:p>
            <a:r>
              <a:rPr lang="en-US" sz="1200" dirty="0"/>
              <a:t>Answer: USE ROLE &lt;role_name&gt;;</a:t>
            </a:r>
          </a:p>
          <a:p>
            <a:r>
              <a:rPr lang="en-US" sz="1200" dirty="0"/>
              <a:t>Explanation: USE ROLE only works for roles granted to you. SHOW GRANTS TO USER &lt;you&gt; lists them.</a:t>
            </a:r>
          </a:p>
          <a:p>
            <a:endParaRPr lang="en-US" sz="1200" dirty="0"/>
          </a:p>
          <a:p>
            <a:r>
              <a:rPr lang="en-US" sz="1200" dirty="0"/>
              <a:t>Q131 [INTERMEDIATE] What is the primary role vs secondary roles?</a:t>
            </a:r>
          </a:p>
          <a:p>
            <a:r>
              <a:rPr lang="en-US" sz="1200" dirty="0"/>
              <a:t>Answer: The primary role owns new objects and is checked for CREATE privileges; secondary roles (USE SECONDARY ROLES ALL) add their privileges for other operations.</a:t>
            </a:r>
          </a:p>
          <a:p>
            <a:r>
              <a:rPr lang="en-US" sz="1200" dirty="0"/>
              <a:t>Explanation: Example: USE ROLE analyst; USE SECONDARY ROLES ALL; lets one query use tables granted to any of your roles.</a:t>
            </a:r>
          </a:p>
          <a:p>
            <a:endParaRPr lang="en-US" sz="1200" dirty="0"/>
          </a:p>
          <a:p>
            <a:r>
              <a:rPr lang="en-US" sz="1200" dirty="0"/>
              <a:t>Q132 [INTERMEDIATE] Which role owns an object?</a:t>
            </a:r>
          </a:p>
          <a:p>
            <a:r>
              <a:rPr lang="en-US" sz="1200" dirty="0"/>
              <a:t>Answer: The role that created it. It holds the OWNERSHIP privilege, which can be transferred with GRANT OWNERSHIP.</a:t>
            </a:r>
          </a:p>
          <a:p>
            <a:r>
              <a:rPr lang="en-US" sz="1200" dirty="0"/>
              <a:t>Explanation: Transfer example: GRANT OWNERSHIP ON TABLE t TO ROLE sysadmin COPY CURRENT GRANTS; keeps existing grants intact.</a:t>
            </a:r>
          </a:p>
          <a:p>
            <a:endParaRPr lang="en-US" sz="1200"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Q133 [BASIC] What privileges does a role need to SELECT from a table?</a:t>
            </a:r>
          </a:p>
          <a:p>
            <a:r>
              <a:rPr lang="en-US" sz="1200" dirty="0"/>
              <a:t>Answer: USAGE on the warehouse, USAGE on the database, USAGE on the schema, and SELECT on the table.</a:t>
            </a:r>
          </a:p>
          <a:p>
            <a:r>
              <a:rPr lang="en-US" sz="1200" dirty="0"/>
              <a:t>Explanation: Think of keys for each door: the building (warehouse, to run), the floor (database), the room (schema) and the cabinet (table).</a:t>
            </a:r>
          </a:p>
          <a:p>
            <a:endParaRPr lang="en-US" sz="1200" dirty="0"/>
          </a:p>
          <a:p>
            <a:r>
              <a:rPr lang="en-US" sz="1200" dirty="0"/>
              <a:t>Q134 [INTERMEDIATE] What does 'Object does not exist or not authorized' usually mean?</a:t>
            </a:r>
          </a:p>
          <a:p>
            <a:r>
              <a:rPr lang="en-US" sz="1200" dirty="0"/>
              <a:t>Answer: Either the name/context is wrong, or your current role lacks privileges. Snowflake doesn't reveal which, for security.</a:t>
            </a:r>
          </a:p>
          <a:p>
            <a:r>
              <a:rPr lang="en-US" sz="1200" dirty="0"/>
              <a:t>Explanation: Snowflake deliberately returns the same message so users can't discover objects they aren't allowed to see.</a:t>
            </a:r>
          </a:p>
          <a:p>
            <a:endParaRPr lang="en-US" sz="1200" dirty="0"/>
          </a:p>
          <a:p>
            <a:r>
              <a:rPr lang="en-US" sz="1200" dirty="0"/>
              <a:t>Q135 [BASIC] How do you see a role's privileges?</a:t>
            </a:r>
          </a:p>
          <a:p>
            <a:r>
              <a:rPr lang="en-US" sz="1200" dirty="0"/>
              <a:t>Answer: SHOW GRANTS TO ROLE &lt;role&gt;;</a:t>
            </a:r>
          </a:p>
          <a:p>
            <a:r>
              <a:rPr lang="en-US" sz="1200" dirty="0"/>
              <a:t>Explanation: Lists every privilege the role holds. Pair it with SHOW GRANTS OF ROLE &lt;role&gt; to see who holds the role.</a:t>
            </a:r>
          </a:p>
          <a:p>
            <a:endParaRPr lang="en-US" sz="1200"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Q136 [INTERMEDIATE] How do you see which roles a user has?</a:t>
            </a:r>
          </a:p>
          <a:p>
            <a:r>
              <a:rPr lang="en-US" sz="1200" dirty="0"/>
              <a:t>Answer: SHOW GRANTS TO USER &lt;user&gt;;</a:t>
            </a:r>
          </a:p>
          <a:p>
            <a:r>
              <a:rPr lang="en-US" sz="1200" dirty="0"/>
              <a:t>Explanation: The reverse direction, SHOW GRANTS OF ROLE analyst, shows which users and roles have ANALYST.</a:t>
            </a:r>
          </a:p>
          <a:p>
            <a:endParaRPr lang="en-US" sz="1200" dirty="0"/>
          </a:p>
          <a:p>
            <a:r>
              <a:rPr lang="en-US" sz="1200" dirty="0"/>
              <a:t>Q137 [INTERMEDIATE] What is a managed access schema?</a:t>
            </a:r>
          </a:p>
          <a:p>
            <a:r>
              <a:rPr lang="en-US" sz="1200" dirty="0"/>
              <a:t>Answer: A schema (CREATE SCHEMA … WITH MANAGED ACCESS) where only the schema owner or MANAGE GRANTS roles can grant privileges on its objects, not individual object owners.</a:t>
            </a:r>
          </a:p>
          <a:p>
            <a:r>
              <a:rPr lang="en-US" sz="1200" dirty="0"/>
              <a:t>Explanation: Used for centralized governance, so object owners (e.g. ETL roles) can't hand out access on their own.</a:t>
            </a:r>
          </a:p>
          <a:p>
            <a:endParaRPr lang="en-US" sz="1200" dirty="0"/>
          </a:p>
          <a:p>
            <a:r>
              <a:rPr lang="en-US" sz="1200" dirty="0"/>
              <a:t>Q138 [ADVANCED] What are database roles?</a:t>
            </a:r>
          </a:p>
          <a:p>
            <a:r>
              <a:rPr lang="en-US" sz="1200" dirty="0"/>
              <a:t>Answer: Roles that live inside a database (CREATE DATABASE ROLE). They're useful for packaging privileges on that database, especially for data sharing.</a:t>
            </a:r>
          </a:p>
          <a:p>
            <a:r>
              <a:rPr lang="en-US" sz="1200" dirty="0"/>
              <a:t>Explanation: For data sharing, database roles give consumers a granular subset of privileges and keep access management inside the database.</a:t>
            </a:r>
          </a:p>
          <a:p>
            <a:endParaRPr lang="en-US" sz="120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Q139 [ADVANCED] A new analyst can log in but sees no databases. Why?</a:t>
            </a:r>
          </a:p>
          <a:p>
            <a:r>
              <a:rPr lang="en-US" sz="1200" dirty="0"/>
              <a:t>Answer: Their role likely lacks USAGE on the databases/schemas (or they're using PUBLIC). Grant USAGE + SELECT to their role and ensure the role is granted to them and set as default.</a:t>
            </a:r>
          </a:p>
          <a:p>
            <a:r>
              <a:rPr lang="en-US" sz="1200" dirty="0"/>
              <a:t>Explanation: Also check the user's DEFAULT_ROLE (it may be PUBLIC or unset) with DESC USER, and fix it with ALTER USER … SET DEFAULT_ROLE.</a:t>
            </a:r>
          </a:p>
          <a:p>
            <a:endParaRPr lang="en-US" sz="1200"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10: Virtual Warehouses. 22 questions. Covers Deck slide 13 of the main deck.</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Q140 [BASIC] List the warehouse sizes and their credits per hour.</a:t>
            </a:r>
          </a:p>
          <a:p>
            <a:r>
              <a:rPr lang="en-US" sz="1200" dirty="0"/>
              <a:t>Answer: XS 1, S 2, M 4, L 8, XL 16, 2XL 32, 3XL 64, 4XL 128 (5XL 256 and 6XL 512 where available).</a:t>
            </a:r>
          </a:p>
          <a:p>
            <a:r>
              <a:rPr lang="en-US" sz="1200" dirty="0"/>
              <a:t>Explanation: Remember the pattern: each step doubles. 4X-Large has 128× the compute and cost per hour of X-Small.</a:t>
            </a:r>
          </a:p>
          <a:p>
            <a:endParaRPr lang="en-US" sz="1200" dirty="0"/>
          </a:p>
          <a:p>
            <a:r>
              <a:rPr lang="en-US" sz="1200" dirty="0"/>
              <a:t>Q141 [BASIC] What happens to cost and compute when you go up one size?</a:t>
            </a:r>
          </a:p>
          <a:p>
            <a:r>
              <a:rPr lang="en-US" sz="1200" dirty="0"/>
              <a:t>Answer: Both double.</a:t>
            </a:r>
          </a:p>
          <a:p>
            <a:r>
              <a:rPr lang="en-US" sz="1200" dirty="0"/>
              <a:t>Explanation: Doubling size often roughly halves run time for large queries, so total cost can stay similar while results arrive faster.</a:t>
            </a:r>
          </a:p>
          <a:p>
            <a:endParaRPr lang="en-US" sz="1200" dirty="0"/>
          </a:p>
          <a:p>
            <a:r>
              <a:rPr lang="en-US" sz="1200" dirty="0"/>
              <a:t>Q142 [BASIC] How are warehouses billed?</a:t>
            </a:r>
          </a:p>
          <a:p>
            <a:r>
              <a:rPr lang="en-US" sz="1200" dirty="0"/>
              <a:t>Answer: Per second while running, with a 60-second minimum each time the warehouse starts or resumes.</a:t>
            </a:r>
          </a:p>
          <a:p>
            <a:r>
              <a:rPr lang="en-US" sz="1200" dirty="0"/>
              <a:t>Explanation: Example: a warehouse running 90 seconds is billed 90 seconds; one running 10 seconds is billed 60.</a:t>
            </a:r>
          </a:p>
          <a:p>
            <a:endParaRPr lang="en-US" sz="1200"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Q143 [BASIC] Does a suspended warehouse cost anything?</a:t>
            </a:r>
          </a:p>
          <a:p>
            <a:r>
              <a:rPr lang="en-US" sz="1200" dirty="0"/>
              <a:t>Answer: No. A suspended warehouse consumes no credits.</a:t>
            </a:r>
          </a:p>
          <a:p>
            <a:r>
              <a:rPr lang="en-US" sz="1200" dirty="0"/>
              <a:t>Explanation: That's why auto-suspend is the single most effective cost control: idle, suspended warehouses cost nothing.</a:t>
            </a:r>
          </a:p>
          <a:p>
            <a:endParaRPr lang="en-US" sz="1200" dirty="0"/>
          </a:p>
          <a:p>
            <a:r>
              <a:rPr lang="en-US" sz="1200" dirty="0"/>
              <a:t>Q144 [BASIC] What does AUTO_SUSPEND do?</a:t>
            </a:r>
          </a:p>
          <a:p>
            <a:r>
              <a:rPr lang="en-US" sz="1200" dirty="0"/>
              <a:t>Answer: Automatically suspends the warehouse after the given number of seconds without activity.</a:t>
            </a:r>
          </a:p>
          <a:p>
            <a:r>
              <a:rPr lang="en-US" sz="1200" dirty="0"/>
              <a:t>Explanation: Example: AUTO_SUSPEND = 60 stops the warehouse after one idle minute; the next query resumes it (with AUTO_RESUME).</a:t>
            </a:r>
          </a:p>
          <a:p>
            <a:endParaRPr lang="en-US" sz="1200" dirty="0"/>
          </a:p>
          <a:p>
            <a:r>
              <a:rPr lang="en-US" sz="1200" dirty="0"/>
              <a:t>Q145 [BASIC] What does AUTO_RESUME do?</a:t>
            </a:r>
          </a:p>
          <a:p>
            <a:r>
              <a:rPr lang="en-US" sz="1200" dirty="0"/>
              <a:t>Answer: Automatically starts a suspended warehouse when a query is submitted to it.</a:t>
            </a:r>
          </a:p>
          <a:p>
            <a:r>
              <a:rPr lang="en-US" sz="1200" dirty="0"/>
              <a:t>Explanation: Resuming usually takes about a second, so users rarely notice. Without AUTO_RESUME, queries fail until someone resumes it manually.</a:t>
            </a:r>
          </a:p>
          <a:p>
            <a:endParaRPr lang="en-US" sz="1200"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Q146 [INTERMEDIATE] An XS warehouse runs a query for 20 seconds then suspends. How many seconds are billed?</a:t>
            </a:r>
          </a:p>
          <a:p>
            <a:r>
              <a:rPr lang="en-US" sz="1200" dirty="0"/>
              <a:t>Answer: 60 seconds, because of the 60-second minimum per start/resume.</a:t>
            </a:r>
          </a:p>
          <a:p>
            <a:r>
              <a:rPr lang="en-US" sz="1200" dirty="0"/>
              <a:t>Explanation: Credits: 1 credit/hour × 60/3600 hour ≈ 0.017. Many tiny start-stop cycles add up because of this minimum.</a:t>
            </a:r>
          </a:p>
          <a:p>
            <a:endParaRPr lang="en-US" sz="1200" dirty="0"/>
          </a:p>
          <a:p>
            <a:r>
              <a:rPr lang="en-US" sz="1200" dirty="0"/>
              <a:t>Q147 [INTERMEDIATE] A Medium warehouse runs for exactly 30 minutes. How many credits?</a:t>
            </a:r>
          </a:p>
          <a:p>
            <a:r>
              <a:rPr lang="en-US" sz="1200" dirty="0"/>
              <a:t>Answer: 4 credits/hour × 0.5 hour = 2 credits.</a:t>
            </a:r>
          </a:p>
          <a:p>
            <a:r>
              <a:rPr lang="en-US" sz="1200" dirty="0"/>
              <a:t>Explanation: Formula: credits = credits per hour × hours running. Medium = 4, so 4 × 0.5 = 2 credits.</a:t>
            </a:r>
          </a:p>
          <a:p>
            <a:endParaRPr lang="en-US" sz="1200" dirty="0"/>
          </a:p>
          <a:p>
            <a:r>
              <a:rPr lang="en-US" sz="1200" dirty="0"/>
              <a:t>Q148 [BASIC] What does 'scale up' mean?</a:t>
            </a:r>
          </a:p>
          <a:p>
            <a:r>
              <a:rPr lang="en-US" sz="1200" dirty="0"/>
              <a:t>Answer: Increase the warehouse size (e.g. Small → Large) to make large/complex queries run faster.</a:t>
            </a:r>
          </a:p>
          <a:p>
            <a:r>
              <a:rPr lang="en-US" sz="1200" dirty="0"/>
              <a:t>Explanation: Use it for big scans, complex joins and heavy transformations. Bigger warehouses also have more memory, which reduces spilling.</a:t>
            </a:r>
          </a:p>
          <a:p>
            <a:endParaRPr lang="en-US" sz="1200"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Q149 [BASIC] What does 'scale out' mean?</a:t>
            </a:r>
          </a:p>
          <a:p>
            <a:r>
              <a:rPr lang="en-US" sz="1200" dirty="0"/>
              <a:t>Answer: Add clusters with a multi-cluster warehouse to handle more concurrent users/queries.</a:t>
            </a:r>
          </a:p>
          <a:p>
            <a:r>
              <a:rPr lang="en-US" sz="1200" dirty="0"/>
              <a:t>Explanation: Use it when many users query at once (e.g. the 9 AM dashboard rush), so queries don't wait in a queue.</a:t>
            </a:r>
          </a:p>
          <a:p>
            <a:endParaRPr lang="en-US" sz="1200" dirty="0"/>
          </a:p>
          <a:p>
            <a:r>
              <a:rPr lang="en-US" sz="1200" dirty="0"/>
              <a:t>Q150 [INTERMEDIATE] Does a multi-cluster warehouse make a single slow query faster?</a:t>
            </a:r>
          </a:p>
          <a:p>
            <a:r>
              <a:rPr lang="en-US" sz="1200" dirty="0"/>
              <a:t>Answer: No. Extra clusters handle more concurrent queries. To speed up one heavy query, scale up (bigger size).</a:t>
            </a:r>
          </a:p>
          <a:p>
            <a:r>
              <a:rPr lang="en-US" sz="1200" dirty="0"/>
              <a:t>Explanation: A common interview trap: concurrency and single-query speed need different fixes (scale out vs scale up).</a:t>
            </a:r>
          </a:p>
          <a:p>
            <a:endParaRPr lang="en-US" sz="1200" dirty="0"/>
          </a:p>
          <a:p>
            <a:r>
              <a:rPr lang="en-US" sz="1200" dirty="0"/>
              <a:t>Q151 [INTERMEDIATE] Which edition is required for multi-cluster warehouses?</a:t>
            </a:r>
          </a:p>
          <a:p>
            <a:r>
              <a:rPr lang="en-US" sz="1200" dirty="0"/>
              <a:t>Answer: Enterprise or higher.</a:t>
            </a:r>
          </a:p>
          <a:p>
            <a:r>
              <a:rPr lang="en-US" sz="1200" dirty="0"/>
              <a:t>Explanation: On Standard edition you'd create several separate warehouses and split users across them manually instead.</a:t>
            </a:r>
          </a:p>
          <a:p>
            <a:endParaRPr lang="en-US" sz="1200"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Q152 [INTERMEDIATE] What parameters control a multi-cluster warehouse?</a:t>
            </a:r>
          </a:p>
          <a:p>
            <a:r>
              <a:rPr lang="en-US" sz="1200" dirty="0"/>
              <a:t>Answer: MIN_CLUSTER_COUNT, MAX_CLUSTER_COUNT and SCALING_POLICY (STANDARD or ECONOMY).</a:t>
            </a:r>
          </a:p>
          <a:p>
            <a:r>
              <a:rPr lang="en-US" sz="1200" dirty="0"/>
              <a:t>Explanation: Example: MIN 1, MAX 4 means normally 1 cluster; as queuing grows Snowflake adds up to 3 more, then removes them when load drops.</a:t>
            </a:r>
          </a:p>
          <a:p>
            <a:endParaRPr lang="en-US" sz="1200" dirty="0"/>
          </a:p>
          <a:p>
            <a:r>
              <a:rPr lang="en-US" sz="1200" dirty="0"/>
              <a:t>Q153 [ADVANCED] What is the difference between Maximized and Auto-scale mode?</a:t>
            </a:r>
          </a:p>
          <a:p>
            <a:r>
              <a:rPr lang="en-US" sz="1200" dirty="0"/>
              <a:t>Answer: Maximized: MIN = MAX, so all clusters run whenever the warehouse runs. Auto-scale: MIN &lt; MAX, so clusters start and stop with load.</a:t>
            </a:r>
          </a:p>
          <a:p>
            <a:r>
              <a:rPr lang="en-US" sz="1200" dirty="0"/>
              <a:t>Explanation: Maximized suits steady, predictable heavy concurrency; auto-scale suits variable load and saves credits.</a:t>
            </a:r>
          </a:p>
          <a:p>
            <a:endParaRPr lang="en-US" sz="1200" dirty="0"/>
          </a:p>
          <a:p>
            <a:r>
              <a:rPr lang="en-US" sz="1200" dirty="0"/>
              <a:t>Q154 [ADVANCED] STANDARD vs ECONOMY scaling policy?</a:t>
            </a:r>
          </a:p>
          <a:p>
            <a:r>
              <a:rPr lang="en-US" sz="1200" dirty="0"/>
              <a:t>Answer: STANDARD starts extra clusters quickly to avoid queuing (performance first). ECONOMY starts them only if there's enough load to keep them busy for about 6 minutes (cost first).</a:t>
            </a:r>
          </a:p>
          <a:p>
            <a:r>
              <a:rPr lang="en-US" sz="1200" dirty="0"/>
              <a:t>Explanation: Use STANDARD for user-facing BI where waiting is bad; ECONOMY for batch work where a little queuing is acceptable.</a:t>
            </a:r>
          </a:p>
          <a:p>
            <a:endParaRPr lang="en-US" sz="1200"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Q155 [INTERMEDIATE] What happens to running queries when you resize a warehouse?</a:t>
            </a:r>
          </a:p>
          <a:p>
            <a:r>
              <a:rPr lang="en-US" sz="1200" dirty="0"/>
              <a:t>Answer: Running queries finish on the current resources; new and queued queries use the new size.</a:t>
            </a:r>
          </a:p>
          <a:p>
            <a:r>
              <a:rPr lang="en-US" sz="1200" dirty="0"/>
              <a:t>Explanation: You can resize at any time with no downtime. It's handy to size up for a big job and back down afterwards.</a:t>
            </a:r>
          </a:p>
          <a:p>
            <a:endParaRPr lang="en-US" sz="1200" dirty="0"/>
          </a:p>
          <a:p>
            <a:r>
              <a:rPr lang="en-US" sz="1200" dirty="0"/>
              <a:t>Q156 [INTERMEDIATE] What is a Snowpark-optimized warehouse?</a:t>
            </a:r>
          </a:p>
          <a:p>
            <a:r>
              <a:rPr lang="en-US" sz="1200" dirty="0"/>
              <a:t>Answer: A warehouse type with much more memory per node, for memory-heavy workloads like ML training and large Snowpark/Python UDFs.</a:t>
            </a:r>
          </a:p>
          <a:p>
            <a:r>
              <a:rPr lang="en-US" sz="1200" dirty="0"/>
              <a:t>Explanation: Standard warehouses handle most SQL. Switch to Snowpark-optimized when Python or ML jobs run out of memory.</a:t>
            </a:r>
          </a:p>
          <a:p>
            <a:endParaRPr lang="en-US" sz="1200" dirty="0"/>
          </a:p>
          <a:p>
            <a:r>
              <a:rPr lang="en-US" sz="1200" dirty="0"/>
              <a:t>Q157 [ADVANCED] What is lost when a warehouse suspends?</a:t>
            </a:r>
          </a:p>
          <a:p>
            <a:r>
              <a:rPr lang="en-US" sz="1200" dirty="0"/>
              <a:t>Answer: Its local disk/data cache, so the first queries after resume may be slower (the result cache in Cloud Services is not lost).</a:t>
            </a:r>
          </a:p>
          <a:p>
            <a:r>
              <a:rPr lang="en-US" sz="1200" dirty="0"/>
              <a:t>Explanation: The trade-off: aggressive auto-suspend saves idle credits but loses the warm cache. Tune it per workload.</a:t>
            </a:r>
          </a:p>
          <a:p>
            <a:endParaRPr lang="en-US" sz="1200"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Q158 [ADVANCED] Queries are queuing on a busy warehouse. What are your options?</a:t>
            </a:r>
          </a:p>
          <a:p>
            <a:r>
              <a:rPr lang="en-US" sz="1200" dirty="0"/>
              <a:t>Answer: Enable multi-cluster (scale out), move workloads to separate warehouses, raise the size if queries are slow, or tune the queries. Check with query history / warehouse load charts.</a:t>
            </a:r>
          </a:p>
          <a:p>
            <a:r>
              <a:rPr lang="en-US" sz="1200" dirty="0"/>
              <a:t>Explanation: Queuing is visible as 'queued' time in Query History and in the warehouse load chart in Snowsight.</a:t>
            </a:r>
          </a:p>
          <a:p>
            <a:endParaRPr lang="en-US" sz="1200" dirty="0"/>
          </a:p>
          <a:p>
            <a:r>
              <a:rPr lang="en-US" sz="1200" dirty="0"/>
              <a:t>Q159 [ADVANCED] Why might you NOT set AUTO_SUSPEND to 60 seconds?</a:t>
            </a:r>
          </a:p>
          <a:p>
            <a:r>
              <a:rPr lang="en-US" sz="1200" dirty="0"/>
              <a:t>Answer: For warehouses with frequent bursty queries, suspending too quickly loses the warehouse cache and adds repeated 60-second minimum charges. A few minutes may be better.</a:t>
            </a:r>
          </a:p>
          <a:p>
            <a:r>
              <a:rPr lang="en-US" sz="1200" dirty="0"/>
              <a:t>Explanation: Example: a dashboard refreshing every 2 minutes with a 60-second auto-suspend stops and restarts constantly, costing more than staying up.</a:t>
            </a:r>
          </a:p>
          <a:p>
            <a:endParaRPr lang="en-US" sz="1200" dirty="0"/>
          </a:p>
          <a:p>
            <a:r>
              <a:rPr lang="en-US" sz="1200" dirty="0"/>
              <a:t>Q160 [INTERMEDIATE] What does STATEMENT_TIMEOUT_IN_SECONDS do?</a:t>
            </a:r>
          </a:p>
          <a:p>
            <a:r>
              <a:rPr lang="en-US" sz="1200" dirty="0"/>
              <a:t>Answer: Cancels queries that run longer than the limit. It can be set on the account, user, session or warehouse to cap runaway queries.</a:t>
            </a:r>
          </a:p>
          <a:p>
            <a:r>
              <a:rPr lang="en-US" sz="1200" dirty="0"/>
              <a:t>Explanation: The default is 172,800 seconds (2 days). Setting e.g. 3600 on an ad-hoc warehouse stops a bad query from running for hours.</a:t>
            </a:r>
          </a:p>
          <a:p>
            <a:endParaRPr lang="en-US" sz="1200"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Q161 [BASIC] How do you manually suspend or resume a warehouse?</a:t>
            </a:r>
          </a:p>
          <a:p>
            <a:r>
              <a:rPr lang="en-US" sz="1200" dirty="0"/>
              <a:t>Answer: ALTER WAREHOUSE demo_wh SUSPEND;   ALTER WAREHOUSE demo_wh RESUME;</a:t>
            </a:r>
          </a:p>
          <a:p>
            <a:r>
              <a:rPr lang="en-US" sz="1200" dirty="0"/>
              <a:t>Explanation: Useful for maintenance or emergencies. Manual resume is only needed when AUTO_RESUME is off.</a:t>
            </a:r>
          </a:p>
          <a:p>
            <a:endParaRPr lang="en-US" sz="1200"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11: Example 1 · Warehouse. 10 questions. Covers Deck slide 14 of the main deck.</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Q162 [BASIC] Why does Example 1 start with USE ROLE SYSADMIN?</a:t>
            </a:r>
          </a:p>
          <a:p>
            <a:r>
              <a:rPr lang="en-US" sz="1200" dirty="0"/>
              <a:t>Answer: SYSADMIN is the recommended role for creating infrastructure objects like warehouses, and it will own them.</a:t>
            </a:r>
          </a:p>
          <a:p>
            <a:r>
              <a:rPr lang="en-US" sz="1200" dirty="0"/>
              <a:t>Explanation: Using the right role from the start keeps ownership correct, so you don't end up with objects owned by ACCOUNTADMIN by mistake.</a:t>
            </a:r>
          </a:p>
          <a:p>
            <a:endParaRPr lang="en-US" sz="1200" dirty="0"/>
          </a:p>
          <a:p>
            <a:r>
              <a:rPr lang="en-US" sz="1200" dirty="0"/>
              <a:t>Q163 [BASIC] What does IF NOT EXISTS do in CREATE WAREHOUSE?</a:t>
            </a:r>
          </a:p>
          <a:p>
            <a:r>
              <a:rPr lang="en-US" sz="1200" dirty="0"/>
              <a:t>Answer: Makes the statement safe to re-run: if the warehouse exists, nothing changes and no error is raised.</a:t>
            </a:r>
          </a:p>
          <a:p>
            <a:r>
              <a:rPr lang="en-US" sz="1200" dirty="0"/>
              <a:t>Explanation: It makes setup scripts idempotent: they can run many times (in CI/CD or reruns) without failing.</a:t>
            </a:r>
          </a:p>
          <a:p>
            <a:endParaRPr lang="en-US" sz="1200" dirty="0"/>
          </a:p>
          <a:p>
            <a:r>
              <a:rPr lang="en-US" sz="1200" dirty="0"/>
              <a:t>Q164 [BASIC] What does INITIALLY_SUSPENDED = TRUE do?</a:t>
            </a:r>
          </a:p>
          <a:p>
            <a:r>
              <a:rPr lang="en-US" sz="1200" dirty="0"/>
              <a:t>Answer: Creates the warehouse in a suspended state, so it uses no credits until the first query.</a:t>
            </a:r>
          </a:p>
          <a:p>
            <a:r>
              <a:rPr lang="en-US" sz="1200" dirty="0"/>
              <a:t>Explanation: Good practice for any warehouse you create but won't use right away.</a:t>
            </a:r>
          </a:p>
          <a:p>
            <a:endParaRPr lang="en-US" sz="1200"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Q165 [INTERMEDIATE] What would happen without INITIALLY_SUSPENDED = TRUE?</a:t>
            </a:r>
          </a:p>
          <a:p>
            <a:r>
              <a:rPr lang="en-US" sz="1200" dirty="0"/>
              <a:t>Answer: The warehouse starts immediately on creation and bills at least 60 seconds even if no query is run.</a:t>
            </a:r>
          </a:p>
          <a:p>
            <a:r>
              <a:rPr lang="en-US" sz="1200" dirty="0"/>
              <a:t>Explanation: Small, but it adds up when scripts create many warehouses, and it builds a cost-aware habit.</a:t>
            </a:r>
          </a:p>
          <a:p>
            <a:endParaRPr lang="en-US" sz="1200" dirty="0"/>
          </a:p>
          <a:p>
            <a:r>
              <a:rPr lang="en-US" sz="1200" dirty="0"/>
              <a:t>Q166 [BASIC] What does SELECT CURRENT_ROLE(), CURRENT_WAREHOUSE() return after Example 1?</a:t>
            </a:r>
          </a:p>
          <a:p>
            <a:r>
              <a:rPr lang="en-US" sz="1200" dirty="0"/>
              <a:t>Answer: SYSADMIN and DEMO_WH.</a:t>
            </a:r>
          </a:p>
          <a:p>
            <a:r>
              <a:rPr lang="en-US" sz="1200" dirty="0"/>
              <a:t>Explanation: This 'who am I and what am I using?' query is the fastest way to debug context problems.</a:t>
            </a:r>
          </a:p>
          <a:p>
            <a:endParaRPr lang="en-US" sz="1200" dirty="0"/>
          </a:p>
          <a:p>
            <a:r>
              <a:rPr lang="en-US" sz="1200" dirty="0"/>
              <a:t>Q167 [BASIC] Why is the result DEMO_WH in uppercase when we typed demo_wh?</a:t>
            </a:r>
          </a:p>
          <a:p>
            <a:r>
              <a:rPr lang="en-US" sz="1200" dirty="0"/>
              <a:t>Answer: Unquoted identifiers are stored in uppercase.</a:t>
            </a:r>
          </a:p>
          <a:p>
            <a:r>
              <a:rPr lang="en-US" sz="1200" dirty="0"/>
              <a:t>Explanation: Snowflake stores unquoted identifiers in uppercase, so context functions return names in uppercase.</a:t>
            </a:r>
          </a:p>
          <a:p>
            <a:endParaRPr lang="en-US" sz="1200"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Q168 [INTERMEDIATE] How do you change DEMO_WH to Small?</a:t>
            </a:r>
          </a:p>
          <a:p>
            <a:r>
              <a:rPr lang="en-US" sz="1200" dirty="0"/>
              <a:t>Answer: ALTER WAREHOUSE demo_wh SET WAREHOUSE_SIZE = 'SMALL';</a:t>
            </a:r>
          </a:p>
          <a:p>
            <a:r>
              <a:rPr lang="en-US" sz="1200" dirty="0"/>
              <a:t>Explanation: You can do it any time, even while queries run; new queries use the new size.</a:t>
            </a:r>
          </a:p>
          <a:p>
            <a:endParaRPr lang="en-US" sz="1200" dirty="0"/>
          </a:p>
          <a:p>
            <a:r>
              <a:rPr lang="en-US" sz="1200" dirty="0"/>
              <a:t>Q169 [BASIC] What error do you get if no warehouse is set, and how do you fix it?</a:t>
            </a:r>
          </a:p>
          <a:p>
            <a:r>
              <a:rPr lang="en-US" sz="1200" dirty="0"/>
              <a:t>Answer: 'No active warehouse selected in the current session.' Run USE WAREHOUSE demo_wh; or set DEFAULT_WAREHOUSE on the user.</a:t>
            </a:r>
          </a:p>
          <a:p>
            <a:r>
              <a:rPr lang="en-US" sz="1200" dirty="0"/>
              <a:t>Explanation: Any query that scans data needs compute. The fix is either per session (USE) or permanent (the user's default).</a:t>
            </a:r>
          </a:p>
          <a:p>
            <a:endParaRPr lang="en-US" sz="1200" dirty="0"/>
          </a:p>
          <a:p>
            <a:r>
              <a:rPr lang="en-US" sz="1200" dirty="0"/>
              <a:t>Q170 [INTERMEDIATE] How do you list only the DEMO_WH warehouse?</a:t>
            </a:r>
          </a:p>
          <a:p>
            <a:r>
              <a:rPr lang="en-US" sz="1200" dirty="0"/>
              <a:t>Answer: SHOW WAREHOUSES LIKE 'DEMO_WH';  (LIKE is case-insensitive in SHOW)</a:t>
            </a:r>
          </a:p>
          <a:p>
            <a:r>
              <a:rPr lang="en-US" sz="1200" dirty="0"/>
              <a:t>Explanation: SHOW … LIKE uses SQL wildcards (% and _) and ignores case.</a:t>
            </a:r>
          </a:p>
          <a:p>
            <a:endParaRPr lang="en-US" sz="1200"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Q171 [ADVANCED] Which commands do NOT need a running warehouse?</a:t>
            </a:r>
          </a:p>
          <a:p>
            <a:r>
              <a:rPr lang="en-US" sz="1200" dirty="0"/>
              <a:t>Answer: Most DDL and SHOW/DESC metadata commands, USE statements, and queries answered from the result or metadata cache. Queries that scan data or run DML need one.</a:t>
            </a:r>
          </a:p>
          <a:p>
            <a:r>
              <a:rPr lang="en-US" sz="1200" dirty="0"/>
              <a:t>Explanation: Knowing this helps with cost: you can explore metadata with SHOW commands without paying for compute.</a:t>
            </a:r>
          </a:p>
          <a:p>
            <a:endParaRPr lang="en-US" sz="1200"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12: Example 2 · Database, Schema &amp; Table. 15 questions. Covers Deck slide 15 of the main deck.</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Q172 [BASIC] Which statements create the database and schema in Example 2?</a:t>
            </a:r>
          </a:p>
          <a:p>
            <a:r>
              <a:rPr lang="en-US" sz="1200" dirty="0"/>
              <a:t>Answer: CREATE DATABASE IF NOT EXISTS sales_db;  CREATE SCHEMA IF NOT EXISTS sales_db.raw;</a:t>
            </a:r>
          </a:p>
          <a:p>
            <a:r>
              <a:rPr lang="en-US" sz="1200" dirty="0"/>
              <a:t>Explanation: IF NOT EXISTS keeps both statements safe to rerun, and the fully qualified schema name means they don't depend on the current context.</a:t>
            </a:r>
          </a:p>
          <a:p>
            <a:endParaRPr lang="en-US" sz="1200" dirty="0"/>
          </a:p>
          <a:p>
            <a:r>
              <a:rPr lang="en-US" sz="1200" dirty="0"/>
              <a:t>Q173 [BASIC] Which data type is used for money in ORDERS, and why?</a:t>
            </a:r>
          </a:p>
          <a:p>
            <a:r>
              <a:rPr lang="en-US" sz="1200" dirty="0"/>
              <a:t>Answer: NUMBER(10,2): exact fixed-point decimals. FLOAT is approximate and can cause rounding errors.</a:t>
            </a:r>
          </a:p>
          <a:p>
            <a:r>
              <a:rPr lang="en-US" sz="1200" dirty="0"/>
              <a:t>Explanation: Example: 0.1 + 0.2 in FLOAT gives 0.30000000000000004; in NUMBER(10,2) it's exactly 0.30. Accounting totals must be exact.</a:t>
            </a:r>
          </a:p>
          <a:p>
            <a:endParaRPr lang="en-US" sz="1200" dirty="0"/>
          </a:p>
          <a:p>
            <a:r>
              <a:rPr lang="en-US" sz="1200" dirty="0"/>
              <a:t>Q174 [BASIC] What does NUMBER(10,2) mean?</a:t>
            </a:r>
          </a:p>
          <a:p>
            <a:r>
              <a:rPr lang="en-US" sz="1200" dirty="0"/>
              <a:t>Answer: Up to 10 total digits, 2 of them after the decimal point (max 99,999,999.99).</a:t>
            </a:r>
          </a:p>
          <a:p>
            <a:r>
              <a:rPr lang="en-US" sz="1200" dirty="0"/>
              <a:t>Explanation: Precision = total digits; scale = digits after the point. Inserting 123456789.00 (11 digits) would fail.</a:t>
            </a:r>
          </a:p>
          <a:p>
            <a:endParaRPr lang="en-US" sz="1200"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Q175 [INTERMEDIATE] What is the default precision/scale of NUMBER?</a:t>
            </a:r>
          </a:p>
          <a:p>
            <a:r>
              <a:rPr lang="en-US" sz="1200" dirty="0"/>
              <a:t>Answer: NUMBER(38,0): 38 digits, no decimals.</a:t>
            </a:r>
          </a:p>
          <a:p>
            <a:r>
              <a:rPr lang="en-US" sz="1200" dirty="0"/>
              <a:t>Explanation: NUMBER with no arguments stores whole numbers only: 12.5 would be rounded, so specify a scale for decimals.</a:t>
            </a:r>
          </a:p>
          <a:p>
            <a:endParaRPr lang="en-US" sz="1200" dirty="0"/>
          </a:p>
          <a:p>
            <a:r>
              <a:rPr lang="en-US" sz="1200" dirty="0"/>
              <a:t>Q176 [INTERMEDIATE] What does DEFAULT CURRENT_TIMESTAMP() on loaded_at do?</a:t>
            </a:r>
          </a:p>
          <a:p>
            <a:r>
              <a:rPr lang="en-US" sz="1200" dirty="0"/>
              <a:t>Answer: Fills loaded_at automatically with the current time whenever an INSERT or COPY doesn't supply that column.</a:t>
            </a:r>
          </a:p>
          <a:p>
            <a:r>
              <a:rPr lang="en-US" sz="1200" dirty="0"/>
              <a:t>Explanation: Great for audit columns: you can see when each row arrived without the loader sending that value.</a:t>
            </a:r>
          </a:p>
          <a:p>
            <a:endParaRPr lang="en-US" sz="1200" dirty="0"/>
          </a:p>
          <a:p>
            <a:r>
              <a:rPr lang="en-US" sz="1200" dirty="0"/>
              <a:t>Q177 [INTERMEDIATE] What is TIMESTAMP_LTZ?</a:t>
            </a:r>
          </a:p>
          <a:p>
            <a:r>
              <a:rPr lang="en-US" sz="1200" dirty="0"/>
              <a:t>Answer: A timestamp stored in UTC and displayed in the session's time zone (local time zone).</a:t>
            </a:r>
          </a:p>
          <a:p>
            <a:r>
              <a:rPr lang="en-US" sz="1200" dirty="0"/>
              <a:t>Explanation: Two users in different time zones see the same instant displayed in their own local time.</a:t>
            </a:r>
          </a:p>
          <a:p>
            <a:endParaRPr lang="en-US" sz="1200"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Q178 [ADVANCED] Compare TIMESTAMP_NTZ, TIMESTAMP_LTZ and TIMESTAMP_TZ.</a:t>
            </a:r>
          </a:p>
          <a:p>
            <a:r>
              <a:rPr lang="en-US" sz="1200" dirty="0"/>
              <a:t>Answer: NTZ: wall-clock time, no time zone. LTZ: stored UTC, shown in session TZ. TZ: stores the time plus its UTC offset. Plain TIMESTAMP maps to NTZ by default.</a:t>
            </a:r>
          </a:p>
          <a:p>
            <a:r>
              <a:rPr lang="en-US" sz="1200" dirty="0"/>
              <a:t>Explanation: Use NTZ for 'local business time', LTZ for event instants across time zones, TZ when the original offset must be kept.</a:t>
            </a:r>
          </a:p>
          <a:p>
            <a:endParaRPr lang="en-US" sz="1200" dirty="0"/>
          </a:p>
          <a:p>
            <a:r>
              <a:rPr lang="en-US" sz="1200" dirty="0"/>
              <a:t>Q179 [BASIC] What does CREATE OR REPLACE TABLE do if the table already exists?</a:t>
            </a:r>
          </a:p>
          <a:p>
            <a:r>
              <a:rPr lang="en-US" sz="1200" dirty="0"/>
              <a:t>Answer: Drops it and creates a new empty table, so all existing data is lost (recoverable only via Time Travel on the old version).</a:t>
            </a:r>
          </a:p>
          <a:p>
            <a:r>
              <a:rPr lang="en-US" sz="1200" dirty="0"/>
              <a:t>Explanation: Tutorials use it for convenience. In production it's dangerous because the drop happens silently.</a:t>
            </a:r>
          </a:p>
          <a:p>
            <a:endParaRPr lang="en-US" sz="1200" dirty="0"/>
          </a:p>
          <a:p>
            <a:r>
              <a:rPr lang="en-US" sz="1200" dirty="0"/>
              <a:t>Q180 [BASIC] What does SELECT * FROM orders return after Example 2?</a:t>
            </a:r>
          </a:p>
          <a:p>
            <a:r>
              <a:rPr lang="en-US" sz="1200" dirty="0"/>
              <a:t>Answer: Two rows: (1, Acme Corp, 2026-09-01, 1250.00, &lt;load time&gt;) and (2, Globex, 2026-09-02, 310.50, &lt;load time&gt;).</a:t>
            </a:r>
          </a:p>
          <a:p>
            <a:r>
              <a:rPr lang="en-US" sz="1200" dirty="0"/>
              <a:t>Explanation: loaded_at shows the actual insert time because of the DEFAULT.</a:t>
            </a:r>
          </a:p>
          <a:p>
            <a:endParaRPr lang="en-US" sz="1200"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Q181 [INTERMEDIATE] Does Snowflake enforce PRIMARY KEY and UNIQUE constraints?</a:t>
            </a:r>
          </a:p>
          <a:p>
            <a:r>
              <a:rPr lang="en-US" sz="1200" dirty="0"/>
              <a:t>Answer: No (on standard tables). They're informational only; only NOT NULL is enforced. Hybrid tables do enforce PKs.</a:t>
            </a:r>
          </a:p>
          <a:p>
            <a:r>
              <a:rPr lang="en-US" sz="1200" dirty="0"/>
              <a:t>Explanation: Snowflake keeps them as documentation and for BI tools that read relationships, but won't stop duplicate values.</a:t>
            </a:r>
          </a:p>
          <a:p>
            <a:endParaRPr lang="en-US" sz="1200" dirty="0"/>
          </a:p>
          <a:p>
            <a:r>
              <a:rPr lang="en-US" sz="1200" dirty="0"/>
              <a:t>Q182 [INTERMEDIATE] What happens if you insert order_id = 1 twice?</a:t>
            </a:r>
          </a:p>
          <a:p>
            <a:r>
              <a:rPr lang="en-US" sz="1200" dirty="0"/>
              <a:t>Answer: Both rows are stored, creating a duplicate. You must dedupe in your pipeline (e.g. MERGE or QUALIFY ROW_NUMBER()).</a:t>
            </a:r>
          </a:p>
          <a:p>
            <a:r>
              <a:rPr lang="en-US" sz="1200" dirty="0"/>
              <a:t>Explanation: Dedupe example: SELECT * FROM orders QUALIFY ROW_NUMBER() OVER (PARTITION BY order_id ORDER BY loaded_at DESC) = 1;</a:t>
            </a:r>
          </a:p>
          <a:p>
            <a:endParaRPr lang="en-US" sz="1200" dirty="0"/>
          </a:p>
          <a:p>
            <a:r>
              <a:rPr lang="en-US" sz="1200" dirty="0"/>
              <a:t>Q183 [INTERMEDIATE] What does DESC TABLE orders show?</a:t>
            </a:r>
          </a:p>
          <a:p>
            <a:r>
              <a:rPr lang="en-US" sz="1200" dirty="0"/>
              <a:t>Answer: Each column's name, data type, nullability, default, and other properties.</a:t>
            </a:r>
          </a:p>
          <a:p>
            <a:r>
              <a:rPr lang="en-US" sz="1200" dirty="0"/>
              <a:t>Explanation: Useful to verify types and defaults after creating a table, or when a load fails with type-conversion errors.</a:t>
            </a:r>
          </a:p>
          <a:p>
            <a:endParaRPr lang="en-US" sz="1200"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Q184 [INTERMEDIATE] Does VARCHAR(100) use less storage than VARCHAR?</a:t>
            </a:r>
          </a:p>
          <a:p>
            <a:r>
              <a:rPr lang="en-US" sz="1200" dirty="0"/>
              <a:t>Answer: No. Snowflake stores only the actual characters; the length is just a maximum constraint with no performance or storage penalty.</a:t>
            </a:r>
          </a:p>
          <a:p>
            <a:r>
              <a:rPr lang="en-US" sz="1200" dirty="0"/>
              <a:t>Explanation: Many teams use plain VARCHAR everywhere. Lengths remain useful as data-quality constraints.</a:t>
            </a:r>
          </a:p>
          <a:p>
            <a:endParaRPr lang="en-US" sz="1200" dirty="0"/>
          </a:p>
          <a:p>
            <a:r>
              <a:rPr lang="en-US" sz="1200" dirty="0"/>
              <a:t>Q185 [ADVANCED] What are transient and temporary tables?</a:t>
            </a:r>
          </a:p>
          <a:p>
            <a:r>
              <a:rPr lang="en-US" sz="1200" dirty="0"/>
              <a:t>Answer: Transient: persists but has no Fail-safe and at most 1-day Time Travel (cheaper). Temporary: exists only for the session. Both avoid Fail-safe storage costs.</a:t>
            </a:r>
          </a:p>
          <a:p>
            <a:r>
              <a:rPr lang="en-US" sz="1200" dirty="0"/>
              <a:t>Explanation: Transient suits staging and intermediate ETL tables; temporary suits scratch work that disappears when you disconnect.</a:t>
            </a:r>
          </a:p>
          <a:p>
            <a:endParaRPr lang="en-US" sz="1200" dirty="0"/>
          </a:p>
          <a:p>
            <a:r>
              <a:rPr lang="en-US" sz="1200" dirty="0"/>
              <a:t>Q186 [ADVANCED] How would you add a column without losing data?</a:t>
            </a:r>
          </a:p>
          <a:p>
            <a:r>
              <a:rPr lang="en-US" sz="1200" dirty="0"/>
              <a:t>Answer: ALTER TABLE orders ADD COLUMN channel VARCHAR;  (never CREATE OR REPLACE).</a:t>
            </a:r>
          </a:p>
          <a:p>
            <a:r>
              <a:rPr lang="en-US" sz="1200" dirty="0"/>
              <a:t>Explanation: ALTER TABLE changes structure and keeps rows. Existing rows get NULL (or the default) in the new column.</a:t>
            </a:r>
          </a:p>
          <a:p>
            <a:endParaRPr lang="en-US" sz="1200"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13: Data Loading Concepts. 20 questions. Covers Deck slide 16 of the main deck.</a:t>
            </a: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Q187 [BASIC] Describe the basic bulk-loading flow.</a:t>
            </a:r>
          </a:p>
          <a:p>
            <a:r>
              <a:rPr lang="en-US" sz="1200" dirty="0"/>
              <a:t>Answer: Source files → stage (internal or external) → COPY INTO &lt;table&gt; (using a file format, on a warehouse) → table.</a:t>
            </a:r>
          </a:p>
          <a:p>
            <a:r>
              <a:rPr lang="en-US" sz="1200" dirty="0"/>
              <a:t>Explanation: The same pattern works for any source: get files into a stage, describe them with a file format, and COPY them into a table.</a:t>
            </a:r>
          </a:p>
          <a:p>
            <a:endParaRPr lang="en-US" sz="1200" dirty="0"/>
          </a:p>
          <a:p>
            <a:r>
              <a:rPr lang="en-US" sz="1200" dirty="0"/>
              <a:t>Q188 [BASIC] What is an internal stage?</a:t>
            </a:r>
          </a:p>
          <a:p>
            <a:r>
              <a:rPr lang="en-US" sz="1200" dirty="0"/>
              <a:t>Answer: Snowflake-managed storage for files: a user stage (@~), a table stage (@%table), or a named internal stage (@stage).</a:t>
            </a:r>
          </a:p>
          <a:p>
            <a:r>
              <a:rPr lang="en-US" sz="1200" dirty="0"/>
              <a:t>Explanation: Internal stages are simplest when files come from your computer or you don't have your own cloud bucket.</a:t>
            </a:r>
          </a:p>
          <a:p>
            <a:endParaRPr lang="en-US" sz="1200" dirty="0"/>
          </a:p>
          <a:p>
            <a:r>
              <a:rPr lang="en-US" sz="1200" dirty="0"/>
              <a:t>Q189 [BASIC] What is an external stage?</a:t>
            </a:r>
          </a:p>
          <a:p>
            <a:r>
              <a:rPr lang="en-US" sz="1200" dirty="0"/>
              <a:t>Answer: A named stage that points to your own cloud storage location (Amazon S3, Azure Blob/ADLS, Google Cloud Storage).</a:t>
            </a:r>
          </a:p>
          <a:p>
            <a:r>
              <a:rPr lang="en-US" sz="1200" dirty="0"/>
              <a:t>Explanation: Most production pipelines land files in company-owned cloud storage, and Snowflake reads them through an external stage.</a:t>
            </a:r>
          </a:p>
          <a:p>
            <a:endParaRPr lang="en-US" sz="1200"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Q190 [INTERMEDIATE] Why are named stages usually preferred over user/table stages?</a:t>
            </a:r>
          </a:p>
          <a:p>
            <a:r>
              <a:rPr lang="en-US" sz="1200" dirty="0"/>
              <a:t>Answer: They can be shared across users and tables, secured with grants, and given a default file format and options.</a:t>
            </a:r>
          </a:p>
          <a:p>
            <a:r>
              <a:rPr lang="en-US" sz="1200" dirty="0"/>
              <a:t>Explanation: Example: several pipelines can share @raw.landing_stage with one file format, and you can grant READ on it to a loading role.</a:t>
            </a:r>
          </a:p>
          <a:p>
            <a:endParaRPr lang="en-US" sz="1200" dirty="0"/>
          </a:p>
          <a:p>
            <a:r>
              <a:rPr lang="en-US" sz="1200" dirty="0"/>
              <a:t>Q191 [INTERMEDIATE] What are the limitations of a table stage?</a:t>
            </a:r>
          </a:p>
          <a:p>
            <a:r>
              <a:rPr lang="en-US" sz="1200" dirty="0"/>
              <a:t>Answer: It's tied to one table, can't be altered or dropped, and can't be granted to other roles. Only the table owner can use it.</a:t>
            </a:r>
          </a:p>
          <a:p>
            <a:r>
              <a:rPr lang="en-US" sz="1200" dirty="0"/>
              <a:t>Explanation: Fine for quick one-off loads into a single table; for anything shared or repeatable, use a named stage.</a:t>
            </a:r>
          </a:p>
          <a:p>
            <a:endParaRPr lang="en-US" sz="1200" dirty="0"/>
          </a:p>
          <a:p>
            <a:r>
              <a:rPr lang="en-US" sz="1200" dirty="0"/>
              <a:t>Q192 [BASIC] Which file formats can COPY INTO load?</a:t>
            </a:r>
          </a:p>
          <a:p>
            <a:r>
              <a:rPr lang="en-US" sz="1200" dirty="0"/>
              <a:t>Answer: CSV/TSV (delimited), JSON, Avro, ORC, Parquet and XML.</a:t>
            </a:r>
          </a:p>
          <a:p>
            <a:r>
              <a:rPr lang="en-US" sz="1200" dirty="0"/>
              <a:t>Explanation: Columnar formats (Parquet, ORC) are compact and fast to load; CSV is the most common; JSON is typical for API data.</a:t>
            </a:r>
          </a:p>
          <a:p>
            <a:endParaRPr lang="en-US" sz="1200"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Q193 [BASIC] What compute does COPY INTO use?</a:t>
            </a:r>
          </a:p>
          <a:p>
            <a:r>
              <a:rPr lang="en-US" sz="1200" dirty="0"/>
              <a:t>Answer: The current user-managed virtual warehouse.</a:t>
            </a:r>
          </a:p>
          <a:p>
            <a:r>
              <a:rPr lang="en-US" sz="1200" dirty="0"/>
              <a:t>Explanation: That's why warehouse size affects load speed: more compute means more files processed in parallel.</a:t>
            </a:r>
          </a:p>
          <a:p>
            <a:endParaRPr lang="en-US" sz="1200" dirty="0"/>
          </a:p>
          <a:p>
            <a:r>
              <a:rPr lang="en-US" sz="1200" dirty="0"/>
              <a:t>Q194 [BASIC] What is Snowpipe?</a:t>
            </a:r>
          </a:p>
          <a:p>
            <a:r>
              <a:rPr lang="en-US" sz="1200" dirty="0"/>
              <a:t>Answer: A serverless service that loads files continuously and automatically as they arrive in a stage, typically triggered by cloud event notifications.</a:t>
            </a:r>
          </a:p>
          <a:p>
            <a:r>
              <a:rPr lang="en-US" sz="1200" dirty="0"/>
              <a:t>Explanation: Instead of scheduling COPY hourly, Snowpipe loads each file within about a minute of arrival, with no warehouse to manage.</a:t>
            </a:r>
          </a:p>
          <a:p>
            <a:endParaRPr lang="en-US" sz="1200" dirty="0"/>
          </a:p>
          <a:p>
            <a:r>
              <a:rPr lang="en-US" sz="1200" dirty="0"/>
              <a:t>Q195 [INTERMEDIATE] How is Snowpipe billed?</a:t>
            </a:r>
          </a:p>
          <a:p>
            <a:r>
              <a:rPr lang="en-US" sz="1200" dirty="0"/>
              <a:t>Answer: Serverless compute (Snowflake-managed, not your warehouse) plus a small per-file overhead.</a:t>
            </a:r>
          </a:p>
          <a:p>
            <a:r>
              <a:rPr lang="en-US" sz="1200" dirty="0"/>
              <a:t>Explanation: Usually cheaper than keeping a warehouse up for frequent small loads, but huge numbers of tiny files raise per-file charges.</a:t>
            </a:r>
          </a:p>
          <a:p>
            <a:endParaRPr lang="en-US" sz="1200"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Q196 [INTERMEDIATE] What is Snowpipe Streaming?</a:t>
            </a:r>
          </a:p>
          <a:p>
            <a:r>
              <a:rPr lang="en-US" sz="1200" dirty="0"/>
              <a:t>Answer: An API for writing rows directly into tables with low (seconds) latency, without staging files, e.g. via the Kafka connector.</a:t>
            </a:r>
          </a:p>
          <a:p>
            <a:r>
              <a:rPr lang="en-US" sz="1200" dirty="0"/>
              <a:t>Explanation: Ideal for real-time use cases (clickstreams, IoT, events) where waiting for files is too slow.</a:t>
            </a:r>
          </a:p>
          <a:p>
            <a:endParaRPr lang="en-US" sz="1200" dirty="0"/>
          </a:p>
          <a:p>
            <a:r>
              <a:rPr lang="en-US" sz="1200" dirty="0"/>
              <a:t>Q197 [BASIC] What is the recommended file size for loading?</a:t>
            </a:r>
          </a:p>
          <a:p>
            <a:r>
              <a:rPr lang="en-US" sz="1200" dirty="0"/>
              <a:t>Answer: About 100–250 MB compressed per file.</a:t>
            </a:r>
          </a:p>
          <a:p>
            <a:r>
              <a:rPr lang="en-US" sz="1200" dirty="0"/>
              <a:t>Explanation: Snowflake's long-standing guidance: it balances parallelism against per-file overhead.</a:t>
            </a:r>
          </a:p>
          <a:p>
            <a:endParaRPr lang="en-US" sz="1200" dirty="0"/>
          </a:p>
          <a:p>
            <a:r>
              <a:rPr lang="en-US" sz="1200" dirty="0"/>
              <a:t>Q198 [INTERMEDIATE] Why does file size matter?</a:t>
            </a:r>
          </a:p>
          <a:p>
            <a:r>
              <a:rPr lang="en-US" sz="1200" dirty="0"/>
              <a:t>Answer: COPY loads files in parallel. Too few huge files limit parallelism; too many tiny files add per-file overhead (especially for Snowpipe).</a:t>
            </a:r>
          </a:p>
          <a:p>
            <a:r>
              <a:rPr lang="en-US" sz="1200" dirty="0"/>
              <a:t>Explanation: Example: one 10 GB file loads on a single thread; the same data as 50 × 200 MB files loads in parallel, much faster.</a:t>
            </a:r>
          </a:p>
          <a:p>
            <a:endParaRPr lang="en-US" sz="1200"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Q199 [BASIC] When is INSERT … VALUES appropriate?</a:t>
            </a:r>
          </a:p>
          <a:p>
            <a:r>
              <a:rPr lang="en-US" sz="1200" dirty="0"/>
              <a:t>Answer: Only for tiny test or reference data, not for bulk loading.</a:t>
            </a:r>
          </a:p>
          <a:p>
            <a:r>
              <a:rPr lang="en-US" sz="1200" dirty="0"/>
              <a:t>Explanation: Every INSERT is a separate transaction creating new micro-partitions, which is inefficient for large volumes.</a:t>
            </a:r>
          </a:p>
          <a:p>
            <a:endParaRPr lang="en-US" sz="1200" dirty="0"/>
          </a:p>
          <a:p>
            <a:r>
              <a:rPr lang="en-US" sz="1200" dirty="0"/>
              <a:t>Q200 [INTERMEDIATE] What is the Snowsight Load Data wizard for?</a:t>
            </a:r>
          </a:p>
          <a:p>
            <a:r>
              <a:rPr lang="en-US" sz="1200" dirty="0"/>
              <a:t>Answer: One-off loads of small local files through the web UI, without writing PUT/COPY.</a:t>
            </a:r>
          </a:p>
          <a:p>
            <a:r>
              <a:rPr lang="en-US" sz="1200" dirty="0"/>
              <a:t>Explanation: Snowsight can infer column types and even create the table for you, which is great for quickly exploring a CSV.</a:t>
            </a:r>
          </a:p>
          <a:p>
            <a:endParaRPr lang="en-US" sz="1200" dirty="0"/>
          </a:p>
          <a:p>
            <a:r>
              <a:rPr lang="en-US" sz="1200" dirty="0"/>
              <a:t>Q201 [INTERMEDIATE] Which is lower latency: COPY, Snowpipe or Snowpipe Streaming?</a:t>
            </a:r>
          </a:p>
          <a:p>
            <a:r>
              <a:rPr lang="en-US" sz="1200" dirty="0"/>
              <a:t>Answer: Snowpipe Streaming (seconds), then Snowpipe (about a minute), then scheduled COPY batches (minutes or more).</a:t>
            </a:r>
          </a:p>
          <a:p>
            <a:r>
              <a:rPr lang="en-US" sz="1200" dirty="0"/>
              <a:t>Explanation: Choose by freshness need and cost: batch COPY for daily reports, Snowpipe for near-real-time, Streaming for real-time.</a:t>
            </a:r>
          </a:p>
          <a:p>
            <a:endParaRPr lang="en-US" sz="1200"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Q202 [ADVANCED] How does Snowpipe know that a new file arrived in S3?</a:t>
            </a:r>
          </a:p>
          <a:p>
            <a:r>
              <a:rPr lang="en-US" sz="1200" dirty="0"/>
              <a:t>Answer: Via S3 event notifications to an SQS queue (AUTO_INGEST = TRUE), or by calling the Snowpipe REST API.</a:t>
            </a:r>
          </a:p>
          <a:p>
            <a:r>
              <a:rPr lang="en-US" sz="1200" dirty="0"/>
              <a:t>Explanation: With AUTO_INGEST, the pipe's notification_channel (an SQS ARN shown by SHOW PIPES) is set as the bucket's event target.</a:t>
            </a:r>
          </a:p>
          <a:p>
            <a:endParaRPr lang="en-US" sz="1200" dirty="0"/>
          </a:p>
          <a:p>
            <a:r>
              <a:rPr lang="en-US" sz="1200" dirty="0"/>
              <a:t>Q203 [ADVANCED] What is the difference between loading and querying files in place?</a:t>
            </a:r>
          </a:p>
          <a:p>
            <a:r>
              <a:rPr lang="en-US" sz="1200" dirty="0"/>
              <a:t>Answer: Loading copies data into Snowflake tables. External tables / Iceberg tables let you query files in your own storage without loading (usually slower than native tables).</a:t>
            </a:r>
          </a:p>
          <a:p>
            <a:r>
              <a:rPr lang="en-US" sz="1200" dirty="0"/>
              <a:t>Explanation: Iceberg tables fit when data must stay in open formats in your own storage and be used by other engines too.</a:t>
            </a:r>
          </a:p>
          <a:p>
            <a:endParaRPr lang="en-US" sz="1200" dirty="0"/>
          </a:p>
          <a:p>
            <a:r>
              <a:rPr lang="en-US" sz="1200" dirty="0"/>
              <a:t>Q204 [INTERMEDIATE] How do you unload data from a table to files?</a:t>
            </a:r>
          </a:p>
          <a:p>
            <a:r>
              <a:rPr lang="en-US" sz="1200" dirty="0"/>
              <a:t>Answer: COPY INTO @stage/path FROM &lt;table or query&gt; (then GET to download from an internal stage).</a:t>
            </a:r>
          </a:p>
          <a:p>
            <a:r>
              <a:rPr lang="en-US" sz="1200" dirty="0"/>
              <a:t>Explanation: Unloading exports data to other systems. It supports CSV, JSON and Parquet and can split output into many files.</a:t>
            </a:r>
          </a:p>
          <a:p>
            <a:endParaRPr lang="en-US" sz="1200"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Q205 [ADVANCED] You receive one 20 GB CSV file daily. How should you load it?</a:t>
            </a:r>
          </a:p>
          <a:p>
            <a:r>
              <a:rPr lang="en-US" sz="1200" dirty="0"/>
              <a:t>Answer: Split it into roughly 100–250 MB compressed chunks so COPY can load them in parallel. Use a suitable warehouse size and a named stage with a file format.</a:t>
            </a:r>
          </a:p>
          <a:p>
            <a:r>
              <a:rPr lang="en-US" sz="1200" dirty="0"/>
              <a:t>Explanation: Snowflake can parallelize some large CSVs itself, but splitting upstream is still the recommended practice for predictable speed.</a:t>
            </a:r>
          </a:p>
          <a:p>
            <a:endParaRPr lang="en-US" sz="1200" dirty="0"/>
          </a:p>
          <a:p>
            <a:r>
              <a:rPr lang="en-US" sz="1200" dirty="0"/>
              <a:t>Q206 [ADVANCED] You receive 100,000 tiny JSON files per hour. What problems and fixes?</a:t>
            </a:r>
          </a:p>
          <a:p>
            <a:r>
              <a:rPr lang="en-US" sz="1200" dirty="0"/>
              <a:t>Answer: Per-file overhead and slow listing. Batch or combine files upstream, use Snowpipe or Snowpipe Streaming, and organize stage paths by date for targeted loading.</a:t>
            </a:r>
          </a:p>
          <a:p>
            <a:r>
              <a:rPr lang="en-US" sz="1200" dirty="0"/>
              <a:t>Explanation: The goal is fewer, reasonably sized files, plus a folder layout like /yyyy/mm/dd/ so each load can target a path.</a:t>
            </a:r>
          </a:p>
          <a:p>
            <a:endParaRPr lang="en-US" sz="1200"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14: Example 3 · Load a Local CSV. 18 questions. Covers Deck slide 17 of the main deck.</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Q207 [BASIC] What are the steps in Example 3?</a:t>
            </a:r>
          </a:p>
          <a:p>
            <a:r>
              <a:rPr lang="en-US" sz="1200" dirty="0"/>
              <a:t>Answer: 1) Create file format, 2) create internal stage, 3) PUT the file, 4) LIST the stage, 5) COPY INTO the table, 6) VALIDATE rejected rows.</a:t>
            </a:r>
          </a:p>
          <a:p>
            <a:r>
              <a:rPr lang="en-US" sz="1200" dirty="0"/>
              <a:t>Explanation: This is the core loading recipe from the Getting Started tutorials; each step is a separate, reusable object or command.</a:t>
            </a:r>
          </a:p>
          <a:p>
            <a:endParaRPr lang="en-US" sz="1200" dirty="0"/>
          </a:p>
          <a:p>
            <a:r>
              <a:rPr lang="en-US" sz="1200" dirty="0"/>
              <a:t>Q208 [BASIC] What does SKIP_HEADER = 1 do?</a:t>
            </a:r>
          </a:p>
          <a:p>
            <a:r>
              <a:rPr lang="en-US" sz="1200" dirty="0"/>
              <a:t>Answer: Skips the first line of each file (the column-header row).</a:t>
            </a:r>
          </a:p>
          <a:p>
            <a:r>
              <a:rPr lang="en-US" sz="1200" dirty="0"/>
              <a:t>Explanation: Without it the header row would be loaded as data, or fail conversion (e.g. the text 'order_id' into a NUMBER column).</a:t>
            </a:r>
          </a:p>
          <a:p>
            <a:endParaRPr lang="en-US" sz="1200" dirty="0"/>
          </a:p>
          <a:p>
            <a:r>
              <a:rPr lang="en-US" sz="1200" dirty="0"/>
              <a:t>Q209 [BASIC] What does FIELD_OPTIONALLY_ENCLOSED_BY = '"' do?</a:t>
            </a:r>
          </a:p>
          <a:p>
            <a:r>
              <a:rPr lang="en-US" sz="1200" dirty="0"/>
              <a:t>Answer: Allows values wrapped in double quotes, so commas inside quotes (e.g. "Umbrella, Inc") are treated as data, not delimiters.</a:t>
            </a:r>
          </a:p>
          <a:p>
            <a:r>
              <a:rPr lang="en-US" sz="1200" dirty="0"/>
              <a:t>Explanation: Without this, "Umbrella, Inc" would be split into two columns at the comma and break the row.</a:t>
            </a:r>
          </a:p>
          <a:p>
            <a:endParaRPr lang="en-US" sz="1200"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Q210 [BASIC] What does NULL_IF = ('', 'NULL') do?</a:t>
            </a:r>
          </a:p>
          <a:p>
            <a:r>
              <a:rPr lang="en-US" sz="1200" dirty="0"/>
              <a:t>Answer: Converts empty strings and the literal text NULL into SQL NULL during loading.</a:t>
            </a:r>
          </a:p>
          <a:p>
            <a:r>
              <a:rPr lang="en-US" sz="1200" dirty="0"/>
              <a:t>Explanation: NULL_IF works for any marker, e.g. NULL_IF = ('N/A', '-') if a source system uses those for missing values.</a:t>
            </a:r>
          </a:p>
          <a:p>
            <a:endParaRPr lang="en-US" sz="1200" dirty="0"/>
          </a:p>
          <a:p>
            <a:r>
              <a:rPr lang="en-US" sz="1200" dirty="0"/>
              <a:t>Q211 [BASIC] What does the PUT command do?</a:t>
            </a:r>
          </a:p>
          <a:p>
            <a:r>
              <a:rPr lang="en-US" sz="1200" dirty="0"/>
              <a:t>Answer: Uploads a local file to an internal stage, gzip-compressing it by default (AUTO_COMPRESS = TRUE).</a:t>
            </a:r>
          </a:p>
          <a:p>
            <a:r>
              <a:rPr lang="en-US" sz="1200" dirty="0"/>
              <a:t>Explanation: Compression cuts upload time and storage, and COPY automatically decompresses gzip files during loading.</a:t>
            </a:r>
          </a:p>
          <a:p>
            <a:endParaRPr lang="en-US" sz="1200" dirty="0"/>
          </a:p>
          <a:p>
            <a:r>
              <a:rPr lang="en-US" sz="1200" dirty="0"/>
              <a:t>Q212 [BASIC] After PUT, what is the staged file called?</a:t>
            </a:r>
          </a:p>
          <a:p>
            <a:r>
              <a:rPr lang="en-US" sz="1200" dirty="0"/>
              <a:t>Answer: orders.csv.gz, because it's compressed automatically.</a:t>
            </a:r>
          </a:p>
          <a:p>
            <a:r>
              <a:rPr lang="en-US" sz="1200" dirty="0"/>
              <a:t>Explanation: With AUTO_COMPRESS = FALSE the file would stay orders.csv. COPY detects compression automatically (COMPRESSION = AUTO).</a:t>
            </a:r>
          </a:p>
          <a:p>
            <a:endParaRPr lang="en-US" sz="1200"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Q213 [BASIC] What does LIST @my_int_stage show?</a:t>
            </a:r>
          </a:p>
          <a:p>
            <a:r>
              <a:rPr lang="en-US" sz="1200" dirty="0"/>
              <a:t>Answer: The files in the stage with their name, size, MD5 hash and last-modified time.</a:t>
            </a:r>
          </a:p>
          <a:p>
            <a:r>
              <a:rPr lang="en-US" sz="1200" dirty="0"/>
              <a:t>Explanation: Use it to confirm the upload before running COPY. You can filter too: LIST @my_int_stage PATTERN = '.*orders.*';</a:t>
            </a:r>
          </a:p>
          <a:p>
            <a:endParaRPr lang="en-US" sz="1200" dirty="0"/>
          </a:p>
          <a:p>
            <a:r>
              <a:rPr lang="en-US" sz="1200" dirty="0"/>
              <a:t>Q214 [INTERMEDIATE] Why does COPY list four columns when the table has five?</a:t>
            </a:r>
          </a:p>
          <a:p>
            <a:r>
              <a:rPr lang="en-US" sz="1200" dirty="0"/>
              <a:t>Answer: The CSV has four fields; the column list maps them to the matching columns, and loaded_at fills from its DEFAULT.</a:t>
            </a:r>
          </a:p>
          <a:p>
            <a:r>
              <a:rPr lang="en-US" sz="1200" dirty="0"/>
              <a:t>Explanation: The column list maps file columns to table columns in order; unlisted columns get their DEFAULT or NULL.</a:t>
            </a:r>
          </a:p>
          <a:p>
            <a:endParaRPr lang="en-US" sz="1200" dirty="0"/>
          </a:p>
          <a:p>
            <a:r>
              <a:rPr lang="en-US" sz="1200" dirty="0"/>
              <a:t>Q215 [BASIC] What does ON_ERROR = 'CONTINUE' do?</a:t>
            </a:r>
          </a:p>
          <a:p>
            <a:r>
              <a:rPr lang="en-US" sz="1200" dirty="0"/>
              <a:t>Answer: Skips rows with errors and continues loading the rest of the file.</a:t>
            </a:r>
          </a:p>
          <a:p>
            <a:r>
              <a:rPr lang="en-US" sz="1200" dirty="0"/>
              <a:t>Explanation: Useful when a few bad rows are acceptable; rejected rows can be reviewed afterwards with VALIDATE.</a:t>
            </a:r>
          </a:p>
          <a:p>
            <a:endParaRPr lang="en-US" sz="1200"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Q216 [INTERMEDIATE] What is the default ON_ERROR for COPY INTO (bulk load)?</a:t>
            </a:r>
          </a:p>
          <a:p>
            <a:r>
              <a:rPr lang="en-US" sz="1200" dirty="0"/>
              <a:t>Answer: ABORT_STATEMENT: the whole load fails on the first error. (Snowpipe's default is SKIP_FILE.)</a:t>
            </a:r>
          </a:p>
          <a:p>
            <a:r>
              <a:rPr lang="en-US" sz="1200" dirty="0"/>
              <a:t>Explanation: The strict default protects data quality: nothing loads if any row is bad, unless you choose otherwise.</a:t>
            </a:r>
          </a:p>
          <a:p>
            <a:endParaRPr lang="en-US" sz="1200" dirty="0"/>
          </a:p>
          <a:p>
            <a:r>
              <a:rPr lang="en-US" sz="1200" dirty="0"/>
              <a:t>Q217 [INTERMEDIATE] List all ON_ERROR options.</a:t>
            </a:r>
          </a:p>
          <a:p>
            <a:r>
              <a:rPr lang="en-US" sz="1200" dirty="0"/>
              <a:t>Answer: CONTINUE, SKIP_FILE, SKIP_FILE_&lt;n&gt;, 'SKIP_FILE_&lt;n&gt;%', ABORT_STATEMENT.</a:t>
            </a:r>
          </a:p>
          <a:p>
            <a:r>
              <a:rPr lang="en-US" sz="1200" dirty="0"/>
              <a:t>Explanation: SKIP_FILE_10 skips a file with 10+ errors; 'SKIP_FILE_10%' skips it if 10% of its rows fail, giving you tolerance thresholds.</a:t>
            </a:r>
          </a:p>
          <a:p>
            <a:endParaRPr lang="en-US" sz="1200" dirty="0"/>
          </a:p>
          <a:p>
            <a:r>
              <a:rPr lang="en-US" sz="1200" dirty="0"/>
              <a:t>Q218 [BASIC] In the sample file, which row is rejected and why?</a:t>
            </a:r>
          </a:p>
          <a:p>
            <a:r>
              <a:rPr lang="en-US" sz="1200" dirty="0"/>
              <a:t>Answer: Row 5 (Hooli): 'not-a-date' can't be converted to DATE.</a:t>
            </a:r>
          </a:p>
          <a:p>
            <a:r>
              <a:rPr lang="en-US" sz="1200" dirty="0"/>
              <a:t>Explanation: Text that isn't a date can't be converted to DATE; with ON_ERROR = 'CONTINUE' only that row is skipped.</a:t>
            </a:r>
          </a:p>
          <a:p>
            <a:endParaRPr lang="en-US" sz="1200"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Q219 [BASIC] What value does row 4 get for amount?</a:t>
            </a:r>
          </a:p>
          <a:p>
            <a:r>
              <a:rPr lang="en-US" sz="1200" dirty="0"/>
              <a:t>Answer: NULL. The amount field is empty and NULL_IF includes ''.</a:t>
            </a:r>
          </a:p>
          <a:p>
            <a:r>
              <a:rPr lang="en-US" sz="1200" dirty="0"/>
              <a:t>Explanation: The amount field is empty and NULL_IF lists '', so the value becomes NULL instead of failing.</a:t>
            </a:r>
          </a:p>
          <a:p>
            <a:endParaRPr lang="en-US" sz="1200" dirty="0"/>
          </a:p>
          <a:p>
            <a:r>
              <a:rPr lang="en-US" sz="1200" dirty="0"/>
              <a:t>Q220 [BASIC] What does the COPY result show for this file?</a:t>
            </a:r>
          </a:p>
          <a:p>
            <a:r>
              <a:rPr lang="en-US" sz="1200" dirty="0"/>
              <a:t>Answer: Status PARTIALLY_LOADED, 2 rows loaded, 1 error.</a:t>
            </a:r>
          </a:p>
          <a:p>
            <a:r>
              <a:rPr lang="en-US" sz="1200" dirty="0"/>
              <a:t>Explanation: Example 2's two rows plus rows 3 and 4 give ORDERS four rows after this load.</a:t>
            </a:r>
          </a:p>
          <a:p>
            <a:endParaRPr lang="en-US" sz="1200" dirty="0"/>
          </a:p>
          <a:p>
            <a:r>
              <a:rPr lang="en-US" sz="1200" dirty="0"/>
              <a:t>Q221 [INTERMEDIATE] What does SELECT * FROM TABLE(VALIDATE(orders, JOB_ID =&gt; '_last')) return?</a:t>
            </a:r>
          </a:p>
          <a:p>
            <a:r>
              <a:rPr lang="en-US" sz="1200" dirty="0"/>
              <a:t>Answer: The rows rejected by the last COPY INTO orders in this session, with error messages, file, line and column.</a:t>
            </a:r>
          </a:p>
          <a:p>
            <a:r>
              <a:rPr lang="en-US" sz="1200" dirty="0"/>
              <a:t>Explanation: It's a table function over the load job; '_last' means the most recent COPY into that table in the current session.</a:t>
            </a:r>
          </a:p>
          <a:p>
            <a:endParaRPr lang="en-US" sz="1200"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Q222 [INTERMEDIATE] What is VALIDATION_MODE?</a:t>
            </a:r>
          </a:p>
          <a:p>
            <a:r>
              <a:rPr lang="en-US" sz="1200" dirty="0"/>
              <a:t>Answer: A COPY option (RETURN_n_ROWS, RETURN_ERRORS, RETURN_ALL_ERRORS) that checks files and returns results WITHOUT loading any data.</a:t>
            </a:r>
          </a:p>
          <a:p>
            <a:r>
              <a:rPr lang="en-US" sz="1200" dirty="0"/>
              <a:t>Explanation: Recommended before big loads: run with VALIDATION_MODE = RETURN_ERRORS to find problems without touching the table.</a:t>
            </a:r>
          </a:p>
          <a:p>
            <a:endParaRPr lang="en-US" sz="1200" dirty="0"/>
          </a:p>
          <a:p>
            <a:r>
              <a:rPr lang="en-US" sz="1200" dirty="0"/>
              <a:t>Q223 [INTERMEDIATE] You run the same COPY again. What happens?</a:t>
            </a:r>
          </a:p>
          <a:p>
            <a:r>
              <a:rPr lang="en-US" sz="1200" dirty="0"/>
              <a:t>Answer: 0 rows load: the file is skipped because load metadata (kept 64 days) shows it's already loaded.</a:t>
            </a:r>
          </a:p>
          <a:p>
            <a:r>
              <a:rPr lang="en-US" sz="1200" dirty="0"/>
              <a:t>Explanation: This protects against accidental double-loading, and it's a key reason COPY-based pipelines are safe to rerun.</a:t>
            </a:r>
          </a:p>
          <a:p>
            <a:endParaRPr lang="en-US" sz="1200" dirty="0"/>
          </a:p>
          <a:p>
            <a:r>
              <a:rPr lang="en-US" sz="1200" dirty="0"/>
              <a:t>Q224 [ADVANCED] When would you use FORCE = TRUE, and what's the risk?</a:t>
            </a:r>
          </a:p>
          <a:p>
            <a:r>
              <a:rPr lang="en-US" sz="1200" dirty="0"/>
              <a:t>Answer: To reload files already loaded (e.g. after truncating the table). The risk is duplicate rows if the table still has the old data.</a:t>
            </a:r>
          </a:p>
          <a:p>
            <a:r>
              <a:rPr lang="en-US" sz="1200" dirty="0"/>
              <a:t>Explanation: Load metadata is tracked per table and isn't cleared by TRUNCATE. That's why FORCE may be needed after a full reload.</a:t>
            </a:r>
          </a:p>
          <a:p>
            <a:endParaRPr lang="en-US" sz="1200"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15: Example 4 · Load from S3. 14 questions. Covers Deck slide 18 of the main deck.</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Q225 [BASIC] What is a storage integration?</a:t>
            </a:r>
          </a:p>
          <a:p>
            <a:r>
              <a:rPr lang="en-US" sz="1200" dirty="0"/>
              <a:t>Answer: An account-level object that stores a generated identity (IAM user + external ID) so Snowflake can access your cloud storage without keys in SQL.</a:t>
            </a:r>
          </a:p>
          <a:p>
            <a:r>
              <a:rPr lang="en-US" sz="1200" dirty="0"/>
              <a:t>Explanation: The integration represents a trust relationship between your Snowflake account and your cloud storage, set up once by an admin and reused by many stages.</a:t>
            </a:r>
          </a:p>
          <a:p>
            <a:endParaRPr lang="en-US" sz="1200" dirty="0"/>
          </a:p>
          <a:p>
            <a:r>
              <a:rPr lang="en-US" sz="1200" dirty="0"/>
              <a:t>Q226 [INTERMEDIATE] Why use a storage integration instead of AWS keys in the stage?</a:t>
            </a:r>
          </a:p>
          <a:p>
            <a:r>
              <a:rPr lang="en-US" sz="1200" dirty="0"/>
              <a:t>Answer: No secrets in SQL or metadata, centrally controlled, access limited to allowed locations, and credentials managed through IAM roles.</a:t>
            </a:r>
          </a:p>
          <a:p>
            <a:r>
              <a:rPr lang="en-US" sz="1200" dirty="0"/>
              <a:t>Explanation: Security teams prefer it: keys in SQL can leak through query history, while IAM roles can be audited and revoked centrally.</a:t>
            </a:r>
          </a:p>
          <a:p>
            <a:endParaRPr lang="en-US" sz="1200" dirty="0"/>
          </a:p>
          <a:p>
            <a:r>
              <a:rPr lang="en-US" sz="1200" dirty="0"/>
              <a:t>Q227 [BASIC] Which role creates the storage integration in Example 4?</a:t>
            </a:r>
          </a:p>
          <a:p>
            <a:r>
              <a:rPr lang="en-US" sz="1200" dirty="0"/>
              <a:t>Answer: ACCOUNTADMIN (or a role granted CREATE INTEGRATION).</a:t>
            </a:r>
          </a:p>
          <a:p>
            <a:r>
              <a:rPr lang="en-US" sz="1200" dirty="0"/>
              <a:t>Explanation: Creating integrations is account-level and security-sensitive, so it's restricted to high-privilege roles.</a:t>
            </a:r>
          </a:p>
          <a:p>
            <a:endParaRPr lang="en-US" sz="1200"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Q228 [BASIC] What does STORAGE_ALLOWED_LOCATIONS do?</a:t>
            </a:r>
          </a:p>
          <a:p>
            <a:r>
              <a:rPr lang="en-US" sz="1200" dirty="0"/>
              <a:t>Answer: Restricts which buckets/paths stages using this integration may access.</a:t>
            </a:r>
          </a:p>
          <a:p>
            <a:r>
              <a:rPr lang="en-US" sz="1200" dirty="0"/>
              <a:t>Explanation: A guardrail: even if someone creates a stage with this integration, it can only reach the listed paths.</a:t>
            </a:r>
          </a:p>
          <a:p>
            <a:endParaRPr lang="en-US" sz="1200" dirty="0"/>
          </a:p>
          <a:p>
            <a:r>
              <a:rPr lang="en-US" sz="1200" dirty="0"/>
              <a:t>Q229 [INTERMEDIATE] What two values from DESC INTEGRATION go into AWS?</a:t>
            </a:r>
          </a:p>
          <a:p>
            <a:r>
              <a:rPr lang="en-US" sz="1200" dirty="0"/>
              <a:t>Answer: STORAGE_AWS_IAM_USER_ARN and STORAGE_AWS_EXTERNAL_ID, added to the IAM role's trust policy.</a:t>
            </a:r>
          </a:p>
          <a:p>
            <a:r>
              <a:rPr lang="en-US" sz="1200" dirty="0"/>
              <a:t>Explanation: The external ID prevents the 'confused deputy' problem, so only your Snowflake account can assume that IAM role.</a:t>
            </a:r>
          </a:p>
          <a:p>
            <a:endParaRPr lang="en-US" sz="1200" dirty="0"/>
          </a:p>
          <a:p>
            <a:r>
              <a:rPr lang="en-US" sz="1200" dirty="0"/>
              <a:t>Q230 [INTERMEDIATE] Why grant USAGE on the integration to SYSADMIN?</a:t>
            </a:r>
          </a:p>
          <a:p>
            <a:r>
              <a:rPr lang="en-US" sz="1200" dirty="0"/>
              <a:t>Answer: So SYSADMIN can create stages that use the integration without using ACCOUNTADMIN.</a:t>
            </a:r>
          </a:p>
          <a:p>
            <a:r>
              <a:rPr lang="en-US" sz="1200" dirty="0"/>
              <a:t>Explanation: Least privilege: ACCOUNTADMIN sets up the trust once, and everyday work happens as SYSADMIN or a dedicated loading role.</a:t>
            </a:r>
          </a:p>
          <a:p>
            <a:endParaRPr lang="en-US" sz="1200"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Q231 [BASIC] What does the URL parameter in CREATE STAGE point to?</a:t>
            </a:r>
          </a:p>
          <a:p>
            <a:r>
              <a:rPr lang="en-US" sz="1200" dirty="0"/>
              <a:t>Answer: The S3 bucket/path where the files live, e.g. s3://acme-data/orders/.</a:t>
            </a:r>
          </a:p>
          <a:p>
            <a:r>
              <a:rPr lang="en-US" sz="1200" dirty="0"/>
              <a:t>Explanation: The stage URL must be inside STORAGE_ALLOWED_LOCATIONS, or creating or using the stage fails.</a:t>
            </a:r>
          </a:p>
          <a:p>
            <a:endParaRPr lang="en-US" sz="1200" dirty="0"/>
          </a:p>
          <a:p>
            <a:r>
              <a:rPr lang="en-US" sz="1200" dirty="0"/>
              <a:t>Q232 [BASIC] What does PATTERN in COPY INTO do?</a:t>
            </a:r>
          </a:p>
          <a:p>
            <a:r>
              <a:rPr lang="en-US" sz="1200" dirty="0"/>
              <a:t>Answer: Loads only files whose path matches the regular expression, e.g. '.*orders_2026-09.*[.]csv'.</a:t>
            </a:r>
          </a:p>
          <a:p>
            <a:r>
              <a:rPr lang="en-US" sz="1200" dirty="0"/>
              <a:t>Explanation: Example: of orders_2026-09-01.csv and orders_2026-10-01.csv, only the September file matches the pattern.</a:t>
            </a:r>
          </a:p>
          <a:p>
            <a:endParaRPr lang="en-US" sz="1200" dirty="0"/>
          </a:p>
          <a:p>
            <a:r>
              <a:rPr lang="en-US" sz="1200" dirty="0"/>
              <a:t>Q233 [INTERMEDIATE] Why is the dot written as [.] in the pattern?</a:t>
            </a:r>
          </a:p>
          <a:p>
            <a:r>
              <a:rPr lang="en-US" sz="1200" dirty="0"/>
              <a:t>Answer: In a regex a bare '.' matches any character; [.] matches a literal dot.</a:t>
            </a:r>
          </a:p>
          <a:p>
            <a:r>
              <a:rPr lang="en-US" sz="1200" dirty="0"/>
              <a:t>Explanation: Unescaped, '.csv' would also match names like 'orders_2026-09-01Xcsv'. Small regex details matter.</a:t>
            </a:r>
          </a:p>
          <a:p>
            <a:endParaRPr lang="en-US" sz="1200"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Q234 [INTERMEDIATE] PATTERN vs FILES: what's the difference?</a:t>
            </a:r>
          </a:p>
          <a:p>
            <a:r>
              <a:rPr lang="en-US" sz="1200" dirty="0"/>
              <a:t>Answer: FILES = ('a.csv','b.csv') lists exact file names (up to 1,000); PATTERN uses a regex to match many files.</a:t>
            </a:r>
          </a:p>
          <a:p>
            <a:r>
              <a:rPr lang="en-US" sz="1200" dirty="0"/>
              <a:t>Explanation: FILES is precise for known names; PATTERN is flexible for date-based or wildcard loads.</a:t>
            </a:r>
          </a:p>
          <a:p>
            <a:endParaRPr lang="en-US" sz="1200" dirty="0"/>
          </a:p>
          <a:p>
            <a:r>
              <a:rPr lang="en-US" sz="1200" dirty="0"/>
              <a:t>Q235 [INTERMEDIATE] What changes for Azure or Google Cloud Storage?</a:t>
            </a:r>
          </a:p>
          <a:p>
            <a:r>
              <a:rPr lang="en-US" sz="1200" dirty="0"/>
              <a:t>Answer: STORAGE_PROVIDER = 'AZURE' (with AZURE_TENANT_ID) or 'GCS'; the stage URL uses azure:// or gcs://. The rest of the flow is the same.</a:t>
            </a:r>
          </a:p>
          <a:p>
            <a:r>
              <a:rPr lang="en-US" sz="1200" dirty="0"/>
              <a:t>Explanation: Each cloud has its own identity model (IAM role, Azure consent/service principal, GCS service account), but the Snowflake side looks the same.</a:t>
            </a:r>
          </a:p>
          <a:p>
            <a:endParaRPr lang="en-US" sz="1200" dirty="0"/>
          </a:p>
          <a:p>
            <a:r>
              <a:rPr lang="en-US" sz="1200" dirty="0"/>
              <a:t>Q236 [ADVANCED] COPY from the S3 stage fails with 'access denied'. What do you check?</a:t>
            </a:r>
          </a:p>
          <a:p>
            <a:r>
              <a:rPr lang="en-US" sz="1200" dirty="0"/>
              <a:t>Answer: The IAM role trust policy (IAM user ARN + external ID), the role's S3 permissions (s3:GetObject, s3:ListBucket), STORAGE_ALLOWED_LOCATIONS, and that the stage URL matches.</a:t>
            </a:r>
          </a:p>
          <a:p>
            <a:r>
              <a:rPr lang="en-US" sz="1200" dirty="0"/>
              <a:t>Explanation: Most failures are IAM trust or permission mistakes. Run DESC INTEGRATION again and compare the values carefully.</a:t>
            </a:r>
          </a:p>
          <a:p>
            <a:endParaRPr lang="en-US" sz="1200"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Q237 [ADVANCED] How would you turn Example 4 into continuous loading?</a:t>
            </a:r>
          </a:p>
          <a:p>
            <a:r>
              <a:rPr lang="en-US" sz="1200" dirty="0"/>
              <a:t>Answer: CREATE PIPE … AUTO_INGEST = TRUE AS COPY INTO orders FROM @s3_orders; then configure S3 event notifications to the pipe's SQS queue (notification_channel).</a:t>
            </a:r>
          </a:p>
          <a:p>
            <a:r>
              <a:rPr lang="en-US" sz="1200" dirty="0"/>
              <a:t>Explanation: Snowpipe replaces manual or scheduled COPY: files load automatically within about a minute of landing in S3.</a:t>
            </a:r>
          </a:p>
          <a:p>
            <a:endParaRPr lang="en-US" sz="1200" dirty="0"/>
          </a:p>
          <a:p>
            <a:r>
              <a:rPr lang="en-US" sz="1200" dirty="0"/>
              <a:t>Q238 [INTERMEDIATE] What does the PURGE = TRUE COPY option do?</a:t>
            </a:r>
          </a:p>
          <a:p>
            <a:r>
              <a:rPr lang="en-US" sz="1200" dirty="0"/>
              <a:t>Answer: Deletes staged files after they're loaded successfully.</a:t>
            </a:r>
          </a:p>
          <a:p>
            <a:r>
              <a:rPr lang="en-US" sz="1200" dirty="0"/>
              <a:t>Explanation: The IAM role also needs delete permission on the bucket; otherwise the files remain after loading.</a:t>
            </a:r>
          </a:p>
          <a:p>
            <a:endParaRPr lang="en-US" sz="1200"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16: Example 5 · Query, Time Travel &amp; Clone. 20 questions. Covers Deck slide 19 of the main deck.</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Q239 [BASIC] What does query 1 in Example 5 return?</a:t>
            </a:r>
          </a:p>
          <a:p>
            <a:r>
              <a:rPr lang="en-US" sz="1200" dirty="0"/>
              <a:t>Answer: Each customer with its order count and total revenue, sorted by revenue descending.</a:t>
            </a:r>
          </a:p>
          <a:p>
            <a:r>
              <a:rPr lang="en-US" sz="1200" dirty="0"/>
              <a:t>Explanation: Standard aggregation: GROUP BY collapses rows per customer, and the aggregates compute count and sum per group.</a:t>
            </a:r>
          </a:p>
          <a:p>
            <a:endParaRPr lang="en-US" sz="1200" dirty="0"/>
          </a:p>
          <a:p>
            <a:r>
              <a:rPr lang="en-US" sz="1200" dirty="0"/>
              <a:t>Q240 [INTERMEDIATE] Why is 'Umbrella, Inc' revenue NULL in the result?</a:t>
            </a:r>
          </a:p>
          <a:p>
            <a:r>
              <a:rPr lang="en-US" sz="1200" dirty="0"/>
              <a:t>Answer: Its only amount is NULL, and SUM of only NULLs returns NULL.</a:t>
            </a:r>
          </a:p>
          <a:p>
            <a:r>
              <a:rPr lang="en-US" sz="1200" dirty="0"/>
              <a:t>Explanation: SUM ignores NULLs, but with nothing to add it returns NULL, not 0. Use COALESCE(SUM(amount), 0) to get 0.</a:t>
            </a:r>
          </a:p>
          <a:p>
            <a:endParaRPr lang="en-US" sz="1200" dirty="0"/>
          </a:p>
          <a:p>
            <a:r>
              <a:rPr lang="en-US" sz="1200" dirty="0"/>
              <a:t>Q241 [INTERMEDIATE] Where would 'Umbrella, Inc' appear in ORDER BY revenue DESC?</a:t>
            </a:r>
          </a:p>
          <a:p>
            <a:r>
              <a:rPr lang="en-US" sz="1200" dirty="0"/>
              <a:t>Answer: First. In Snowflake, NULLs sort as the highest values, so they come first in DESC order unless you write NULLS LAST.</a:t>
            </a:r>
          </a:p>
          <a:p>
            <a:r>
              <a:rPr lang="en-US" sz="1200" dirty="0"/>
              <a:t>Explanation: Snowflake's default is NULLS LAST for ASC and NULLS FIRST for DESC; write ORDER BY revenue DESC NULLS LAST to push NULLs down.</a:t>
            </a:r>
          </a:p>
          <a:p>
            <a:endParaRPr lang="en-US" sz="1200"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Q242 [BASIC] What is SNOWFLAKE_SAMPLE_DATA?</a:t>
            </a:r>
          </a:p>
          <a:p>
            <a:r>
              <a:rPr lang="en-US" sz="1200" dirty="0"/>
              <a:t>Answer: A read-only shared database with sample datasets (e.g. TPC-H) for practice. It may need to be added from the Marketplace in newer accounts.</a:t>
            </a:r>
          </a:p>
          <a:p>
            <a:r>
              <a:rPr lang="en-US" sz="1200" dirty="0"/>
              <a:t>Explanation: TPCH_SF1 has about 150,000 customers, which is great for practicing joins and aggregations without loading your own data.</a:t>
            </a:r>
          </a:p>
          <a:p>
            <a:endParaRPr lang="en-US" sz="1200" dirty="0"/>
          </a:p>
          <a:p>
            <a:r>
              <a:rPr lang="en-US" sz="1200" dirty="0"/>
              <a:t>Q243 [BASIC] What does AT(OFFSET =&gt; -60*30) mean?</a:t>
            </a:r>
          </a:p>
          <a:p>
            <a:r>
              <a:rPr lang="en-US" sz="1200" dirty="0"/>
              <a:t>Answer: Read the table as it was 30 minutes (1,800 seconds) ago.</a:t>
            </a:r>
          </a:p>
          <a:p>
            <a:r>
              <a:rPr lang="en-US" sz="1200" dirty="0"/>
              <a:t>Explanation: OFFSET is in seconds and negative means 'in the past': -60*30 = -1800 seconds = 30 minutes.</a:t>
            </a:r>
          </a:p>
          <a:p>
            <a:endParaRPr lang="en-US" sz="1200" dirty="0"/>
          </a:p>
          <a:p>
            <a:r>
              <a:rPr lang="en-US" sz="1200" dirty="0"/>
              <a:t>Q244 [INTERMEDIATE] What other forms can Time Travel take?</a:t>
            </a:r>
          </a:p>
          <a:p>
            <a:r>
              <a:rPr lang="en-US" sz="1200" dirty="0"/>
              <a:t>Answer: AT(TIMESTAMP =&gt; '2026-09-20 10:00'::TIMESTAMP_LTZ), AT(STATEMENT =&gt; '&lt;query_id&gt;'), and BEFORE(STATEMENT =&gt; '&lt;query_id&gt;').</a:t>
            </a:r>
          </a:p>
          <a:p>
            <a:r>
              <a:rPr lang="en-US" sz="1200" dirty="0"/>
              <a:t>Explanation: The STATEMENT form is very precise: use the query ID of a bad UPDATE or DELETE to see data exactly before or after it.</a:t>
            </a:r>
          </a:p>
          <a:p>
            <a:endParaRPr lang="en-US" sz="1200"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Q245 [INTERMEDIATE] What is the difference between AT and BEFORE?</a:t>
            </a:r>
          </a:p>
          <a:p>
            <a:r>
              <a:rPr lang="en-US" sz="1200" dirty="0"/>
              <a:t>Answer: AT includes changes made by the referenced statement or time; BEFORE shows the state immediately before it.</a:t>
            </a:r>
          </a:p>
          <a:p>
            <a:r>
              <a:rPr lang="en-US" sz="1200" dirty="0"/>
              <a:t>Explanation: Example: BEFORE(STATEMENT =&gt; '&lt;delete_id&gt;') shows the rows before they were deleted; AT shows the state after the delete ran.</a:t>
            </a:r>
          </a:p>
          <a:p>
            <a:endParaRPr lang="en-US" sz="1200" dirty="0"/>
          </a:p>
          <a:p>
            <a:r>
              <a:rPr lang="en-US" sz="1200" dirty="0"/>
              <a:t>Q246 [BASIC] What does UNDROP TABLE do?</a:t>
            </a:r>
          </a:p>
          <a:p>
            <a:r>
              <a:rPr lang="en-US" sz="1200" dirty="0"/>
              <a:t>Answer: Restores the most recently dropped version of a table, if it is still within its Time Travel retention period.</a:t>
            </a:r>
          </a:p>
          <a:p>
            <a:r>
              <a:rPr lang="en-US" sz="1200" dirty="0"/>
              <a:t>Explanation: It works for tables, schemas and databases, which makes it great insurance against an accidental DROP.</a:t>
            </a:r>
          </a:p>
          <a:p>
            <a:endParaRPr lang="en-US" sz="1200" dirty="0"/>
          </a:p>
          <a:p>
            <a:r>
              <a:rPr lang="en-US" sz="1200" dirty="0"/>
              <a:t>Q247 [INTERMEDIATE] When can UNDROP fail?</a:t>
            </a:r>
          </a:p>
          <a:p>
            <a:r>
              <a:rPr lang="en-US" sz="1200" dirty="0"/>
              <a:t>Answer: When retention has expired, or an object with the same name now exists (rename it first).</a:t>
            </a:r>
          </a:p>
          <a:p>
            <a:r>
              <a:rPr lang="en-US" sz="1200" dirty="0"/>
              <a:t>Explanation: Fix: ALTER TABLE orders RENAME TO orders_new; UNDROP TABLE orders; then compare the two and keep the one you need.</a:t>
            </a:r>
          </a:p>
          <a:p>
            <a:endParaRPr lang="en-US" sz="1200"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Q248 [BASIC] What is a zero-copy clone?</a:t>
            </a:r>
          </a:p>
          <a:p>
            <a:r>
              <a:rPr lang="en-US" sz="1200" dirty="0"/>
              <a:t>Answer: An instant copy of a table, schema or database that shares the original's storage. Only changes made afterwards use new storage.</a:t>
            </a:r>
          </a:p>
          <a:p>
            <a:r>
              <a:rPr lang="en-US" sz="1200" dirty="0"/>
              <a:t>Explanation: Clones are metadata operations, so they finish in seconds whatever the size, because no data is physically copied.</a:t>
            </a:r>
          </a:p>
          <a:p>
            <a:endParaRPr lang="en-US" sz="1200" dirty="0"/>
          </a:p>
          <a:p>
            <a:r>
              <a:rPr lang="en-US" sz="1200" dirty="0"/>
              <a:t>Q249 [INTERMEDIATE] Does cloning a 5 TB table instantly double storage cost?</a:t>
            </a:r>
          </a:p>
          <a:p>
            <a:r>
              <a:rPr lang="en-US" sz="1200" dirty="0"/>
              <a:t>Answer: No. Initially both share the same micro-partitions; storage grows only as either copy changes.</a:t>
            </a:r>
          </a:p>
          <a:p>
            <a:r>
              <a:rPr lang="en-US" sz="1200" dirty="0"/>
              <a:t>Explanation: That's why cloning is so popular for dev/test: full-size copies at almost no initial storage cost.</a:t>
            </a:r>
          </a:p>
          <a:p>
            <a:endParaRPr lang="en-US" sz="1200" dirty="0"/>
          </a:p>
          <a:p>
            <a:r>
              <a:rPr lang="en-US" sz="1200" dirty="0"/>
              <a:t>Q250 [ADVANCED] Can you clone a table as it was yesterday?</a:t>
            </a:r>
          </a:p>
          <a:p>
            <a:r>
              <a:rPr lang="en-US" sz="1200" dirty="0"/>
              <a:t>Answer: Yes: CREATE TABLE orders_restore CLONE orders AT(OFFSET =&gt; -86400); (within retention).</a:t>
            </a:r>
          </a:p>
          <a:p>
            <a:r>
              <a:rPr lang="en-US" sz="1200" dirty="0"/>
              <a:t>Explanation: Combining CLONE with Time Travel gives a point-in-time copy, perfect for recovering without overwriting the current table.</a:t>
            </a:r>
          </a:p>
          <a:p>
            <a:endParaRPr lang="en-US" sz="1200"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Q251 [BASIC] What is the default Time Travel retention?</a:t>
            </a:r>
          </a:p>
          <a:p>
            <a:r>
              <a:rPr lang="en-US" sz="1200" dirty="0"/>
              <a:t>Answer: 1 day (DATA_RETENTION_TIME_IN_DAYS = 1).</a:t>
            </a:r>
          </a:p>
          <a:p>
            <a:r>
              <a:rPr lang="en-US" sz="1200" dirty="0"/>
              <a:t>Explanation: It can be raised (up to 90 days on Enterprise+) or set to 0 to disable Time Travel on specific objects.</a:t>
            </a:r>
          </a:p>
          <a:p>
            <a:endParaRPr lang="en-US" sz="1200" dirty="0"/>
          </a:p>
          <a:p>
            <a:r>
              <a:rPr lang="en-US" sz="1200" dirty="0"/>
              <a:t>Q252 [INTERMEDIATE] How do you set 30-day retention on a table?</a:t>
            </a:r>
          </a:p>
          <a:p>
            <a:r>
              <a:rPr lang="en-US" sz="1200" dirty="0"/>
              <a:t>Answer: ALTER TABLE orders SET DATA_RETENTION_TIME_IN_DAYS = 30;  (Enterprise edition or higher for &gt;1)</a:t>
            </a:r>
          </a:p>
          <a:p>
            <a:r>
              <a:rPr lang="en-US" sz="1200" dirty="0"/>
              <a:t>Explanation: Retention can be set on the account, database, schema or table; lower levels override higher ones.</a:t>
            </a:r>
          </a:p>
          <a:p>
            <a:endParaRPr lang="en-US" sz="1200" dirty="0"/>
          </a:p>
          <a:p>
            <a:r>
              <a:rPr lang="en-US" sz="1200" dirty="0"/>
              <a:t>Q253 [INTERMEDIATE] What happens after Time Travel expires?</a:t>
            </a:r>
          </a:p>
          <a:p>
            <a:r>
              <a:rPr lang="en-US" sz="1200" dirty="0"/>
              <a:t>Answer: Permanent-table data moves into 7-day Fail-safe, which only Snowflake Support can recover. After that it's gone.</a:t>
            </a:r>
          </a:p>
          <a:p>
            <a:r>
              <a:rPr lang="en-US" sz="1200" dirty="0"/>
              <a:t>Explanation: Fail-safe is for disaster recovery (e.g. system failure), not user errors. Rely on Time Travel for mistakes.</a:t>
            </a:r>
          </a:p>
          <a:p>
            <a:endParaRPr lang="en-US" sz="1200"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Q254 [INTERMEDIATE] Do transient and temporary tables have Fail-safe?</a:t>
            </a:r>
          </a:p>
          <a:p>
            <a:r>
              <a:rPr lang="en-US" sz="1200" dirty="0"/>
              <a:t>Answer: No. They have 0 days of Fail-safe and at most 1 day of Time Travel.</a:t>
            </a:r>
          </a:p>
          <a:p>
            <a:r>
              <a:rPr lang="en-US" sz="1200" dirty="0"/>
              <a:t>Explanation: That's why they're cheaper for staging data: no 7-day Fail-safe copies are kept after changes.</a:t>
            </a:r>
          </a:p>
          <a:p>
            <a:endParaRPr lang="en-US" sz="1200" dirty="0"/>
          </a:p>
          <a:p>
            <a:r>
              <a:rPr lang="en-US" sz="1200" dirty="0"/>
              <a:t>Q255 [INTERMEDIATE] What makes query results come from the result cache?</a:t>
            </a:r>
          </a:p>
          <a:p>
            <a:r>
              <a:rPr lang="en-US" sz="1200" dirty="0"/>
              <a:t>Answer: Rerunning an identical query within 24 hours when the underlying data hasn't changed. It returns instantly and uses no warehouse.</a:t>
            </a:r>
          </a:p>
          <a:p>
            <a:r>
              <a:rPr lang="en-US" sz="1200" dirty="0"/>
              <a:t>Explanation: Rerunning the same dashboard query on unchanged data is free and instant, a big saver for BI.</a:t>
            </a:r>
          </a:p>
          <a:p>
            <a:endParaRPr lang="en-US" sz="1200" dirty="0"/>
          </a:p>
          <a:p>
            <a:r>
              <a:rPr lang="en-US" sz="1200" dirty="0"/>
              <a:t>Q256 [ADVANCED] Someone ran DELETE FROM orders without WHERE 10 minutes ago. How do you recover?</a:t>
            </a:r>
          </a:p>
          <a:p>
            <a:r>
              <a:rPr lang="en-US" sz="1200" dirty="0"/>
              <a:t>Answer: INSERT INTO orders SELECT * FROM orders BEFORE(STATEMENT =&gt; '&lt;delete_query_id&gt;'); or clone it at that point and swap.</a:t>
            </a:r>
          </a:p>
          <a:p>
            <a:r>
              <a:rPr lang="en-US" sz="1200" dirty="0"/>
              <a:t>Explanation: Find the query ID in Query History. Within the retention period, all the pre-delete data is recoverable.</a:t>
            </a:r>
          </a:p>
          <a:p>
            <a:endParaRPr lang="en-US" sz="1200"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Q257 [ADVANCED] What is a common use of CLONE in development?</a:t>
            </a:r>
          </a:p>
          <a:p>
            <a:r>
              <a:rPr lang="en-US" sz="1200" dirty="0"/>
              <a:t>Answer: Creating instant, isolated dev/test copies of production databases for testing changes without copying data or affecting prod.</a:t>
            </a:r>
          </a:p>
          <a:p>
            <a:r>
              <a:rPr lang="en-US" sz="1200" dirty="0"/>
              <a:t>Explanation: Example: teams clone PROD into DEV each morning, so developers test against real-size data safely.</a:t>
            </a:r>
          </a:p>
          <a:p>
            <a:endParaRPr lang="en-US" sz="1200" dirty="0"/>
          </a:p>
          <a:p>
            <a:r>
              <a:rPr lang="en-US" sz="1200" dirty="0"/>
              <a:t>Q258 [INTERMEDIATE] Name three aggregate functions and one window function.</a:t>
            </a:r>
          </a:p>
          <a:p>
            <a:r>
              <a:rPr lang="en-US" sz="1200" dirty="0"/>
              <a:t>Answer: COUNT, SUM, AVG (also MIN, MAX); window function: ROW_NUMBER() OVER (PARTITION BY … ORDER BY …).</a:t>
            </a:r>
          </a:p>
          <a:p>
            <a:r>
              <a:rPr lang="en-US" sz="1200" dirty="0"/>
              <a:t>Explanation: Window functions compute over related rows without collapsing them, e.g. ranking each customer's orders.</a:t>
            </a:r>
          </a:p>
          <a:p>
            <a:endParaRPr lang="en-US" sz="1200"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17: Example 6 · JSON / Semi-Structured. 15 questions. Covers Deck slide 20 of the main deck.</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Q259 [BASIC] Which data type stores JSON?</a:t>
            </a:r>
          </a:p>
          <a:p>
            <a:r>
              <a:rPr lang="en-US" sz="1200" dirty="0"/>
              <a:t>Answer: VARIANT (also OBJECT and ARRAY).</a:t>
            </a:r>
          </a:p>
          <a:p>
            <a:r>
              <a:rPr lang="en-US" sz="1200" dirty="0"/>
              <a:t>Explanation: VARIANT can hold any JSON value (object, array, string, number); OBJECT and ARRAY are more specific types.</a:t>
            </a:r>
          </a:p>
          <a:p>
            <a:endParaRPr lang="en-US" sz="1200" dirty="0"/>
          </a:p>
          <a:p>
            <a:r>
              <a:rPr lang="en-US" sz="1200" dirty="0"/>
              <a:t>Q260 [INTERMEDIATE] What is the maximum size of a VARIANT value?</a:t>
            </a:r>
          </a:p>
          <a:p>
            <a:r>
              <a:rPr lang="en-US" sz="1200" dirty="0"/>
              <a:t>Answer: Historically 16 MB (compressed); newer releases raise the limit to 128 MB. Check the current docs for your account.</a:t>
            </a:r>
          </a:p>
          <a:p>
            <a:r>
              <a:rPr lang="en-US" sz="1200" dirty="0"/>
              <a:t>Explanation: For most use cases the limit doesn't matter. Very large single documents should be split into multiple rows.</a:t>
            </a:r>
          </a:p>
          <a:p>
            <a:endParaRPr lang="en-US" sz="1200" dirty="0"/>
          </a:p>
          <a:p>
            <a:r>
              <a:rPr lang="en-US" sz="1200" dirty="0"/>
              <a:t>Q261 [BASIC] Why use INSERT … SELECT PARSE_JSON(...) instead of VALUES?</a:t>
            </a:r>
          </a:p>
          <a:p>
            <a:r>
              <a:rPr lang="en-US" sz="1200" dirty="0"/>
              <a:t>Answer: PARSE_JSON can't be used directly in a VALUES clause, so the JSON is parsed in a SELECT.</a:t>
            </a:r>
          </a:p>
          <a:p>
            <a:r>
              <a:rPr lang="en-US" sz="1200" dirty="0"/>
              <a:t>Explanation: A common beginner error is 'Invalid expression [PARSE_JSON(...)] in VALUES clause'. INSERT … SELECT avoids it.</a:t>
            </a:r>
          </a:p>
          <a:p>
            <a:endParaRPr lang="en-US" sz="1200"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Q262 [BASIC] What does v:user return?</a:t>
            </a:r>
          </a:p>
          <a:p>
            <a:r>
              <a:rPr lang="en-US" sz="1200" dirty="0"/>
              <a:t>Answer: The value of the top-level key 'user' as a VARIANT: "jdoe" (with JSON quotes).</a:t>
            </a:r>
          </a:p>
          <a:p>
            <a:r>
              <a:rPr lang="en-US" sz="1200" dirty="0"/>
              <a:t>Explanation: The quotes appear because it's still a JSON string inside a VARIANT, not a SQL VARCHAR.</a:t>
            </a:r>
          </a:p>
          <a:p>
            <a:endParaRPr lang="en-US" sz="1200" dirty="0"/>
          </a:p>
          <a:p>
            <a:r>
              <a:rPr lang="en-US" sz="1200" dirty="0"/>
              <a:t>Q263 [BASIC] What does v:device.os::STRING return?</a:t>
            </a:r>
          </a:p>
          <a:p>
            <a:r>
              <a:rPr lang="en-US" sz="1200" dirty="0"/>
              <a:t>Answer: iOS, the nested key os inside device, cast to a plain string.</a:t>
            </a:r>
          </a:p>
          <a:p>
            <a:r>
              <a:rPr lang="en-US" sz="1200" dirty="0"/>
              <a:t>Explanation: The dot navigates into the nested object; the cast converts the JSON value into a plain SQL string.</a:t>
            </a:r>
          </a:p>
          <a:p>
            <a:endParaRPr lang="en-US" sz="1200" dirty="0"/>
          </a:p>
          <a:p>
            <a:r>
              <a:rPr lang="en-US" sz="1200" dirty="0"/>
              <a:t>Q264 [BASIC] Why cast with ::STRING or ::INT?</a:t>
            </a:r>
          </a:p>
          <a:p>
            <a:r>
              <a:rPr lang="en-US" sz="1200" dirty="0"/>
              <a:t>Answer: To convert VARIANT to a normal SQL type, removing JSON quotes and enabling correct comparisons, sorting and joins.</a:t>
            </a:r>
          </a:p>
          <a:p>
            <a:r>
              <a:rPr lang="en-US" sz="1200" dirty="0"/>
              <a:t>Explanation: Uncast, comparisons like WHERE v:user = 'jdoe' can behave unexpectedly, and joins to VARCHAR columns may fail.</a:t>
            </a:r>
          </a:p>
          <a:p>
            <a:endParaRPr lang="en-US" sz="1200"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Q265 [INTERMEDIATE] Are JSON key names case-sensitive?</a:t>
            </a:r>
          </a:p>
          <a:p>
            <a:r>
              <a:rPr lang="en-US" sz="1200" dirty="0"/>
              <a:t>Answer: Yes. v:User and v:user are different paths (unlike SQL identifiers).</a:t>
            </a:r>
          </a:p>
          <a:p>
            <a:r>
              <a:rPr lang="en-US" sz="1200" dirty="0"/>
              <a:t>Explanation: SQL identifiers ignore case, but JSON keys are data, so they must match exactly.</a:t>
            </a:r>
          </a:p>
          <a:p>
            <a:endParaRPr lang="en-US" sz="1200" dirty="0"/>
          </a:p>
          <a:p>
            <a:r>
              <a:rPr lang="en-US" sz="1200" dirty="0"/>
              <a:t>Q266 [INTERMEDIATE] What are the path-notation options?</a:t>
            </a:r>
          </a:p>
          <a:p>
            <a:r>
              <a:rPr lang="en-US" sz="1200" dirty="0"/>
              <a:t>Answer: Colon for the first level (v:user), dot for nesting (v:device.os), brackets for keys/arrays (v['user'], v:items[0]).</a:t>
            </a:r>
          </a:p>
          <a:p>
            <a:r>
              <a:rPr lang="en-US" sz="1200" dirty="0"/>
              <a:t>Explanation: Brackets are needed for keys with spaces or special characters: v['first name'] or v:"first name".</a:t>
            </a:r>
          </a:p>
          <a:p>
            <a:endParaRPr lang="en-US" sz="1200" dirty="0"/>
          </a:p>
          <a:p>
            <a:r>
              <a:rPr lang="en-US" sz="1200" dirty="0"/>
              <a:t>Q267 [BASIC] What does LATERAL FLATTEN do?</a:t>
            </a:r>
          </a:p>
          <a:p>
            <a:r>
              <a:rPr lang="en-US" sz="1200" dirty="0"/>
              <a:t>Answer: Explodes an array (or object) into multiple rows, one per element.</a:t>
            </a:r>
          </a:p>
          <a:p>
            <a:r>
              <a:rPr lang="en-US" sz="1200" dirty="0"/>
              <a:t>Explanation: Each element of v:items becomes a separate row, joined back to its parent row (a lateral join).</a:t>
            </a:r>
          </a:p>
          <a:p>
            <a:endParaRPr lang="en-US" sz="1200"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Q268 [INTERMEDIATE] What columns does FLATTEN output?</a:t>
            </a:r>
          </a:p>
          <a:p>
            <a:r>
              <a:rPr lang="en-US" sz="1200" dirty="0"/>
              <a:t>Answer: SEQ, KEY, PATH, INDEX, VALUE and THIS.</a:t>
            </a:r>
          </a:p>
          <a:p>
            <a:r>
              <a:rPr lang="en-US" sz="1200" dirty="0"/>
              <a:t>Explanation: INDEX is the array position, KEY the object key, VALUE the element, PATH its full path, and THIS the containing element.</a:t>
            </a:r>
          </a:p>
          <a:p>
            <a:endParaRPr lang="en-US" sz="1200" dirty="0"/>
          </a:p>
          <a:p>
            <a:r>
              <a:rPr lang="en-US" sz="1200" dirty="0"/>
              <a:t>Q269 [BASIC] What does the FLATTEN query in Example 6 return?</a:t>
            </a:r>
          </a:p>
          <a:p>
            <a:r>
              <a:rPr lang="en-US" sz="1200" dirty="0"/>
              <a:t>Answer: Two rows: (jdoe, A1, 2) and (jdoe, B7, 1).</a:t>
            </a:r>
          </a:p>
          <a:p>
            <a:r>
              <a:rPr lang="en-US" sz="1200" dirty="0"/>
              <a:t>Explanation: The single event row becomes two rows, one per item in the array, with the user repeated on each.</a:t>
            </a:r>
          </a:p>
          <a:p>
            <a:endParaRPr lang="en-US" sz="1200" dirty="0"/>
          </a:p>
          <a:p>
            <a:r>
              <a:rPr lang="en-US" sz="1200" dirty="0"/>
              <a:t>Q270 [INTERMEDIATE] How do you load a JSON file whose content is one big array?</a:t>
            </a:r>
          </a:p>
          <a:p>
            <a:r>
              <a:rPr lang="en-US" sz="1200" dirty="0"/>
              <a:t>Answer: Use FILE_FORMAT = (TYPE = JSON STRIP_OUTER_ARRAY = TRUE) so each array element becomes its own row.</a:t>
            </a:r>
          </a:p>
          <a:p>
            <a:r>
              <a:rPr lang="en-US" sz="1200" dirty="0"/>
              <a:t>Explanation: Without it the whole file loads as one row holding a giant array, which can hit size limits and is hard to query.</a:t>
            </a:r>
          </a:p>
          <a:p>
            <a:endParaRPr lang="en-US" sz="1200"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Q271 [INTERMEDIATE] What does TRY_PARSE_JSON do differently from PARSE_JSON?</a:t>
            </a:r>
          </a:p>
          <a:p>
            <a:r>
              <a:rPr lang="en-US" sz="1200" dirty="0"/>
              <a:t>Answer: It returns NULL instead of raising an error on invalid JSON.</a:t>
            </a:r>
          </a:p>
          <a:p>
            <a:r>
              <a:rPr lang="en-US" sz="1200" dirty="0"/>
              <a:t>Explanation: Safer for dirty data: bad JSON becomes NULL, and you can find it with WHERE TRY_PARSE_JSON(col) IS NULL.</a:t>
            </a:r>
          </a:p>
          <a:p>
            <a:endParaRPr lang="en-US" sz="1200" dirty="0"/>
          </a:p>
          <a:p>
            <a:r>
              <a:rPr lang="en-US" sz="1200" dirty="0"/>
              <a:t>Q272 [ADVANCED] What does v:missing_key return?</a:t>
            </a:r>
          </a:p>
          <a:p>
            <a:r>
              <a:rPr lang="en-US" sz="1200" dirty="0"/>
              <a:t>Answer: NULL (SQL NULL). Note that JSON null is stored as a VARIANT 'null', which differs from SQL NULL; use IS_NULL_VALUE() to test it.</a:t>
            </a:r>
          </a:p>
          <a:p>
            <a:r>
              <a:rPr lang="en-US" sz="1200" dirty="0"/>
              <a:t>Explanation: Missing keys don't raise errors, they just return NULL, which makes querying evolving JSON schemas easy.</a:t>
            </a:r>
          </a:p>
          <a:p>
            <a:endParaRPr lang="en-US" sz="1200" dirty="0"/>
          </a:p>
          <a:p>
            <a:r>
              <a:rPr lang="en-US" sz="1200" dirty="0"/>
              <a:t>Q273 [ADVANCED] How do you build JSON from table columns?</a:t>
            </a:r>
          </a:p>
          <a:p>
            <a:r>
              <a:rPr lang="en-US" sz="1200" dirty="0"/>
              <a:t>Answer: OBJECT_CONSTRUCT('id', order_id, 'amt', amount), plus ARRAY_AGG() to build arrays; TO_JSON() to convert to a string.</a:t>
            </a:r>
          </a:p>
          <a:p>
            <a:r>
              <a:rPr lang="en-US" sz="1200" dirty="0"/>
              <a:t>Explanation: Useful for producing API payloads or exporting nested data from relational tables.</a:t>
            </a:r>
          </a:p>
          <a:p>
            <a:endParaRPr lang="en-US" sz="1200"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18: Example 7 · Users &amp; Grants. 15 questions. Covers Deck slide 21 of the main deck.</a:t>
            </a: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Q274 [BASIC] Which role creates the user and role in Example 7?</a:t>
            </a:r>
          </a:p>
          <a:p>
            <a:r>
              <a:rPr lang="en-US" sz="1200" dirty="0"/>
              <a:t>Answer: USERADMIN.</a:t>
            </a:r>
          </a:p>
          <a:p>
            <a:r>
              <a:rPr lang="en-US" sz="1200" dirty="0"/>
              <a:t>Explanation: USERADMIN has CREATE USER and CREATE ROLE and owns what it creates, following least privilege (no need for ACCOUNTADMIN).</a:t>
            </a:r>
          </a:p>
          <a:p>
            <a:endParaRPr lang="en-US" sz="1200" dirty="0"/>
          </a:p>
          <a:p>
            <a:r>
              <a:rPr lang="en-US" sz="1200" dirty="0"/>
              <a:t>Q275 [BASIC] What does MUST_CHANGE_PASSWORD = TRUE do?</a:t>
            </a:r>
          </a:p>
          <a:p>
            <a:r>
              <a:rPr lang="en-US" sz="1200" dirty="0"/>
              <a:t>Answer: Forces the user to set a new password at first login.</a:t>
            </a:r>
          </a:p>
          <a:p>
            <a:r>
              <a:rPr lang="en-US" sz="1200" dirty="0"/>
              <a:t>Explanation: Good practice for temporary passwords handed to new users.</a:t>
            </a:r>
          </a:p>
          <a:p>
            <a:endParaRPr lang="en-US" sz="1200" dirty="0"/>
          </a:p>
          <a:p>
            <a:r>
              <a:rPr lang="en-US" sz="1200" dirty="0"/>
              <a:t>Q276 [BASIC] What do DEFAULT_ROLE and DEFAULT_WAREHOUSE do?</a:t>
            </a:r>
          </a:p>
          <a:p>
            <a:r>
              <a:rPr lang="en-US" sz="1200" dirty="0"/>
              <a:t>Answer: Set the role and warehouse the user's sessions start with, so they don't have to run USE each time.</a:t>
            </a:r>
          </a:p>
          <a:p>
            <a:r>
              <a:rPr lang="en-US" sz="1200" dirty="0"/>
              <a:t>Explanation: Saves users from typing USE ROLE / USE WAREHOUSE at every login and avoids 'no active warehouse' errors.</a:t>
            </a:r>
          </a:p>
          <a:p>
            <a:endParaRPr lang="en-US" sz="1200"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Q277 [INTERMEDIATE] Does DEFAULT_ROLE grant the role to the user?</a:t>
            </a:r>
          </a:p>
          <a:p>
            <a:r>
              <a:rPr lang="en-US" sz="1200" dirty="0"/>
              <a:t>Answer: No. You must also GRANT ROLE analyst TO USER jdoe; a default role the user doesn't have won't work.</a:t>
            </a:r>
          </a:p>
          <a:p>
            <a:r>
              <a:rPr lang="en-US" sz="1200" dirty="0"/>
              <a:t>Explanation: The default is only a preference; actual access comes from the grant.</a:t>
            </a:r>
          </a:p>
          <a:p>
            <a:endParaRPr lang="en-US" sz="1200" dirty="0"/>
          </a:p>
          <a:p>
            <a:r>
              <a:rPr lang="en-US" sz="1200" dirty="0"/>
              <a:t>Q278 [BASIC] Why GRANT ROLE analyst TO ROLE SYSADMIN?</a:t>
            </a:r>
          </a:p>
          <a:p>
            <a:r>
              <a:rPr lang="en-US" sz="1200" dirty="0"/>
              <a:t>Answer: To keep the recommended hierarchy, so SYSADMIN can manage anything ANALYST owns.</a:t>
            </a:r>
          </a:p>
          <a:p>
            <a:r>
              <a:rPr lang="en-US" sz="1200" dirty="0"/>
              <a:t>Explanation: Snowflake's recommended practice: every custom role should roll up to SYSADMIN.</a:t>
            </a:r>
          </a:p>
          <a:p>
            <a:endParaRPr lang="en-US" sz="1200" dirty="0"/>
          </a:p>
          <a:p>
            <a:r>
              <a:rPr lang="en-US" sz="1200" dirty="0"/>
              <a:t>Q279 [BASIC] Which four grants let ANALYST read ORDERS?</a:t>
            </a:r>
          </a:p>
          <a:p>
            <a:r>
              <a:rPr lang="en-US" sz="1200" dirty="0"/>
              <a:t>Answer: USAGE on WAREHOUSE demo_wh, USAGE on DATABASE sales_db, USAGE on SCHEMA sales_db.raw, SELECT on the tables.</a:t>
            </a:r>
          </a:p>
          <a:p>
            <a:r>
              <a:rPr lang="en-US" sz="1200" dirty="0"/>
              <a:t>Explanation: Missing any one of the four breaks access, so it's a checklist worth memorizing.</a:t>
            </a:r>
          </a:p>
          <a:p>
            <a:endParaRPr lang="en-US" sz="1200"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Q280 [BASIC] What does GRANT SELECT ON ALL TABLES IN SCHEMA do?</a:t>
            </a:r>
          </a:p>
          <a:p>
            <a:r>
              <a:rPr lang="en-US" sz="1200" dirty="0"/>
              <a:t>Answer: Grants SELECT on every table that exists in the schema right now.</a:t>
            </a:r>
          </a:p>
          <a:p>
            <a:r>
              <a:rPr lang="en-US" sz="1200" dirty="0"/>
              <a:t>Explanation: It's a point-in-time grant: tables created after this statement aren't covered.</a:t>
            </a:r>
          </a:p>
          <a:p>
            <a:endParaRPr lang="en-US" sz="1200" dirty="0"/>
          </a:p>
          <a:p>
            <a:r>
              <a:rPr lang="en-US" sz="1200" dirty="0"/>
              <a:t>Q281 [BASIC] What does GRANT SELECT ON FUTURE TABLES IN SCHEMA do?</a:t>
            </a:r>
          </a:p>
          <a:p>
            <a:r>
              <a:rPr lang="en-US" sz="1200" dirty="0"/>
              <a:t>Answer: Automatically grants SELECT on tables created in that schema from now on.</a:t>
            </a:r>
          </a:p>
          <a:p>
            <a:r>
              <a:rPr lang="en-US" sz="1200" dirty="0"/>
              <a:t>Explanation: Future grants are defined on the schema (or database) and applied automatically when each table is created.</a:t>
            </a:r>
          </a:p>
          <a:p>
            <a:endParaRPr lang="en-US" sz="1200" dirty="0"/>
          </a:p>
          <a:p>
            <a:r>
              <a:rPr lang="en-US" sz="1200" dirty="0"/>
              <a:t>Q282 [INTERMEDIATE] What happens if you forget FUTURE grants?</a:t>
            </a:r>
          </a:p>
          <a:p>
            <a:r>
              <a:rPr lang="en-US" sz="1200" dirty="0"/>
              <a:t>Answer: Tables created later are invisible to the analyst until someone grants them manually.</a:t>
            </a:r>
          </a:p>
          <a:p>
            <a:r>
              <a:rPr lang="en-US" sz="1200" dirty="0"/>
              <a:t>Explanation: A classic support ticket: 'I can see the old tables but not the new one.' Future grants prevent it.</a:t>
            </a:r>
          </a:p>
          <a:p>
            <a:endParaRPr lang="en-US" sz="1200"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Q283 [INTERMEDIATE] Why is SECURITYADMIN used for the object grants?</a:t>
            </a:r>
          </a:p>
          <a:p>
            <a:r>
              <a:rPr lang="en-US" sz="1200" dirty="0"/>
              <a:t>Answer: It has the MANAGE GRANTS privilege, so it can grant privileges on any object regardless of owner.</a:t>
            </a:r>
          </a:p>
          <a:p>
            <a:r>
              <a:rPr lang="en-US" sz="1200" dirty="0"/>
              <a:t>Explanation: This works even though SYSADMIN owns the objects, because MANAGE GRANTS lets SECURITYADMIN grant on any object.</a:t>
            </a:r>
          </a:p>
          <a:p>
            <a:endParaRPr lang="en-US" sz="1200" dirty="0"/>
          </a:p>
          <a:p>
            <a:r>
              <a:rPr lang="en-US" sz="1200" dirty="0"/>
              <a:t>Q284 [INTERMEDIATE] How do you verify the setup?</a:t>
            </a:r>
          </a:p>
          <a:p>
            <a:r>
              <a:rPr lang="en-US" sz="1200" dirty="0"/>
              <a:t>Answer: SHOW GRANTS TO ROLE analyst; SHOW GRANTS TO USER jdoe; then log in as jdoe and SELECT from sales_db.raw.orders.</a:t>
            </a:r>
          </a:p>
          <a:p>
            <a:r>
              <a:rPr lang="en-US" sz="1200" dirty="0"/>
              <a:t>Explanation: Always test as the real user (or USE ROLE analyst) to confirm access, rather than only reading the grants.</a:t>
            </a:r>
          </a:p>
          <a:p>
            <a:endParaRPr lang="en-US" sz="1200" dirty="0"/>
          </a:p>
          <a:p>
            <a:r>
              <a:rPr lang="en-US" sz="1200" dirty="0"/>
              <a:t>Q285 [INTERMEDIATE] How do you remove access?</a:t>
            </a:r>
          </a:p>
          <a:p>
            <a:r>
              <a:rPr lang="en-US" sz="1200" dirty="0"/>
              <a:t>Answer: REVOKE SELECT ON ALL TABLES IN SCHEMA sales_db.raw FROM ROLE analyst; or REVOKE ROLE analyst FROM USER jdoe;</a:t>
            </a:r>
          </a:p>
          <a:p>
            <a:r>
              <a:rPr lang="en-US" sz="1200" dirty="0"/>
              <a:t>Explanation: Revoking the role from the user removes everything at once, the simplest offboarding step.</a:t>
            </a:r>
          </a:p>
          <a:p>
            <a:endParaRPr lang="en-US" sz="1200"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Q286 [ADVANCED] Future grants exist at both database and schema level. Which wins?</a:t>
            </a:r>
          </a:p>
          <a:p>
            <a:r>
              <a:rPr lang="en-US" sz="1200" dirty="0"/>
              <a:t>Answer: Schema-level future grants take precedence over database-level future grants for that schema.</a:t>
            </a:r>
          </a:p>
          <a:p>
            <a:r>
              <a:rPr lang="en-US" sz="1200" dirty="0"/>
              <a:t>Explanation: More specific settings win, so a schema-level future grant overrides the database-wide rule for that schema.</a:t>
            </a:r>
          </a:p>
          <a:p>
            <a:endParaRPr lang="en-US" sz="1200" dirty="0"/>
          </a:p>
          <a:p>
            <a:r>
              <a:rPr lang="en-US" sz="1200" dirty="0"/>
              <a:t>Q287 [ADVANCED] How would you give read access to views as well?</a:t>
            </a:r>
          </a:p>
          <a:p>
            <a:r>
              <a:rPr lang="en-US" sz="1200" dirty="0"/>
              <a:t>Answer: GRANT SELECT ON ALL VIEWS IN SCHEMA sales_db.raw TO ROLE analyst; plus ON FUTURE VIEWS.</a:t>
            </a:r>
          </a:p>
          <a:p>
            <a:r>
              <a:rPr lang="en-US" sz="1200" dirty="0"/>
              <a:t>Explanation: Views are separate objects needing their own grants; secure views also hide the view definition.</a:t>
            </a:r>
          </a:p>
          <a:p>
            <a:endParaRPr lang="en-US" sz="1200" dirty="0"/>
          </a:p>
          <a:p>
            <a:r>
              <a:rPr lang="en-US" sz="1200" dirty="0"/>
              <a:t>Q288 [ADVANCED] What's a safer alternative to password users in a company?</a:t>
            </a:r>
          </a:p>
          <a:p>
            <a:r>
              <a:rPr lang="en-US" sz="1200" dirty="0"/>
              <a:t>Answer: SSO (SAML) with SCIM provisioning for people, and key-pair / OAuth for service users (TYPE = SERVICE), with MFA enforced by authentication policies.</a:t>
            </a:r>
          </a:p>
          <a:p>
            <a:r>
              <a:rPr lang="en-US" sz="1200" dirty="0"/>
              <a:t>Explanation: SCIM creates and disables users automatically as people join or leave, and authentication policies enforce MFA.</a:t>
            </a:r>
          </a:p>
          <a:p>
            <a:endParaRPr lang="en-US" sz="1200"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19: Cost Best Practices. 15 questions. Covers Deck slide 22 of the main deck.</a:t>
            </a: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Q289 [BASIC] What is usually the biggest part of a Snowflake bill?</a:t>
            </a:r>
          </a:p>
          <a:p>
            <a:r>
              <a:rPr lang="en-US" sz="1200" dirty="0"/>
              <a:t>Answer: Compute (virtual warehouse credits).</a:t>
            </a:r>
          </a:p>
          <a:p>
            <a:r>
              <a:rPr lang="en-US" sz="1200" dirty="0"/>
              <a:t>Explanation: Storage is relatively cheap; compute is where tuning (auto-suspend, sizing, efficient queries) pays off.</a:t>
            </a:r>
          </a:p>
          <a:p>
            <a:endParaRPr lang="en-US" sz="1200" dirty="0"/>
          </a:p>
          <a:p>
            <a:r>
              <a:rPr lang="en-US" sz="1200" dirty="0"/>
              <a:t>Q290 [BASIC] What AUTO_SUSPEND value does the deck recommend for ad-hoc/BI warehouses?</a:t>
            </a:r>
          </a:p>
          <a:p>
            <a:r>
              <a:rPr lang="en-US" sz="1200" dirty="0"/>
              <a:t>Answer: 60 seconds.</a:t>
            </a:r>
          </a:p>
          <a:p>
            <a:r>
              <a:rPr lang="en-US" sz="1200" dirty="0"/>
              <a:t>Explanation: A short auto-suspend minimizes idle charges for sporadic, interactive usage.</a:t>
            </a:r>
          </a:p>
          <a:p>
            <a:endParaRPr lang="en-US" sz="1200" dirty="0"/>
          </a:p>
          <a:p>
            <a:r>
              <a:rPr lang="en-US" sz="1200" dirty="0"/>
              <a:t>Q291 [BASIC] Why start with an X-Small warehouse?</a:t>
            </a:r>
          </a:p>
          <a:p>
            <a:r>
              <a:rPr lang="en-US" sz="1200" dirty="0"/>
              <a:t>Answer: It's the cheapest (1 credit/hour). Size up only when the Query Profile shows the warehouse is the bottleneck.</a:t>
            </a:r>
          </a:p>
          <a:p>
            <a:r>
              <a:rPr lang="en-US" sz="1200" dirty="0"/>
              <a:t>Explanation: Start small and scale up based on evidence, rather than paying for idle capacity.</a:t>
            </a:r>
          </a:p>
          <a:p>
            <a:endParaRPr lang="en-US" sz="1200"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Q292 [BASIC] Why use one warehouse per workload?</a:t>
            </a:r>
          </a:p>
          <a:p>
            <a:r>
              <a:rPr lang="en-US" sz="1200" dirty="0"/>
              <a:t>Answer: Isolation (no interference), independent sizing, and clear cost attribution / chargeback per team or workload.</a:t>
            </a:r>
          </a:p>
          <a:p>
            <a:r>
              <a:rPr lang="en-US" sz="1200" dirty="0"/>
              <a:t>Explanation: Example: ETL_WH, BI_WH and DS_WH each appear as separate cost lines, so you know which team or process drives spend.</a:t>
            </a:r>
          </a:p>
          <a:p>
            <a:endParaRPr lang="en-US" sz="1200" dirty="0"/>
          </a:p>
          <a:p>
            <a:r>
              <a:rPr lang="en-US" sz="1200" dirty="0"/>
              <a:t>Q293 [BASIC] What is a resource monitor?</a:t>
            </a:r>
          </a:p>
          <a:p>
            <a:r>
              <a:rPr lang="en-US" sz="1200" dirty="0"/>
              <a:t>Answer: An object that tracks credit usage against a quota and can NOTIFY, SUSPEND or SUSPEND_IMMEDIATE warehouses at thresholds.</a:t>
            </a:r>
          </a:p>
          <a:p>
            <a:r>
              <a:rPr lang="en-US" sz="1200" dirty="0"/>
              <a:t>Explanation: They act like a spending cap: notifications warn early, and suspension stops runaway spend.</a:t>
            </a:r>
          </a:p>
          <a:p>
            <a:endParaRPr lang="en-US" sz="1200" dirty="0"/>
          </a:p>
          <a:p>
            <a:r>
              <a:rPr lang="en-US" sz="1200" dirty="0"/>
              <a:t>Q294 [BASIC] Who can create resource monitors?</a:t>
            </a:r>
          </a:p>
          <a:p>
            <a:r>
              <a:rPr lang="en-US" sz="1200" dirty="0"/>
              <a:t>Answer: ACCOUNTADMIN.</a:t>
            </a:r>
          </a:p>
          <a:p>
            <a:r>
              <a:rPr lang="en-US" sz="1200" dirty="0"/>
              <a:t>Explanation: It's an account-level cost control, so the account administrator manages it (they can delegate monitoring).</a:t>
            </a:r>
          </a:p>
          <a:p>
            <a:endParaRPr lang="en-US" sz="1200"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Q295 [INTERMEDIATE] What does the monitor in the deck do?</a:t>
            </a:r>
          </a:p>
          <a:p>
            <a:r>
              <a:rPr lang="en-US" sz="1200" dirty="0"/>
              <a:t>Answer: Allows 100 credits per month: notifies at 80% and suspends assigned warehouses at 100% (after running queries finish).</a:t>
            </a:r>
          </a:p>
          <a:p>
            <a:r>
              <a:rPr lang="en-US" sz="1200" dirty="0"/>
              <a:t>Explanation: The quota resets monthly; assigning the monitor to a warehouse makes that warehouse subject to it.</a:t>
            </a:r>
          </a:p>
          <a:p>
            <a:endParaRPr lang="en-US" sz="1200" dirty="0"/>
          </a:p>
          <a:p>
            <a:r>
              <a:rPr lang="en-US" sz="1200" dirty="0"/>
              <a:t>Q296 [INTERMEDIATE] SUSPEND vs SUSPEND_IMMEDIATE?</a:t>
            </a:r>
          </a:p>
          <a:p>
            <a:r>
              <a:rPr lang="en-US" sz="1200" dirty="0"/>
              <a:t>Answer: SUSPEND lets running queries finish first; SUSPEND_IMMEDIATE cancels running queries and suspends right away.</a:t>
            </a:r>
          </a:p>
          <a:p>
            <a:r>
              <a:rPr lang="en-US" sz="1200" dirty="0"/>
              <a:t>Explanation: Use SUSPEND for a gentle stop and SUSPEND_IMMEDIATE when overspending must stop right now.</a:t>
            </a:r>
          </a:p>
          <a:p>
            <a:endParaRPr lang="en-US" sz="1200" dirty="0"/>
          </a:p>
          <a:p>
            <a:r>
              <a:rPr lang="en-US" sz="1200" dirty="0"/>
              <a:t>Q297 [INTERMEDIATE] Do resource monitors control serverless costs (Snowpipe, auto-clustering)?</a:t>
            </a:r>
          </a:p>
          <a:p>
            <a:r>
              <a:rPr lang="en-US" sz="1200" dirty="0"/>
              <a:t>Answer: No. They track user-managed warehouse credits only; serverless features need separate budgets/monitoring.</a:t>
            </a:r>
          </a:p>
          <a:p>
            <a:r>
              <a:rPr lang="en-US" sz="1200" dirty="0"/>
              <a:t>Explanation: Snowpipe, auto-clustering, serverless tasks and Cortex need Budgets or ACCOUNT_USAGE monitoring instead.</a:t>
            </a:r>
          </a:p>
          <a:p>
            <a:endParaRPr lang="en-US" sz="1200"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Q298 [INTERMEDIATE] How does Time Travel affect cost?</a:t>
            </a:r>
          </a:p>
          <a:p>
            <a:r>
              <a:rPr lang="en-US" sz="1200" dirty="0"/>
              <a:t>Answer: Changed and deleted data is kept for the retention period (plus 7-day Fail-safe), which adds storage cost, especially for high-churn tables.</a:t>
            </a:r>
          </a:p>
          <a:p>
            <a:r>
              <a:rPr lang="en-US" sz="1200" dirty="0"/>
              <a:t>Explanation: A heavily updated table keeps many old micro-partition versions for the whole retention period, which can multiply storage.</a:t>
            </a:r>
          </a:p>
          <a:p>
            <a:endParaRPr lang="en-US" sz="1200" dirty="0"/>
          </a:p>
          <a:p>
            <a:r>
              <a:rPr lang="en-US" sz="1200" dirty="0"/>
              <a:t>Q299 [INTERMEDIATE] Why use TRANSIENT tables for staging?</a:t>
            </a:r>
          </a:p>
          <a:p>
            <a:r>
              <a:rPr lang="en-US" sz="1200" dirty="0"/>
              <a:t>Answer: They have no Fail-safe and at most 1-day Time Travel, which cuts storage cost for data you can re-create.</a:t>
            </a:r>
          </a:p>
          <a:p>
            <a:r>
              <a:rPr lang="en-US" sz="1200" dirty="0"/>
              <a:t>Explanation: Staging data can be reloaded from its source, so it doesn't need expensive 7-day disaster protection.</a:t>
            </a:r>
          </a:p>
          <a:p>
            <a:endParaRPr lang="en-US" sz="1200" dirty="0"/>
          </a:p>
          <a:p>
            <a:r>
              <a:rPr lang="en-US" sz="1200" dirty="0"/>
              <a:t>Q300 [BASIC] Which view shows credits per warehouse?</a:t>
            </a:r>
          </a:p>
          <a:p>
            <a:r>
              <a:rPr lang="en-US" sz="1200" dirty="0"/>
              <a:t>Answer: SNOWFLAKE.ACCOUNT_USAGE.WAREHOUSE_METERING_HISTORY.</a:t>
            </a:r>
          </a:p>
          <a:p>
            <a:r>
              <a:rPr lang="en-US" sz="1200" dirty="0"/>
              <a:t>Explanation: Join it with query history or object tags to attribute cost to teams. The deck's query shows the last 7 days by warehouse.</a:t>
            </a:r>
          </a:p>
          <a:p>
            <a:endParaRPr lang="en-US" sz="1200"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Q301 [INTERMEDIATE] How fresh is ACCOUNT_USAGE data?</a:t>
            </a:r>
          </a:p>
          <a:p>
            <a:r>
              <a:rPr lang="en-US" sz="1200" dirty="0"/>
              <a:t>Answer: It lags by about 45 minutes to 3 hours depending on the view, and keeps 365 days of history.</a:t>
            </a:r>
          </a:p>
          <a:p>
            <a:r>
              <a:rPr lang="en-US" sz="1200" dirty="0"/>
              <a:t>Explanation: For real-time checks use INFORMATION_SCHEMA table functions; for trends and billing use ACCOUNT_USAGE.</a:t>
            </a:r>
          </a:p>
          <a:p>
            <a:endParaRPr lang="en-US" sz="1200" dirty="0"/>
          </a:p>
          <a:p>
            <a:r>
              <a:rPr lang="en-US" sz="1200" dirty="0"/>
              <a:t>Q302 [INTERMEDIATE] Why avoid SELECT * on wide tables?</a:t>
            </a:r>
          </a:p>
          <a:p>
            <a:r>
              <a:rPr lang="en-US" sz="1200" dirty="0"/>
              <a:t>Answer: Snowflake is columnar: selecting fewer columns scans fewer bytes, which is faster and cheaper.</a:t>
            </a:r>
          </a:p>
          <a:p>
            <a:r>
              <a:rPr lang="en-US" sz="1200" dirty="0"/>
              <a:t>Explanation: Example: on a 200-column table where you need 3 columns, SELECT * can scan about 60× more data than needed.</a:t>
            </a:r>
          </a:p>
          <a:p>
            <a:endParaRPr lang="en-US" sz="1200" dirty="0"/>
          </a:p>
          <a:p>
            <a:r>
              <a:rPr lang="en-US" sz="1200" dirty="0"/>
              <a:t>Q303 [ADVANCED] Credits doubled this month. How do you investigate?</a:t>
            </a:r>
          </a:p>
          <a:p>
            <a:r>
              <a:rPr lang="en-US" sz="1200" dirty="0"/>
              <a:t>Answer: Check WAREHOUSE_METERING_HISTORY by warehouse and day, QUERY_HISTORY for top-cost or long queries, warehouses without auto-suspend, size changes, and new scheduled tasks.</a:t>
            </a:r>
          </a:p>
          <a:p>
            <a:r>
              <a:rPr lang="en-US" sz="1200" dirty="0"/>
              <a:t>Explanation: Work systematically: which warehouse, which day, which queries. Most spikes come from a new job or a missing auto-suspend.</a:t>
            </a:r>
          </a:p>
          <a:p>
            <a:endParaRPr lang="en-US" sz="1200"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20: Common Mistakes &amp; Troubleshooting. 15 questions. Covers Deck slide 23 of the main deck.</a:t>
            </a: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Q304 [BASIC] Error: 'No active warehouse selected'. Fix?</a:t>
            </a:r>
          </a:p>
          <a:p>
            <a:r>
              <a:rPr lang="en-US" sz="1200" dirty="0"/>
              <a:t>Answer: USE WAREHOUSE &lt;name&gt;; or set DEFAULT_WAREHOUSE for the user; also make sure your role has USAGE on it.</a:t>
            </a:r>
          </a:p>
          <a:p>
            <a:r>
              <a:rPr lang="en-US" sz="1200" dirty="0"/>
              <a:t>Explanation: A session without a warehouse can still run metadata commands, but any data scan needs compute.</a:t>
            </a:r>
          </a:p>
          <a:p>
            <a:endParaRPr lang="en-US" sz="1200" dirty="0"/>
          </a:p>
          <a:p>
            <a:r>
              <a:rPr lang="en-US" sz="1200" dirty="0"/>
              <a:t>Q305 [BASIC] Error: 'Object does not exist or not authorized'. What do you check?</a:t>
            </a:r>
          </a:p>
          <a:p>
            <a:r>
              <a:rPr lang="en-US" sz="1200" dirty="0"/>
              <a:t>Answer: The context (database.schema), spelling and case (quoted names), and whether the current role has USAGE/SELECT (SHOW GRANTS).</a:t>
            </a:r>
          </a:p>
          <a:p>
            <a:r>
              <a:rPr lang="en-US" sz="1200" dirty="0"/>
              <a:t>Explanation: Check context first, then the name, then privileges: SELECT CURRENT_ROLE(); then SHOW GRANTS TO ROLE &lt;that role&gt;.</a:t>
            </a:r>
          </a:p>
          <a:p>
            <a:endParaRPr lang="en-US" sz="1200" dirty="0"/>
          </a:p>
          <a:p>
            <a:r>
              <a:rPr lang="en-US" sz="1200" dirty="0"/>
              <a:t>Q306 [INTERMEDIATE] You created "orders" with quotes and now SELECT * FROM orders fails. Why?</a:t>
            </a:r>
          </a:p>
          <a:p>
            <a:r>
              <a:rPr lang="en-US" sz="1200" dirty="0"/>
              <a:t>Answer: The table is stored in lowercase; unquoted orders means ORDERS. Use "orders", or rename it: ALTER TABLE "orders" RENAME TO orders;</a:t>
            </a:r>
          </a:p>
          <a:p>
            <a:r>
              <a:rPr lang="en-US" sz="1200" dirty="0"/>
              <a:t>Explanation: Renaming to an unquoted name is the permanent fix, so everyone can use normal, case-insensitive SQL.</a:t>
            </a:r>
          </a:p>
          <a:p>
            <a:endParaRPr lang="en-US" sz="1200"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Q307 [INTERMEDIATE] A colleague ran CREATE OR REPLACE on a production table. Can you recover?</a:t>
            </a:r>
          </a:p>
          <a:p>
            <a:r>
              <a:rPr lang="en-US" sz="1200" dirty="0"/>
              <a:t>Answer: Yes, within Time Travel: the old version is dropped, so rename the new table and UNDROP the old one (or clone it AT a time before).</a:t>
            </a:r>
          </a:p>
          <a:p>
            <a:r>
              <a:rPr lang="en-US" sz="1200" dirty="0"/>
              <a:t>Explanation: This only works within the Time Travel retention period, so act quickly, and use IF NOT EXISTS in production scripts.</a:t>
            </a:r>
          </a:p>
          <a:p>
            <a:endParaRPr lang="en-US" sz="1200" dirty="0"/>
          </a:p>
          <a:p>
            <a:r>
              <a:rPr lang="en-US" sz="1200" dirty="0"/>
              <a:t>Q308 [INTERMEDIATE] COPY INTO loaded 0 rows with status LOAD_SKIPPED. Why?</a:t>
            </a:r>
          </a:p>
          <a:p>
            <a:r>
              <a:rPr lang="en-US" sz="1200" dirty="0"/>
              <a:t>Answer: The files were already loaded within the last 64 days (load metadata). This is intended, to prevent duplicates.</a:t>
            </a:r>
          </a:p>
          <a:p>
            <a:r>
              <a:rPr lang="en-US" sz="1200" dirty="0"/>
              <a:t>Explanation: Check COPY_HISTORY or the COPY output. If you truly need to reload, use FORCE = TRUE deliberately.</a:t>
            </a:r>
          </a:p>
          <a:p>
            <a:endParaRPr lang="en-US" sz="1200" dirty="0"/>
          </a:p>
          <a:p>
            <a:r>
              <a:rPr lang="en-US" sz="1200" dirty="0"/>
              <a:t>Q309 [INTERMEDIATE] PUT fails in a Snowsight worksheet. Why?</a:t>
            </a:r>
          </a:p>
          <a:p>
            <a:r>
              <a:rPr lang="en-US" sz="1200" dirty="0"/>
              <a:t>Answer: PUT needs local file-system access. Use Snowflake CLI/SnowSQL/a driver, or the Snowsight Load Data UI.</a:t>
            </a:r>
          </a:p>
          <a:p>
            <a:r>
              <a:rPr lang="en-US" sz="1200" dirty="0"/>
              <a:t>Explanation: Alternatives: the Snowsight upload UI, or Snowflake CLI (PUT / snow stage copy).</a:t>
            </a:r>
          </a:p>
          <a:p>
            <a:endParaRPr lang="en-US" sz="1200"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Q310 [INTERMEDIATE] Credits are burning overnight with no users. Likely cause?</a:t>
            </a:r>
          </a:p>
          <a:p>
            <a:r>
              <a:rPr lang="en-US" sz="1200" dirty="0"/>
              <a:t>Answer: A warehouse with AUTO_SUSPEND disabled/NULL, a scheduled task or BI tool keeping it alive, or a runaway query. Set auto-suspend, add a resource monitor, check query history.</a:t>
            </a:r>
          </a:p>
          <a:p>
            <a:r>
              <a:rPr lang="en-US" sz="1200" dirty="0"/>
              <a:t>Explanation: Look at WAREHOUSE_METERING_HISTORY by hour to see when credits are used, then QUERY_HISTORY to see which queries ran.</a:t>
            </a:r>
          </a:p>
          <a:p>
            <a:endParaRPr lang="en-US" sz="1200" dirty="0"/>
          </a:p>
          <a:p>
            <a:r>
              <a:rPr lang="en-US" sz="1200" dirty="0"/>
              <a:t>Q311 [INTERMEDIATE] Why do objects become hard to manage when created as ACCOUNTADMIN?</a:t>
            </a:r>
          </a:p>
          <a:p>
            <a:r>
              <a:rPr lang="en-US" sz="1200" dirty="0"/>
              <a:t>Answer: They are owned by ACCOUNTADMIN, so SYSADMIN and custom roles can't manage them. Transfer with GRANT OWNERSHIP.</a:t>
            </a:r>
          </a:p>
          <a:p>
            <a:r>
              <a:rPr lang="en-US" sz="1200" dirty="0"/>
              <a:t>Explanation: Example: GRANT OWNERSHIP ON ALL TABLES IN SCHEMA sales_db.raw TO ROLE sysadmin COPY CURRENT GRANTS;</a:t>
            </a:r>
          </a:p>
          <a:p>
            <a:endParaRPr lang="en-US" sz="1200" dirty="0"/>
          </a:p>
          <a:p>
            <a:r>
              <a:rPr lang="en-US" sz="1200" dirty="0"/>
              <a:t>Q312 [INTERMEDIATE] Times appear shifted by several hours. What's likely wrong?</a:t>
            </a:r>
          </a:p>
          <a:p>
            <a:r>
              <a:rPr lang="en-US" sz="1200" dirty="0"/>
              <a:t>Answer: Mixing TIMESTAMP_NTZ / LTZ / TZ, or session TIMEZONE differences between users or tools. Choose one type deliberately and check ALTER SESSION SET TIMEZONE.</a:t>
            </a:r>
          </a:p>
          <a:p>
            <a:r>
              <a:rPr lang="en-US" sz="1200" dirty="0"/>
              <a:t>Explanation: Standardize on one timestamp type per use case, and set session or account TIMEZONE consistently across tools.</a:t>
            </a:r>
          </a:p>
          <a:p>
            <a:endParaRPr lang="en-US" sz="1200"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Q313 [ADVANCED] A query was fast yesterday and slow today. What do you look at?</a:t>
            </a:r>
          </a:p>
          <a:p>
            <a:r>
              <a:rPr lang="en-US" sz="1200" dirty="0"/>
              <a:t>Answer: Query Profile (spilling, pruning, joins), whether the result/warehouse cache was used before, queuing on the warehouse, data volume growth, and warehouse size.</a:t>
            </a:r>
          </a:p>
          <a:p>
            <a:r>
              <a:rPr lang="en-US" sz="1200" dirty="0"/>
              <a:t>Explanation: Compare both Query Profiles: yesterday's cached or warm run against today's cold run often explains the difference.</a:t>
            </a:r>
          </a:p>
          <a:p>
            <a:endParaRPr lang="en-US" sz="1200" dirty="0"/>
          </a:p>
          <a:p>
            <a:r>
              <a:rPr lang="en-US" sz="1200" dirty="0"/>
              <a:t>Q314 [ADVANCED] Query Profile shows 'bytes spilled to remote storage'. What does it mean and how to fix?</a:t>
            </a:r>
          </a:p>
          <a:p>
            <a:r>
              <a:rPr lang="en-US" sz="1200" dirty="0"/>
              <a:t>Answer: The warehouse ran out of memory/local disk. Use a larger warehouse, reduce the data processed (filters, fewer columns), or rewrite the joins/aggregations.</a:t>
            </a:r>
          </a:p>
          <a:p>
            <a:r>
              <a:rPr lang="en-US" sz="1200" dirty="0"/>
              <a:t>Explanation: Spilling to local disk slows queries; spilling to remote storage slows them a lot. It's the clearest signal to size up or reduce data.</a:t>
            </a:r>
          </a:p>
          <a:p>
            <a:endParaRPr lang="en-US" sz="1200" dirty="0"/>
          </a:p>
          <a:p>
            <a:r>
              <a:rPr lang="en-US" sz="1200" dirty="0"/>
              <a:t>Q315 [ADVANCED] How do you cancel a runaway query?</a:t>
            </a:r>
          </a:p>
          <a:p>
            <a:r>
              <a:rPr lang="en-US" sz="1200" dirty="0"/>
              <a:t>Answer: SELECT SYSTEM$CANCEL_QUERY('&lt;query_id&gt;'); or cancel from Query History; or ALTER WAREHOUSE … ABORT ALL QUERIES.</a:t>
            </a:r>
          </a:p>
          <a:p>
            <a:r>
              <a:rPr lang="en-US" sz="1200" dirty="0"/>
              <a:t>Explanation: ABORT ALL QUERIES stops everything on that warehouse, so use it with care in shared environments.</a:t>
            </a:r>
          </a:p>
          <a:p>
            <a:endParaRPr lang="en-US" sz="1200"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Q316 [ADVANCED] An analyst can SELECT from existing tables but not a new one. Why?</a:t>
            </a:r>
          </a:p>
          <a:p>
            <a:r>
              <a:rPr lang="en-US" sz="1200" dirty="0"/>
              <a:t>Answer: No FUTURE grant existed when the table was created. Grant SELECT on it and add GRANT SELECT ON FUTURE TABLES.</a:t>
            </a:r>
          </a:p>
          <a:p>
            <a:r>
              <a:rPr lang="en-US" sz="1200" dirty="0"/>
              <a:t>Explanation: This is the classic missing future grant. Adding FUTURE grants stops it from happening again.</a:t>
            </a:r>
          </a:p>
          <a:p>
            <a:endParaRPr lang="en-US" sz="1200" dirty="0"/>
          </a:p>
          <a:p>
            <a:r>
              <a:rPr lang="en-US" sz="1200" dirty="0"/>
              <a:t>Q317 [INTERMEDIATE] COPY fails with 'Number of columns in file does not match'. Fix?</a:t>
            </a:r>
          </a:p>
          <a:p>
            <a:r>
              <a:rPr lang="en-US" sz="1200" dirty="0"/>
              <a:t>Answer: Use a column list or transformation in COPY, fix the file, or set ERROR_ON_COLUMN_COUNT_MISMATCH = FALSE in the file format.</a:t>
            </a:r>
          </a:p>
          <a:p>
            <a:r>
              <a:rPr lang="en-US" sz="1200" dirty="0"/>
              <a:t>Explanation: Common when a source adds or removes columns. Decide whether missing columns should become NULL or fail the load.</a:t>
            </a:r>
          </a:p>
          <a:p>
            <a:endParaRPr lang="en-US" sz="1200" dirty="0"/>
          </a:p>
          <a:p>
            <a:r>
              <a:rPr lang="en-US" sz="1200" dirty="0"/>
              <a:t>Q318 [INTERMEDIATE] A JSON query returns values with quotes like "jdoe". Fix?</a:t>
            </a:r>
          </a:p>
          <a:p>
            <a:r>
              <a:rPr lang="en-US" sz="1200" dirty="0"/>
              <a:t>Answer: Cast the VARIANT: v:user::STRING.</a:t>
            </a:r>
          </a:p>
          <a:p>
            <a:r>
              <a:rPr lang="en-US" sz="1200" dirty="0"/>
              <a:t>Explanation: The cast turns the VARIANT into a real SQL string, which removes the JSON quotes.</a:t>
            </a:r>
          </a:p>
          <a:p>
            <a:endParaRPr lang="en-US" sz="1200"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21: Tutorials, Next Steps &amp; Cheat Sheet. 10 questions. Covers Deck slides 24–25 of the main deck.</a:t>
            </a: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Q319 [BASIC] Which tutorials does the deck suggest, in order?</a:t>
            </a:r>
          </a:p>
          <a:p>
            <a:r>
              <a:rPr lang="en-US" sz="1200" dirty="0"/>
              <a:t>Answer: Snowsight tour / Snowflake in 20 minutes → create users &amp; roles → load &amp; query sample data → bulk loading (local &amp; cloud) → JSON basics → Snowpark / Python notebooks.</a:t>
            </a:r>
          </a:p>
          <a:p>
            <a:r>
              <a:rPr lang="en-US" sz="1200" dirty="0"/>
              <a:t>Explanation: This order follows the deck: UI → security → loading → querying → semi-structured data → programming.</a:t>
            </a:r>
          </a:p>
          <a:p>
            <a:endParaRPr lang="en-US" sz="1200" dirty="0"/>
          </a:p>
          <a:p>
            <a:r>
              <a:rPr lang="en-US" sz="1200" dirty="0"/>
              <a:t>Q320 [BASIC] What are Snowflake Quickstarts?</a:t>
            </a:r>
          </a:p>
          <a:p>
            <a:r>
              <a:rPr lang="en-US" sz="1200" dirty="0"/>
              <a:t>Answer: Guided, step-by-step hands-on labs covering end-to-end use cases.</a:t>
            </a:r>
          </a:p>
          <a:p>
            <a:r>
              <a:rPr lang="en-US" sz="1200" dirty="0"/>
              <a:t>Explanation: Quickstarts are practical and project-based, e.g. building a data pipeline or a Streamlit app end to end.</a:t>
            </a:r>
          </a:p>
          <a:p>
            <a:endParaRPr lang="en-US" sz="1200" dirty="0"/>
          </a:p>
          <a:p>
            <a:r>
              <a:rPr lang="en-US" sz="1200" dirty="0"/>
              <a:t>Q321 [BASIC] What is the foundation Snowflake certification?</a:t>
            </a:r>
          </a:p>
          <a:p>
            <a:r>
              <a:rPr lang="en-US" sz="1200" dirty="0"/>
              <a:t>Answer: SnowPro Core.</a:t>
            </a:r>
          </a:p>
          <a:p>
            <a:r>
              <a:rPr lang="en-US" sz="1200" dirty="0"/>
              <a:t>Explanation: SnowPro Core covers architecture, warehouses, loading, security, Time Travel, cloning and sharing, and this deck and question bank cover much of it.</a:t>
            </a:r>
          </a:p>
          <a:p>
            <a:endParaRPr lang="en-US" sz="1200"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Q322 [INTERMEDIATE] Name the SnowPro Advanced certifications listed.</a:t>
            </a:r>
          </a:p>
          <a:p>
            <a:r>
              <a:rPr lang="en-US" sz="1200" dirty="0"/>
              <a:t>Answer: Architect, Data Engineer, Administrator (others include Data Scientist and Data Analyst).</a:t>
            </a:r>
          </a:p>
          <a:p>
            <a:r>
              <a:rPr lang="en-US" sz="1200" dirty="0"/>
              <a:t>Explanation: The advanced exams require Core first and go deeper into architecture design, data engineering pipelines and administration.</a:t>
            </a:r>
          </a:p>
          <a:p>
            <a:endParaRPr lang="en-US" sz="1200" dirty="0"/>
          </a:p>
          <a:p>
            <a:r>
              <a:rPr lang="en-US" sz="1200" dirty="0"/>
              <a:t>Q323 [BASIC] Which single query shows your full session context?</a:t>
            </a:r>
          </a:p>
          <a:p>
            <a:r>
              <a:rPr lang="en-US" sz="1200" dirty="0"/>
              <a:t>Answer: SELECT CURRENT_ROLE(), CURRENT_WAREHOUSE(), CURRENT_DATABASE(), CURRENT_SCHEMA();</a:t>
            </a:r>
          </a:p>
          <a:p>
            <a:r>
              <a:rPr lang="en-US" sz="1200" dirty="0"/>
              <a:t>Explanation: Run it first whenever something behaves unexpectedly; wrong context causes most beginner issues.</a:t>
            </a:r>
          </a:p>
          <a:p>
            <a:endParaRPr lang="en-US" sz="1200" dirty="0"/>
          </a:p>
          <a:p>
            <a:r>
              <a:rPr lang="en-US" sz="1200" dirty="0"/>
              <a:t>Q324 [BASIC] How do you list tables in the current schema?</a:t>
            </a:r>
          </a:p>
          <a:p>
            <a:r>
              <a:rPr lang="en-US" sz="1200" dirty="0"/>
              <a:t>Answer: SHOW TABLES;</a:t>
            </a:r>
          </a:p>
          <a:p>
            <a:r>
              <a:rPr lang="en-US" sz="1200" dirty="0"/>
              <a:t>Explanation: Add LIKE 'ORD%' to filter, or IN SCHEMA sales_db.raw to look in another schema.</a:t>
            </a:r>
          </a:p>
          <a:p>
            <a:endParaRPr lang="en-US" sz="1200"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Q325 [INTERMEDIATE] What does INFORMATION_SCHEMA.QUERY_HISTORY() show vs ACCOUNT_USAGE.QUERY_HISTORY?</a:t>
            </a:r>
          </a:p>
          <a:p>
            <a:r>
              <a:rPr lang="en-US" sz="1200" dirty="0"/>
              <a:t>Answer: The table function is real-time but covers only the last 7 days. The ACCOUNT_USAGE view keeps 365 days but lags up to about 45 minutes.</a:t>
            </a:r>
          </a:p>
          <a:p>
            <a:r>
              <a:rPr lang="en-US" sz="1200" dirty="0"/>
              <a:t>Explanation: Use the table function for 'what just happened?' and ACCOUNT_USAGE for audits and cost analysis over months.</a:t>
            </a:r>
          </a:p>
          <a:p>
            <a:endParaRPr lang="en-US" sz="1200" dirty="0"/>
          </a:p>
          <a:p>
            <a:r>
              <a:rPr lang="en-US" sz="1200" dirty="0"/>
              <a:t>Q326 [BASIC] How do you download files from an internal stage to your computer?</a:t>
            </a:r>
          </a:p>
          <a:p>
            <a:r>
              <a:rPr lang="en-US" sz="1200" dirty="0"/>
              <a:t>Answer: GET @my_int_stage file:///tmp/downloads/;  (from Snowflake CLI/SnowSQL)</a:t>
            </a:r>
          </a:p>
          <a:p>
            <a:r>
              <a:rPr lang="en-US" sz="1200" dirty="0"/>
              <a:t>Explanation: GET is the reverse of PUT and, like PUT, needs a command-line client or driver.</a:t>
            </a:r>
          </a:p>
          <a:p>
            <a:endParaRPr lang="en-US" sz="1200" dirty="0"/>
          </a:p>
          <a:p>
            <a:r>
              <a:rPr lang="en-US" sz="1200" dirty="0"/>
              <a:t>Q327 [INTERMEDIATE] What does SHOW GRANTS TO USER jdoe show?</a:t>
            </a:r>
          </a:p>
          <a:p>
            <a:r>
              <a:rPr lang="en-US" sz="1200" dirty="0"/>
              <a:t>Answer: The roles granted to user jdoe.</a:t>
            </a:r>
          </a:p>
          <a:p>
            <a:r>
              <a:rPr lang="en-US" sz="1200" dirty="0"/>
              <a:t>Explanation: The reverse, SHOW GRANTS OF ROLE analyst, shows which users hold a role.</a:t>
            </a:r>
          </a:p>
          <a:p>
            <a:endParaRPr lang="en-US" sz="1200"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Q328 [BASIC] Which three commands are 'recover' commands on the cheat sheet?</a:t>
            </a:r>
          </a:p>
          <a:p>
            <a:r>
              <a:rPr lang="en-US" sz="1200" dirty="0"/>
              <a:t>Answer: SELECT … AT(OFFSET =&gt; …) (Time Travel), UNDROP TABLE, and CREATE TABLE … CLONE.</a:t>
            </a:r>
          </a:p>
          <a:p>
            <a:r>
              <a:rPr lang="en-US" sz="1200" dirty="0"/>
              <a:t>Explanation: All three rely on Time Travel retention, so set retention thoughtfully for important tables.</a:t>
            </a:r>
          </a:p>
          <a:p>
            <a:endParaRPr lang="en-US" sz="1200"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Section 22: Scenario &amp; Interview Questions. 10 questions. Covers Whole deck of the main deck.</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Q329 [ADVANCED] Explain the end-to-end steps to get a CSV from your laptop into a table analysts can query.</a:t>
            </a:r>
          </a:p>
          <a:p>
            <a:r>
              <a:rPr lang="en-US" sz="1200" dirty="0"/>
              <a:t>Answer: Create warehouse → database/schema/table → file format → stage → PUT → COPY INTO → validate → create role → grant USAGE on WH/DB/schema + SELECT (all + future) → grant role to users.</a:t>
            </a:r>
          </a:p>
          <a:p>
            <a:r>
              <a:rPr lang="en-US" sz="1200" dirty="0"/>
              <a:t>Explanation: Interviewers look for completeness (compute, storage, loading, validation, security) and best practices (named stage, file format, future grants).</a:t>
            </a:r>
          </a:p>
          <a:p>
            <a:endParaRPr lang="en-US" sz="1200" dirty="0"/>
          </a:p>
          <a:p>
            <a:r>
              <a:rPr lang="en-US" sz="1200" dirty="0"/>
              <a:t>Q330 [ADVANCED] Design warehouses for ETL, BI dashboards (50 users) and data science.</a:t>
            </a:r>
          </a:p>
          <a:p>
            <a:r>
              <a:rPr lang="en-US" sz="1200" dirty="0"/>
              <a:t>Answer: ETL_WH (M/L, auto-suspend, scheduled), BI_WH (S, multi-cluster 1–4, STANDARD policy), DS_WH (Snowpark-optimized if ML-heavy). Add a resource monitor on each.</a:t>
            </a:r>
          </a:p>
          <a:p>
            <a:r>
              <a:rPr lang="en-US" sz="1200" dirty="0"/>
              <a:t>Explanation: The reasoning matters: workload isolation, per-workload sizing, concurrency for BI, memory for ML, and cost guardrails.</a:t>
            </a:r>
          </a:p>
          <a:p>
            <a:endParaRPr lang="en-US" sz="1200" dirty="0"/>
          </a:p>
          <a:p>
            <a:r>
              <a:rPr lang="en-US" sz="1200" dirty="0"/>
              <a:t>Q331 [ADVANCED] How does Snowflake handle concurrency differently from a traditional database?</a:t>
            </a:r>
          </a:p>
          <a:p>
            <a:r>
              <a:rPr lang="en-US" sz="1200" dirty="0"/>
              <a:t>Answer: Instead of one shared server, you give workloads separate warehouses and use multi-cluster warehouses that add clusters automatically when queries queue.</a:t>
            </a:r>
          </a:p>
          <a:p>
            <a:r>
              <a:rPr lang="en-US" sz="1200" dirty="0"/>
              <a:t>Explanation: Key points: no contention between workloads, automatic scale-out for concurrency, and no need to over-provision one big server.</a:t>
            </a:r>
          </a:p>
          <a:p>
            <a:endParaRPr lang="en-US" sz="1200"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Q332 [ADVANCED] How would you give a partner company access to live sales data?</a:t>
            </a:r>
          </a:p>
          <a:p>
            <a:r>
              <a:rPr lang="en-US" sz="1200" dirty="0"/>
              <a:t>Answer: Secure Data Sharing: create a share (or listing), grant USAGE on the DB/schema and SELECT on secure views, and add the partner's account (or a reader account if they don't use Snowflake).</a:t>
            </a:r>
          </a:p>
          <a:p>
            <a:r>
              <a:rPr lang="en-US" sz="1200" dirty="0"/>
              <a:t>Explanation: For partners without Snowflake, a reader account lets them query shared data, and the provider pays their compute.</a:t>
            </a:r>
          </a:p>
          <a:p>
            <a:endParaRPr lang="en-US" sz="1200" dirty="0"/>
          </a:p>
          <a:p>
            <a:r>
              <a:rPr lang="en-US" sz="1200" dirty="0"/>
              <a:t>Q333 [ADVANCED] How would you protect PII columns like email from analysts?</a:t>
            </a:r>
          </a:p>
          <a:p>
            <a:r>
              <a:rPr lang="en-US" sz="1200" dirty="0"/>
              <a:t>Answer: Masking policies (Enterprise+) applied to the columns, with a policy that shows real values only to authorized roles. Also consider row access policies and tags.</a:t>
            </a:r>
          </a:p>
          <a:p>
            <a:r>
              <a:rPr lang="en-US" sz="1200" dirty="0"/>
              <a:t>Explanation: Masking is dynamic: data is stored once, and each query shows masked or real values depending on the user's role.</a:t>
            </a:r>
          </a:p>
          <a:p>
            <a:endParaRPr lang="en-US" sz="1200" dirty="0"/>
          </a:p>
          <a:p>
            <a:r>
              <a:rPr lang="en-US" sz="1200" dirty="0"/>
              <a:t>Q334 [ADVANCED] Your trial is ending. What should you check before choosing an edition?</a:t>
            </a:r>
          </a:p>
          <a:p>
            <a:r>
              <a:rPr lang="en-US" sz="1200" dirty="0"/>
              <a:t>Answer: Needed features (multi-cluster, 90-day Time Travel, masking → Enterprise; HIPAA/PCI, PrivateLink, failover → Business Critical), region/cloud, and expected credit usage.</a:t>
            </a:r>
          </a:p>
          <a:p>
            <a:r>
              <a:rPr lang="en-US" sz="1200" dirty="0"/>
              <a:t>Explanation: Choose the lowest edition that meets requirements; upgrading later is easy, downgrading is harder.</a:t>
            </a:r>
          </a:p>
          <a:p>
            <a:endParaRPr lang="en-US" sz="1200"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Q335 [ADVANCED] How do you make pipelines idempotent in Snowflake?</a:t>
            </a:r>
          </a:p>
          <a:p>
            <a:r>
              <a:rPr lang="en-US" sz="1200" dirty="0"/>
              <a:t>Answer: Rely on COPY load metadata, use MERGE on business keys instead of blind INSERT, dedupe with QUALIFY ROW_NUMBER(), and avoid FORCE = TRUE.</a:t>
            </a:r>
          </a:p>
          <a:p>
            <a:r>
              <a:rPr lang="en-US" sz="1200" dirty="0"/>
              <a:t>Explanation: Idempotent means safe to rerun without duplicates or side effects, which retries and backfills depend on.</a:t>
            </a:r>
          </a:p>
          <a:p>
            <a:endParaRPr lang="en-US" sz="1200" dirty="0"/>
          </a:p>
          <a:p>
            <a:r>
              <a:rPr lang="en-US" sz="1200" dirty="0"/>
              <a:t>Q336 [ADVANCED] What would you monitor weekly as a new Snowflake admin?</a:t>
            </a:r>
          </a:p>
          <a:p>
            <a:r>
              <a:rPr lang="en-US" sz="1200" dirty="0"/>
              <a:t>Answer: Credit usage per warehouse, top expensive queries, failed logins/MFA status, users with ACCOUNTADMIN, storage growth (incl. Time Travel/Fail-safe), failed loads and tasks.</a:t>
            </a:r>
          </a:p>
          <a:p>
            <a:r>
              <a:rPr lang="en-US" sz="1200" dirty="0"/>
              <a:t>Explanation: It covers least privilege, cost awareness, security posture and pipeline health, a practical checklist for any Snowflake admin.</a:t>
            </a:r>
          </a:p>
          <a:p>
            <a:endParaRPr lang="en-US" sz="1200" dirty="0"/>
          </a:p>
          <a:p>
            <a:r>
              <a:rPr lang="en-US" sz="1200" dirty="0"/>
              <a:t>Q337 [ADVANCED] How would you schedule a daily SQL transformation inside Snowflake?</a:t>
            </a:r>
          </a:p>
          <a:p>
            <a:r>
              <a:rPr lang="en-US" sz="1200" dirty="0"/>
              <a:t>Answer: CREATE TASK … WAREHOUSE = etl_wh SCHEDULE = 'USING CRON 0 2 * * * UTC' AS &lt;SQL&gt;; ALTER TASK … RESUME;  (streams can capture changes incrementally)</a:t>
            </a:r>
          </a:p>
          <a:p>
            <a:r>
              <a:rPr lang="en-US" sz="1200" dirty="0"/>
              <a:t>Explanation: Tasks can be chained into DAGs (AFTER), and with streams they process only new changes (incremental ELT).</a:t>
            </a:r>
          </a:p>
          <a:p>
            <a:endParaRPr lang="en-US" sz="1200"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cNvSpPr>
            <a:spLocks noGrp="1" noRot="1" noChangeAspect="1"/>
          </p:cNvSpPr>
          <p:nvPr>
            <p:ph type="sldImg"/>
          </p:nvPr>
        </p:nvSpPr>
        <p:spPr>
          <a:xfrm>
            <a:off x="381000" y="685800"/>
            <a:ext cx="6096000" cy="3429000"/>
          </a:xfrm>
        </p:spPr>
      </p:sp>
      <p:sp>
        <p:nvSpPr>
          <p:cNvPr id="3" name="Notes"/>
          <p:cNvSpPr>
            <a:spLocks noGrp="1"/>
          </p:cNvSpPr>
          <p:nvPr>
            <p:ph type="body" idx="1"/>
          </p:nvPr>
        </p:nvSpPr>
        <p:spPr>
          <a:xfrm>
            <a:off x="685800" y="4343400"/>
            <a:ext cx="5486400" cy="4114800"/>
          </a:xfrm>
        </p:spPr>
        <p:txBody>
          <a:bodyPr/>
          <a:lstStyle/>
          <a:p>
            <a:r>
              <a:rPr lang="en-US" sz="1200" dirty="0"/>
              <a:t>Q338 [ADVANCED] Summarize the five key takeaways of the deck.</a:t>
            </a:r>
          </a:p>
          <a:p>
            <a:r>
              <a:rPr lang="en-US" sz="1200" dirty="0"/>
              <a:t>Answer: Storage ≠ compute; context (role, warehouse, db.schema) is everything; load through stages with COPY/Snowpipe; secure with RBAC (USAGE chain + SELECT); guard cost with auto-suspend, right-sizing and resource monitors.</a:t>
            </a:r>
          </a:p>
          <a:p>
            <a:r>
              <a:rPr lang="en-US" sz="1200" dirty="0"/>
              <a:t>Explanation: If you remember nothing else, remember these five. They underpin almost every other question in this bank.</a:t>
            </a:r>
          </a:p>
          <a:p>
            <a:endParaRPr lang="en-US" sz="1200" dirty="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800"/>
      </a:lvl1pPr>
    </p:bodyStyle>
    <p:otherStyle>
      <a:lvl1pPr>
        <a:defRPr sz="1800"/>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3" name="Shape 3"/>
          <p:cNvSpPr/>
          <p:nvPr/>
        </p:nvSpPr>
        <p:spPr>
          <a:xfrm>
            <a:off x="0" y="0"/>
            <a:ext cx="320040" cy="6858000"/>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4" name="Shape 4"/>
          <p:cNvSpPr/>
          <p:nvPr/>
        </p:nvSpPr>
        <p:spPr>
          <a:xfrm>
            <a:off x="914400" y="1463040"/>
            <a:ext cx="10058400" cy="109728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4400" dirty="0" b="1">
                <a:solidFill>
                  <a:srgbClr val="FFFFFF"/>
                </a:solidFill>
              </a:rPr>
              <a:t>Snowflake Getting Started</a:t>
            </a:r>
            <a:endParaRPr lang="en-US" sz="4400" dirty="0"/>
          </a:p>
        </p:txBody>
      </p:sp>
      <p:sp>
        <p:nvSpPr>
          <p:cNvPr id="5" name="Shape 5"/>
          <p:cNvSpPr/>
          <p:nvPr/>
        </p:nvSpPr>
        <p:spPr>
          <a:xfrm>
            <a:off x="914400" y="2514600"/>
            <a:ext cx="10058400" cy="7315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3000" dirty="0" b="1">
                <a:solidFill>
                  <a:srgbClr val="BFE6F7"/>
                </a:solidFill>
              </a:rPr>
              <a:t>Question Bank: Answers &amp; Explanations</a:t>
            </a:r>
            <a:endParaRPr lang="en-US" sz="3000" dirty="0"/>
          </a:p>
        </p:txBody>
      </p:sp>
      <p:sp>
        <p:nvSpPr>
          <p:cNvPr id="6" name="Shape 6"/>
          <p:cNvSpPr/>
          <p:nvPr/>
        </p:nvSpPr>
        <p:spPr>
          <a:xfrm>
            <a:off x="914400" y="3429000"/>
            <a:ext cx="2743200" cy="45720"/>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7" name="Shape 7"/>
          <p:cNvSpPr/>
          <p:nvPr/>
        </p:nvSpPr>
        <p:spPr>
          <a:xfrm>
            <a:off x="914400" y="3657600"/>
            <a:ext cx="10058400" cy="16459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600" dirty="0">
                <a:solidFill>
                  <a:srgbClr val="D1E9F6"/>
                </a:solidFill>
              </a:rPr>
              <a:t>338 questions · 22 sections · mapped to every slide of the main deck</a:t>
            </a:r>
            <a:endParaRPr lang="en-US" sz="1600" dirty="0"/>
          </a:p>
          <a:p>
            <a:pPr algn="l">
              <a:lnSpc>
                <a:spcPct val="100000"/>
              </a:lnSpc>
              <a:spcBef>
                <a:spcPts val="800"/>
              </a:spcBef>
              <a:spcAft>
                <a:spcPts val="0"/>
              </a:spcAft>
              <a:buNone/>
            </a:pPr>
            <a:r>
              <a:rPr lang="en-US" sz="1600" dirty="0">
                <a:solidFill>
                  <a:srgbClr val="D1E9F6"/>
                </a:solidFill>
              </a:rPr>
              <a:t>Basic 152  ·  Intermediate 132  ·  Advanced / scenario 54</a:t>
            </a:r>
            <a:endParaRPr lang="en-US" sz="1600" dirty="0"/>
          </a:p>
        </p:txBody>
      </p:sp>
      <p:sp>
        <p:nvSpPr>
          <p:cNvPr id="8" name="Shape 8"/>
          <p:cNvSpPr/>
          <p:nvPr/>
        </p:nvSpPr>
        <p:spPr>
          <a:xfrm>
            <a:off x="914400" y="5943600"/>
            <a:ext cx="1051560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100" dirty="0">
                <a:solidFill>
                  <a:srgbClr val="8FB3C9"/>
                </a:solidFill>
              </a:rPr>
              <a:t>Companion to Snowflake_Getting_Started.pptx. Based on general Snowflake documentation knowledge; check details against the live docs.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How to Use This Question Bank</a:t>
            </a:r>
            <a:endParaRPr lang="en-US" sz="2800" dirty="0"/>
          </a:p>
        </p:txBody>
      </p:sp>
      <p:sp>
        <p:nvSpPr>
          <p:cNvPr id="6" name="Shape 6"/>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7" name="Shape 7"/>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 / 142</a:t>
            </a:r>
            <a:endParaRPr lang="en-US" sz="1000" dirty="0"/>
          </a:p>
        </p:txBody>
      </p:sp>
      <p:sp>
        <p:nvSpPr>
          <p:cNvPr id="8" name="Shape 8"/>
          <p:cNvSpPr/>
          <p:nvPr/>
        </p:nvSpPr>
        <p:spPr>
          <a:xfrm>
            <a:off x="548640" y="1371600"/>
            <a:ext cx="2011680" cy="502920"/>
          </a:xfrm>
          <a:prstGeom prst="roundRect">
            <a:avLst>
              <a:gd name="adj" fmla="val 30000"/>
            </a:avLst>
          </a:prstGeom>
          <a:solidFill>
            <a:srgbClr val="2E9E6A"/>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300" dirty="0" b="1">
                <a:solidFill>
                  <a:srgbClr val="FFFFFF"/>
                </a:solidFill>
              </a:rPr>
              <a:t>BASIC</a:t>
            </a:r>
            <a:endParaRPr lang="en-US" sz="1300" dirty="0"/>
          </a:p>
        </p:txBody>
      </p:sp>
      <p:sp>
        <p:nvSpPr>
          <p:cNvPr id="9" name="Shape 9"/>
          <p:cNvSpPr/>
          <p:nvPr/>
        </p:nvSpPr>
        <p:spPr>
          <a:xfrm>
            <a:off x="2743200" y="1371600"/>
            <a:ext cx="3108960" cy="50292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1F2937"/>
                </a:solidFill>
              </a:rPr>
              <a:t>Definitions &amp; facts stated on the slides  (152)</a:t>
            </a:r>
            <a:endParaRPr lang="en-US" sz="1300" dirty="0"/>
          </a:p>
        </p:txBody>
      </p:sp>
      <p:sp>
        <p:nvSpPr>
          <p:cNvPr id="10" name="Shape 10"/>
          <p:cNvSpPr/>
          <p:nvPr/>
        </p:nvSpPr>
        <p:spPr>
          <a:xfrm>
            <a:off x="548640" y="2240280"/>
            <a:ext cx="2011680" cy="502920"/>
          </a:xfrm>
          <a:prstGeom prst="roundRect">
            <a:avLst>
              <a:gd name="adj" fmla="val 30000"/>
            </a:avLst>
          </a:prstGeom>
          <a:solidFill>
            <a:srgbClr val="F59E0B"/>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300" dirty="0" b="1">
                <a:solidFill>
                  <a:srgbClr val="FFFFFF"/>
                </a:solidFill>
              </a:rPr>
              <a:t>INTERMEDIATE</a:t>
            </a:r>
            <a:endParaRPr lang="en-US" sz="1300" dirty="0"/>
          </a:p>
        </p:txBody>
      </p:sp>
      <p:sp>
        <p:nvSpPr>
          <p:cNvPr id="11" name="Shape 11"/>
          <p:cNvSpPr/>
          <p:nvPr/>
        </p:nvSpPr>
        <p:spPr>
          <a:xfrm>
            <a:off x="2743200" y="2240280"/>
            <a:ext cx="3108960" cy="50292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1F2937"/>
                </a:solidFill>
              </a:rPr>
              <a:t>How / why, reading SQL, predicting results  (132)</a:t>
            </a:r>
            <a:endParaRPr lang="en-US" sz="1300" dirty="0"/>
          </a:p>
        </p:txBody>
      </p:sp>
      <p:sp>
        <p:nvSpPr>
          <p:cNvPr id="12" name="Shape 12"/>
          <p:cNvSpPr/>
          <p:nvPr/>
        </p:nvSpPr>
        <p:spPr>
          <a:xfrm>
            <a:off x="548640" y="3108960"/>
            <a:ext cx="2011680" cy="502920"/>
          </a:xfrm>
          <a:prstGeom prst="roundRect">
            <a:avLst>
              <a:gd name="adj" fmla="val 30000"/>
            </a:avLst>
          </a:prstGeom>
          <a:solidFill>
            <a:srgbClr val="DC2626"/>
          </a:solidFill>
          <a:ln>
            <a:noFill/>
          </a:ln>
        </p:spPr>
        <p:txBody>
          <a:bodyPr wrap="square" lIns="27432" tIns="27432" rIns="27432" bIns="27432" anchor="ctr" rtlCol="0">
            <a:noAutofit/>
          </a:bodyPr>
          <a:lstStyle/>
          <a:p>
            <a:pPr algn="ctr">
              <a:lnSpc>
                <a:spcPct val="100000"/>
              </a:lnSpc>
              <a:spcBef>
                <a:spcPts val="0"/>
              </a:spcBef>
              <a:spcAft>
                <a:spcPts val="0"/>
              </a:spcAft>
              <a:buNone/>
            </a:pPr>
            <a:r>
              <a:rPr lang="en-US" sz="1300" dirty="0" b="1">
                <a:solidFill>
                  <a:srgbClr val="FFFFFF"/>
                </a:solidFill>
              </a:rPr>
              <a:t>ADVANCED</a:t>
            </a:r>
            <a:endParaRPr lang="en-US" sz="1300" dirty="0"/>
          </a:p>
        </p:txBody>
      </p:sp>
      <p:sp>
        <p:nvSpPr>
          <p:cNvPr id="13" name="Shape 13"/>
          <p:cNvSpPr/>
          <p:nvPr/>
        </p:nvSpPr>
        <p:spPr>
          <a:xfrm>
            <a:off x="2743200" y="3108960"/>
            <a:ext cx="3108960" cy="50292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1F2937"/>
                </a:solidFill>
              </a:rPr>
              <a:t>Scenarios, troubleshooting, design &amp; interview  (54)</a:t>
            </a:r>
            <a:endParaRPr lang="en-US" sz="1300" dirty="0"/>
          </a:p>
        </p:txBody>
      </p:sp>
      <p:sp>
        <p:nvSpPr>
          <p:cNvPr id="14" name="Shape 14"/>
          <p:cNvSpPr/>
          <p:nvPr/>
        </p:nvSpPr>
        <p:spPr>
          <a:xfrm>
            <a:off x="548640" y="4114800"/>
            <a:ext cx="5303520" cy="1005840"/>
          </a:xfrm>
          <a:prstGeom prst="roundRect">
            <a:avLst>
              <a:gd name="adj" fmla="val 10000"/>
            </a:avLst>
          </a:prstGeom>
          <a:solidFill>
            <a:srgbClr val="FFF7E6"/>
          </a:solidFill>
          <a:ln w="15875">
            <a:solidFill>
              <a:srgbClr val="F59E0B"/>
            </a:solidFill>
          </a:ln>
        </p:spPr>
        <p:txBody>
          <a:bodyPr wrap="square" lIns="91440" tIns="91440" rIns="91440" bIns="91440" anchor="t" rtlCol="0">
            <a:noAutofit/>
          </a:bodyPr>
          <a:lstStyle/>
          <a:p>
            <a:endParaRPr lang="en-US" dirty="0"/>
          </a:p>
        </p:txBody>
      </p:sp>
      <p:sp>
        <p:nvSpPr>
          <p:cNvPr id="15" name="Shape 15"/>
          <p:cNvSpPr/>
          <p:nvPr/>
        </p:nvSpPr>
        <p:spPr>
          <a:xfrm>
            <a:off x="658368" y="4160520"/>
            <a:ext cx="5084064" cy="91440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200" dirty="0" b="1">
                <a:solidFill>
                  <a:srgbClr val="F59E0B"/>
                </a:solidFill>
              </a:rPr>
              <a:t>QUIZ  </a:t>
            </a:r>
            <a:r>
              <a:rPr lang="en-US" sz="1200" dirty="0">
                <a:solidFill>
                  <a:srgbClr val="1F2937"/>
                </a:solidFill>
              </a:rPr>
              <a:t>Read the question, pause, answer out loud, then check the answer and the explanation (the why, with an example) below it.</a:t>
            </a:r>
            <a:endParaRPr lang="en-US" sz="1200" dirty="0"/>
          </a:p>
        </p:txBody>
      </p:sp>
      <p:sp>
        <p:nvSpPr>
          <p:cNvPr id="16" name="Shape 16"/>
          <p:cNvSpPr/>
          <p:nvPr/>
        </p:nvSpPr>
        <p:spPr>
          <a:xfrm>
            <a:off x="6217920" y="1280160"/>
            <a:ext cx="411480" cy="224028"/>
          </a:xfrm>
          <a:prstGeom prst="rect">
            <a:avLst/>
          </a:prstGeom>
          <a:solidFill>
            <a:srgbClr val="11567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b="1">
                <a:solidFill>
                  <a:srgbClr val="FFFFFF"/>
                </a:solidFill>
              </a:rPr>
              <a:t>#</a:t>
            </a:r>
            <a:endParaRPr lang="en-US" sz="950" dirty="0"/>
          </a:p>
        </p:txBody>
      </p:sp>
      <p:sp>
        <p:nvSpPr>
          <p:cNvPr id="17" name="Shape 17"/>
          <p:cNvSpPr/>
          <p:nvPr/>
        </p:nvSpPr>
        <p:spPr>
          <a:xfrm>
            <a:off x="6629400" y="1280160"/>
            <a:ext cx="4480560" cy="224028"/>
          </a:xfrm>
          <a:prstGeom prst="rect">
            <a:avLst/>
          </a:prstGeom>
          <a:solidFill>
            <a:srgbClr val="11567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b="1">
                <a:solidFill>
                  <a:srgbClr val="FFFFFF"/>
                </a:solidFill>
              </a:rPr>
              <a:t>Section</a:t>
            </a:r>
            <a:endParaRPr lang="en-US" sz="950" dirty="0"/>
          </a:p>
        </p:txBody>
      </p:sp>
      <p:sp>
        <p:nvSpPr>
          <p:cNvPr id="18" name="Shape 18"/>
          <p:cNvSpPr/>
          <p:nvPr/>
        </p:nvSpPr>
        <p:spPr>
          <a:xfrm>
            <a:off x="11109960" y="1280160"/>
            <a:ext cx="548640" cy="224028"/>
          </a:xfrm>
          <a:prstGeom prst="rect">
            <a:avLst/>
          </a:prstGeom>
          <a:solidFill>
            <a:srgbClr val="11567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b="1">
                <a:solidFill>
                  <a:srgbClr val="FFFFFF"/>
                </a:solidFill>
              </a:rPr>
              <a:t>Qs</a:t>
            </a:r>
            <a:endParaRPr lang="en-US" sz="950" dirty="0"/>
          </a:p>
        </p:txBody>
      </p:sp>
      <p:sp>
        <p:nvSpPr>
          <p:cNvPr id="19" name="Shape 19"/>
          <p:cNvSpPr/>
          <p:nvPr/>
        </p:nvSpPr>
        <p:spPr>
          <a:xfrm>
            <a:off x="6217920" y="1504188"/>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a:t>
            </a:r>
            <a:endParaRPr lang="en-US" sz="950" dirty="0"/>
          </a:p>
        </p:txBody>
      </p:sp>
      <p:sp>
        <p:nvSpPr>
          <p:cNvPr id="20" name="Shape 20"/>
          <p:cNvSpPr/>
          <p:nvPr/>
        </p:nvSpPr>
        <p:spPr>
          <a:xfrm>
            <a:off x="6629400" y="1504188"/>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What is Snowflake?  (Deck slide 3)</a:t>
            </a:r>
            <a:endParaRPr lang="en-US" sz="950" dirty="0"/>
          </a:p>
        </p:txBody>
      </p:sp>
      <p:sp>
        <p:nvSpPr>
          <p:cNvPr id="21" name="Shape 21"/>
          <p:cNvSpPr/>
          <p:nvPr/>
        </p:nvSpPr>
        <p:spPr>
          <a:xfrm>
            <a:off x="11109960" y="1504188"/>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22" name="Shape 22"/>
          <p:cNvSpPr/>
          <p:nvPr/>
        </p:nvSpPr>
        <p:spPr>
          <a:xfrm>
            <a:off x="6217920" y="1728216"/>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a:t>
            </a:r>
            <a:endParaRPr lang="en-US" sz="950" dirty="0"/>
          </a:p>
        </p:txBody>
      </p:sp>
      <p:sp>
        <p:nvSpPr>
          <p:cNvPr id="23" name="Shape 23"/>
          <p:cNvSpPr/>
          <p:nvPr/>
        </p:nvSpPr>
        <p:spPr>
          <a:xfrm>
            <a:off x="6629400" y="1728216"/>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Architecture  (Deck slide 4)</a:t>
            </a:r>
            <a:endParaRPr lang="en-US" sz="950" dirty="0"/>
          </a:p>
        </p:txBody>
      </p:sp>
      <p:sp>
        <p:nvSpPr>
          <p:cNvPr id="24" name="Shape 24"/>
          <p:cNvSpPr/>
          <p:nvPr/>
        </p:nvSpPr>
        <p:spPr>
          <a:xfrm>
            <a:off x="11109960" y="1728216"/>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20</a:t>
            </a:r>
            <a:endParaRPr lang="en-US" sz="950" dirty="0"/>
          </a:p>
        </p:txBody>
      </p:sp>
      <p:sp>
        <p:nvSpPr>
          <p:cNvPr id="25" name="Shape 25"/>
          <p:cNvSpPr/>
          <p:nvPr/>
        </p:nvSpPr>
        <p:spPr>
          <a:xfrm>
            <a:off x="6217920" y="1952244"/>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3</a:t>
            </a:r>
            <a:endParaRPr lang="en-US" sz="950" dirty="0"/>
          </a:p>
        </p:txBody>
      </p:sp>
      <p:sp>
        <p:nvSpPr>
          <p:cNvPr id="26" name="Shape 26"/>
          <p:cNvSpPr/>
          <p:nvPr/>
        </p:nvSpPr>
        <p:spPr>
          <a:xfrm>
            <a:off x="6629400" y="1952244"/>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Key Terms Glossary  (Deck slide 5)</a:t>
            </a:r>
            <a:endParaRPr lang="en-US" sz="950" dirty="0"/>
          </a:p>
        </p:txBody>
      </p:sp>
      <p:sp>
        <p:nvSpPr>
          <p:cNvPr id="27" name="Shape 27"/>
          <p:cNvSpPr/>
          <p:nvPr/>
        </p:nvSpPr>
        <p:spPr>
          <a:xfrm>
            <a:off x="11109960" y="1952244"/>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28" name="Shape 28"/>
          <p:cNvSpPr/>
          <p:nvPr/>
        </p:nvSpPr>
        <p:spPr>
          <a:xfrm>
            <a:off x="6217920" y="2176272"/>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4</a:t>
            </a:r>
            <a:endParaRPr lang="en-US" sz="950" dirty="0"/>
          </a:p>
        </p:txBody>
      </p:sp>
      <p:sp>
        <p:nvSpPr>
          <p:cNvPr id="29" name="Shape 29"/>
          <p:cNvSpPr/>
          <p:nvPr/>
        </p:nvSpPr>
        <p:spPr>
          <a:xfrm>
            <a:off x="6629400" y="2176272"/>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Editions, Clouds &amp; Regions  (Deck slide 6)</a:t>
            </a:r>
            <a:endParaRPr lang="en-US" sz="950" dirty="0"/>
          </a:p>
        </p:txBody>
      </p:sp>
      <p:sp>
        <p:nvSpPr>
          <p:cNvPr id="30" name="Shape 30"/>
          <p:cNvSpPr/>
          <p:nvPr/>
        </p:nvSpPr>
        <p:spPr>
          <a:xfrm>
            <a:off x="11109960" y="2176272"/>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31" name="Shape 31"/>
          <p:cNvSpPr/>
          <p:nvPr/>
        </p:nvSpPr>
        <p:spPr>
          <a:xfrm>
            <a:off x="6217920" y="2400300"/>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5</a:t>
            </a:r>
            <a:endParaRPr lang="en-US" sz="950" dirty="0"/>
          </a:p>
        </p:txBody>
      </p:sp>
      <p:sp>
        <p:nvSpPr>
          <p:cNvPr id="32" name="Shape 32"/>
          <p:cNvSpPr/>
          <p:nvPr/>
        </p:nvSpPr>
        <p:spPr>
          <a:xfrm>
            <a:off x="6629400" y="2400300"/>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Account &amp; Logging In  (Deck slides 7–8)</a:t>
            </a:r>
            <a:endParaRPr lang="en-US" sz="950" dirty="0"/>
          </a:p>
        </p:txBody>
      </p:sp>
      <p:sp>
        <p:nvSpPr>
          <p:cNvPr id="33" name="Shape 33"/>
          <p:cNvSpPr/>
          <p:nvPr/>
        </p:nvSpPr>
        <p:spPr>
          <a:xfrm>
            <a:off x="11109960" y="2400300"/>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12</a:t>
            </a:r>
            <a:endParaRPr lang="en-US" sz="950" dirty="0"/>
          </a:p>
        </p:txBody>
      </p:sp>
      <p:sp>
        <p:nvSpPr>
          <p:cNvPr id="34" name="Shape 34"/>
          <p:cNvSpPr/>
          <p:nvPr/>
        </p:nvSpPr>
        <p:spPr>
          <a:xfrm>
            <a:off x="6217920" y="2624328"/>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6</a:t>
            </a:r>
            <a:endParaRPr lang="en-US" sz="950" dirty="0"/>
          </a:p>
        </p:txBody>
      </p:sp>
      <p:sp>
        <p:nvSpPr>
          <p:cNvPr id="35" name="Shape 35"/>
          <p:cNvSpPr/>
          <p:nvPr/>
        </p:nvSpPr>
        <p:spPr>
          <a:xfrm>
            <a:off x="6629400" y="2624328"/>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Ways to Connect  (Deck slide 9)</a:t>
            </a:r>
            <a:endParaRPr lang="en-US" sz="950" dirty="0"/>
          </a:p>
        </p:txBody>
      </p:sp>
      <p:sp>
        <p:nvSpPr>
          <p:cNvPr id="36" name="Shape 36"/>
          <p:cNvSpPr/>
          <p:nvPr/>
        </p:nvSpPr>
        <p:spPr>
          <a:xfrm>
            <a:off x="11109960" y="2624328"/>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37" name="Shape 37"/>
          <p:cNvSpPr/>
          <p:nvPr/>
        </p:nvSpPr>
        <p:spPr>
          <a:xfrm>
            <a:off x="6217920" y="2848356"/>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7</a:t>
            </a:r>
            <a:endParaRPr lang="en-US" sz="950" dirty="0"/>
          </a:p>
        </p:txBody>
      </p:sp>
      <p:sp>
        <p:nvSpPr>
          <p:cNvPr id="38" name="Shape 38"/>
          <p:cNvSpPr/>
          <p:nvPr/>
        </p:nvSpPr>
        <p:spPr>
          <a:xfrm>
            <a:off x="6629400" y="2848356"/>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Snowsight Tour  (Deck slide 10)</a:t>
            </a:r>
            <a:endParaRPr lang="en-US" sz="950" dirty="0"/>
          </a:p>
        </p:txBody>
      </p:sp>
      <p:sp>
        <p:nvSpPr>
          <p:cNvPr id="39" name="Shape 39"/>
          <p:cNvSpPr/>
          <p:nvPr/>
        </p:nvSpPr>
        <p:spPr>
          <a:xfrm>
            <a:off x="11109960" y="2848356"/>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10</a:t>
            </a:r>
            <a:endParaRPr lang="en-US" sz="950" dirty="0"/>
          </a:p>
        </p:txBody>
      </p:sp>
      <p:sp>
        <p:nvSpPr>
          <p:cNvPr id="40" name="Shape 40"/>
          <p:cNvSpPr/>
          <p:nvPr/>
        </p:nvSpPr>
        <p:spPr>
          <a:xfrm>
            <a:off x="6217920" y="3072384"/>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8</a:t>
            </a:r>
            <a:endParaRPr lang="en-US" sz="950" dirty="0"/>
          </a:p>
        </p:txBody>
      </p:sp>
      <p:sp>
        <p:nvSpPr>
          <p:cNvPr id="41" name="Shape 41"/>
          <p:cNvSpPr/>
          <p:nvPr/>
        </p:nvSpPr>
        <p:spPr>
          <a:xfrm>
            <a:off x="6629400" y="3072384"/>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Object Hierarchy &amp; Naming  (Deck slide 11)</a:t>
            </a:r>
            <a:endParaRPr lang="en-US" sz="950" dirty="0"/>
          </a:p>
        </p:txBody>
      </p:sp>
      <p:sp>
        <p:nvSpPr>
          <p:cNvPr id="42" name="Shape 42"/>
          <p:cNvSpPr/>
          <p:nvPr/>
        </p:nvSpPr>
        <p:spPr>
          <a:xfrm>
            <a:off x="11109960" y="3072384"/>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43" name="Shape 43"/>
          <p:cNvSpPr/>
          <p:nvPr/>
        </p:nvSpPr>
        <p:spPr>
          <a:xfrm>
            <a:off x="6217920" y="3296412"/>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9</a:t>
            </a:r>
            <a:endParaRPr lang="en-US" sz="950" dirty="0"/>
          </a:p>
        </p:txBody>
      </p:sp>
      <p:sp>
        <p:nvSpPr>
          <p:cNvPr id="44" name="Shape 44"/>
          <p:cNvSpPr/>
          <p:nvPr/>
        </p:nvSpPr>
        <p:spPr>
          <a:xfrm>
            <a:off x="6629400" y="3296412"/>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Roles &amp; Access Control  (Deck slide 12)</a:t>
            </a:r>
            <a:endParaRPr lang="en-US" sz="950" dirty="0"/>
          </a:p>
        </p:txBody>
      </p:sp>
      <p:sp>
        <p:nvSpPr>
          <p:cNvPr id="45" name="Shape 45"/>
          <p:cNvSpPr/>
          <p:nvPr/>
        </p:nvSpPr>
        <p:spPr>
          <a:xfrm>
            <a:off x="11109960" y="3296412"/>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22</a:t>
            </a:r>
            <a:endParaRPr lang="en-US" sz="950" dirty="0"/>
          </a:p>
        </p:txBody>
      </p:sp>
      <p:sp>
        <p:nvSpPr>
          <p:cNvPr id="46" name="Shape 46"/>
          <p:cNvSpPr/>
          <p:nvPr/>
        </p:nvSpPr>
        <p:spPr>
          <a:xfrm>
            <a:off x="6217920" y="3520440"/>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10</a:t>
            </a:r>
            <a:endParaRPr lang="en-US" sz="950" dirty="0"/>
          </a:p>
        </p:txBody>
      </p:sp>
      <p:sp>
        <p:nvSpPr>
          <p:cNvPr id="47" name="Shape 47"/>
          <p:cNvSpPr/>
          <p:nvPr/>
        </p:nvSpPr>
        <p:spPr>
          <a:xfrm>
            <a:off x="6629400" y="3520440"/>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Virtual Warehouses  (Deck slide 13)</a:t>
            </a:r>
            <a:endParaRPr lang="en-US" sz="950" dirty="0"/>
          </a:p>
        </p:txBody>
      </p:sp>
      <p:sp>
        <p:nvSpPr>
          <p:cNvPr id="48" name="Shape 48"/>
          <p:cNvSpPr/>
          <p:nvPr/>
        </p:nvSpPr>
        <p:spPr>
          <a:xfrm>
            <a:off x="11109960" y="3520440"/>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22</a:t>
            </a:r>
            <a:endParaRPr lang="en-US" sz="950" dirty="0"/>
          </a:p>
        </p:txBody>
      </p:sp>
      <p:sp>
        <p:nvSpPr>
          <p:cNvPr id="49" name="Shape 49"/>
          <p:cNvSpPr/>
          <p:nvPr/>
        </p:nvSpPr>
        <p:spPr>
          <a:xfrm>
            <a:off x="6217920" y="3744468"/>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11</a:t>
            </a:r>
            <a:endParaRPr lang="en-US" sz="950" dirty="0"/>
          </a:p>
        </p:txBody>
      </p:sp>
      <p:sp>
        <p:nvSpPr>
          <p:cNvPr id="50" name="Shape 50"/>
          <p:cNvSpPr/>
          <p:nvPr/>
        </p:nvSpPr>
        <p:spPr>
          <a:xfrm>
            <a:off x="6629400" y="3744468"/>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Example 1 · Warehouse  (Deck slide 14)</a:t>
            </a:r>
            <a:endParaRPr lang="en-US" sz="950" dirty="0"/>
          </a:p>
        </p:txBody>
      </p:sp>
      <p:sp>
        <p:nvSpPr>
          <p:cNvPr id="51" name="Shape 51"/>
          <p:cNvSpPr/>
          <p:nvPr/>
        </p:nvSpPr>
        <p:spPr>
          <a:xfrm>
            <a:off x="11109960" y="3744468"/>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10</a:t>
            </a:r>
            <a:endParaRPr lang="en-US" sz="950" dirty="0"/>
          </a:p>
        </p:txBody>
      </p:sp>
      <p:sp>
        <p:nvSpPr>
          <p:cNvPr id="52" name="Shape 52"/>
          <p:cNvSpPr/>
          <p:nvPr/>
        </p:nvSpPr>
        <p:spPr>
          <a:xfrm>
            <a:off x="6217920" y="3968496"/>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12</a:t>
            </a:r>
            <a:endParaRPr lang="en-US" sz="950" dirty="0"/>
          </a:p>
        </p:txBody>
      </p:sp>
      <p:sp>
        <p:nvSpPr>
          <p:cNvPr id="53" name="Shape 53"/>
          <p:cNvSpPr/>
          <p:nvPr/>
        </p:nvSpPr>
        <p:spPr>
          <a:xfrm>
            <a:off x="6629400" y="3968496"/>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Example 2 · Database, Schema &amp; Table  (Deck slide 15)</a:t>
            </a:r>
            <a:endParaRPr lang="en-US" sz="950" dirty="0"/>
          </a:p>
        </p:txBody>
      </p:sp>
      <p:sp>
        <p:nvSpPr>
          <p:cNvPr id="54" name="Shape 54"/>
          <p:cNvSpPr/>
          <p:nvPr/>
        </p:nvSpPr>
        <p:spPr>
          <a:xfrm>
            <a:off x="11109960" y="3968496"/>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55" name="Shape 55"/>
          <p:cNvSpPr/>
          <p:nvPr/>
        </p:nvSpPr>
        <p:spPr>
          <a:xfrm>
            <a:off x="6217920" y="4192524"/>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13</a:t>
            </a:r>
            <a:endParaRPr lang="en-US" sz="950" dirty="0"/>
          </a:p>
        </p:txBody>
      </p:sp>
      <p:sp>
        <p:nvSpPr>
          <p:cNvPr id="56" name="Shape 56"/>
          <p:cNvSpPr/>
          <p:nvPr/>
        </p:nvSpPr>
        <p:spPr>
          <a:xfrm>
            <a:off x="6629400" y="4192524"/>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Data Loading Concepts  (Deck slide 16)</a:t>
            </a:r>
            <a:endParaRPr lang="en-US" sz="950" dirty="0"/>
          </a:p>
        </p:txBody>
      </p:sp>
      <p:sp>
        <p:nvSpPr>
          <p:cNvPr id="57" name="Shape 57"/>
          <p:cNvSpPr/>
          <p:nvPr/>
        </p:nvSpPr>
        <p:spPr>
          <a:xfrm>
            <a:off x="11109960" y="4192524"/>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20</a:t>
            </a:r>
            <a:endParaRPr lang="en-US" sz="950" dirty="0"/>
          </a:p>
        </p:txBody>
      </p:sp>
      <p:sp>
        <p:nvSpPr>
          <p:cNvPr id="58" name="Shape 58"/>
          <p:cNvSpPr/>
          <p:nvPr/>
        </p:nvSpPr>
        <p:spPr>
          <a:xfrm>
            <a:off x="6217920" y="4416552"/>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14</a:t>
            </a:r>
            <a:endParaRPr lang="en-US" sz="950" dirty="0"/>
          </a:p>
        </p:txBody>
      </p:sp>
      <p:sp>
        <p:nvSpPr>
          <p:cNvPr id="59" name="Shape 59"/>
          <p:cNvSpPr/>
          <p:nvPr/>
        </p:nvSpPr>
        <p:spPr>
          <a:xfrm>
            <a:off x="6629400" y="4416552"/>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Example 3 · Load a Local CSV  (Deck slide 17)</a:t>
            </a:r>
            <a:endParaRPr lang="en-US" sz="950" dirty="0"/>
          </a:p>
        </p:txBody>
      </p:sp>
      <p:sp>
        <p:nvSpPr>
          <p:cNvPr id="60" name="Shape 60"/>
          <p:cNvSpPr/>
          <p:nvPr/>
        </p:nvSpPr>
        <p:spPr>
          <a:xfrm>
            <a:off x="11109960" y="4416552"/>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18</a:t>
            </a:r>
            <a:endParaRPr lang="en-US" sz="950" dirty="0"/>
          </a:p>
        </p:txBody>
      </p:sp>
      <p:sp>
        <p:nvSpPr>
          <p:cNvPr id="61" name="Shape 61"/>
          <p:cNvSpPr/>
          <p:nvPr/>
        </p:nvSpPr>
        <p:spPr>
          <a:xfrm>
            <a:off x="6217920" y="4640580"/>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62" name="Shape 62"/>
          <p:cNvSpPr/>
          <p:nvPr/>
        </p:nvSpPr>
        <p:spPr>
          <a:xfrm>
            <a:off x="6629400" y="4640580"/>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Example 4 · Load from S3  (Deck slide 18)</a:t>
            </a:r>
            <a:endParaRPr lang="en-US" sz="950" dirty="0"/>
          </a:p>
        </p:txBody>
      </p:sp>
      <p:sp>
        <p:nvSpPr>
          <p:cNvPr id="63" name="Shape 63"/>
          <p:cNvSpPr/>
          <p:nvPr/>
        </p:nvSpPr>
        <p:spPr>
          <a:xfrm>
            <a:off x="11109960" y="4640580"/>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14</a:t>
            </a:r>
            <a:endParaRPr lang="en-US" sz="950" dirty="0"/>
          </a:p>
        </p:txBody>
      </p:sp>
      <p:sp>
        <p:nvSpPr>
          <p:cNvPr id="64" name="Shape 64"/>
          <p:cNvSpPr/>
          <p:nvPr/>
        </p:nvSpPr>
        <p:spPr>
          <a:xfrm>
            <a:off x="6217920" y="4864608"/>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16</a:t>
            </a:r>
            <a:endParaRPr lang="en-US" sz="950" dirty="0"/>
          </a:p>
        </p:txBody>
      </p:sp>
      <p:sp>
        <p:nvSpPr>
          <p:cNvPr id="65" name="Shape 65"/>
          <p:cNvSpPr/>
          <p:nvPr/>
        </p:nvSpPr>
        <p:spPr>
          <a:xfrm>
            <a:off x="6629400" y="4864608"/>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Example 5 · Query, Time Travel &amp; Clone  (Deck slide 19)</a:t>
            </a:r>
            <a:endParaRPr lang="en-US" sz="950" dirty="0"/>
          </a:p>
        </p:txBody>
      </p:sp>
      <p:sp>
        <p:nvSpPr>
          <p:cNvPr id="66" name="Shape 66"/>
          <p:cNvSpPr/>
          <p:nvPr/>
        </p:nvSpPr>
        <p:spPr>
          <a:xfrm>
            <a:off x="11109960" y="4864608"/>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20</a:t>
            </a:r>
            <a:endParaRPr lang="en-US" sz="950" dirty="0"/>
          </a:p>
        </p:txBody>
      </p:sp>
      <p:sp>
        <p:nvSpPr>
          <p:cNvPr id="67" name="Shape 67"/>
          <p:cNvSpPr/>
          <p:nvPr/>
        </p:nvSpPr>
        <p:spPr>
          <a:xfrm>
            <a:off x="6217920" y="5088636"/>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17</a:t>
            </a:r>
            <a:endParaRPr lang="en-US" sz="950" dirty="0"/>
          </a:p>
        </p:txBody>
      </p:sp>
      <p:sp>
        <p:nvSpPr>
          <p:cNvPr id="68" name="Shape 68"/>
          <p:cNvSpPr/>
          <p:nvPr/>
        </p:nvSpPr>
        <p:spPr>
          <a:xfrm>
            <a:off x="6629400" y="5088636"/>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Example 6 · JSON / Semi-Structured  (Deck slide 20)</a:t>
            </a:r>
            <a:endParaRPr lang="en-US" sz="950" dirty="0"/>
          </a:p>
        </p:txBody>
      </p:sp>
      <p:sp>
        <p:nvSpPr>
          <p:cNvPr id="69" name="Shape 69"/>
          <p:cNvSpPr/>
          <p:nvPr/>
        </p:nvSpPr>
        <p:spPr>
          <a:xfrm>
            <a:off x="11109960" y="5088636"/>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70" name="Shape 70"/>
          <p:cNvSpPr/>
          <p:nvPr/>
        </p:nvSpPr>
        <p:spPr>
          <a:xfrm>
            <a:off x="6217920" y="5312664"/>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18</a:t>
            </a:r>
            <a:endParaRPr lang="en-US" sz="950" dirty="0"/>
          </a:p>
        </p:txBody>
      </p:sp>
      <p:sp>
        <p:nvSpPr>
          <p:cNvPr id="71" name="Shape 71"/>
          <p:cNvSpPr/>
          <p:nvPr/>
        </p:nvSpPr>
        <p:spPr>
          <a:xfrm>
            <a:off x="6629400" y="5312664"/>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Example 7 · Users &amp; Grants  (Deck slide 21)</a:t>
            </a:r>
            <a:endParaRPr lang="en-US" sz="950" dirty="0"/>
          </a:p>
        </p:txBody>
      </p:sp>
      <p:sp>
        <p:nvSpPr>
          <p:cNvPr id="72" name="Shape 72"/>
          <p:cNvSpPr/>
          <p:nvPr/>
        </p:nvSpPr>
        <p:spPr>
          <a:xfrm>
            <a:off x="11109960" y="5312664"/>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73" name="Shape 73"/>
          <p:cNvSpPr/>
          <p:nvPr/>
        </p:nvSpPr>
        <p:spPr>
          <a:xfrm>
            <a:off x="6217920" y="5536692"/>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19</a:t>
            </a:r>
            <a:endParaRPr lang="en-US" sz="950" dirty="0"/>
          </a:p>
        </p:txBody>
      </p:sp>
      <p:sp>
        <p:nvSpPr>
          <p:cNvPr id="74" name="Shape 74"/>
          <p:cNvSpPr/>
          <p:nvPr/>
        </p:nvSpPr>
        <p:spPr>
          <a:xfrm>
            <a:off x="6629400" y="5536692"/>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Cost Best Practices  (Deck slide 22)</a:t>
            </a:r>
            <a:endParaRPr lang="en-US" sz="950" dirty="0"/>
          </a:p>
        </p:txBody>
      </p:sp>
      <p:sp>
        <p:nvSpPr>
          <p:cNvPr id="75" name="Shape 75"/>
          <p:cNvSpPr/>
          <p:nvPr/>
        </p:nvSpPr>
        <p:spPr>
          <a:xfrm>
            <a:off x="11109960" y="5536692"/>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76" name="Shape 76"/>
          <p:cNvSpPr/>
          <p:nvPr/>
        </p:nvSpPr>
        <p:spPr>
          <a:xfrm>
            <a:off x="6217920" y="5760720"/>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20</a:t>
            </a:r>
            <a:endParaRPr lang="en-US" sz="950" dirty="0"/>
          </a:p>
        </p:txBody>
      </p:sp>
      <p:sp>
        <p:nvSpPr>
          <p:cNvPr id="77" name="Shape 77"/>
          <p:cNvSpPr/>
          <p:nvPr/>
        </p:nvSpPr>
        <p:spPr>
          <a:xfrm>
            <a:off x="6629400" y="5760720"/>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Common Mistakes &amp; Troubleshooting  (Deck slide 23)</a:t>
            </a:r>
            <a:endParaRPr lang="en-US" sz="950" dirty="0"/>
          </a:p>
        </p:txBody>
      </p:sp>
      <p:sp>
        <p:nvSpPr>
          <p:cNvPr id="78" name="Shape 78"/>
          <p:cNvSpPr/>
          <p:nvPr/>
        </p:nvSpPr>
        <p:spPr>
          <a:xfrm>
            <a:off x="11109960" y="5760720"/>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15</a:t>
            </a:r>
            <a:endParaRPr lang="en-US" sz="950" dirty="0"/>
          </a:p>
        </p:txBody>
      </p:sp>
      <p:sp>
        <p:nvSpPr>
          <p:cNvPr id="79" name="Shape 79"/>
          <p:cNvSpPr/>
          <p:nvPr/>
        </p:nvSpPr>
        <p:spPr>
          <a:xfrm>
            <a:off x="6217920" y="5984748"/>
            <a:ext cx="41148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21</a:t>
            </a:r>
            <a:endParaRPr lang="en-US" sz="950" dirty="0"/>
          </a:p>
        </p:txBody>
      </p:sp>
      <p:sp>
        <p:nvSpPr>
          <p:cNvPr id="80" name="Shape 80"/>
          <p:cNvSpPr/>
          <p:nvPr/>
        </p:nvSpPr>
        <p:spPr>
          <a:xfrm>
            <a:off x="6629400" y="5984748"/>
            <a:ext cx="448056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Tutorials, Next Steps &amp; Cheat Sheet  (Deck slides 24–25)</a:t>
            </a:r>
            <a:endParaRPr lang="en-US" sz="950" dirty="0"/>
          </a:p>
        </p:txBody>
      </p:sp>
      <p:sp>
        <p:nvSpPr>
          <p:cNvPr id="81" name="Shape 81"/>
          <p:cNvSpPr/>
          <p:nvPr/>
        </p:nvSpPr>
        <p:spPr>
          <a:xfrm>
            <a:off x="11109960" y="5984748"/>
            <a:ext cx="548640" cy="224028"/>
          </a:xfrm>
          <a:prstGeom prst="rect">
            <a:avLst/>
          </a:prstGeom>
          <a:solidFill>
            <a:srgbClr val="FFFFFF"/>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10</a:t>
            </a:r>
            <a:endParaRPr lang="en-US" sz="950" dirty="0"/>
          </a:p>
        </p:txBody>
      </p:sp>
      <p:sp>
        <p:nvSpPr>
          <p:cNvPr id="82" name="Shape 82"/>
          <p:cNvSpPr/>
          <p:nvPr/>
        </p:nvSpPr>
        <p:spPr>
          <a:xfrm>
            <a:off x="6217920" y="6208776"/>
            <a:ext cx="41148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22</a:t>
            </a:r>
            <a:endParaRPr lang="en-US" sz="950" dirty="0"/>
          </a:p>
        </p:txBody>
      </p:sp>
      <p:sp>
        <p:nvSpPr>
          <p:cNvPr id="83" name="Shape 83"/>
          <p:cNvSpPr/>
          <p:nvPr/>
        </p:nvSpPr>
        <p:spPr>
          <a:xfrm>
            <a:off x="6629400" y="6208776"/>
            <a:ext cx="448056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Scenario &amp; Interview Questions  (Whole deck)</a:t>
            </a:r>
            <a:endParaRPr lang="en-US" sz="950" dirty="0"/>
          </a:p>
        </p:txBody>
      </p:sp>
      <p:sp>
        <p:nvSpPr>
          <p:cNvPr id="84" name="Shape 84"/>
          <p:cNvSpPr/>
          <p:nvPr/>
        </p:nvSpPr>
        <p:spPr>
          <a:xfrm>
            <a:off x="11109960" y="6208776"/>
            <a:ext cx="548640" cy="224028"/>
          </a:xfrm>
          <a:prstGeom prst="rect">
            <a:avLst/>
          </a:prstGeom>
          <a:solidFill>
            <a:srgbClr val="EAF6FC"/>
          </a:solidFill>
          <a:ln w="9525">
            <a:solidFill>
              <a:srgbClr val="D1D5DB"/>
            </a:solidFill>
          </a:ln>
        </p:spPr>
        <p:txBody>
          <a:bodyPr wrap="square" lIns="18288" tIns="18288" rIns="18288" bIns="18288" anchor="ctr" rtlCol="0">
            <a:noAutofit/>
          </a:bodyPr>
          <a:lstStyle/>
          <a:p>
            <a:pPr algn="l">
              <a:lnSpc>
                <a:spcPct val="100000"/>
              </a:lnSpc>
              <a:spcBef>
                <a:spcPts val="0"/>
              </a:spcBef>
              <a:spcAft>
                <a:spcPts val="0"/>
              </a:spcAft>
              <a:buNone/>
            </a:pPr>
            <a:r>
              <a:rPr lang="en-US" sz="950" dirty="0">
                <a:solidFill>
                  <a:srgbClr val="1F2937"/>
                </a:solidFill>
              </a:rPr>
              <a:t>10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 · What is Snowflake?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3</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 of 22</a:t>
            </a:r>
            <a:endParaRPr lang="en-US" sz="1600" dirty="0"/>
          </a:p>
          <a:p>
            <a:pPr algn="ctr">
              <a:lnSpc>
                <a:spcPct val="100000"/>
              </a:lnSpc>
              <a:spcBef>
                <a:spcPts val="800"/>
              </a:spcBef>
              <a:spcAft>
                <a:spcPts val="0"/>
              </a:spcAft>
              <a:buNone/>
            </a:pPr>
            <a:r>
              <a:rPr lang="en-US" sz="3600" dirty="0" b="1">
                <a:solidFill>
                  <a:srgbClr val="0B2545"/>
                </a:solidFill>
              </a:rPr>
              <a:t>What is Snowflake?</a:t>
            </a:r>
            <a:endParaRPr lang="en-US" sz="3600" dirty="0"/>
          </a:p>
          <a:p>
            <a:pPr algn="ctr">
              <a:lnSpc>
                <a:spcPct val="100000"/>
              </a:lnSpc>
              <a:spcBef>
                <a:spcPts val="1000"/>
              </a:spcBef>
              <a:spcAft>
                <a:spcPts val="0"/>
              </a:spcAft>
              <a:buNone/>
            </a:pPr>
            <a:r>
              <a:rPr lang="en-US" sz="1600" dirty="0">
                <a:solidFill>
                  <a:srgbClr val="6B7280"/>
                </a:solidFill>
              </a:rPr>
              <a:t>15 questions  ·  Deck slide 3</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What is Snowflake?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3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Snowflake?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fully managed cloud data platform delivered as software-as-a-service (SaaS), used for data warehousing, data lakes, data engineering, data science, apps and data sharing.</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Think of it as renting a complete, ready-made data platform in the cloud: you sign in and start using SQL, while Snowflake runs the servers, storage and upgrades behind the scenes.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'SaaS' mean for a Snowflake user?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There is no hardware to buy and no software to install, configure, patch or upgrade. Snowflake handles maintenance, upgrades, tuning and availability.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when Snowflake releases a new version, your account is upgraded automatically, with no downtime or maintenance window. Your team spends its time on data, not on servers.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cloud providers can Snowflake run on?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Amazon Web Services (AWS), Microsoft Azure and Google Cloud Platform (GCP).</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You choose the provider when the account is created. Features are almost identical across clouds, so you usually pick the cloud where your other data and applications already live.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What is Snowflake?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3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Can you install Snowflake on your own on-premises servers?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Snowflake runs only on public cloud infrastructure; there is no on-premises version.</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Snowflake's architecture depends on cloud object storage and on-demand compute. Companies with on-prem data first move or copy it into cloud storage, then load it into Snowflake.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single most important design idea in Snowflake?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Separation of storage and compute: data is stored once, and any number of independent compute clusters (virtual warehouses) can process it.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In traditional databases the same servers hold the data and do the work, so more power means bigger machines. Snowflake keeps one copy of the data and attaches as much or as little compute as needed.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is separating storage and compute useful?</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Each scales and is billed independently: you can store petabytes cheaply while turning compute up, down or off on demand, and workloads don't compete for the same compute.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100 TB of history costs only storage. At month-end you run a 2X-Large warehouse for one hour, then suspend it, so you pay for that hour only.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What is Snowflake?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3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query language does Snowflake 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Standard ANSI SQL, with Snowflake extensions (e.g. VARIANT path notation, FLATTEN, Time Travel clauses, QUALIFY).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Anyone who knows SQL from Oracle, SQL Server or Postgres is productive quickly: SELECT, JOIN, GROUP BY and window functions work the same way.</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semi-structured formats does Snowflake support natively?</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JSON, Avro, ORC, Parquet and XML, stored in the VARIANT (and OBJECT / ARRAY) data types.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You don't need to design a schema before loading JSON: load it into a VARIANT column and query fields with path notation like v:customer.name (see Example 6).</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Snowpark?</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developer framework that lets you write Python, Java or Scala (DataFrames, UDFs, stored procedures) that executes inside Snowflake's compute, close to the data.</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Instead of pulling data out to a separate Python server, Snowpark sends your code to Snowflake, where it runs next to the data. That's faster, more secure and governed by the same roles.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What is Snowflake?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3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Secure Data Sharing?</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Sharing live, read-only data with other Snowflake accounts without copying or moving it; consumers query the provider's data using their own compute.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provider grants access and the consumer sees the data immediately. There are no files, no FTP and no stale copies: when the provider updates a row, the consumer sees the change.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Snowflake Marketplace?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catalog where providers publish free or paid data sets, data products and native apps that consumers can access directly in their accounts.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 retailer can add weather or demographic data from the Marketplace in minutes and join it to its own sales tables with plain SQL.</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Snowflake Cortex?</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Snowflake's built-in AI/ML layer: SQL-callable LLM functions (e.g. COMPLETE, SUMMARIZE, SENTIMENT, TRANSLATE), search and ML functions running inside Snowflake.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SELECT SNOWFLAKE.CORTEX.SENTIMENT(review_text) FROM reviews; scores customer reviews without sending data to an external AI service.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What is Snowflake?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3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four business benefits highlighted on the 'What is Snowflake' slide.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Elastic scale, pay-per-use billing, near-zero administration, and governed data sharing.</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These are the four 'why it matters' cards on the slide. All four come from the storage/compute separation plus the fully managed service model.</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'administration' does Snowflake remove compared with traditional databases?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indexes to build, no vacuuming or statistics jobs, no storage file management, no partition management; micro-partitioning, compression and caching are automatic.</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 splits data into micro-partitions automatically, keeps statistics, compresses data and caches results, which are all tasks a DBA would normally schedule and monitor.</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Your manager asks: 'Is Snowflake just a database?' How do you answer?</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It's a cloud data platform: a SQL data warehouse at its core, plus data lake, data engineering (pipelines, tasks), Snowpark apps, AI (Cortex), Streamlit/Native Apps and cross-account sharing.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strong answer shows breadth: SQL warehousing is the foundation, but the same governed data also serves pipelines, apps, AI and sharing without copying it to other systems.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2 · 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2 of 22</a:t>
            </a:r>
            <a:endParaRPr lang="en-US" sz="1600" dirty="0"/>
          </a:p>
          <a:p>
            <a:pPr algn="ctr">
              <a:lnSpc>
                <a:spcPct val="100000"/>
              </a:lnSpc>
              <a:spcBef>
                <a:spcPts val="800"/>
              </a:spcBef>
              <a:spcAft>
                <a:spcPts val="0"/>
              </a:spcAft>
              <a:buNone/>
            </a:pPr>
            <a:r>
              <a:rPr lang="en-US" sz="3600" dirty="0" b="1">
                <a:solidFill>
                  <a:srgbClr val="0B2545"/>
                </a:solidFill>
              </a:rPr>
              <a:t>Architecture</a:t>
            </a:r>
            <a:endParaRPr lang="en-US" sz="3600" dirty="0"/>
          </a:p>
          <a:p>
            <a:pPr algn="ctr">
              <a:lnSpc>
                <a:spcPct val="100000"/>
              </a:lnSpc>
              <a:spcBef>
                <a:spcPts val="1000"/>
              </a:spcBef>
              <a:spcAft>
                <a:spcPts val="0"/>
              </a:spcAft>
              <a:buNone/>
            </a:pPr>
            <a:r>
              <a:rPr lang="en-US" sz="1600" dirty="0">
                <a:solidFill>
                  <a:srgbClr val="6B7280"/>
                </a:solidFill>
              </a:rPr>
              <a:t>20 questions  ·  Deck slide 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  ·  part 1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Snowflake's three architectural layers.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1) Database Storage, 2) Query Processing (virtual warehouses), 3) Cloud Services.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Bottom to top: storage keeps the data, compute (warehouses) processes it, and cloud services coordinates everything. Each layer scales independently.</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is Snowflake called a 'hybrid' architecture?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 combines shared-disk (one central data repository accessible from all compute) with shared-nothing (MPP compute clusters where each node stores part of the data locally while processing).</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Shared-disk gives simplicity (one copy of the data); shared-nothing gives performance (each compute node works on its own slice in parallel). Snowflake takes the best of both.</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the Database Storage layer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Stores all table data in a compressed, columnar, optimized format in cloud object storage (S3, Azure Blob, GCS), fully managed by Snowflake.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When you load data, Snowflake reorganizes it into its own columnar format. Columnar storage reads only the columns a query needs, and compression lowers cost.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  ·  part 2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Can you see or access the underlying storage files directly?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Data objects are not directly visible or accessible to customers; you access data only through SQL operations.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is why Snowflake can change and optimize the internal format freely: you only ever interact through SQL, never with raw files.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Query Processing layer?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compute layer made of virtual warehouses: independent MPP compute clusters that execute queries, DML and data loading.</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warehouse is like a team of workers: the same data can be processed by a small team (X-Small) or a huge one (4X-Large), and many teams can work at once.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 virtual warehouses share compute resources with each other?</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Each warehouse is independent, so a heavy ETL warehouse does not affect the performance of a BI warehouse.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Each warehouse has its own CPU, memory and local disk. They read the same stored data but never compete for the same processing power, which is why workloads are isolated.</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  ·  part 3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List the services provided by the Cloud Services layer.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Authentication, access control, infrastructure management, metadata management, query parsing &amp; optimization, and security.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Every query passes through this layer first: who are you, what may you do, where is the data (metadata), and what's the best plan. Only then does a warehouse do the work.</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layer is often called Snowflake's 'brain'?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Cloud Services layer. It coordinates everything: logins, metadata, optimization, transactions and access control.</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Like a brain, it doesn't do the heavy lifting itself (warehouses do), but it decides and coordinates everything, and it is always running.</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Where is the query result cache kept?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In the Cloud Services layer. Results are held for 24 hours and can be reused without any running warehouse.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Because the cache lives in Cloud Services (not in a warehouse), a repeated query can return instantly even when every warehouse is suspended, at no compute cost.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  ·  part 4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long can a cached result live, and what resets its clock?</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24 hours; each time the result is reused the 24-hour period resets, up to a maximum of 31 days from first execution.</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 dashboard query run every morning on unchanged data keeps reusing the cached result, but after 31 days Snowflake re-executes it regardless.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When is the result cache NOT used?</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When underlying data changed, the query text differs, it uses non-deterministic functions (e.g. RANDOM, CURRENT_TIMESTAMP), external functions, or USE_CACHED_RESULT = FALSE.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cache must guarantee identical results. If data changed, or a function returns a different value each time (RANDOM()), reusing an old result would be wrong.</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warehouse (local disk) cache?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Table data read by a running warehouse is cached on its local SSD/memory; later queries on the same warehouse reuse it. It is lost when the warehouse suspends.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the first query after a resume reads from remote storage; a similar query right after is faster because the data is already on the warehouse's local SSD.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  ·  part 5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metadata cache used for?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Cloud Services stores statistics (row counts, MIN/MAX per micro-partition), so queries like COUNT(*) or MIN(col) on a table can be answered without a warehouse.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SELECT COUNT(*) FROM big_table returns instantly on billions of rows, because the count is already in metadata. No warehouse needs to resume.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micro-partition?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Snowflake's automatic storage unit: a contiguous, compressed, columnar block holding roughly 50–500 MB of uncompressed data.</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Micro-partitions are created automatically as data loads. Each one records MIN/MAX and other statistics per column, which is what makes pruning possible.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 you have to define partitions in Snowflake?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Micro-partitioning happens automatically as data is loaded, in insertion order. You may optionally add a clustering key for very large tables.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Many databases make you choose partition columns up front. In Snowflake the natural load order (often by date) already gives good pruning for most tables.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  ·  part 6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partition pruning?</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Using micro-partition metadata (MIN/MAX per column) to skip partitions that can't contain matching rows, so fewer bytes are scanned.</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WHERE order_date = '2026-09-01' on a table loaded daily makes Snowflake read only micro-partitions whose date range includes that day and skip the rest.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clustering key and when would you define one?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column set that Snowflake uses to co-locate similar rows in micro-partitions. Use it on very large (multi-TB) tables with poor pruning on frequently filtered columns.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Clustering keys help when load order doesn't match your filters. Keeping data clustered costs serverless credits, so add one only when the benefit is proven.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is storage billed?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By the average compressed terabytes stored per month, including Time Travel and Fail-safe data.</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10 TB of raw data may compress to about 2–3 TB, and you pay for the compressed size. Time Travel and Fail-safe copies of changed data also count.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Architecture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4  ·  part 7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Q34</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When do cloud services cost you money?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Only when daily cloud services usage exceeds 10% of that day's warehouse compute usage; the first 10% is not billed.</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Most accounts never pay for cloud services, because normal usage stays well under 10% of compute. Very metadata-heavy workloads (thousands of tiny queries) can exceed it.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Q35</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An ETL job slows a dashboard. What architectural feature fixes this and how?</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Compute isolation: put ETL and BI on separate virtual warehouses. They share the same data but not compute, so neither slows the other.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is the classic Snowflake answer to 'noisy neighbor' problems: separate warehouses per workload, sized independently, with no duplicated data.</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3 · Key Terms Glossary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17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3 of 22</a:t>
            </a:r>
            <a:endParaRPr lang="en-US" sz="1600" dirty="0"/>
          </a:p>
          <a:p>
            <a:pPr algn="ctr">
              <a:lnSpc>
                <a:spcPct val="100000"/>
              </a:lnSpc>
              <a:spcBef>
                <a:spcPts val="800"/>
              </a:spcBef>
              <a:spcAft>
                <a:spcPts val="0"/>
              </a:spcAft>
              <a:buNone/>
            </a:pPr>
            <a:r>
              <a:rPr lang="en-US" sz="3600" dirty="0" b="1">
                <a:solidFill>
                  <a:srgbClr val="0B2545"/>
                </a:solidFill>
              </a:rPr>
              <a:t>Key Terms Glossary</a:t>
            </a:r>
            <a:endParaRPr lang="en-US" sz="3600" dirty="0"/>
          </a:p>
          <a:p>
            <a:pPr algn="ctr">
              <a:lnSpc>
                <a:spcPct val="100000"/>
              </a:lnSpc>
              <a:spcBef>
                <a:spcPts val="1000"/>
              </a:spcBef>
              <a:spcAft>
                <a:spcPts val="0"/>
              </a:spcAft>
              <a:buNone/>
            </a:pPr>
            <a:r>
              <a:rPr lang="en-US" sz="1600" dirty="0">
                <a:solidFill>
                  <a:srgbClr val="6B7280"/>
                </a:solidFill>
              </a:rPr>
              <a:t>15 questions  ·  Deck slide 5</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Key Terms Glossary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5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Q36</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Snowflake account?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Your Snowflake instance, hosted in one region of one cloud provider, identified by an account identifier such as myorg-analytics.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Everything else (warehouses, databases, users) lives inside an account. Companies often have several accounts (e.g. dev and prod) grouped under one organization.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Q37</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virtual warehouse?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named cluster of compute resources that runs queries, DML and loads. It consumes credits only while running.</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warehouse is compute only and holds no data permanently. Name it after its workload (ETL_WH, BI_WH) so costs are easy to read.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Q38</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Is a warehouse the same thing as a database in Snowflake?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A warehouse is COMPUTE; a database is a logical container of STORED data. You need both to run a query on table data.</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common beginner confusion: elsewhere 'data warehouse' means the database. In Snowflake the database holds data and the 'warehouse' is the engine that runs queries.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Key Terms Glossary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5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database?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top-level logical container that holds schemas.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Typical pattern: one database per domain or environment, e.g. SALES_DB, FINANCE_DB, or RAW_DB / ANALYTICS_DB.</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Q40</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schema?</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logical grouping inside a database that holds tables, views, stages, file formats, sequences, functions, procedures, tasks, streams and pipes.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Schemas organize objects by purpose or layer, e.g. RAW (landing), STAGING (cleaned), MART (reporting), and are a natural unit for granting access.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Q41</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difference between a table and a view?</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table stores rows of data; a view is a saved SQL query that returns data from tables when queried (a materialized view stores the pre-computed result).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Views hide complexity and control access (e.g. expose only some columns). Materialized views (Enterprise) store results for speed and are kept up to date automatically.</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Key Terms Glossary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5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stage?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location where data files are stored for loading into or unloading out of tables. It can be internal (Snowflake-managed) or external (S3/Azure/GCS).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Files must be in a stage before COPY INTO can load them. Think of a stage as the loading dock between the outside world and your tables.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file format object?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named object describing how to parse files (type, delimiter, header, quoting, NULL handling, compression, etc.).</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Define a file format once and reuse it across stages and COPY statements, so everyone parses files the same way.</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Q44</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role?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named set of privileges. Roles are granted to users (and other roles); users act through roles.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role ANALYST has SELECT on sales tables. Grant it to 50 users once; changing the role's privileges updates access for all of them.</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Key Terms Glossary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5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Q45</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credit?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unit used to measure (and bill) compute usage. An X-Small warehouse uses 1 credit per hour.</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Credits turn compute time into money: cost = credits used × price per credit (depends on edition and region). Serverless features consume credits too.</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Q46</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Time Travel?</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ability to query, clone or restore data as it existed at an earlier point within the retention period.</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deleted rows by mistake an hour ago? SELECT * FROM orders AT(OFFSET =&gt; -3600) shows the table as it was an hour ago.</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Q47</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Fail-safe?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7-day period after Time Travel ends during which Snowflake itself can recover permanent-table data. It's not user-accessible, for disaster recovery only.</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Fail-safe is Snowflake's last line of defense. You can't query it yourself, only Support can recover from it, and it adds storage cost.</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Key Terms Glossary</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5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Q48</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fully-qualified name?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DATABASE.SCHEMA.OBJECT, for example SALES_DB.RAW.ORDERS.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Fully qualifying names avoids ambiguity when the session context is different. Always use them in scripts and scheduled jobs.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Q49</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an organization in Snowflake?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top-level entity that groups and manages all accounts owned by a business, administered by the ORGADMIN role.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ORGADMIN (or the organization account) can create new accounts, view usage across all accounts, and manage replication between them.</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Q50</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 the symbols @~, @%orders and @my_stage mean?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 = your user stage; @%orders = the table stage of ORDERS; @my_stage = a named stage.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 prefix always means 'stage'. ~ is your personal area, % plus a table name is that table's own area, and a plain name is a stage object you created.</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4 · Editions, Clouds &amp; Regions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23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4 of 22</a:t>
            </a:r>
            <a:endParaRPr lang="en-US" sz="1600" dirty="0"/>
          </a:p>
          <a:p>
            <a:pPr algn="ctr">
              <a:lnSpc>
                <a:spcPct val="100000"/>
              </a:lnSpc>
              <a:spcBef>
                <a:spcPts val="800"/>
              </a:spcBef>
              <a:spcAft>
                <a:spcPts val="0"/>
              </a:spcAft>
              <a:buNone/>
            </a:pPr>
            <a:r>
              <a:rPr lang="en-US" sz="3600" dirty="0" b="1">
                <a:solidFill>
                  <a:srgbClr val="0B2545"/>
                </a:solidFill>
              </a:rPr>
              <a:t>Editions, Clouds &amp; Regions</a:t>
            </a:r>
            <a:endParaRPr lang="en-US" sz="3600" dirty="0"/>
          </a:p>
          <a:p>
            <a:pPr algn="ctr">
              <a:lnSpc>
                <a:spcPct val="100000"/>
              </a:lnSpc>
              <a:spcBef>
                <a:spcPts val="1000"/>
              </a:spcBef>
              <a:spcAft>
                <a:spcPts val="0"/>
              </a:spcAft>
              <a:buNone/>
            </a:pPr>
            <a:r>
              <a:rPr lang="en-US" sz="1600" dirty="0">
                <a:solidFill>
                  <a:srgbClr val="6B7280"/>
                </a:solidFill>
              </a:rPr>
              <a:t>15 questions  ·  Deck slide 6</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Editions, Clouds &amp; Regions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6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Q51</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the four Snowflake editions.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Standard, Enterprise, Business Critical, and Virtual Private Snowflake (VPS).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Editions differ in features, security and price per credit, not in core performance. An account's edition can be upgraded later.</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Q52</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Are the editions cumulative?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Yes. Each higher edition includes all features of the editions below it.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Everything in Standard is also in Enterprise, and so on up. Choosing an edition means asking 'which extra features do I need?'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Q53</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maximum Time Travel retention on Standard edition?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1 day.</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On Standard you can recover from a mistake yourself only within 24 hours (after that, 7-day Fail-safe via Support).</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Editions, Clouds &amp; Regions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6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Q54</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maximum Time Travel retention on Enterprise and above?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Up to 90 days (for permanent objects).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Longer retention protects against late-discovered mistakes but raises storage cost for frequently changed tables. It can be set per database, schema or table.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Q55</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edition first offers multi-cluster warehouses?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Enterprise edition.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Multi-cluster warehouses scale out automatically for concurrency, which BI with many users needs. It's one of the main reasons companies choose Enterprise.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Q56</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four features Enterprise adds over Standard.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Multi-cluster warehouses, up to 90-day Time Travel, materialized views, search optimization, column-level (masking) and row-access policies, periodic rekeying.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These are mostly governance and performance features for larger organizations: longer recovery windows, concurrency, and fine-grained data security.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Editions, Clouds &amp; Regions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6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Q57</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Business Critical add?</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Support for regulated data (HIPAA, PCI DSS), Tri-Secret Secure (customer-managed keys), private connectivity (AWS PrivateLink / Azure Private Link / GCP PSC), and account failover/failback.</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Business Critical targets regulated industries (healthcare, finance) and companies that need disaster recovery with failover to another region.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Q58</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Tri-Secret Secure?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Encryption using a composite master key combining a Snowflake-managed key and a customer-managed key in the cloud provider's KMS (Business Critical).</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customer can revoke its own key at any time, making the data unreadable even to Snowflake. It's the strongest encryption control available.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Q59</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Virtual Private Snowflake (VPS)?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highest edition: a completely separate Snowflake environment (including metadata store and compute) isolated from other accounts.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Used by organizations such as large financial institutions with the strictest regulatory needs. Nothing is shared with other customers' accounts.</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Editions, Clouds &amp; Regions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6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Q60</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many regions/clouds does a single account live in?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Exactly one region on one cloud provider.</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account's data and compute stay in that region. Data isn't spread across regions unless you replicate it to another account.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Q61</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choose a region?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Close to your data sources and users (latency, egress cost), matching data-residency/compliance requirements and your cloud provider.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if raw files live in AWS S3 us-east-1, create the account in AWS US East to avoid cross-region transfer charges and extra latency.</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Q62</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make data available in another region or cloud?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Database/account replication (and replication/failover groups) to an account in the other region; or listings with cross-cloud auto-fulfillment for sharing.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Replication keeps a secondary copy in sync with the primary (refreshed on a schedule), for disaster recovery or serving global users locally.</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Editions, Clouds &amp; Regions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6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Q63</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edition do you need for account failover/failback (business continuity)?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Business Critical (or higher). Database replication itself is available on all editions.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Any edition can replicate databases for copies; failover (switching which account is primary, including users and roles) needs Business Critical.</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Q64</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 healthcare client must store PHI. Which edition should you recommend?</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Business Critical (or VPS): it supports HIPAA/HITRUST requirements, Tri-Secret Secure and private connectivity.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Regulated data needs specific compliance controls and a signed BAA with Snowflake. Standard or Enterprise alone doesn't meet these requirements.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Q65</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Does the edition affect the price of a credit?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Yes. Credit price depends on edition, cloud provider and region; higher editions cost more per credit.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the same query using the same number of credits costs more money on Business Critical than on Standard in the same region.</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5 · Account &amp; Logging In</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7–8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29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5 of 22</a:t>
            </a:r>
            <a:endParaRPr lang="en-US" sz="1600" dirty="0"/>
          </a:p>
          <a:p>
            <a:pPr algn="ctr">
              <a:lnSpc>
                <a:spcPct val="100000"/>
              </a:lnSpc>
              <a:spcBef>
                <a:spcPts val="800"/>
              </a:spcBef>
              <a:spcAft>
                <a:spcPts val="0"/>
              </a:spcAft>
              <a:buNone/>
            </a:pPr>
            <a:r>
              <a:rPr lang="en-US" sz="3600" dirty="0" b="1">
                <a:solidFill>
                  <a:srgbClr val="0B2545"/>
                </a:solidFill>
              </a:rPr>
              <a:t>Account &amp; Logging In</a:t>
            </a:r>
            <a:endParaRPr lang="en-US" sz="3600" dirty="0"/>
          </a:p>
          <a:p>
            <a:pPr algn="ctr">
              <a:lnSpc>
                <a:spcPct val="100000"/>
              </a:lnSpc>
              <a:spcBef>
                <a:spcPts val="1000"/>
              </a:spcBef>
              <a:spcAft>
                <a:spcPts val="0"/>
              </a:spcAft>
              <a:buNone/>
            </a:pPr>
            <a:r>
              <a:rPr lang="en-US" sz="1600" dirty="0">
                <a:solidFill>
                  <a:srgbClr val="6B7280"/>
                </a:solidFill>
              </a:rPr>
              <a:t>12 questions  ·  Deck slides 7–8</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Account &amp; Logging In</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7–8  ·  part 1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Q66</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long is the Snowflake free trial?</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30 days, with free usage credits and no credit card required.</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trial is a full working account, so it's ideal for running every example in the main deck at no cost.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Q67</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three choices do you make when creating a trial account?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Edition, cloud provider, and region.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Region and cloud are fixed for the account, so choose them to match where you'll actually use it.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Q68</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Snowsight?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Snowflake's web user interface, used for worksheets, notebooks, dashboards, data browsing and administration.</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Snowsight replaced the older 'Classic Console'. Every example in the deck can be run from a Snowsight worksheet.</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Account &amp; Logging In</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7–8  ·  part 2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Q69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URL do you use to open Snowsight?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app.snowflake.com (you then pick your account), or your account URL.</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app.snowflake.com lets you sign in and choose among the accounts you can access; direct account URLs also work.</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Q70</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preferred account identifier format?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&lt;orgname&gt;-&lt;account_name&gt;, for example myorg-analytics.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Org-based names are readable and stay stable even if the account moves. Drivers and the CLI accept this format in the account parameter.</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an account locator?</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legacy identifier format, e.g. xy12345.us-east-2.aws: a system-assigned locator plus region and cloud. It still works but the org-account name is preferred.</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locator is auto-generated and tied to a region, so it's harder to remember. You'll still see it in older scripts and connection strings.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Account &amp; Logging In</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7–8  ·  part 3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an account URL look like?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https://&lt;orgname&gt;-&lt;account_name&gt;.snowflakecomputing.com, e.g. https://myorg-analytics.snowflakecomputing.com.</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URL is what drivers, BI tools and browsers use to reach your account. PrivateLink setups use a separate 'privatelink' URL.</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Where can you find your account identifier in Snowsight?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account menu at the bottom-left → account details (or 'Connect a tool to Snowflake').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You'll need these values whenever you configure a tool (Snowflake CLI, Python, BI), so copy them from account details.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Q74</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should you enable MFA immediately?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Password-only (single-factor) sign-in for human users is being phased out by Snowflake, and MFA prevents credential-stuffing attacks.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stolen password alone can't open an MFA-protected account. Snowflake has been enforcing MFA for password-based human users.</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Account &amp; Logging In</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7–8  ·  part 4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authentication methods does Snowflake support?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Password + MFA, SSO via SAML (e.g. Okta/Azure AD), OAuth, key-pair authentication, and programmatic access tokens for services.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Companies typically use SSO so people log in with corporate credentials, key-pair for automation, and OAuth for tools acting on a user's behalf.</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Q76</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auth method is best for a service account running scheduled scripts?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Key-pair authentication (or OAuth / programmatic access tokens), not a password. Mark the user as TYPE = SERVICE.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Passwords in scripts get leaked and expire. Key-pair uses a private key file (optionally encrypted) that's far harder to misuse.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Q77</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SQL function returns your account and region?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SELECT CURRENT_ACCOUNT(), CURRENT_ACCOUNT_NAME(), CURRENT_ORGANIZATION_NAME(), CURRENT_REGION();</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Useful when you have several accounts (dev/test/prod): confirm you're in the right one before running changes.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6 · Ways to Connect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9</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34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6 of 22</a:t>
            </a:r>
            <a:endParaRPr lang="en-US" sz="1600" dirty="0"/>
          </a:p>
          <a:p>
            <a:pPr algn="ctr">
              <a:lnSpc>
                <a:spcPct val="100000"/>
              </a:lnSpc>
              <a:spcBef>
                <a:spcPts val="800"/>
              </a:spcBef>
              <a:spcAft>
                <a:spcPts val="0"/>
              </a:spcAft>
              <a:buNone/>
            </a:pPr>
            <a:r>
              <a:rPr lang="en-US" sz="3600" dirty="0" b="1">
                <a:solidFill>
                  <a:srgbClr val="0B2545"/>
                </a:solidFill>
              </a:rPr>
              <a:t>Ways to Connect</a:t>
            </a:r>
            <a:endParaRPr lang="en-US" sz="3600" dirty="0"/>
          </a:p>
          <a:p>
            <a:pPr algn="ctr">
              <a:lnSpc>
                <a:spcPct val="100000"/>
              </a:lnSpc>
              <a:spcBef>
                <a:spcPts val="1000"/>
              </a:spcBef>
              <a:spcAft>
                <a:spcPts val="0"/>
              </a:spcAft>
              <a:buNone/>
            </a:pPr>
            <a:r>
              <a:rPr lang="en-US" sz="1600" dirty="0">
                <a:solidFill>
                  <a:srgbClr val="6B7280"/>
                </a:solidFill>
              </a:rPr>
              <a:t>15 questions  ·  Deck slide 9</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Ways to Connect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9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Q78</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four ways to connect to Snowflake.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Snowsight (web UI), Snowflake CLI / SnowSQL (command line), drivers (JDBC, ODBC, Python, etc.), and connectors / partner tools (Spark, Kafka, dbt, Tableau, Power BI).</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Pick the tool for the job: Snowsight for interactive work, CLI for scripts and CI/CD, drivers for applications, partner tools for BI and ETL.</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Q79</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Snowflake CLI?</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current command-line tool (command: snow) for running SQL and managing Snowpark, Streamlit and Native App projects.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 also deploys Streamlit apps, Snowpark functions and Native Apps, making it the all-in-one developer CLI.</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Q80</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SnowSQL?</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Snowflake's older (legacy) command-line SQL client, still common in existing shell scripts.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You'll still see snowsql -a &lt;account&gt; -u &lt;user&gt; in older automation. It works, but new features go to Snowflake CLI.</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Ways to Connect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9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Q81</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command-line tool is recommended for new projects?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 CLI (snow).</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 actively develops the new CLI and it covers both SQL and app development, so starting there avoids a migration later.</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Q82</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run a single query with Snowflake CLI?</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 sql -q "SELECT CURRENT_VERSION();" -c my_conn (where my_conn is a configured connection).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-q passes the query text and -c picks a named connection holding account, user and auth details, so no credentials appear on the command line.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Q83</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Where are Snowflake CLI connections stored?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In ~/.snowflake/config.toml (created or edited with snow connection add).</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Keep this file private (it can contain credentials). Several named connections (dev, prod) can live side by side in it.</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Ways to Connect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9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Q84</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the main Snowflake drivers.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JDBC, ODBC, Python connector, Node.js, Go, .NET and PHP.</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Drivers let custom applications (Java apps, Python scripts, Node services) connect exactly like a SQL client.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Q85</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install the Python connector?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pip install snowflake-connector-python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Add the pandas extra (snowflake-connector-python[pandas]) to fetch results directly as pandas DataFrames.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Q86</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authenticator='externalbrowser'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Opens your web browser for SSO login (e.g. corporate identity provider) instead of sending a password from the script.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Ideal with Okta/Azure AD SSO: the user authenticates in the browser (with MFA) and the script receives a session, without storing a password.</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Ways to Connect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9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Q87</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In the Python example, which parameters set the session context?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warehouse, database and schema (optionally role) in snowflake.connector.connect(...).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Setting these at connect time avoids USE statements in the script and prevents 'no active warehouse' errors.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Q88</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SELECT CURRENT_VERSION() return?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version of Snowflake your account is currently running.</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quick smoke test: if it returns a version number, your connection, authentication and settings all work.</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Q89</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Can you run PUT from a Snowsight worksheet?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PUT/GET transfer local files, so they need a client with file-system access (Snowflake CLI, SnowSQL or a driver). In Snowsight use the Load Data / Add data UI.</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browser worksheet can't read files on your computer's disk for PUT. Snowsight's upload UI uses a separate browser-based mechanism.</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Ways to Connect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9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39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Q90</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Partner Connect?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Snowsight feature that lets you quickly create trial accounts with certified partners (ETL, BI, etc.) pre-connected to your Snowflake account.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 saves hours of setup: the partner tool's database, warehouse and role are created and connected automatically.</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Q91</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two Snowflake connectors (not drivers).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 Connector for Spark and Snowflake Connector for Kafka (also Python connector is technically a connector).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Connectors integrate Snowflake with other platforms (Spark jobs, Kafka streams); drivers are generic database APIs.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Q92</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 BI tool needs a connection. What 5 things must you give it?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Account identifier, user + authentication method, role, warehouse, and default database/schema.</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These map directly to the Snowflake session context. A missing one is the most common cause of connection or 'not authorized' errors in BI tools.</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7 · Snowsight Tour</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10</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40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7 of 22</a:t>
            </a:r>
            <a:endParaRPr lang="en-US" sz="1600" dirty="0"/>
          </a:p>
          <a:p>
            <a:pPr algn="ctr">
              <a:lnSpc>
                <a:spcPct val="100000"/>
              </a:lnSpc>
              <a:spcBef>
                <a:spcPts val="800"/>
              </a:spcBef>
              <a:spcAft>
                <a:spcPts val="0"/>
              </a:spcAft>
              <a:buNone/>
            </a:pPr>
            <a:r>
              <a:rPr lang="en-US" sz="3600" dirty="0" b="1">
                <a:solidFill>
                  <a:srgbClr val="0B2545"/>
                </a:solidFill>
              </a:rPr>
              <a:t>Snowsight Tour</a:t>
            </a:r>
            <a:endParaRPr lang="en-US" sz="3600" dirty="0"/>
          </a:p>
          <a:p>
            <a:pPr algn="ctr">
              <a:lnSpc>
                <a:spcPct val="100000"/>
              </a:lnSpc>
              <a:spcBef>
                <a:spcPts val="1000"/>
              </a:spcBef>
              <a:spcAft>
                <a:spcPts val="0"/>
              </a:spcAft>
              <a:buNone/>
            </a:pPr>
            <a:r>
              <a:rPr lang="en-US" sz="1600" dirty="0">
                <a:solidFill>
                  <a:srgbClr val="6B7280"/>
                </a:solidFill>
              </a:rPr>
              <a:t>10 questions  ·  Deck slide 10</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Snowsight Tour</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10  ·  part 1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Q93</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the main areas of the Snowsight left navigation?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Projects, Data, Data Products, AI &amp; ML, Monitoring and Admin (exact labels may change between releases).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Labels change between Snowsight releases, so learn the purpose of each area rather than its exact name.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Q94</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can you create under Projects?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Worksheets (SQL / Python), Notebooks, Streamlit apps and Dashboards.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Worksheets hold SQL scripts, Notebooks mix SQL/Python/Markdown cells, Streamlit builds data apps, and Dashboards show charts from worksheet queries.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Q95</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Where do you browse databases, schemas and tables?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Data → Databases (the database explorer / object browser).</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explorer shows columns, a data preview, privileges and DDL for each object, a quick way to understand a table without writing SQL.</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Snowsight Tour</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10  ·  part 2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Q96</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Where do you find past queries?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Monitoring → Query History.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Filter by user, warehouse, status or time, then open any query to see its SQL, duration and Query Profile.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Q97</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Copy History used for?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Viewing the results of data loads (COPY INTO and Snowpipe): files, rows loaded, errors.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Check here first when a load 'didn't work': it shows which files were loaded, skipped or failed, with error messages.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Q98</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Where do you manage warehouses, users/roles and cost?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Admin → Warehouses, Users &amp; Roles, Cost Management.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Admins use these pages to create or resize warehouses, manage users and follow cost trends without writing SQL.</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Snowsight Tour</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10  ·  part 3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Q99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the three context selectors at the top of a worksheet?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Role, warehouse, and database.schema.</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These three decide what you can see and which compute you use. They're the same as running USE ROLE, USE WAREHOUSE and USE SCHEMA.</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Q100</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keyboard shortcut runs the current statement in a worksheet?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Cmd + Enter (Mac) / Ctrl + Enter (Windows).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Run All executes the whole worksheet; the shortcut runs only the statement under your cursor, which is safer while learning.</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Query Profile?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graphical plan of an executed query showing operators, time spent, bytes scanned, partitions pruned, spilling, etc. It's used for performance tuning.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Look for the most expensive operator, 'bytes spilled', partitions scanned vs total (pruning) and exploding joins to see why a query is slow.</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Snowsight Tour</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10  ·  part 4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Q102</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Your query result looks wrong in Snowsight. What is the first thing to check?</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context selectors (role, warehouse, database.schema). You may be querying a different schema's table with the same name, or using a role that sees fewer rows.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Two schemas can each contain an ORDERS table. With the wrong schema selected you'll query the wrong one and get no error.</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8 · Object Hierarchy &amp; Naming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11</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45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8 of 22</a:t>
            </a:r>
            <a:endParaRPr lang="en-US" sz="1600" dirty="0"/>
          </a:p>
          <a:p>
            <a:pPr algn="ctr">
              <a:lnSpc>
                <a:spcPct val="100000"/>
              </a:lnSpc>
              <a:spcBef>
                <a:spcPts val="800"/>
              </a:spcBef>
              <a:spcAft>
                <a:spcPts val="0"/>
              </a:spcAft>
              <a:buNone/>
            </a:pPr>
            <a:r>
              <a:rPr lang="en-US" sz="3600" dirty="0" b="1">
                <a:solidFill>
                  <a:srgbClr val="0B2545"/>
                </a:solidFill>
              </a:rPr>
              <a:t>Object Hierarchy &amp; Naming</a:t>
            </a:r>
            <a:endParaRPr lang="en-US" sz="3600" dirty="0"/>
          </a:p>
          <a:p>
            <a:pPr algn="ctr">
              <a:lnSpc>
                <a:spcPct val="100000"/>
              </a:lnSpc>
              <a:spcBef>
                <a:spcPts val="1000"/>
              </a:spcBef>
              <a:spcAft>
                <a:spcPts val="0"/>
              </a:spcAft>
              <a:buNone/>
            </a:pPr>
            <a:r>
              <a:rPr lang="en-US" sz="1600" dirty="0">
                <a:solidFill>
                  <a:srgbClr val="6B7280"/>
                </a:solidFill>
              </a:rPr>
              <a:t>15 questions  ·  Deck slide 11</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Object Hierarchy &amp; Naming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11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Q103</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Describe the object hierarchy from top to bottom.</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Organization → Account → Database → Schema → schema objects (tables, views, stages, etc.).</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Each level is a container for the next. Privileges follow the same path: you need access at every level to reach an object.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Q104</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five account-level objects.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Users, roles, warehouses, databases, integrations, resource monitors (also network policies, shares).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These aren't inside any database. For example, a warehouse can work with any database, and a user can access many databases.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Q105</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six schema-level objects.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Tables, views, stages, file formats, sequences, functions/UDFs, stored procedures, tasks, streams, pipes.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Almost all data work uses schema-level objects, referenced as database.schema.object.</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Object Hierarchy &amp; Naming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11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Q106</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two schemas does every new database get automatically?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PUBLIC and INFORMATION_SCHEMA.</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PUBLIC is an empty default schema for your objects; INFORMATION_SCHEMA is created automatically, read-only, and can't be dropped.</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Q107</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INFORMATION_SCHEMA?</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read-only schema of views and table functions describing the objects in that database (tables, columns, etc.) plus some account-level functions (e.g. QUERY_HISTORY).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SELECT table_name, row_count FROM sales_db.information_schema.tables WHERE table_schema = 'RAW';</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Q108</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Is a warehouse a schema object?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Warehouses are account-level objects, independent of any database.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That's why any warehouse can query any database: compute isn't tied to data.</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Object Hierarchy &amp; Naming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11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Q109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are unquoted identifiers stored?</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In UPPERCASE and resolved case-insensitively: orders, Orders and ORDERS are the same table.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matches the SQL standard and means you rarely worry about case, as long as you don't use double quotes.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Q110</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happens with a quoted identifier like "orders"?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 is stored exactly as written and is case-sensitive; you must always quote it ("orders"). SELECT * FROM orders would look for ORDERS and fail.</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Tools that auto-generate DDL (some ETL tools, pandas to_sql) often create quoted lowercase names, a frequent source of confusion.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avoid quoted identifiers?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They force exact-case quoting everywhere, cause 'object does not exist' errors, and break tools that uppercase names.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Rule of thumb: unquoted UPPER_SNAKE_CASE names everywhere avoid a whole class of bugs.</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Object Hierarchy &amp; Naming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11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49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Write two ways to query the ORDERS table in SALES_DB.RAW.</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SELECT * FROM sales_db.raw.orders;  or  USE SCHEMA sales_db.raw; SELECT * FROM orders;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Fully qualified names are safer in scripts; USE is convenient interactively. Both reach the same object.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Q113</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USE SCHEMA sales_db.raw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Sets both the current database (SALES_DB) and current schema (RAW) for the session.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DATABASE sets only the database (the schema defaults to PUBLIC); USE SCHEMA db.schema sets both at once.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Q114</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Can two schemas contain tables with the same name?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Yes. Names are unique only within a schema, which is why fully qualifying names avoids mistakes.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RAW.ORDERS and MART.ORDERS can coexist. Qualify names to be sure which one you're querying.</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Object Hierarchy &amp; Naming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11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Q115</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When would you still use a quoted identifier?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When a name needs special characters, spaces, reserved words, or preserved case, e.g. matching an external system's column names. Keep it rare.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 source column named "Order Date" (with a space) needs quotes every time. It's better to rename such columns when loading.</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Q116</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difference between a database and a schema in terms of access?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Both need USAGE for a role to reach objects inside. A role needs USAGE on the database AND the schema, plus a privilege on the object.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Missing USAGE on the database or schema blocks access even when SELECT on the table was granted, a very common grant mistake.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Q117</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function lists the current database and schema?</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SELECT CURRENT_DATABASE(), CURRENT_SCHEMA();</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Handy when debugging which schema an unqualified table name is resolving to.</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9 · 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51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9 of 22</a:t>
            </a:r>
            <a:endParaRPr lang="en-US" sz="1600" dirty="0"/>
          </a:p>
          <a:p>
            <a:pPr algn="ctr">
              <a:lnSpc>
                <a:spcPct val="100000"/>
              </a:lnSpc>
              <a:spcBef>
                <a:spcPts val="800"/>
              </a:spcBef>
              <a:spcAft>
                <a:spcPts val="0"/>
              </a:spcAft>
              <a:buNone/>
            </a:pPr>
            <a:r>
              <a:rPr lang="en-US" sz="3600" dirty="0" b="1">
                <a:solidFill>
                  <a:srgbClr val="0B2545"/>
                </a:solidFill>
              </a:rPr>
              <a:t>Roles &amp; Access Control</a:t>
            </a:r>
            <a:endParaRPr lang="en-US" sz="3600" dirty="0"/>
          </a:p>
          <a:p>
            <a:pPr algn="ctr">
              <a:lnSpc>
                <a:spcPct val="100000"/>
              </a:lnSpc>
              <a:spcBef>
                <a:spcPts val="1000"/>
              </a:spcBef>
              <a:spcAft>
                <a:spcPts val="0"/>
              </a:spcAft>
              <a:buNone/>
            </a:pPr>
            <a:r>
              <a:rPr lang="en-US" sz="1600" dirty="0">
                <a:solidFill>
                  <a:srgbClr val="6B7280"/>
                </a:solidFill>
              </a:rPr>
              <a:t>22 questions  ·  Deck slide 12</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1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Q118</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access-control model does Snowflake 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Role-Based Access Control (RBAC), combined with Discretionary Access Control (DAC): object owners can grant access.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RBAC: access flows through roles. DAC: an object's owner can grant access to it. Together they give flexible yet controlled security.</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Q119</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Are privileges granted to users or to roles?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To roles. Roles are then granted to users (and to other roles).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Because access goes through roles, onboarding or offboarding someone is just granting or revoking roles, not hundreds of individual privileges.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Q120</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the system-defined roles.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ORGADMIN, ACCOUNTADMIN, SECURITYADMIN, USERADMIN, SYSADMIN and PUBLIC.</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ORGADMIN is organization-level; the other five exist in every account. System roles can't be dropped.</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2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Q121</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ACCOUNTADMIN?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most powerful role in an account. It encapsulates SYSADMIN and SECURITYADMIN and manages billing, resource monitors and integrations.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Treat ACCOUNTADMIN like a root account: at least two people for continuity, all with MFA, and never as anyone's default role.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Q122</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shouldn't you use ACCOUNTADMIN for daily work?</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Least privilege: mistakes have maximum impact, and objects created with it are owned by ACCOUNTADMIN, so other admins can't manage them.</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 table created as ACCOUNTADMIN can't be altered by SYSADMIN, because SYSADMIN neither owns it nor sits above ACCOUNTADMIN.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Q123</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SECURITYADMIN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Manages grants globally (it has MANAGE GRANTS) and inherits USERADMIN, so it can create users and roles too.</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MANAGE GRANTS can grant or revoke any privilege on any object, so SECURITYADMIN membership must be tightly controlled.</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3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Q124</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USERADMIN do?</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Creates and manages users and roles (CREATE USER, CREATE ROLE).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USERADMIN is the day-to-day identity role. In SSO/SCIM setups it's often what the provisioning integration uses.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Q125</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SYSADMIN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Creates warehouses, databases and other objects. It's the recommended owner of data objects.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If SYSADMIN (or roles below it) owns every database and warehouse, admins can always manage every object.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Q126</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PUBLIC role?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role automatically granted to every user and every role; anything granted to PUBLIC is available to everyone.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Be careful: anything granted to PUBLIC is exposed to every user in the account.</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4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Q127</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ORGADMIN do?</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Organization-level operations: creating accounts, viewing all accounts and org-wide usage.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ORGADMIN is usually enabled in one account per organization and used rarely, e.g. to create a new dev account.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Q128</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'role hierarchy' / 'inheritance' mean?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If role A is granted to role B, B inherits all of A's privileges. Higher roles accumulate the privileges of roles below them.</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ANALYST can SELECT sales. Grant ANALYST to MANAGER and MANAGER can SELECT sales too, in addition to its own privileges.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Q129</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grant custom roles to SYSADMIN?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So SYSADMIN (and ACCOUNTADMIN above it) inherit their privileges and can manage the objects those roles own. Otherwise objects become 'orphaned' from admins.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If a custom role owns tables but isn't granted to SYSADMIN, no admin role inherits them. That's the 'orphaned objects' problem.</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5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Q130</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switch roles?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USE ROLE &lt;role_name&gt;;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ROLE only works for roles granted to you. SHOW GRANTS TO USER &lt;you&gt; lists them.</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Q131</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primary role vs secondary roles?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primary role owns new objects and is checked for CREATE privileges; secondary roles (USE SECONDARY ROLES ALL) add their privileges for other operations.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USE ROLE analyst; USE SECONDARY ROLES ALL; lets one query use tables granted to any of your roles.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Q132</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role owns an object?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role that created it. It holds the OWNERSHIP privilege, which can be transferred with GRANT OWNERSHIP.</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Transfer example: GRANT OWNERSHIP ON TABLE t TO ROLE sysadmin COPY CURRENT GRANTS; keeps existing grants intact.</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6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Q133</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privileges does a role need to SELECT from a table?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USAGE on the warehouse, USAGE on the database, USAGE on the schema, and SELECT on the table.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Think of keys for each door: the building (warehouse, to run), the floor (database), the room (schema) and the cabinet (table).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Q134</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'Object does not exist or not authorized' usually mean?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Either the name/context is wrong, or your current role lacks privileges. Snowflake doesn't reveal which, for security.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 deliberately returns the same message so users can't discover objects they aren't allowed to see.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Q135</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see a role's privileges?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SHOW GRANTS TO ROLE &lt;role&gt;;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Lists every privilege the role holds. Pair it with SHOW GRANTS OF ROLE &lt;role&gt; to see who holds the role.</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7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Q136</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see which roles a user has?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SHOW GRANTS TO USER &lt;user&gt;;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reverse direction, SHOW GRANTS OF ROLE analyst, shows which users and roles have ANALYST.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Q137</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managed access schema?</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schema (CREATE SCHEMA … WITH MANAGED ACCESS) where only the schema owner or MANAGE GRANTS roles can grant privileges on its objects, not individual object owners.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Used for centralized governance, so object owners (e.g. ETL roles) can't hand out access on their own.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Q138</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database roles?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Roles that live inside a database (CREATE DATABASE ROLE). They're useful for packaging privileges on that database, especially for data sharing.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For data sharing, database roles give consumers a granular subset of privileges and keep access management inside the database.</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Roles &amp; Access Control</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12  ·  part 8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59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Q139</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 new analyst can log in but sees no databases. Why?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Their role likely lacks USAGE on the databases/schemas (or they're using PUBLIC). Grant USAGE + SELECT to their role and ensure the role is granted to them and set as default.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Also check the user's DEFAULT_ROLE (it may be PUBLIC or unset) with DESC USER, and fix it with ALTER USER … SET DEFAULT_ROLE.</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10 · 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60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10 of 22</a:t>
            </a:r>
            <a:endParaRPr lang="en-US" sz="1600" dirty="0"/>
          </a:p>
          <a:p>
            <a:pPr algn="ctr">
              <a:lnSpc>
                <a:spcPct val="100000"/>
              </a:lnSpc>
              <a:spcBef>
                <a:spcPts val="800"/>
              </a:spcBef>
              <a:spcAft>
                <a:spcPts val="0"/>
              </a:spcAft>
              <a:buNone/>
            </a:pPr>
            <a:r>
              <a:rPr lang="en-US" sz="3600" dirty="0" b="1">
                <a:solidFill>
                  <a:srgbClr val="0B2545"/>
                </a:solidFill>
              </a:rPr>
              <a:t>Virtual Warehouses</a:t>
            </a:r>
            <a:endParaRPr lang="en-US" sz="3600" dirty="0"/>
          </a:p>
          <a:p>
            <a:pPr algn="ctr">
              <a:lnSpc>
                <a:spcPct val="100000"/>
              </a:lnSpc>
              <a:spcBef>
                <a:spcPts val="1000"/>
              </a:spcBef>
              <a:spcAft>
                <a:spcPts val="0"/>
              </a:spcAft>
              <a:buNone/>
            </a:pPr>
            <a:r>
              <a:rPr lang="en-US" sz="1600" dirty="0">
                <a:solidFill>
                  <a:srgbClr val="6B7280"/>
                </a:solidFill>
              </a:rPr>
              <a:t>22 questions  ·  Deck slide 13</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1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Q140</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List the warehouse sizes and their credits per hour.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XS 1, S 2, M 4, L 8, XL 16, 2XL 32, 3XL 64, 4XL 128 (5XL 256 and 6XL 512 where available).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Remember the pattern: each step doubles. 4X-Large has 128× the compute and cost per hour of X-Small.</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Q141</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happens to cost and compute when you go up one size?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Both double.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Doubling size often roughly halves run time for large queries, so total cost can stay similar while results arrive faster.</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Q142</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are warehouses billed?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Per second while running, with a 60-second minimum each time the warehouse starts or resumes.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 warehouse running 90 seconds is billed 90 seconds; one running 10 seconds is billed 60.</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2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Q143</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Does a suspended warehouse cost anything?</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A suspended warehouse consumes no credits.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That's why auto-suspend is the single most effective cost control: idle, suspended warehouses cost nothing.</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Q144</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AUTO_SUSPEND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Automatically suspends the warehouse after the given number of seconds without activity.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AUTO_SUSPEND = 60 stops the warehouse after one idle minute; the next query resumes it (with AUTO_RESUME).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Q145</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AUTO_RESUME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Automatically starts a suspended warehouse when a query is submitted to it.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Resuming usually takes about a second, so users rarely notice. Without AUTO_RESUME, queries fail until someone resumes it manually.</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3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Q146</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An XS warehouse runs a query for 20 seconds then suspends. How many seconds are billed?</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60 seconds, because of the 60-second minimum per start/resume.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Credits: 1 credit/hour × 60/3600 hour ≈ 0.017. Many tiny start-stop cycles add up because of this minimum.</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Q147</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 Medium warehouse runs for exactly 30 minutes. How many credits?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4 credits/hour × 0.5 hour = 2 credits.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Formula: credits = credits per hour × hours running. Medium = 4, so 4 × 0.5 = 2 credits.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Q148</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'scale up' mean?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Increase the warehouse size (e.g. Small → Large) to make large/complex queries run faster.</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it for big scans, complex joins and heavy transformations. Bigger warehouses also have more memory, which reduces spilling.</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4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Q149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'scale out' mean?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Add clusters with a multi-cluster warehouse to handle more concurrent users/queries.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it when many users query at once (e.g. the 9 AM dashboard rush), so queries don't wait in a queue.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Q150</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Does a multi-cluster warehouse make a single slow query faster?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Extra clusters handle more concurrent queries. To speed up one heavy query, scale up (bigger size).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common interview trap: concurrency and single-query speed need different fixes (scale out vs scale up).</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edition is required for multi-cluster warehouses?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Enterprise or higher.</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On Standard edition you'd create several separate warehouses and split users across them manually instead.</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5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Q152</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parameters control a multi-cluster warehouse?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MIN_CLUSTER_COUNT, MAX_CLUSTER_COUNT and SCALING_POLICY (STANDARD or ECONOMY).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MIN 1, MAX 4 means normally 1 cluster; as queuing grows Snowflake adds up to 3 more, then removes them when load drops.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Q153</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difference between Maximized and Auto-scale mode?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Maximized: MIN = MAX, so all clusters run whenever the warehouse runs. Auto-scale: MIN &lt; MAX, so clusters start and stop with load.</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Maximized suits steady, predictable heavy concurrency; auto-scale suits variable load and saves credits.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Q154</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STANDARD vs ECONOMY scaling policy?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STANDARD starts extra clusters quickly to avoid queuing (performance first). ECONOMY starts them only if there's enough load to keep them busy for about 6 minutes (cost first).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STANDARD for user-facing BI where waiting is bad; ECONOMY for batch work where a little queuing is acceptable.</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6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happens to running queries when you resize a warehouse?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Running queries finish on the current resources; new and queued queries use the new size.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You can resize at any time with no downtime. It's handy to size up for a big job and back down afterwards.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Q156</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Snowpark-optimized warehouse?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warehouse type with much more memory per node, for memory-heavy workloads like ML training and large Snowpark/Python UDFs.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Standard warehouses handle most SQL. Switch to Snowpark-optimized when Python or ML jobs run out of memory.</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Q157</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lost when a warehouse suspends?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Its local disk/data cache, so the first queries after resume may be slower (the result cache in Cloud Services is not lost).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trade-off: aggressive auto-suspend saves idle credits but loses the warm cache. Tune it per workload.</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7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Q158</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Queries are queuing on a busy warehouse. What are your options?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Enable multi-cluster (scale out), move workloads to separate warehouses, raise the size if queries are slow, or tune the queries. Check with query history / warehouse load charts.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Queuing is visible as 'queued' time in Query History and in the warehouse load chart in Snowsight.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Q159</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might you NOT set AUTO_SUSPEND to 60 seconds?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For warehouses with frequent bursty queries, suspending too quickly loses the warehouse cache and adds repeated 60-second minimum charges. A few minutes may be better.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a dashboard refreshing every 2 minutes with a 60-second auto-suspend stops and restarts constantly, costing more than staying up.</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Q160</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STATEMENT_TIMEOUT_IN_SECONDS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Cancels queries that run longer than the limit. It can be set on the account, user, session or warehouse to cap runaway queries.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default is 172,800 seconds (2 days). Setting e.g. 3600 on an ad-hoc warehouse stops a bad query from running for hours.</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Virtual Warehouses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13  ·  part 8 of 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Q161</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manually suspend or resume a warehouse?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ALTER WAREHOUSE demo_wh SUSPEND;   ALTER WAREHOUSE demo_wh RESUME;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Useful for maintenance or emergencies. Manual resume is only needed when AUTO_RESUME is off.</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11 · Example 1 · Warehouse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69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11 of 22</a:t>
            </a:r>
            <a:endParaRPr lang="en-US" sz="1600" dirty="0"/>
          </a:p>
          <a:p>
            <a:pPr algn="ctr">
              <a:lnSpc>
                <a:spcPct val="100000"/>
              </a:lnSpc>
              <a:spcBef>
                <a:spcPts val="800"/>
              </a:spcBef>
              <a:spcAft>
                <a:spcPts val="0"/>
              </a:spcAft>
              <a:buNone/>
            </a:pPr>
            <a:r>
              <a:rPr lang="en-US" sz="3600" dirty="0" b="1">
                <a:solidFill>
                  <a:srgbClr val="0B2545"/>
                </a:solidFill>
              </a:rPr>
              <a:t>Example 1 · Warehouse</a:t>
            </a:r>
            <a:endParaRPr lang="en-US" sz="3600" dirty="0"/>
          </a:p>
          <a:p>
            <a:pPr algn="ctr">
              <a:lnSpc>
                <a:spcPct val="100000"/>
              </a:lnSpc>
              <a:spcBef>
                <a:spcPts val="1000"/>
              </a:spcBef>
              <a:spcAft>
                <a:spcPts val="0"/>
              </a:spcAft>
              <a:buNone/>
            </a:pPr>
            <a:r>
              <a:rPr lang="en-US" sz="1600" dirty="0">
                <a:solidFill>
                  <a:srgbClr val="6B7280"/>
                </a:solidFill>
              </a:rPr>
              <a:t>10 questions  ·  Deck slide 14</a:t>
            </a:r>
            <a:endParaRPr lang="en-US" sz="16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1 · Warehouse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14  ·  part 1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does Example 1 start with USE ROLE SYSADMIN?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SYSADMIN is the recommended role for creating infrastructure objects like warehouses, and it will own them.</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Using the right role from the start keeps ownership correct, so you don't end up with objects owned by ACCOUNTADMIN by mistake.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IF NOT EXISTS do in CREATE WAREHOUSE?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Makes the statement safe to re-run: if the warehouse exists, nothing changes and no error is raised.</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 makes setup scripts idempotent: they can run many times (in CI/CD or reruns) without failing.</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Q164</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INITIALLY_SUSPENDED = TRUE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Creates the warehouse in a suspended state, so it uses no credits until the first query.</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Good practice for any warehouse you create but won't use right away.</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1 · Warehouse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14  ·  part 2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would happen without INITIALLY_SUSPENDED = TRUE?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warehouse starts immediately on creation and bills at least 60 seconds even if no query is run.</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Small, but it adds up when scripts create many warehouses, and it builds a cost-aware habit.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Q166</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SELECT CURRENT_ROLE(), CURRENT_WAREHOUSE() return after Example 1?</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SYSADMIN and DEMO_WH.</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'who am I and what am I using?' query is the fastest way to debug context problems.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Q167</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is the result DEMO_WH in uppercase when we typed demo_wh?</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Unquoted identifiers are stored in uppercase.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 stores unquoted identifiers in uppercase, so context functions return names in uppercase.</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1 · Warehouse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14  ·  part 3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Q168</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change DEMO_WH to Small?</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ALTER WAREHOUSE demo_wh SET WAREHOUSE_SIZE = 'SMALL';</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You can do it any time, even while queries run; new queries use the new size.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Q169</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error do you get if no warehouse is set, and how do you fix it?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active warehouse selected in the current session.' Run USE WAREHOUSE demo_wh; or set DEFAULT_WAREHOUSE on the user.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Any query that scans data needs compute. The fix is either per session (USE) or permanent (the user's default).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Q170</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list only the DEMO_WH warehouse?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SHOW WAREHOUSES LIKE 'DEMO_WH';  (LIKE is case-insensitive in SHOW)</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SHOW … LIKE uses SQL wildcards (% and _) and ignores case.</a:t>
            </a:r>
            <a:endParaRPr lang="en-US" sz="11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1 · Warehouse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14  ·  part 4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Q171</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commands do NOT need a running warehouse?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Most DDL and SHOW/DESC metadata commands, USE statements, and queries answered from the result or metadata cache. Queries that scan data or run DML need one.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Knowing this helps with cost: you can explore metadata with SHOW commands without paying for compute.</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12 · Example 2 · Database, Schema &amp; Table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74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12 of 22</a:t>
            </a:r>
            <a:endParaRPr lang="en-US" sz="1600" dirty="0"/>
          </a:p>
          <a:p>
            <a:pPr algn="ctr">
              <a:lnSpc>
                <a:spcPct val="100000"/>
              </a:lnSpc>
              <a:spcBef>
                <a:spcPts val="800"/>
              </a:spcBef>
              <a:spcAft>
                <a:spcPts val="0"/>
              </a:spcAft>
              <a:buNone/>
            </a:pPr>
            <a:r>
              <a:rPr lang="en-US" sz="3600" dirty="0" b="1">
                <a:solidFill>
                  <a:srgbClr val="0B2545"/>
                </a:solidFill>
              </a:rPr>
              <a:t>Example 2 · Database, Schema &amp; Table</a:t>
            </a:r>
            <a:endParaRPr lang="en-US" sz="3600" dirty="0"/>
          </a:p>
          <a:p>
            <a:pPr algn="ctr">
              <a:lnSpc>
                <a:spcPct val="100000"/>
              </a:lnSpc>
              <a:spcBef>
                <a:spcPts val="1000"/>
              </a:spcBef>
              <a:spcAft>
                <a:spcPts val="0"/>
              </a:spcAft>
              <a:buNone/>
            </a:pPr>
            <a:r>
              <a:rPr lang="en-US" sz="1600" dirty="0">
                <a:solidFill>
                  <a:srgbClr val="6B7280"/>
                </a:solidFill>
              </a:rPr>
              <a:t>15 questions  ·  Deck slide 15</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2 · Database, Schema &amp; Table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15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statements create the database and schema in Example 2?</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CREATE DATABASE IF NOT EXISTS sales_db;  CREATE SCHEMA IF NOT EXISTS sales_db.raw;</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IF NOT EXISTS keeps both statements safe to rerun, and the fully qualified schema name means they don't depend on the current context.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data type is used for money in ORDERS, and why?</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NUMBER(10,2): exact fixed-point decimals. FLOAT is approximate and can cause rounding errors.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0.1 + 0.2 in FLOAT gives 0.30000000000000004; in NUMBER(10,2) it's exactly 0.30. Accounting totals must be exact.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Q174</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NUMBER(10,2) mean?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Up to 10 total digits, 2 of them after the decimal point (max 99,999,999.99).</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Precision = total digits; scale = digits after the point. Inserting 123456789.00 (11 digits) would fail.</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2 · Database, Schema &amp; Table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15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default precision/scale of NUMBER?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NUMBER(38,0): 38 digits, no decimals.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NUMBER with no arguments stores whole numbers only: 12.5 would be rounded, so specify a scale for decimals.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Q176</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DEFAULT CURRENT_TIMESTAMP() on loaded_at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Fills loaded_at automatically with the current time whenever an INSERT or COPY doesn't supply that column.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Great for audit columns: you can see when each row arrived without the loader sending that value.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Q177</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TIMESTAMP_LTZ?</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timestamp stored in UTC and displayed in the session's time zone (local time zone).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Two users in different time zones see the same instant displayed in their own local time.</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2 · Database, Schema &amp; Table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15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Q178</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Compare TIMESTAMP_NTZ, TIMESTAMP_LTZ and TIMESTAMP_TZ.</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NTZ: wall-clock time, no time zone. LTZ: stored UTC, shown in session TZ. TZ: stores the time plus its UTC offset. Plain TIMESTAMP maps to NTZ by default.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NTZ for 'local business time', LTZ for event instants across time zones, TZ when the original offset must be kept.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Q179</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CREATE OR REPLACE TABLE do if the table already exists?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Drops it and creates a new empty table, so all existing data is lost (recoverable only via Time Travel on the old version).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Tutorials use it for convenience. In production it's dangerous because the drop happens silently.</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Q180</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SELECT * FROM orders return after Example 2?</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Two rows: (1, Acme Corp, 2026-09-01, 1250.00, &lt;load time&gt;) and (2, Globex, 2026-09-02, 310.50, &lt;load time&gt;).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loaded_at shows the actual insert time because of the DEFAULT.</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2 · Database, Schema &amp; Table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15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Q181</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Does Snowflake enforce PRIMARY KEY and UNIQUE constraints?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(on standard tables). They're informational only; only NOT NULL is enforced. Hybrid tables do enforce PKs.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 keeps them as documentation and for BI tools that read relationships, but won't stop duplicate values.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Q182</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happens if you insert order_id = 1 twice?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Both rows are stored, creating a duplicate. You must dedupe in your pipeline (e.g. MERGE or QUALIFY ROW_NUMBER()).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Dedupe example: SELECT * FROM orders QUALIFY ROW_NUMBER() OVER (PARTITION BY order_id ORDER BY loaded_at DESC) = 1;</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Q183</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DESC TABLE orders show?</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Each column's name, data type, nullability, default, and other properties.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Useful to verify types and defaults after creating a table, or when a load fails with type-conversion errors.</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2 · Database, Schema &amp; Table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15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79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Q184</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Does VARCHAR(100) use less storage than VARCHAR?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Snowflake stores only the actual characters; the length is just a maximum constraint with no performance or storage penalty.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Many teams use plain VARCHAR everywhere. Lengths remain useful as data-quality constraints.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Q185</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transient and temporary tables?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Transient: persists but has no Fail-safe and at most 1-day Time Travel (cheaper). Temporary: exists only for the session. Both avoid Fail-safe storage costs.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Transient suits staging and intermediate ETL tables; temporary suits scratch work that disappears when you disconnect.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Q186</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would you add a column without losing data?</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ALTER TABLE orders ADD COLUMN channel VARCHAR;  (never CREATE OR REPLACE).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ALTER TABLE changes structure and keeps rows. Existing rows get NULL (or the default) in the new column.</a:t>
            </a:r>
            <a:endParaRPr 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13 · 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80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13 of 22</a:t>
            </a:r>
            <a:endParaRPr lang="en-US" sz="1600" dirty="0"/>
          </a:p>
          <a:p>
            <a:pPr algn="ctr">
              <a:lnSpc>
                <a:spcPct val="100000"/>
              </a:lnSpc>
              <a:spcBef>
                <a:spcPts val="800"/>
              </a:spcBef>
              <a:spcAft>
                <a:spcPts val="0"/>
              </a:spcAft>
              <a:buNone/>
            </a:pPr>
            <a:r>
              <a:rPr lang="en-US" sz="3600" dirty="0" b="1">
                <a:solidFill>
                  <a:srgbClr val="0B2545"/>
                </a:solidFill>
              </a:rPr>
              <a:t>Data Loading Concepts</a:t>
            </a:r>
            <a:endParaRPr lang="en-US" sz="3600" dirty="0"/>
          </a:p>
          <a:p>
            <a:pPr algn="ctr">
              <a:lnSpc>
                <a:spcPct val="100000"/>
              </a:lnSpc>
              <a:spcBef>
                <a:spcPts val="1000"/>
              </a:spcBef>
              <a:spcAft>
                <a:spcPts val="0"/>
              </a:spcAft>
              <a:buNone/>
            </a:pPr>
            <a:r>
              <a:rPr lang="en-US" sz="1600" dirty="0">
                <a:solidFill>
                  <a:srgbClr val="6B7280"/>
                </a:solidFill>
              </a:rPr>
              <a:t>20 questions  ·  Deck slide 16</a:t>
            </a:r>
            <a:endParaRPr lang="en-US" sz="1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  ·  part 1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Q187</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Describe the basic bulk-loading flow.</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Source files → stage (internal or external) → COPY INTO &lt;table&gt; (using a file format, on a warehouse) → table.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same pattern works for any source: get files into a stage, describe them with a file format, and COPY them into a table.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Q188</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an internal stage?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Snowflake-managed storage for files: a user stage (@~), a table stage (@%table), or a named internal stage (@stage).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Internal stages are simplest when files come from your computer or you don't have your own cloud bucket.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Q189</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an external stage?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named stage that points to your own cloud storage location (Amazon S3, Azure Blob/ADLS, Google Cloud Storage).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Most production pipelines land files in company-owned cloud storage, and Snowflake reads them through an external stage.</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  ·  part 2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Q190</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are named stages usually preferred over user/table stages?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They can be shared across users and tables, secured with grants, and given a default file format and options.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several pipelines can share @raw.landing_stage with one file format, and you can grant READ on it to a loading role.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Q191</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the limitations of a table stage?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It's tied to one table, can't be altered or dropped, and can't be granted to other roles. Only the table owner can use it.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Fine for quick one-off loads into a single table; for anything shared or repeatable, use a named stage.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Q192</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file formats can COPY INTO load?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CSV/TSV (delimited), JSON, Avro, ORC, Parquet and XML.</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Columnar formats (Parquet, ORC) are compact and fast to load; CSV is the most common; JSON is typical for API data.</a:t>
            </a:r>
            <a:endParaRPr lang="en-US" sz="11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  ·  part 3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Q193</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compute does COPY INTO 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current user-managed virtual warehouse.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That's why warehouse size affects load speed: more compute means more files processed in parallel.</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Q194</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Snowpipe?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serverless service that loads files continuously and automatically as they arrive in a stage, typically triggered by cloud event notifications.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Instead of scheduling COPY hourly, Snowpipe loads each file within about a minute of arrival, with no warehouse to manage.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Q195</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is Snowpipe billed?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Serverless compute (Snowflake-managed, not your warehouse) plus a small per-file overhead.</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Usually cheaper than keeping a warehouse up for frequent small loads, but huge numbers of tiny files raise per-file charges.</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  ·  part 4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Q196</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Snowpipe Streaming?</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An API for writing rows directly into tables with low (seconds) latency, without staging files, e.g. via the Kafka connector.</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Ideal for real-time use cases (clickstreams, IoT, events) where waiting for files is too slow.</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Q197</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recommended file size for loading?</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About 100–250 MB compressed per file.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Snowflake's long-standing guidance: it balances parallelism against per-file overhead.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Q198</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does file size matter?</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COPY loads files in parallel. Too few huge files limit parallelism; too many tiny files add per-file overhead (especially for Snowpipe).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one 10 GB file loads on a single thread; the same data as 50 × 200 MB files loads in parallel, much faster.</a:t>
            </a:r>
            <a:endParaRPr 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  ·  part 5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Q199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When is INSERT … VALUES appropriate?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Only for tiny test or reference data, not for bulk loading.</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Every INSERT is a separate transaction creating new micro-partitions, which is inefficient for large volumes.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Q200</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Snowsight Load Data wizard for?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One-off loads of small local files through the web UI, without writing PUT/COPY.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Snowsight can infer column types and even create the table for you, which is great for quickly exploring a CSV.</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is lower latency: COPY, Snowpipe or Snowpipe Streaming?</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Snowpipe Streaming (seconds), then Snowpipe (about a minute), then scheduled COPY batches (minutes or more).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Choose by freshness need and cost: batch COPY for daily reports, Snowpipe for near-real-time, Streaming for real-time.</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  ·  part 6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Q202</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does Snowpipe know that a new file arrived in S3?</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Via S3 event notifications to an SQS queue (AUTO_INGEST = TRUE), or by calling the Snowpipe REST API.</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With AUTO_INGEST, the pipe's notification_channel (an SQS ARN shown by SHOW PIPES) is set as the bucket's event target.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Q203</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difference between loading and querying files in place?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Loading copies data into Snowflake tables. External tables / Iceberg tables let you query files in your own storage without loading (usually slower than native tables).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Iceberg tables fit when data must stay in open formats in your own storage and be used by other engines too.</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Q204</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unload data from a table to files?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COPY INTO @stage/path FROM &lt;table or query&gt; (then GET to download from an internal stage).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Unloading exports data to other systems. It supports CSV, JSON and Parquet and can split output into many files.</a:t>
            </a:r>
            <a:endParaRPr lang="en-US" sz="11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Data Loading Concepts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16  ·  part 7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Q205</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You receive one 20 GB CSV file daily. How should you load it?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Split it into roughly 100–250 MB compressed chunks so COPY can load them in parallel. Use a suitable warehouse size and a named stage with a file format.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 can parallelize some large CSVs itself, but splitting upstream is still the recommended practice for predictable speed.</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Q206</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You receive 100,000 tiny JSON files per hour. What problems and fixes?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Per-file overhead and slow listing. Batch or combine files upstream, use Snowpipe or Snowpipe Streaming, and organize stage paths by date for targeted loading.</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goal is fewer, reasonably sized files, plus a folder layout like /yyyy/mm/dd/ so each load can target a path.</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14 · Example 3 · Load a Local CSV</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88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14 of 22</a:t>
            </a:r>
            <a:endParaRPr lang="en-US" sz="1600" dirty="0"/>
          </a:p>
          <a:p>
            <a:pPr algn="ctr">
              <a:lnSpc>
                <a:spcPct val="100000"/>
              </a:lnSpc>
              <a:spcBef>
                <a:spcPts val="800"/>
              </a:spcBef>
              <a:spcAft>
                <a:spcPts val="0"/>
              </a:spcAft>
              <a:buNone/>
            </a:pPr>
            <a:r>
              <a:rPr lang="en-US" sz="3600" dirty="0" b="1">
                <a:solidFill>
                  <a:srgbClr val="0B2545"/>
                </a:solidFill>
              </a:rPr>
              <a:t>Example 3 · Load a Local CSV</a:t>
            </a:r>
            <a:endParaRPr lang="en-US" sz="3600" dirty="0"/>
          </a:p>
          <a:p>
            <a:pPr algn="ctr">
              <a:lnSpc>
                <a:spcPct val="100000"/>
              </a:lnSpc>
              <a:spcBef>
                <a:spcPts val="1000"/>
              </a:spcBef>
              <a:spcAft>
                <a:spcPts val="0"/>
              </a:spcAft>
              <a:buNone/>
            </a:pPr>
            <a:r>
              <a:rPr lang="en-US" sz="1600" dirty="0">
                <a:solidFill>
                  <a:srgbClr val="6B7280"/>
                </a:solidFill>
              </a:rPr>
              <a:t>18 questions  ·  Deck slide 17</a:t>
            </a:r>
            <a:endParaRPr lang="en-US" sz="1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3 · Load a Local CSV</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17  ·  part 1 of 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89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Q207</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the steps in Example 3?</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1) Create file format, 2) create internal stage, 3) PUT the file, 4) LIST the stage, 5) COPY INTO the table, 6) VALIDATE rejected rows.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is the core loading recipe from the Getting Started tutorials; each step is a separate, reusable object or command.</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Q208</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SKIP_HEADER = 1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Skips the first line of each file (the column-header row).</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Without it the header row would be loaded as data, or fail conversion (e.g. the text 'order_id' into a NUMBER column).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Q209</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FIELD_OPTIONALLY_ENCLOSED_BY = '"'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Allows values wrapped in double quotes, so commas inside quotes (e.g. "Umbrella, Inc") are treated as data, not delimiters.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Without this, "Umbrella, Inc" would be split into two columns at the comma and break the row.</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3 · Load a Local CSV</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17  ·  part 2 of 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Q210</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NULL_IF = ('', 'NULL') do?</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Converts empty strings and the literal text NULL into SQL NULL during loading.</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NULL_IF works for any marker, e.g. NULL_IF = ('N/A', '-') if a source system uses those for missing values.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Q211</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the PUT command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Uploads a local file to an internal stage, gzip-compressing it by default (AUTO_COMPRESS = TRUE).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Compression cuts upload time and storage, and COPY automatically decompresses gzip files during loading.</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Q212</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After PUT, what is the staged file called?</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orders.csv.gz, because it's compressed automatically.</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With AUTO_COMPRESS = FALSE the file would stay orders.csv. COPY detects compression automatically (COMPRESSION = AUTO).</a:t>
            </a:r>
            <a:endParaRPr 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3 · Load a Local CSV</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17  ·  part 3 of 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Q213</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LIST @my_int_stage show?</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files in the stage with their name, size, MD5 hash and last-modified time.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it to confirm the upload before running COPY. You can filter too: LIST @my_int_stage PATTERN = '.*orders.*';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Q214</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does COPY list four columns when the table has five?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CSV has four fields; the column list maps them to the matching columns, and loaded_at fills from its DEFAULT.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column list maps file columns to table columns in order; unlisted columns get their DEFAULT or NULL.</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Q215</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ON_ERROR = 'CONTINUE'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Skips rows with errors and continues loading the rest of the file.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Useful when a few bad rows are acceptable; rejected rows can be reviewed afterwards with VALIDATE.</a:t>
            </a:r>
            <a:endParaRPr lang="en-US" sz="11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3 · Load a Local CSV</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17  ·  part 4 of 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Q216</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default ON_ERROR for COPY INTO (bulk load)?</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ABORT_STATEMENT: the whole load fails on the first error. (Snowpipe's default is SKIP_FILE.)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strict default protects data quality: nothing loads if any row is bad, unless you choose otherwise.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Q217</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List all ON_ERROR options.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CONTINUE, SKIP_FILE, SKIP_FILE_&lt;n&gt;, 'SKIP_FILE_&lt;n&gt;%', ABORT_STATEMENT.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SKIP_FILE_10 skips a file with 10+ errors; 'SKIP_FILE_10%' skips it if 10% of its rows fail, giving you tolerance thresholds.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Q218</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In the sample file, which row is rejected and why?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Row 5 (Hooli): 'not-a-date' can't be converted to DATE.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Text that isn't a date can't be converted to DATE; with ON_ERROR = 'CONTINUE' only that row is skipped.</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3 · Load a Local CSV</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17  ·  part 5 of 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Q219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value does row 4 get for amount?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NULL. The amount field is empty and NULL_IF includes ''.</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amount field is empty and NULL_IF lists '', so the value becomes NULL instead of failing.</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Q220</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the COPY result show for this file?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Status PARTIALLY_LOADED, 2 rows loaded, 1 error.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2's two rows plus rows 3 and 4 give ORDERS four rows after this load.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SELECT * FROM TABLE(VALIDATE(orders, JOB_ID =&gt; '_last')) return?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rows rejected by the last COPY INTO orders in this session, with error messages, file, line and column.</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It's a table function over the load job; '_last' means the most recent COPY into that table in the current session.</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3 · Load a Local CSV</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17  ·  part 6 of 6</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Q222</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VALIDATION_MODE?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COPY option (RETURN_n_ROWS, RETURN_ERRORS, RETURN_ALL_ERRORS) that checks files and returns results WITHOUT loading any data.</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Recommended before big loads: run with VALIDATION_MODE = RETURN_ERRORS to find problems without touching the table.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Q223</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You run the same COPY again. What happens?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0 rows load: the file is skipped because load metadata (kept 64 days) shows it's already loaded.</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protects against accidental double-loading, and it's a key reason COPY-based pipelines are safe to rerun.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Q224</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When would you use FORCE = TRUE, and what's the risk?</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To reload files already loaded (e.g. after truncating the table). The risk is duplicate rows if the table still has the old data.</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Load metadata is tracked per table and isn't cleared by TRUNCATE. That's why FORCE may be needed after a full reload.</a:t>
            </a:r>
            <a:endParaRPr 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15 · Example 4 · Load from S3</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18</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95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15 of 22</a:t>
            </a:r>
            <a:endParaRPr lang="en-US" sz="1600" dirty="0"/>
          </a:p>
          <a:p>
            <a:pPr algn="ctr">
              <a:lnSpc>
                <a:spcPct val="100000"/>
              </a:lnSpc>
              <a:spcBef>
                <a:spcPts val="800"/>
              </a:spcBef>
              <a:spcAft>
                <a:spcPts val="0"/>
              </a:spcAft>
              <a:buNone/>
            </a:pPr>
            <a:r>
              <a:rPr lang="en-US" sz="3600" dirty="0" b="1">
                <a:solidFill>
                  <a:srgbClr val="0B2545"/>
                </a:solidFill>
              </a:rPr>
              <a:t>Example 4 · Load from S3</a:t>
            </a:r>
            <a:endParaRPr lang="en-US" sz="3600" dirty="0"/>
          </a:p>
          <a:p>
            <a:pPr algn="ctr">
              <a:lnSpc>
                <a:spcPct val="100000"/>
              </a:lnSpc>
              <a:spcBef>
                <a:spcPts val="1000"/>
              </a:spcBef>
              <a:spcAft>
                <a:spcPts val="0"/>
              </a:spcAft>
              <a:buNone/>
            </a:pPr>
            <a:r>
              <a:rPr lang="en-US" sz="1600" dirty="0">
                <a:solidFill>
                  <a:srgbClr val="6B7280"/>
                </a:solidFill>
              </a:rPr>
              <a:t>14 questions  ·  Deck slide 18</a:t>
            </a:r>
            <a:endParaRPr lang="en-US" sz="16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4 · Load from S3</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18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Q225</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storage integration?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An account-level object that stores a generated identity (IAM user + external ID) so Snowflake can access your cloud storage without keys in SQL.</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integration represents a trust relationship between your Snowflake account and your cloud storage, set up once by an admin and reused by many stages.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Q226</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use a storage integration instead of AWS keys in the stage?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secrets in SQL or metadata, centrally controlled, access limited to allowed locations, and credentials managed through IAM roles.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Security teams prefer it: keys in SQL can leak through query history, while IAM roles can be audited and revoked centrally.</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Q227</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role creates the storage integration in Example 4?</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ACCOUNTADMIN (or a role granted CREATE INTEGRATION).</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Creating integrations is account-level and security-sensitive, so it's restricted to high-privilege roles.</a:t>
            </a:r>
            <a:endParaRPr 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4 · Load from S3</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18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Q228</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STORAGE_ALLOWED_LOCATIONS do?</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Restricts which buckets/paths stages using this integration may access.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guardrail: even if someone creates a stage with this integration, it can only reach the listed paths.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Q229</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two values from DESC INTEGRATION go into AWS?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STORAGE_AWS_IAM_USER_ARN and STORAGE_AWS_EXTERNAL_ID, added to the IAM role's trust policy.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external ID prevents the 'confused deputy' problem, so only your Snowflake account can assume that IAM role.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Q230</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grant USAGE on the integration to SYSADMIN?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So SYSADMIN can create stages that use the integration without using ACCOUNTADMIN.</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Least privilege: ACCOUNTADMIN sets up the trust once, and everyday work happens as SYSADMIN or a dedicated loading role.</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4 · Load from S3</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18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Q231</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the URL parameter in CREATE STAGE point to?</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S3 bucket/path where the files live, e.g. s3://acme-data/orders/.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stage URL must be inside STORAGE_ALLOWED_LOCATIONS, or creating or using the stage fails.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Q232</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PATTERN in COPY INTO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Loads only files whose path matches the regular expression, e.g. '.*orders_2026-09.*[.]csv'.</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of orders_2026-09-01.csv and orders_2026-10-01.csv, only the September file matches the pattern.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Q233</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is the dot written as [.] in the pattern?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In a regex a bare '.' matches any character; [.] matches a literal dot.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Unescaped, '.csv' would also match names like 'orders_2026-09-01Xcsv'. Small regex details matter.</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4 · Load from S3</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18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99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Q234</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PATTERN vs FILES: what's the difference?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FILES = ('a.csv','b.csv') lists exact file names (up to 1,000); PATTERN uses a regex to match many files.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FILES is precise for known names; PATTERN is flexible for date-based or wildcard loads.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Q235</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changes for Azure or Google Cloud Storage?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STORAGE_PROVIDER = 'AZURE' (with AZURE_TENANT_ID) or 'GCS'; the stage URL uses azure:// or gcs://. The rest of the flow is the same.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Each cloud has its own identity model (IAM role, Azure consent/service principal, GCS service account), but the Snowflake side looks the same.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Q236</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COPY from the S3 stage fails with 'access denied'. What do you check?</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IAM role trust policy (IAM user ARN + external ID), the role's S3 permissions (s3:GetObject, s3:ListBucket), STORAGE_ALLOWED_LOCATIONS, and that the stage URL matches.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Most failures are IAM trust or permission mistakes. Run DESC INTEGRATION again and compare the values carefully.</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4 · Load from S3</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18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Q237</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would you turn Example 4 into continuous loading?</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CREATE PIPE … AUTO_INGEST = TRUE AS COPY INTO orders FROM @s3_orders; then configure S3 event notifications to the pipe's SQS queue (notification_channel).</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Snowpipe replaces manual or scheduled COPY: files load automatically within about a minute of landing in S3.</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Q238</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the PURGE = TRUE COPY option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Deletes staged files after they're loaded successfully.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IAM role also needs delete permission on the bucket; otherwise the files remain after loading.</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16 · 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101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16 of 22</a:t>
            </a:r>
            <a:endParaRPr lang="en-US" sz="1600" dirty="0"/>
          </a:p>
          <a:p>
            <a:pPr algn="ctr">
              <a:lnSpc>
                <a:spcPct val="100000"/>
              </a:lnSpc>
              <a:spcBef>
                <a:spcPts val="800"/>
              </a:spcBef>
              <a:spcAft>
                <a:spcPts val="0"/>
              </a:spcAft>
              <a:buNone/>
            </a:pPr>
            <a:r>
              <a:rPr lang="en-US" sz="3600" dirty="0" b="1">
                <a:solidFill>
                  <a:srgbClr val="0B2545"/>
                </a:solidFill>
              </a:rPr>
              <a:t>Example 5 · Query, Time Travel &amp; Clone</a:t>
            </a:r>
            <a:endParaRPr lang="en-US" sz="3600" dirty="0"/>
          </a:p>
          <a:p>
            <a:pPr algn="ctr">
              <a:lnSpc>
                <a:spcPct val="100000"/>
              </a:lnSpc>
              <a:spcBef>
                <a:spcPts val="1000"/>
              </a:spcBef>
              <a:spcAft>
                <a:spcPts val="0"/>
              </a:spcAft>
              <a:buNone/>
            </a:pPr>
            <a:r>
              <a:rPr lang="en-US" sz="1600" dirty="0">
                <a:solidFill>
                  <a:srgbClr val="6B7280"/>
                </a:solidFill>
              </a:rPr>
              <a:t>20 questions  ·  Deck slide 19</a:t>
            </a:r>
            <a:endParaRPr lang="en-US" sz="1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  ·  part 1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Q239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query 1 in Example 5 return?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Each customer with its order count and total revenue, sorted by revenue descending.</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Standard aggregation: GROUP BY collapses rows per customer, and the aggregates compute count and sum per group.</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Q240</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is 'Umbrella, Inc' revenue NULL in the result?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Its only amount is NULL, and SUM of only NULLs returns NULL.</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SUM ignores NULLs, but with nothing to add it returns NULL, not 0. Use COALESCE(SUM(amount), 0) to get 0.</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Q241</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Where would 'Umbrella, Inc' appear in ORDER BY revenue DESC?</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First. In Snowflake, NULLs sort as the highest values, so they come first in DESC order unless you write NULLS LAST.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Snowflake's default is NULLS LAST for ASC and NULLS FIRST for DESC; write ORDER BY revenue DESC NULLS LAST to push NULLs down.</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  ·  part 2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SNOWFLAKE_SAMPLE_DATA?</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read-only shared database with sample datasets (e.g. TPC-H) for practice. It may need to be added from the Marketplace in newer accounts.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TPCH_SF1 has about 150,000 customers, which is great for practicing joins and aggregations without loading your own data.</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AT(OFFSET =&gt; -60*30) mean?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Read the table as it was 30 minutes (1,800 seconds) ago.</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OFFSET is in seconds and negative means 'in the past': -60*30 = -1800 seconds = 30 minutes.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Q244</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other forms can Time Travel take?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AT(TIMESTAMP =&gt; '2026-09-20 10:00'::TIMESTAMP_LTZ), AT(STATEMENT =&gt; '&lt;query_id&gt;'), and BEFORE(STATEMENT =&gt; '&lt;query_id&gt;').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STATEMENT form is very precise: use the query ID of a bad UPDATE or DELETE to see data exactly before or after it.</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  ·  part 3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difference between AT and BEFORE?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AT includes changes made by the referenced statement or time; BEFORE shows the state immediately before it.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BEFORE(STATEMENT =&gt; '&lt;delete_id&gt;') shows the rows before they were deleted; AT shows the state after the delete ran.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Q246</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UNDROP TABLE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Restores the most recently dropped version of a table, if it is still within its Time Travel retention period.</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 works for tables, schemas and databases, which makes it great insurance against an accidental DROP.</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Q247</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When can UNDROP fail?</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When retention has expired, or an object with the same name now exists (rename it first).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Fix: ALTER TABLE orders RENAME TO orders_new; UNDROP TABLE orders; then compare the two and keep the one you need.</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  ·  part 4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Q248</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zero-copy clone?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An instant copy of a table, schema or database that shares the original's storage. Only changes made afterwards use new storage.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Clones are metadata operations, so they finish in seconds whatever the size, because no data is physically copied.</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Q249</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Does cloning a 5 TB table instantly double storage cost?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Initially both share the same micro-partitions; storage grows only as either copy changes.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That's why cloning is so popular for dev/test: full-size copies at almost no initial storage cost.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Q250</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Can you clone a table as it was yesterday?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Yes: CREATE TABLE orders_restore CLONE orders AT(OFFSET =&gt; -86400); (within retention).</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Combining CLONE with Time Travel gives a point-in-time copy, perfect for recovering without overwriting the current table.</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  ·  part 5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Q251</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default Time Travel retention?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1 day (DATA_RETENTION_TIME_IN_DAYS = 1).</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 can be raised (up to 90 days on Enterprise+) or set to 0 to disable Time Travel on specific objects.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Q252</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set 30-day retention on a table?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ALTER TABLE orders SET DATA_RETENTION_TIME_IN_DAYS = 30;  (Enterprise edition or higher for &gt;1)</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Retention can be set on the account, database, schema or table; lower levels override higher ones.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Q253</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happens after Time Travel expires?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Permanent-table data moves into 7-day Fail-safe, which only Snowflake Support can recover. After that it's gone.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Fail-safe is for disaster recovery (e.g. system failure), not user errors. Rely on Time Travel for mistakes.</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  ·  part 6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Q254</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 transient and temporary tables have Fail-safe?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They have 0 days of Fail-safe and at most 1 day of Time Travel.</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That's why they're cheaper for staging data: no 7-day Fail-safe copies are kept after changes.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Q255</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makes query results come from the result cache?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Rerunning an identical query within 24 hours when the underlying data hasn't changed. It returns instantly and uses no warehouse.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Rerunning the same dashboard query on unchanged data is free and instant, a big saver for BI.</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Q256</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Someone ran DELETE FROM orders without WHERE 10 minutes ago. How do you recover?</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INSERT INTO orders SELECT * FROM orders BEFORE(STATEMENT =&gt; '&lt;delete_query_id&gt;'); or clone it at that point and swap.</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Find the query ID in Query History. Within the retention period, all the pre-delete data is recoverable.</a:t>
            </a:r>
            <a:endParaRPr 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5 · Query, Time Travel &amp; Clone</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19  ·  part 7 of 7</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Q257</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common use of CLONE in development?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Creating instant, isolated dev/test copies of production databases for testing changes without copying data or affecting prod.</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teams clone PROD into DEV each morning, so developers test against real-size data safely.</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Q258</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three aggregate functions and one window function.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COUNT, SUM, AVG (also MIN, MAX); window function: ROW_NUMBER() OVER (PARTITION BY … ORDER BY …).</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Window functions compute over related rows without collapsing them, e.g. ranking each customer's orders.</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17 · Example 6 · JSON / Semi-Structured</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20</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109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17 of 22</a:t>
            </a:r>
            <a:endParaRPr lang="en-US" sz="1600" dirty="0"/>
          </a:p>
          <a:p>
            <a:pPr algn="ctr">
              <a:lnSpc>
                <a:spcPct val="100000"/>
              </a:lnSpc>
              <a:spcBef>
                <a:spcPts val="800"/>
              </a:spcBef>
              <a:spcAft>
                <a:spcPts val="0"/>
              </a:spcAft>
              <a:buNone/>
            </a:pPr>
            <a:r>
              <a:rPr lang="en-US" sz="3600" dirty="0" b="1">
                <a:solidFill>
                  <a:srgbClr val="0B2545"/>
                </a:solidFill>
              </a:rPr>
              <a:t>Example 6 · JSON / Semi-Structured</a:t>
            </a:r>
            <a:endParaRPr lang="en-US" sz="3600" dirty="0"/>
          </a:p>
          <a:p>
            <a:pPr algn="ctr">
              <a:lnSpc>
                <a:spcPct val="100000"/>
              </a:lnSpc>
              <a:spcBef>
                <a:spcPts val="1000"/>
              </a:spcBef>
              <a:spcAft>
                <a:spcPts val="0"/>
              </a:spcAft>
              <a:buNone/>
            </a:pPr>
            <a:r>
              <a:rPr lang="en-US" sz="1600" dirty="0">
                <a:solidFill>
                  <a:srgbClr val="6B7280"/>
                </a:solidFill>
              </a:rPr>
              <a:t>15 questions  ·  Deck slide 20</a:t>
            </a:r>
            <a:endParaRPr lang="en-US" sz="16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6 · JSON / Semi-Structured</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20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Q259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data type stores JSON?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VARIANT (also OBJECT and ARRAY).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VARIANT can hold any JSON value (object, array, string, number); OBJECT and ARRAY are more specific types.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Q260</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maximum size of a VARIANT value?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Historically 16 MB (compressed); newer releases raise the limit to 128 MB. Check the current docs for your account.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For most use cases the limit doesn't matter. Very large single documents should be split into multiple rows.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Q261</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use INSERT … SELECT PARSE_JSON(...) instead of VALUES?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PARSE_JSON can't be used directly in a VALUES clause, so the JSON is parsed in a SELECT.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common beginner error is 'Invalid expression [PARSE_JSON(...)] in VALUES clause'. INSERT … SELECT avoids it.</a:t>
            </a:r>
            <a:endParaRPr lang="en-US" sz="11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6 · JSON / Semi-Structured</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20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v:user return?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value of the top-level key 'user' as a VARIANT: "jdoe" (with JSON quotes).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quotes appear because it's still a JSON string inside a VARIANT, not a SQL VARCHAR.</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v:device.os::STRING return?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iOS, the nested key os inside device, cast to a plain string.</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dot navigates into the nested object; the cast converts the JSON value into a plain SQL string.</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Q264</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cast with ::STRING or ::INT?</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To convert VARIANT to a normal SQL type, removing JSON quotes and enabling correct comparisons, sorting and joins.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Uncast, comparisons like WHERE v:user = 'jdoe' can behave unexpectedly, and joins to VARCHAR columns may fail.</a:t>
            </a:r>
            <a:endParaRPr lang="en-US"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6 · JSON / Semi-Structured</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20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Are JSON key names case-sensitive?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Yes. v:User and v:user are different paths (unlike SQL identifiers).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SQL identifiers ignore case, but JSON keys are data, so they must match exactly.</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Q266</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the path-notation options?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Colon for the first level (v:user), dot for nesting (v:device.os), brackets for keys/arrays (v['user'], v:items[0]).</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Brackets are needed for keys with spaces or special characters: v['first name'] or v:"first name".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Q267</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LATERAL FLATTEN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Explodes an array (or object) into multiple rows, one per element.</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Each element of v:items becomes a separate row, joined back to its parent row (a lateral join).</a:t>
            </a:r>
            <a:endParaRPr lang="en-US" sz="11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6 · JSON / Semi-Structured</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20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Q268</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columns does FLATTEN output?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SEQ, KEY, PATH, INDEX, VALUE and THIS.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INDEX is the array position, KEY the object key, VALUE the element, PATH its full path, and THIS the containing element.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Q269</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the FLATTEN query in Example 6 return?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Two rows: (jdoe, A1, 2) and (jdoe, B7, 1).</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single event row becomes two rows, one per item in the array, with the user repeated on each.</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Q270</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load a JSON file whose content is one big array?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Use FILE_FORMAT = (TYPE = JSON STRIP_OUTER_ARRAY = TRUE) so each array element becomes its own row.</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Without it the whole file loads as one row holding a giant array, which can hit size limits and is hard to query.</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6 · JSON / Semi-Structured</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20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Q271</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TRY_PARSE_JSON do differently from PARSE_JSON?</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 returns NULL instead of raising an error on invalid JSON.</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Safer for dirty data: bad JSON becomes NULL, and you can find it with WHERE TRY_PARSE_JSON(col) IS NULL.</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Q272</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v:missing_key return?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NULL (SQL NULL). Note that JSON null is stored as a VARIANT 'null', which differs from SQL NULL; use IS_NULL_VALUE() to test it.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Missing keys don't raise errors, they just return NULL, which makes querying evolving JSON schemas easy.</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Q273</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build JSON from table columns?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OBJECT_CONSTRUCT('id', order_id, 'amt', amount), plus ARRAY_AGG() to build arrays; TO_JSON() to convert to a string.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Useful for producing API payloads or exporting nested data from relational tables.</a:t>
            </a:r>
            <a:endParaRPr lang="en-US" sz="11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18 · Example 7 · Users &amp; Grants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21</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115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18 of 22</a:t>
            </a:r>
            <a:endParaRPr lang="en-US" sz="1600" dirty="0"/>
          </a:p>
          <a:p>
            <a:pPr algn="ctr">
              <a:lnSpc>
                <a:spcPct val="100000"/>
              </a:lnSpc>
              <a:spcBef>
                <a:spcPts val="800"/>
              </a:spcBef>
              <a:spcAft>
                <a:spcPts val="0"/>
              </a:spcAft>
              <a:buNone/>
            </a:pPr>
            <a:r>
              <a:rPr lang="en-US" sz="3600" dirty="0" b="1">
                <a:solidFill>
                  <a:srgbClr val="0B2545"/>
                </a:solidFill>
              </a:rPr>
              <a:t>Example 7 · Users &amp; Grants</a:t>
            </a:r>
            <a:endParaRPr lang="en-US" sz="3600" dirty="0"/>
          </a:p>
          <a:p>
            <a:pPr algn="ctr">
              <a:lnSpc>
                <a:spcPct val="100000"/>
              </a:lnSpc>
              <a:spcBef>
                <a:spcPts val="1000"/>
              </a:spcBef>
              <a:spcAft>
                <a:spcPts val="0"/>
              </a:spcAft>
              <a:buNone/>
            </a:pPr>
            <a:r>
              <a:rPr lang="en-US" sz="1600" dirty="0">
                <a:solidFill>
                  <a:srgbClr val="6B7280"/>
                </a:solidFill>
              </a:rPr>
              <a:t>15 questions  ·  Deck slide 21</a:t>
            </a:r>
            <a:endParaRPr lang="en-US" sz="16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7 · Users &amp; Grants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21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Q274</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role creates the user and role in Example 7?</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USERADMIN.</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USERADMIN has CREATE USER and CREATE ROLE and owns what it creates, following least privilege (no need for ACCOUNTADMIN).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Q275</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MUST_CHANGE_PASSWORD = TRUE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Forces the user to set a new password at first login.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Good practice for temporary passwords handed to new users.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Q276</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 DEFAULT_ROLE and DEFAULT_WAREHOUSE do?</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Set the role and warehouse the user's sessions start with, so they don't have to run USE each time.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Saves users from typing USE ROLE / USE WAREHOUSE at every login and avoids 'no active warehouse' errors.</a:t>
            </a:r>
            <a:endParaRPr lang="en-US" sz="11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7 · Users &amp; Grants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21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Q277</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Does DEFAULT_ROLE grant the role to the user?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You must also GRANT ROLE analyst TO USER jdoe; a default role the user doesn't have won't work.</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default is only a preference; actual access comes from the grant.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Q278</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GRANT ROLE analyst TO ROLE SYSADMIN?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To keep the recommended hierarchy, so SYSADMIN can manage anything ANALYST owns.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Snowflake's recommended practice: every custom role should roll up to SYSADMIN.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Q279</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four grants let ANALYST read ORDERS?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USAGE on WAREHOUSE demo_wh, USAGE on DATABASE sales_db, USAGE on SCHEMA sales_db.raw, SELECT on the tables.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Missing any one of the four breaks access, so it's a checklist worth memorizing.</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7 · Users &amp; Grants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21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Q280</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GRANT SELECT ON ALL TABLES IN SCHEMA do?</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Grants SELECT on every table that exists in the schema right now.</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It's a point-in-time grant: tables created after this statement aren't covered.</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Q281</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GRANT SELECT ON FUTURE TABLES IN SCHEMA do?</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Automatically grants SELECT on tables created in that schema from now on.</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Future grants are defined on the schema (or database) and applied automatically when each table is created.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Q282</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happens if you forget FUTURE grants?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Tables created later are invisible to the analyst until someone grants them manually.</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classic support ticket: 'I can see the old tables but not the new one.' Future grants prevent it.</a:t>
            </a:r>
            <a:endParaRPr lang="en-US" sz="11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7 · Users &amp; Grants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21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119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Q283</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is SECURITYADMIN used for the object grants?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 has the MANAGE GRANTS privilege, so it can grant privileges on any object regardless of owner.</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works even though SYSADMIN owns the objects, because MANAGE GRANTS lets SECURITYADMIN grant on any object.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Q284</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verify the setup?</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SHOW GRANTS TO ROLE analyst; SHOW GRANTS TO USER jdoe; then log in as jdoe and SELECT from sales_db.raw.orders.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Always test as the real user (or USE ROLE analyst) to confirm access, rather than only reading the grants.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Q285</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remove access?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REVOKE SELECT ON ALL TABLES IN SCHEMA sales_db.raw FROM ROLE analyst; or REVOKE ROLE analyst FROM USER jdoe;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Revoking the role from the user removes everything at once, the simplest offboarding step.</a:t>
            </a:r>
            <a:endParaRPr lang="en-US" sz="11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Example 7 · Users &amp; Grants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21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Q286</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Future grants exist at both database and schema level. Which wins?</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Schema-level future grants take precedence over database-level future grants for that schema.</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More specific settings win, so a schema-level future grant overrides the database-wide rule for that schema.</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Q287</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would you give read access to views as well?</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GRANT SELECT ON ALL VIEWS IN SCHEMA sales_db.raw TO ROLE analyst; plus ON FUTURE VIEWS.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Views are separate objects needing their own grants; secure views also hide the view definition.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Q288</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What's a safer alternative to password users in a company?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SSO (SAML) with SCIM provisioning for people, and key-pair / OAuth for service users (TYPE = SERVICE), with MFA enforced by authentication policies.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SCIM creates and disables users automatically as people join or leave, and authentication policies enforce MFA.</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19 · Cost Best Practices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22</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121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19 of 22</a:t>
            </a:r>
            <a:endParaRPr lang="en-US" sz="1600" dirty="0"/>
          </a:p>
          <a:p>
            <a:pPr algn="ctr">
              <a:lnSpc>
                <a:spcPct val="100000"/>
              </a:lnSpc>
              <a:spcBef>
                <a:spcPts val="800"/>
              </a:spcBef>
              <a:spcAft>
                <a:spcPts val="0"/>
              </a:spcAft>
              <a:buNone/>
            </a:pPr>
            <a:r>
              <a:rPr lang="en-US" sz="3600" dirty="0" b="1">
                <a:solidFill>
                  <a:srgbClr val="0B2545"/>
                </a:solidFill>
              </a:rPr>
              <a:t>Cost Best Practices</a:t>
            </a:r>
            <a:endParaRPr lang="en-US" sz="3600" dirty="0"/>
          </a:p>
          <a:p>
            <a:pPr algn="ctr">
              <a:lnSpc>
                <a:spcPct val="100000"/>
              </a:lnSpc>
              <a:spcBef>
                <a:spcPts val="1000"/>
              </a:spcBef>
              <a:spcAft>
                <a:spcPts val="0"/>
              </a:spcAft>
              <a:buNone/>
            </a:pPr>
            <a:r>
              <a:rPr lang="en-US" sz="1600" dirty="0">
                <a:solidFill>
                  <a:srgbClr val="6B7280"/>
                </a:solidFill>
              </a:rPr>
              <a:t>15 questions  ·  Deck slide 22</a:t>
            </a:r>
            <a:endParaRPr lang="en-US" sz="16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Cost Best Practices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22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Q289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usually the biggest part of a Snowflake bill?</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Compute (virtual warehouse credits).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Storage is relatively cheap; compute is where tuning (auto-suspend, sizing, efficient queries) pays off.</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Q290</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AUTO_SUSPEND value does the deck recommend for ad-hoc/BI warehouses?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60 seconds.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short auto-suspend minimizes idle charges for sporadic, interactive usage.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Q291</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start with an X-Small warehouse?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It's the cheapest (1 credit/hour). Size up only when the Query Profile shows the warehouse is the bottleneck.</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Start small and scale up based on evidence, rather than paying for idle capacity.</a:t>
            </a:r>
            <a:endParaRPr lang="en-US" sz="11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Cost Best Practices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22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123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Q292</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use one warehouse per workload?</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Isolation (no interference), independent sizing, and clear cost attribution / chargeback per team or workload.</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ETL_WH, BI_WH and DS_WH each appear as separate cost lines, so you know which team or process drives spend.</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a resource monitor?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An object that tracks credit usage against a quota and can NOTIFY, SUSPEND or SUSPEND_IMMEDIATE warehouses at thresholds.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They act like a spending cap: notifications warn early, and suspension stops runaway spend.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Q294</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Who can create resource monitors?</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ACCOUNTADMIN.</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It's an account-level cost control, so the account administrator manages it (they can delegate monitoring).</a:t>
            </a:r>
            <a:endParaRPr lang="en-US" sz="11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Cost Best Practices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22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the monitor in the deck do?</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Allows 100 credits per month: notifies at 80% and suspends assigned warehouses at 100% (after running queries finish).</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quota resets monthly; assigning the monitor to a warehouse makes that warehouse subject to it.</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Q296</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SUSPEND vs SUSPEND_IMMEDIATE?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SUSPEND lets running queries finish first; SUSPEND_IMMEDIATE cancels running queries and suspends right away.</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SUSPEND for a gentle stop and SUSPEND_IMMEDIATE when overspending must stop right now.</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Q297</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Do resource monitors control serverless costs (Snowpipe, auto-clustering)?</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They track user-managed warehouse credits only; serverless features need separate budgets/monitoring.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Snowpipe, auto-clustering, serverless tasks and Cortex need Budgets or ACCOUNT_USAGE monitoring instead.</a:t>
            </a:r>
            <a:endParaRPr lang="en-US" sz="11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Cost Best Practices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22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Q298</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does Time Travel affect cost?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Changed and deleted data is kept for the retention period (plus 7-day Fail-safe), which adds storage cost, especially for high-churn tables.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heavily updated table keeps many old micro-partition versions for the whole retention period, which can multiply storage.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Q299</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use TRANSIENT tables for staging?</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They have no Fail-safe and at most 1-day Time Travel, which cuts storage cost for data you can re-create.</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Staging data can be reloaded from its source, so it doesn't need expensive 7-day disaster protection.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Q300</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view shows credits per warehouse?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SNOWFLAKE.ACCOUNT_USAGE.WAREHOUSE_METERING_HISTORY.</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Join it with query history or object tags to attribute cost to teams. The deck's query shows the last 7 days by warehouse.</a:t>
            </a:r>
            <a:endParaRPr lang="en-US" sz="11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Cost Best Practices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22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Q301</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fresh is ACCOUNT_USAGE data?</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It lags by about 45 minutes to 3 hours depending on the view, and keeps 365 days of history.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For real-time checks use INFORMATION_SCHEMA table functions; for trends and billing use ACCOUNT_USAGE.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Q302</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avoid SELECT * on wide tables?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Snowflake is columnar: selecting fewer columns scans fewer bytes, which is faster and cheaper.</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on a 200-column table where you need 3 columns, SELECT * can scan about 60× more data than needed.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Q303</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Credits doubled this month. How do you investigate?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Check WAREHOUSE_METERING_HISTORY by warehouse and day, QUERY_HISTORY for top-cost or long queries, warehouses without auto-suspend, size changes, and new scheduled tasks.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Work systematically: which warehouse, which day, which queries. Most spikes come from a new job or a missing auto-suspend.</a:t>
            </a:r>
            <a:endParaRPr lang="en-US" sz="11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20 · Common Mistakes &amp; Troubleshooting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23</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127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20 of 22</a:t>
            </a:r>
            <a:endParaRPr lang="en-US" sz="1600" dirty="0"/>
          </a:p>
          <a:p>
            <a:pPr algn="ctr">
              <a:lnSpc>
                <a:spcPct val="100000"/>
              </a:lnSpc>
              <a:spcBef>
                <a:spcPts val="800"/>
              </a:spcBef>
              <a:spcAft>
                <a:spcPts val="0"/>
              </a:spcAft>
              <a:buNone/>
            </a:pPr>
            <a:r>
              <a:rPr lang="en-US" sz="3600" dirty="0" b="1">
                <a:solidFill>
                  <a:srgbClr val="0B2545"/>
                </a:solidFill>
              </a:rPr>
              <a:t>Common Mistakes &amp; Troubleshooting</a:t>
            </a:r>
            <a:endParaRPr lang="en-US" sz="3600" dirty="0"/>
          </a:p>
          <a:p>
            <a:pPr algn="ctr">
              <a:lnSpc>
                <a:spcPct val="100000"/>
              </a:lnSpc>
              <a:spcBef>
                <a:spcPts val="1000"/>
              </a:spcBef>
              <a:spcAft>
                <a:spcPts val="0"/>
              </a:spcAft>
              <a:buNone/>
            </a:pPr>
            <a:r>
              <a:rPr lang="en-US" sz="1600" dirty="0">
                <a:solidFill>
                  <a:srgbClr val="6B7280"/>
                </a:solidFill>
              </a:rPr>
              <a:t>15 questions  ·  Deck slide 23</a:t>
            </a:r>
            <a:endParaRPr lang="en-US" sz="16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Common Mistakes &amp; Troubleshooting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23  ·  part 1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128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Q304</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Error: 'No active warehouse selected'. Fix?</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USE WAREHOUSE &lt;name&gt;; or set DEFAULT_WAREHOUSE for the user; also make sure your role has USAGE on it.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 session without a warehouse can still run metadata commands, but any data scan needs compute.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Q305</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Error: 'Object does not exist or not authorized'. What do you check?</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context (database.schema), spelling and case (quoted names), and whether the current role has USAGE/SELECT (SHOW GRANTS).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Check context first, then the name, then privileges: SELECT CURRENT_ROLE(); then SHOW GRANTS TO ROLE &lt;that role&gt;.</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Q306</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You created "orders" with quotes and now SELECT * FROM orders fails. Why?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table is stored in lowercase; unquoted orders means ORDERS. Use "orders", or rename it: ALTER TABLE "orders" RENAME TO orders;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Renaming to an unquoted name is the permanent fix, so everyone can use normal, case-insensitive SQL.</a:t>
            </a:r>
            <a:endParaRPr lang="en-US" sz="11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Common Mistakes &amp; Troubleshooting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23  ·  part 2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129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Q307</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 colleague ran CREATE OR REPLACE on a production table. Can you recover?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Yes, within Time Travel: the old version is dropped, so rename the new table and UNDROP the old one (or clone it AT a time before).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only works within the Time Travel retention period, so act quickly, and use IF NOT EXISTS in production scripts.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Q308</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COPY INTO loaded 0 rows with status LOAD_SKIPPED. Why?</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files were already loaded within the last 64 days (load metadata). This is intended, to prevent duplicates.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Check COPY_HISTORY or the COPY output. If you truly need to reload, use FORCE = TRUE deliberately.</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Q309</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PUT fails in a Snowsight worksheet. Why?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PUT needs local file-system access. Use Snowflake CLI/SnowSQL/a driver, or the Snowsight Load Data UI.</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Alternatives: the Snowsight upload UI, or Snowflake CLI (PUT / snow stage copy).</a:t>
            </a:r>
            <a:endParaRPr lang="en-US" sz="11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Common Mistakes &amp; Troubleshooting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23  ·  part 3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Q310</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Credits are burning overnight with no users. Likely cause?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 warehouse with AUTO_SUSPEND disabled/NULL, a scheduled task or BI tool keeping it alive, or a runaway query. Set auto-suspend, add a resource monitor, check query history.</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Look at WAREHOUSE_METERING_HISTORY by hour to see when credits are used, then QUERY_HISTORY to see which queries ran.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Q311</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Why do objects become hard to manage when created as ACCOUNTADMIN?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They are owned by ACCOUNTADMIN, so SYSADMIN and custom roles can't manage them. Transfer with GRANT OWNERSHIP.</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Example: GRANT OWNERSHIP ON ALL TABLES IN SCHEMA sales_db.raw TO ROLE sysadmin COPY CURRENT GRANTS;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Q312</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Times appear shifted by several hours. What's likely wrong?</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Mixing TIMESTAMP_NTZ / LTZ / TZ, or session TIMEZONE differences between users or tools. Choose one type deliberately and check ALTER SESSION SET TIMEZONE.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Standardize on one timestamp type per use case, and set session or account TIMEZONE consistently across tools.</a:t>
            </a:r>
            <a:endParaRPr lang="en-US" sz="11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Common Mistakes &amp; Troubleshooting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23  ·  part 4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Q313</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 query was fast yesterday and slow today. What do you look at?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Query Profile (spilling, pruning, joins), whether the result/warehouse cache was used before, queuing on the warehouse, data volume growth, and warehouse size.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Compare both Query Profiles: yesterday's cached or warm run against today's cold run often explains the difference.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Q314</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Query Profile shows 'bytes spilled to remote storage'. What does it mean and how to fix?</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warehouse ran out of memory/local disk. Use a larger warehouse, reduce the data processed (filters, fewer columns), or rewrite the joins/aggregations.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Spilling to local disk slows queries; spilling to remote storage slows them a lot. It's the clearest signal to size up or reduce data.</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Q315</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cancel a runaway query?</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SELECT SYSTEM$CANCEL_QUERY('&lt;query_id&gt;'); or cancel from Query History; or ALTER WAREHOUSE … ABORT ALL QUERIES.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ABORT ALL QUERIES stops everything on that warehouse, so use it with care in shared environments.</a:t>
            </a:r>
            <a:endParaRPr lang="en-US" sz="11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Common Mistakes &amp; Troubleshooting</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 23  ·  part 5 of 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Q316</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An analyst can SELECT from existing tables but not a new one. Why?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No FUTURE grant existed when the table was created. Grant SELECT on it and add GRANT SELECT ON FUTURE TABLES.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is the classic missing future grant. Adding FUTURE grants stops it from happening again.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Q317</a:t>
            </a:r>
            <a:endParaRPr lang="en-US" sz="1300" dirty="0"/>
          </a:p>
        </p:txBody>
      </p:sp>
      <p:sp>
        <p:nvSpPr>
          <p:cNvPr id="17" name="Shape 17"/>
          <p:cNvSpPr/>
          <p:nvPr/>
        </p:nvSpPr>
        <p:spPr>
          <a:xfrm>
            <a:off x="502920" y="3419856"/>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COPY fails with 'Number of columns in file does not match'. Fix?</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Use a column list or transformation in COPY, fix the file, or set ERROR_ON_COLUMN_COUNT_MISMATCH = FALSE in the file format.</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Common when a source adds or removes columns. Decide whether missing columns should become NULL or fail the load.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Q318</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A JSON query returns values with quotes like "jdoe". Fix?</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Cast the VARIANT: v:user::STRING.</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cast turns the VARIANT into a real SQL string, which removes the JSON quotes.</a:t>
            </a:r>
            <a:endParaRPr lang="en-US" sz="11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21 · Tutorials, Next Steps &amp; Cheat Sheet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24–25</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133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21 of 22</a:t>
            </a:r>
            <a:endParaRPr lang="en-US" sz="1600" dirty="0"/>
          </a:p>
          <a:p>
            <a:pPr algn="ctr">
              <a:lnSpc>
                <a:spcPct val="100000"/>
              </a:lnSpc>
              <a:spcBef>
                <a:spcPts val="800"/>
              </a:spcBef>
              <a:spcAft>
                <a:spcPts val="0"/>
              </a:spcAft>
              <a:buNone/>
            </a:pPr>
            <a:r>
              <a:rPr lang="en-US" sz="3600" dirty="0" b="1">
                <a:solidFill>
                  <a:srgbClr val="0B2545"/>
                </a:solidFill>
              </a:rPr>
              <a:t>Tutorials, Next Steps &amp; Cheat Sheet</a:t>
            </a:r>
            <a:endParaRPr lang="en-US" sz="3600" dirty="0"/>
          </a:p>
          <a:p>
            <a:pPr algn="ctr">
              <a:lnSpc>
                <a:spcPct val="100000"/>
              </a:lnSpc>
              <a:spcBef>
                <a:spcPts val="1000"/>
              </a:spcBef>
              <a:spcAft>
                <a:spcPts val="0"/>
              </a:spcAft>
              <a:buNone/>
            </a:pPr>
            <a:r>
              <a:rPr lang="en-US" sz="1600" dirty="0">
                <a:solidFill>
                  <a:srgbClr val="6B7280"/>
                </a:solidFill>
              </a:rPr>
              <a:t>10 questions  ·  Deck slides 24–25</a:t>
            </a:r>
            <a:endParaRPr lang="en-US" sz="16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Tutorials, Next Steps &amp; Cheat Sheet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24–25  ·  part 1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134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Q319</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tutorials does the deck suggest, in order?</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Snowsight tour / Snowflake in 20 minutes → create users &amp; roles → load &amp; query sample data → bulk loading (local &amp; cloud) → JSON basics → Snowpark / Python notebooks.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This order follows the deck: UI → security → loading → querying → semi-structured data → programming.</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Q320</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are Snowflake Quickstarts?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Guided, step-by-step hands-on labs covering end-to-end use cases.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Quickstarts are practical and project-based, e.g. building a data pipeline or a Streamlit app end to end.</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Q321</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is the foundation Snowflake certification?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SnowPro Core.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SnowPro Core covers architecture, warehouses, loading, security, Time Travel, cloning and sharing, and this deck and question bank cover much of it.</a:t>
            </a:r>
            <a:endParaRPr lang="en-US" sz="11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Tutorials, Next Steps &amp; Cheat Sheet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24–25  ·  part 2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135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Q322</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Name the SnowPro Advanced certifications listed.</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Architect, Data Engineer, Administrator (others include Data Scientist and Data Analyst).</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advanced exams require Core first and go deeper into architecture design, data engineering pipelines and administration.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Q323</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single query shows your full session context?</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SELECT CURRENT_ROLE(), CURRENT_WAREHOUSE(), CURRENT_DATABASE(), CURRENT_SCHEMA();</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Run it first whenever something behaves unexpectedly; wrong context causes most beginner issues.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Q324</a:t>
            </a:r>
            <a:endParaRPr lang="en-US" sz="1300" dirty="0"/>
          </a:p>
        </p:txBody>
      </p:sp>
      <p:sp>
        <p:nvSpPr>
          <p:cNvPr id="23" name="Shape 23"/>
          <p:cNvSpPr/>
          <p:nvPr/>
        </p:nvSpPr>
        <p:spPr>
          <a:xfrm>
            <a:off x="502920" y="5175504"/>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list tables in the current schema?</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SHOW TABLES;</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Add LIKE 'ORD%' to filter, or IN SCHEMA sales_db.raw to look in another schema.</a:t>
            </a:r>
            <a:endParaRPr lang="en-US" sz="11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Tutorials, Next Steps &amp; Cheat Sheet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24–25  ·  part 3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136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Q325</a:t>
            </a:r>
            <a:endParaRPr lang="en-US" sz="1300" dirty="0"/>
          </a:p>
        </p:txBody>
      </p:sp>
      <p:sp>
        <p:nvSpPr>
          <p:cNvPr id="11" name="Shape 11"/>
          <p:cNvSpPr/>
          <p:nvPr/>
        </p:nvSpPr>
        <p:spPr>
          <a:xfrm>
            <a:off x="502920" y="1664208"/>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INFORMATION_SCHEMA.QUERY_HISTORY() show vs ACCOUNT_USAGE.QUERY_HISTORY?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table function is real-time but covers only the last 7 days. The ACCOUNT_USAGE view keeps 365 days but lags up to about 45 minutes.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Use the table function for 'what just happened?' and ACCOUNT_USAGE for audits and cost analysis over months.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Q326</a:t>
            </a:r>
            <a:endParaRPr lang="en-US" sz="1300" dirty="0"/>
          </a:p>
        </p:txBody>
      </p:sp>
      <p:sp>
        <p:nvSpPr>
          <p:cNvPr id="17" name="Shape 17"/>
          <p:cNvSpPr/>
          <p:nvPr/>
        </p:nvSpPr>
        <p:spPr>
          <a:xfrm>
            <a:off x="502920" y="3419856"/>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download files from an internal stage to your computer?</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GET @my_int_stage file:///tmp/downloads/;  (from Snowflake CLI/SnowSQL)</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GET is the reverse of PUT and, like PUT, needs a command-line client or driver.</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Q327</a:t>
            </a:r>
            <a:endParaRPr lang="en-US" sz="1300" dirty="0"/>
          </a:p>
        </p:txBody>
      </p:sp>
      <p:sp>
        <p:nvSpPr>
          <p:cNvPr id="23" name="Shape 23"/>
          <p:cNvSpPr/>
          <p:nvPr/>
        </p:nvSpPr>
        <p:spPr>
          <a:xfrm>
            <a:off x="502920" y="5175504"/>
            <a:ext cx="640080" cy="219456"/>
          </a:xfrm>
          <a:prstGeom prst="roundRect">
            <a:avLst>
              <a:gd name="adj" fmla="val 30000"/>
            </a:avLst>
          </a:prstGeom>
          <a:solidFill>
            <a:srgbClr val="F59E0B"/>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INTER</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does SHOW GRANTS TO USER jdoe show?</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The roles granted to user jdoe.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reverse, SHOW GRANTS OF ROLE analyst, shows which users hold a role.</a:t>
            </a:r>
            <a:endParaRPr lang="en-US" sz="11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Tutorials, Next Steps &amp; Cheat Sheet</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Deck slides 24–25  ·  part 4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137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Q328</a:t>
            </a:r>
            <a:endParaRPr lang="en-US" sz="1300" dirty="0"/>
          </a:p>
        </p:txBody>
      </p:sp>
      <p:sp>
        <p:nvSpPr>
          <p:cNvPr id="11" name="Shape 11"/>
          <p:cNvSpPr/>
          <p:nvPr/>
        </p:nvSpPr>
        <p:spPr>
          <a:xfrm>
            <a:off x="502920" y="1664208"/>
            <a:ext cx="640080" cy="219456"/>
          </a:xfrm>
          <a:prstGeom prst="roundRect">
            <a:avLst>
              <a:gd name="adj" fmla="val 30000"/>
            </a:avLst>
          </a:prstGeom>
          <a:solidFill>
            <a:srgbClr val="2E9E6A"/>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BASIC</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Which three commands are 'recover' commands on the cheat sheet?</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SELECT … AT(OFFSET =&gt; …) (Time Travel), UNDROP TABLE, and CREATE TABLE … CLONE.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All three rely on Time Travel retention, so set retention thoughtfully for important tables.</a:t>
            </a:r>
            <a:endParaRPr lang="en-US" sz="11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Section 22 · Scenario &amp; Interview Questions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Whole deck</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138 / 142</a:t>
            </a:r>
            <a:endParaRPr lang="en-US" sz="1000" dirty="0"/>
          </a:p>
        </p:txBody>
      </p:sp>
      <p:sp>
        <p:nvSpPr>
          <p:cNvPr id="9" name="Shape 9"/>
          <p:cNvSpPr/>
          <p:nvPr/>
        </p:nvSpPr>
        <p:spPr>
          <a:xfrm>
            <a:off x="548640" y="2011680"/>
            <a:ext cx="11109960" cy="2377440"/>
          </a:xfrm>
          <a:prstGeom prst="roundRect">
            <a:avLst>
              <a:gd name="adj" fmla="val 6000"/>
            </a:avLst>
          </a:prstGeom>
          <a:solidFill>
            <a:srgbClr val="EAF6FC"/>
          </a:solidFill>
          <a:ln w="12700">
            <a:solidFill>
              <a:srgbClr val="29B5E8"/>
            </a:solidFill>
          </a:ln>
        </p:spPr>
        <p:txBody>
          <a:bodyPr wrap="square" lIns="91440" tIns="91440" rIns="91440" bIns="91440" anchor="t" rtlCol="0">
            <a:noAutofit/>
          </a:bodyPr>
          <a:lstStyle/>
          <a:p>
            <a:endParaRPr lang="en-US" dirty="0"/>
          </a:p>
        </p:txBody>
      </p:sp>
      <p:sp>
        <p:nvSpPr>
          <p:cNvPr id="10" name="Shape 10"/>
          <p:cNvSpPr/>
          <p:nvPr/>
        </p:nvSpPr>
        <p:spPr>
          <a:xfrm>
            <a:off x="822960" y="2194560"/>
            <a:ext cx="10607040" cy="2103120"/>
          </a:xfrm>
          <a:prstGeom prst="rect">
            <a:avLst/>
          </a:prstGeom>
          <a:noFill/>
          <a:ln>
            <a:noFill/>
          </a:ln>
        </p:spPr>
        <p:txBody>
          <a:bodyPr wrap="square" lIns="45720" tIns="45720" rIns="45720" bIns="45720" anchor="t" rtlCol="0">
            <a:noAutofit/>
          </a:bodyPr>
          <a:lstStyle/>
          <a:p>
            <a:pPr algn="ctr">
              <a:lnSpc>
                <a:spcPct val="100000"/>
              </a:lnSpc>
              <a:spcBef>
                <a:spcPts val="1000"/>
              </a:spcBef>
              <a:spcAft>
                <a:spcPts val="0"/>
              </a:spcAft>
              <a:buNone/>
            </a:pPr>
            <a:r>
              <a:rPr lang="en-US" sz="1600" dirty="0" b="1">
                <a:solidFill>
                  <a:srgbClr val="11567F"/>
                </a:solidFill>
              </a:rPr>
              <a:t>Section 22 of 22</a:t>
            </a:r>
            <a:endParaRPr lang="en-US" sz="1600" dirty="0"/>
          </a:p>
          <a:p>
            <a:pPr algn="ctr">
              <a:lnSpc>
                <a:spcPct val="100000"/>
              </a:lnSpc>
              <a:spcBef>
                <a:spcPts val="800"/>
              </a:spcBef>
              <a:spcAft>
                <a:spcPts val="0"/>
              </a:spcAft>
              <a:buNone/>
            </a:pPr>
            <a:r>
              <a:rPr lang="en-US" sz="3600" dirty="0" b="1">
                <a:solidFill>
                  <a:srgbClr val="0B2545"/>
                </a:solidFill>
              </a:rPr>
              <a:t>Scenario &amp; Interview Questions</a:t>
            </a:r>
            <a:endParaRPr lang="en-US" sz="3600" dirty="0"/>
          </a:p>
          <a:p>
            <a:pPr algn="ctr">
              <a:lnSpc>
                <a:spcPct val="100000"/>
              </a:lnSpc>
              <a:spcBef>
                <a:spcPts val="1000"/>
              </a:spcBef>
              <a:spcAft>
                <a:spcPts val="0"/>
              </a:spcAft>
              <a:buNone/>
            </a:pPr>
            <a:r>
              <a:rPr lang="en-US" sz="1600" dirty="0">
                <a:solidFill>
                  <a:srgbClr val="6B7280"/>
                </a:solidFill>
              </a:rPr>
              <a:t>10 questions  ·  Whole deck</a:t>
            </a:r>
            <a:endParaRPr lang="en-US" sz="16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Scenario &amp; Interview Questions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Whole deck  ·  part 1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139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Q329</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Explain the end-to-end steps to get a CSV from your laptop into a table analysts can query.</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Create warehouse → database/schema/table → file format → stage → PUT → COPY INTO → validate → create role → grant USAGE on WH/DB/schema + SELECT (all + future) → grant role to users.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Interviewers look for completeness (compute, storage, loading, validation, security) and best practices (named stage, file format, future grants).</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Q330</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Design warehouses for ETL, BI dashboards (50 users) and data science.</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ETL_WH (M/L, auto-suspend, scheduled), BI_WH (S, multi-cluster 1–4, STANDARD policy), DS_WH (Snowpark-optimized if ML-heavy). Add a resource monitor on each.</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The reasoning matters: workload isolation, per-workload sizing, concurrency for BI, memory for ML, and cost guardrails.</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Q331</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does Snowflake handle concurrency differently from a traditional database?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Instead of one shared server, you give workloads separate warehouses and use multi-cluster warehouses that add clusters automatically when queries queue.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Key points: no contention between workloads, automatic scale-out for concurrency, and no need to over-provision one big server.</a:t>
            </a:r>
            <a:endParaRPr lang="en-US" sz="11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Scenario &amp; Interview Questions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Whole deck  ·  part 2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140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Q332</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would you give a partner company access to live sales data?</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Secure Data Sharing: create a share (or listing), grant USAGE on the DB/schema and SELECT on secure views, and add the partner's account (or a reader account if they don't use Snowflake).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For partners without Snowflake, a reader account lets them query shared data, and the provider pays their compute.</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Q333</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would you protect PII columns like email from analysts?</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Masking policies (Enterprise+) applied to the columns, with a policy that shows real values only to authorized roles. Also consider row access policies and tags.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Masking is dynamic: data is stored once, and each query shows masked or real values depending on the user's role.</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Q334</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Your trial is ending. What should you check before choosing an edition?</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Needed features (multi-cluster, 90-day Time Travel, masking → Enterprise; HIPAA/PCI, PrivateLink, failover → Business Critical), region/cloud, and expected credit usage.</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Choose the lowest edition that meets requirements; upgrading later is easy, downgrading is harder.</a:t>
            </a:r>
            <a:endParaRPr lang="en-US" sz="11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Scenario &amp; Interview Questions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Whole deck  ·  part 3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141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Q335</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do you make pipelines idempotent in Snowflake?</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Rely on COPY load metadata, use MERGE on business keys instead of blind INSERT, dedupe with QUALIFY ROW_NUMBER(), and avoid FORCE = TRUE.</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Idempotent means safe to rerun without duplicates or side effects, which retries and backfills depend on.</a:t>
            </a:r>
            <a:endParaRPr lang="en-US" sz="1150" dirty="0"/>
          </a:p>
        </p:txBody>
      </p:sp>
      <p:sp>
        <p:nvSpPr>
          <p:cNvPr id="15" name="Shape 15"/>
          <p:cNvSpPr/>
          <p:nvPr/>
        </p:nvSpPr>
        <p:spPr>
          <a:xfrm>
            <a:off x="411480" y="2926080"/>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6" name="Shape 16"/>
          <p:cNvSpPr/>
          <p:nvPr/>
        </p:nvSpPr>
        <p:spPr>
          <a:xfrm>
            <a:off x="502920" y="3017520"/>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Q336</a:t>
            </a:r>
            <a:endParaRPr lang="en-US" sz="1300" dirty="0"/>
          </a:p>
        </p:txBody>
      </p:sp>
      <p:sp>
        <p:nvSpPr>
          <p:cNvPr id="17" name="Shape 17"/>
          <p:cNvSpPr/>
          <p:nvPr/>
        </p:nvSpPr>
        <p:spPr>
          <a:xfrm>
            <a:off x="502920" y="3419856"/>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8" name="Shape 18"/>
          <p:cNvSpPr/>
          <p:nvPr/>
        </p:nvSpPr>
        <p:spPr>
          <a:xfrm>
            <a:off x="1280160" y="2980944"/>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What would you monitor weekly as a new Snowflake admin?</a:t>
            </a:r>
            <a:endParaRPr lang="en-US" sz="1400" dirty="0"/>
          </a:p>
        </p:txBody>
      </p:sp>
      <p:sp>
        <p:nvSpPr>
          <p:cNvPr id="19" name="Shape 19"/>
          <p:cNvSpPr/>
          <p:nvPr/>
        </p:nvSpPr>
        <p:spPr>
          <a:xfrm>
            <a:off x="1280160" y="3346704"/>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Credit usage per warehouse, top expensive queries, failed logins/MFA status, users with ACCOUNTADMIN, storage growth (incl. Time Travel/Fail-safe), failed loads and tasks.</a:t>
            </a:r>
            <a:endParaRPr lang="en-US" sz="1200" dirty="0"/>
          </a:p>
        </p:txBody>
      </p:sp>
      <p:sp>
        <p:nvSpPr>
          <p:cNvPr id="20" name="Shape 20"/>
          <p:cNvSpPr/>
          <p:nvPr/>
        </p:nvSpPr>
        <p:spPr>
          <a:xfrm>
            <a:off x="1280160" y="3913632"/>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It covers least privilege, cost awareness, security posture and pipeline health, a practical checklist for any Snowflake admin.</a:t>
            </a:r>
            <a:endParaRPr lang="en-US" sz="1150" dirty="0"/>
          </a:p>
        </p:txBody>
      </p:sp>
      <p:sp>
        <p:nvSpPr>
          <p:cNvPr id="21" name="Shape 21"/>
          <p:cNvSpPr/>
          <p:nvPr/>
        </p:nvSpPr>
        <p:spPr>
          <a:xfrm>
            <a:off x="411480" y="4681728"/>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22" name="Shape 22"/>
          <p:cNvSpPr/>
          <p:nvPr/>
        </p:nvSpPr>
        <p:spPr>
          <a:xfrm>
            <a:off x="502920" y="4773168"/>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Q337</a:t>
            </a:r>
            <a:endParaRPr lang="en-US" sz="1300" dirty="0"/>
          </a:p>
        </p:txBody>
      </p:sp>
      <p:sp>
        <p:nvSpPr>
          <p:cNvPr id="23" name="Shape 23"/>
          <p:cNvSpPr/>
          <p:nvPr/>
        </p:nvSpPr>
        <p:spPr>
          <a:xfrm>
            <a:off x="502920" y="5175504"/>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24" name="Shape 24"/>
          <p:cNvSpPr/>
          <p:nvPr/>
        </p:nvSpPr>
        <p:spPr>
          <a:xfrm>
            <a:off x="1280160" y="4736592"/>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How would you schedule a daily SQL transformation inside Snowflake?</a:t>
            </a:r>
            <a:endParaRPr lang="en-US" sz="1400" dirty="0"/>
          </a:p>
        </p:txBody>
      </p:sp>
      <p:sp>
        <p:nvSpPr>
          <p:cNvPr id="25" name="Shape 25"/>
          <p:cNvSpPr/>
          <p:nvPr/>
        </p:nvSpPr>
        <p:spPr>
          <a:xfrm>
            <a:off x="1280160" y="5102352"/>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CREATE TASK … WAREHOUSE = etl_wh SCHEDULE = 'USING CRON 0 2 * * * UTC' AS &lt;SQL&gt;; ALTER TASK … RESUME;  (streams can capture changes incrementally)</a:t>
            </a:r>
            <a:endParaRPr lang="en-US" sz="1200" dirty="0"/>
          </a:p>
        </p:txBody>
      </p:sp>
      <p:sp>
        <p:nvSpPr>
          <p:cNvPr id="26" name="Shape 26"/>
          <p:cNvSpPr/>
          <p:nvPr/>
        </p:nvSpPr>
        <p:spPr>
          <a:xfrm>
            <a:off x="1280160" y="5669280"/>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Tasks can be chained into DAGs (AFTER), and with streams they process only new changes (incremental ELT).</a:t>
            </a:r>
            <a:endParaRPr lang="en-US" sz="11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3"/>
          <p:cNvSpPr/>
          <p:nvPr/>
        </p:nvSpPr>
        <p:spPr>
          <a:xfrm>
            <a:off x="0" y="0"/>
            <a:ext cx="12191695" cy="960120"/>
          </a:xfrm>
          <a:prstGeom prst="rect">
            <a:avLst/>
          </a:prstGeom>
          <a:solidFill>
            <a:srgbClr val="0B2545"/>
          </a:solidFill>
          <a:ln>
            <a:noFill/>
          </a:ln>
        </p:spPr>
        <p:txBody>
          <a:bodyPr wrap="square" lIns="91440" tIns="91440" rIns="91440" bIns="91440" anchor="t" rtlCol="0">
            <a:noAutofit/>
          </a:bodyPr>
          <a:lstStyle/>
          <a:p>
            <a:endParaRPr lang="en-US" dirty="0"/>
          </a:p>
        </p:txBody>
      </p:sp>
      <p:sp>
        <p:nvSpPr>
          <p:cNvPr id="4" name="Shape 4"/>
          <p:cNvSpPr/>
          <p:nvPr/>
        </p:nvSpPr>
        <p:spPr>
          <a:xfrm>
            <a:off x="0" y="960120"/>
            <a:ext cx="12191695" cy="54864"/>
          </a:xfrm>
          <a:prstGeom prst="rect">
            <a:avLst/>
          </a:prstGeom>
          <a:solidFill>
            <a:srgbClr val="29B5E8"/>
          </a:solidFill>
          <a:ln>
            <a:noFill/>
          </a:ln>
        </p:spPr>
        <p:txBody>
          <a:bodyPr wrap="square" lIns="91440" tIns="91440" rIns="91440" bIns="91440" anchor="t" rtlCol="0">
            <a:noAutofit/>
          </a:bodyPr>
          <a:lstStyle/>
          <a:p>
            <a:endParaRPr lang="en-US" dirty="0"/>
          </a:p>
        </p:txBody>
      </p:sp>
      <p:sp>
        <p:nvSpPr>
          <p:cNvPr id="5" name="Shape 5"/>
          <p:cNvSpPr/>
          <p:nvPr/>
        </p:nvSpPr>
        <p:spPr>
          <a:xfrm>
            <a:off x="457200" y="109728"/>
            <a:ext cx="11247120" cy="566928"/>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2800" dirty="0" b="1">
                <a:solidFill>
                  <a:srgbClr val="FFFFFF"/>
                </a:solidFill>
              </a:rPr>
              <a:t>Scenario &amp; Interview Questions</a:t>
            </a:r>
            <a:endParaRPr lang="en-US" sz="2800" dirty="0"/>
          </a:p>
        </p:txBody>
      </p:sp>
      <p:sp>
        <p:nvSpPr>
          <p:cNvPr id="6" name="Shape 6"/>
          <p:cNvSpPr/>
          <p:nvPr/>
        </p:nvSpPr>
        <p:spPr>
          <a:xfrm>
            <a:off x="457200" y="585216"/>
            <a:ext cx="11247120" cy="329184"/>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300" dirty="0">
                <a:solidFill>
                  <a:srgbClr val="BFE6F7"/>
                </a:solidFill>
              </a:rPr>
              <a:t>Whole deck  ·  part 4 of 4</a:t>
            </a:r>
            <a:endParaRPr lang="en-US" sz="1300" dirty="0"/>
          </a:p>
        </p:txBody>
      </p:sp>
      <p:sp>
        <p:nvSpPr>
          <p:cNvPr id="7" name="Shape 7"/>
          <p:cNvSpPr/>
          <p:nvPr/>
        </p:nvSpPr>
        <p:spPr>
          <a:xfrm>
            <a:off x="457200" y="6492240"/>
            <a:ext cx="7315200" cy="27432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000" dirty="0">
                <a:solidFill>
                  <a:srgbClr val="6B7280"/>
                </a:solidFill>
              </a:rPr>
              <a:t>Snowflake · Getting Started</a:t>
            </a:r>
            <a:endParaRPr lang="en-US" sz="1000" dirty="0"/>
          </a:p>
        </p:txBody>
      </p:sp>
      <p:sp>
        <p:nvSpPr>
          <p:cNvPr id="8" name="Shape 8"/>
          <p:cNvSpPr/>
          <p:nvPr/>
        </p:nvSpPr>
        <p:spPr>
          <a:xfrm>
            <a:off x="10332720" y="6492240"/>
            <a:ext cx="1417320" cy="274320"/>
          </a:xfrm>
          <a:prstGeom prst="rect">
            <a:avLst/>
          </a:prstGeom>
          <a:noFill/>
          <a:ln>
            <a:noFill/>
          </a:ln>
        </p:spPr>
        <p:txBody>
          <a:bodyPr wrap="square" lIns="45720" tIns="45720" rIns="45720" bIns="45720" anchor="t" rtlCol="0">
            <a:noAutofit/>
          </a:bodyPr>
          <a:lstStyle/>
          <a:p>
            <a:pPr algn="r">
              <a:lnSpc>
                <a:spcPct val="100000"/>
              </a:lnSpc>
              <a:spcBef>
                <a:spcPts val="0"/>
              </a:spcBef>
              <a:spcAft>
                <a:spcPts val="0"/>
              </a:spcAft>
              <a:buNone/>
            </a:pPr>
            <a:r>
              <a:rPr lang="en-US" sz="1000" dirty="0">
                <a:solidFill>
                  <a:srgbClr val="6B7280"/>
                </a:solidFill>
              </a:rPr>
              <a:t>142 / 142</a:t>
            </a:r>
            <a:endParaRPr lang="en-US" sz="1000" dirty="0"/>
          </a:p>
        </p:txBody>
      </p:sp>
      <p:sp>
        <p:nvSpPr>
          <p:cNvPr id="9" name="Shape 9"/>
          <p:cNvSpPr/>
          <p:nvPr/>
        </p:nvSpPr>
        <p:spPr>
          <a:xfrm>
            <a:off x="411480" y="1170432"/>
            <a:ext cx="11384280" cy="1664208"/>
          </a:xfrm>
          <a:prstGeom prst="roundRect">
            <a:avLst>
              <a:gd name="adj" fmla="val 4000"/>
            </a:avLst>
          </a:prstGeom>
          <a:solidFill>
            <a:srgbClr val="FFFFFF"/>
          </a:solidFill>
          <a:ln w="12700">
            <a:solidFill>
              <a:srgbClr val="D1D5DB"/>
            </a:solidFill>
          </a:ln>
        </p:spPr>
        <p:txBody>
          <a:bodyPr wrap="square" lIns="91440" tIns="91440" rIns="91440" bIns="91440" anchor="t" rtlCol="0">
            <a:noAutofit/>
          </a:bodyPr>
          <a:lstStyle/>
          <a:p>
            <a:endParaRPr lang="en-US" dirty="0"/>
          </a:p>
        </p:txBody>
      </p:sp>
      <p:sp>
        <p:nvSpPr>
          <p:cNvPr id="10" name="Shape 10"/>
          <p:cNvSpPr/>
          <p:nvPr/>
        </p:nvSpPr>
        <p:spPr>
          <a:xfrm>
            <a:off x="502920" y="1261872"/>
            <a:ext cx="640080" cy="347472"/>
          </a:xfrm>
          <a:prstGeom prst="roundRect">
            <a:avLst>
              <a:gd name="adj" fmla="val 25000"/>
            </a:avLst>
          </a:prstGeom>
          <a:solidFill>
            <a:srgbClr val="11567F"/>
          </a:solidFill>
          <a:ln>
            <a:noFill/>
          </a:ln>
        </p:spPr>
        <p:txBody>
          <a:bodyPr wrap="square" lIns="9144" tIns="9144" rIns="9144" bIns="9144" anchor="ctr" rtlCol="0">
            <a:noAutofit/>
          </a:bodyPr>
          <a:lstStyle/>
          <a:p>
            <a:pPr algn="ctr">
              <a:lnSpc>
                <a:spcPct val="100000"/>
              </a:lnSpc>
              <a:spcBef>
                <a:spcPts val="0"/>
              </a:spcBef>
              <a:spcAft>
                <a:spcPts val="0"/>
              </a:spcAft>
              <a:buNone/>
            </a:pPr>
            <a:r>
              <a:rPr lang="en-US" sz="1300" dirty="0" b="1">
                <a:solidFill>
                  <a:srgbClr val="FFFFFF"/>
                </a:solidFill>
              </a:rPr>
              <a:t>Q338</a:t>
            </a:r>
            <a:endParaRPr lang="en-US" sz="1300" dirty="0"/>
          </a:p>
        </p:txBody>
      </p:sp>
      <p:sp>
        <p:nvSpPr>
          <p:cNvPr id="11" name="Shape 11"/>
          <p:cNvSpPr/>
          <p:nvPr/>
        </p:nvSpPr>
        <p:spPr>
          <a:xfrm>
            <a:off x="502920" y="1664208"/>
            <a:ext cx="640080" cy="219456"/>
          </a:xfrm>
          <a:prstGeom prst="roundRect">
            <a:avLst>
              <a:gd name="adj" fmla="val 30000"/>
            </a:avLst>
          </a:prstGeom>
          <a:solidFill>
            <a:srgbClr val="DC2626"/>
          </a:solidFill>
          <a:ln>
            <a:noFill/>
          </a:ln>
        </p:spPr>
        <p:txBody>
          <a:bodyPr wrap="square" lIns="0" tIns="0" rIns="0" bIns="0" anchor="ctr" rtlCol="0">
            <a:noAutofit/>
          </a:bodyPr>
          <a:lstStyle/>
          <a:p>
            <a:pPr algn="ctr">
              <a:lnSpc>
                <a:spcPct val="100000"/>
              </a:lnSpc>
              <a:spcBef>
                <a:spcPts val="0"/>
              </a:spcBef>
              <a:spcAft>
                <a:spcPts val="0"/>
              </a:spcAft>
              <a:buNone/>
            </a:pPr>
            <a:r>
              <a:rPr lang="en-US" sz="750" dirty="0" b="1">
                <a:solidFill>
                  <a:srgbClr val="FFFFFF"/>
                </a:solidFill>
              </a:rPr>
              <a:t>ADV</a:t>
            </a:r>
            <a:endParaRPr lang="en-US" sz="750" dirty="0"/>
          </a:p>
        </p:txBody>
      </p:sp>
      <p:sp>
        <p:nvSpPr>
          <p:cNvPr id="12" name="Shape 12"/>
          <p:cNvSpPr/>
          <p:nvPr/>
        </p:nvSpPr>
        <p:spPr>
          <a:xfrm>
            <a:off x="1280160" y="1225296"/>
            <a:ext cx="10424160" cy="365760"/>
          </a:xfrm>
          <a:prstGeom prst="rect">
            <a:avLst/>
          </a:prstGeom>
          <a:noFill/>
          <a:ln>
            <a:noFill/>
          </a:ln>
        </p:spPr>
        <p:txBody>
          <a:bodyPr wrap="square" lIns="45720" tIns="45720" rIns="45720" bIns="45720" anchor="ctr" rtlCol="0">
            <a:noAutofit/>
          </a:bodyPr>
          <a:lstStyle/>
          <a:p>
            <a:pPr algn="l">
              <a:lnSpc>
                <a:spcPct val="100000"/>
              </a:lnSpc>
              <a:spcBef>
                <a:spcPts val="0"/>
              </a:spcBef>
              <a:spcAft>
                <a:spcPts val="0"/>
              </a:spcAft>
              <a:buNone/>
            </a:pPr>
            <a:r>
              <a:rPr lang="en-US" sz="1400" dirty="0" b="1">
                <a:solidFill>
                  <a:srgbClr val="0B2545"/>
                </a:solidFill>
              </a:rPr>
              <a:t>Summarize the five key takeaways of the deck.</a:t>
            </a:r>
            <a:endParaRPr lang="en-US" sz="1400" dirty="0"/>
          </a:p>
        </p:txBody>
      </p:sp>
      <p:sp>
        <p:nvSpPr>
          <p:cNvPr id="13" name="Shape 13"/>
          <p:cNvSpPr/>
          <p:nvPr/>
        </p:nvSpPr>
        <p:spPr>
          <a:xfrm>
            <a:off x="1280160" y="1591056"/>
            <a:ext cx="10424160" cy="548640"/>
          </a:xfrm>
          <a:prstGeom prst="rect">
            <a:avLst/>
          </a:prstGeom>
          <a:noFill/>
          <a:ln>
            <a:noFill/>
          </a:ln>
        </p:spPr>
        <p:txBody>
          <a:bodyPr wrap="square" lIns="45720" tIns="45720" rIns="45720" bIns="45720" anchor="t" rtlCol="0">
            <a:noAutofit/>
          </a:bodyPr>
          <a:lstStyle/>
          <a:p>
            <a:pPr algn="l">
              <a:lnSpc>
                <a:spcPct val="100000"/>
              </a:lnSpc>
              <a:spcBef>
                <a:spcPts val="0"/>
              </a:spcBef>
              <a:spcAft>
                <a:spcPts val="0"/>
              </a:spcAft>
              <a:buNone/>
            </a:pPr>
            <a:r>
              <a:rPr lang="en-US" sz="1200" dirty="0" b="1">
                <a:solidFill>
                  <a:srgbClr val="2E9E6A"/>
                </a:solidFill>
              </a:rPr>
              <a:t>Answer: </a:t>
            </a:r>
            <a:r>
              <a:rPr lang="en-US" sz="1200" dirty="0">
                <a:solidFill>
                  <a:srgbClr val="1F2937"/>
                </a:solidFill>
              </a:rPr>
              <a:t>Storage ≠ compute; context (role, warehouse, db.schema) is everything; load through stages with COPY/Snowpipe; secure with RBAC (USAGE chain + SELECT); guard cost with auto-suspend, right-sizing and resource monitors.</a:t>
            </a:r>
            <a:endParaRPr lang="en-US" sz="1200" dirty="0"/>
          </a:p>
        </p:txBody>
      </p:sp>
      <p:sp>
        <p:nvSpPr>
          <p:cNvPr id="14" name="Shape 14"/>
          <p:cNvSpPr/>
          <p:nvPr/>
        </p:nvSpPr>
        <p:spPr>
          <a:xfrm>
            <a:off x="1280160" y="2157984"/>
            <a:ext cx="10424160" cy="603504"/>
          </a:xfrm>
          <a:prstGeom prst="roundRect">
            <a:avLst>
              <a:gd name="adj" fmla="val 12000"/>
            </a:avLst>
          </a:prstGeom>
          <a:solidFill>
            <a:srgbClr val="EAF6FC"/>
          </a:solidFill>
          <a:ln>
            <a:noFill/>
          </a:ln>
        </p:spPr>
        <p:txBody>
          <a:bodyPr wrap="square" lIns="64008" tIns="64008" rIns="64008" bIns="64008" anchor="t" rtlCol="0">
            <a:noAutofit/>
          </a:bodyPr>
          <a:lstStyle/>
          <a:p>
            <a:pPr algn="l">
              <a:lnSpc>
                <a:spcPct val="100000"/>
              </a:lnSpc>
              <a:spcBef>
                <a:spcPts val="0"/>
              </a:spcBef>
              <a:spcAft>
                <a:spcPts val="0"/>
              </a:spcAft>
              <a:buNone/>
            </a:pPr>
            <a:r>
              <a:rPr lang="en-US" sz="1150" dirty="0" b="1">
                <a:solidFill>
                  <a:srgbClr val="11567F"/>
                </a:solidFill>
              </a:rPr>
              <a:t>Why / explanation: </a:t>
            </a:r>
            <a:r>
              <a:rPr lang="en-US" sz="1150" dirty="0">
                <a:solidFill>
                  <a:srgbClr val="374151"/>
                </a:solidFill>
              </a:rPr>
              <a:t>If you remember nothing else, remember these five. They underpin almost every other question in this bank.</a:t>
            </a:r>
            <a:endParaRPr lang="en-US" sz="1150" dirty="0"/>
          </a:p>
        </p:txBody>
      </p:sp>
    </p:spTree>
  </p:cSld>
  <p:clrMapOvr>
    <a:masterClrMapping/>
  </p:clrMapOvr>
</p:sld>
</file>

<file path=ppt/theme/theme1.xml><?xml version="1.0" encoding="utf-8"?>
<a:theme xmlns:a="http://schemas.openxmlformats.org/drawingml/2006/main" name="Snowflake">
  <a:themeElements>
    <a:clrScheme name="Snowflake">
      <a:dk1>
        <a:srgbClr val="1F2937"/>
      </a:dk1>
      <a:lt1>
        <a:srgbClr val="FFFFFF"/>
      </a:lt1>
      <a:dk2>
        <a:srgbClr val="0B2545"/>
      </a:dk2>
      <a:lt2>
        <a:srgbClr val="EAF6FC"/>
      </a:lt2>
      <a:accent1>
        <a:srgbClr val="29B5E8"/>
      </a:accent1>
      <a:accent2>
        <a:srgbClr val="11567F"/>
      </a:accent2>
      <a:accent3>
        <a:srgbClr val="2E9E6A"/>
      </a:accent3>
      <a:accent4>
        <a:srgbClr val="F59E0B"/>
      </a:accent4>
      <a:accent5>
        <a:srgbClr val="1B7FB5"/>
      </a:accent5>
      <a:accent6>
        <a:srgbClr val="DC2626"/>
      </a:accent6>
      <a:hlink>
        <a:srgbClr val="1B7FB5"/>
      </a:hlink>
      <a:folHlink>
        <a:srgbClr val="6B8EAD"/>
      </a:folHlink>
    </a:clrScheme>
    <a:fontScheme name="Snowflake">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Snowflake">
  <a:themeElements>
    <a:clrScheme name="Snowflake">
      <a:dk1>
        <a:srgbClr val="1F2937"/>
      </a:dk1>
      <a:lt1>
        <a:srgbClr val="FFFFFF"/>
      </a:lt1>
      <a:dk2>
        <a:srgbClr val="0B2545"/>
      </a:dk2>
      <a:lt2>
        <a:srgbClr val="EAF6FC"/>
      </a:lt2>
      <a:accent1>
        <a:srgbClr val="29B5E8"/>
      </a:accent1>
      <a:accent2>
        <a:srgbClr val="11567F"/>
      </a:accent2>
      <a:accent3>
        <a:srgbClr val="2E9E6A"/>
      </a:accent3>
      <a:accent4>
        <a:srgbClr val="F59E0B"/>
      </a:accent4>
      <a:accent5>
        <a:srgbClr val="1B7FB5"/>
      </a:accent5>
      <a:accent6>
        <a:srgbClr val="DC2626"/>
      </a:accent6>
      <a:hlink>
        <a:srgbClr val="1B7FB5"/>
      </a:hlink>
      <a:folHlink>
        <a:srgbClr val="6B8EAD"/>
      </a:folHlink>
    </a:clrScheme>
    <a:fontScheme name="Snowflake">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142</Slides>
  <Notes>142</Notes>
</Properties>
</file>

<file path=docProps/core.xml><?xml version="1.0" encoding="utf-8"?>
<cp:coreProperties xmlns:cp="http://schemas.openxmlformats.org/package/2006/metadata/core-properties" xmlns:dc="http://purl.org/dc/elements/1.1/" xmlns:dcterms="http://purl.org/dc/terms/" xmlns:xsi="http://www.w3.org/2001/XMLSchema-instance">
  <dc:title>Getting Started with Snowflake</dc:title>
  <dc:creator>MegaByte</dc:creator>
  <dcterms:created xsi:type="dcterms:W3CDTF">2026-09-23T14:58:14Z</dcterms:created>
  <dcterms:modified xsi:type="dcterms:W3CDTF">2026-09-23T14:58:14Z</dcterms:modified>
</cp:coreProperties>
</file>