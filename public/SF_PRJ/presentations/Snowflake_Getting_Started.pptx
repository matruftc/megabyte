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01"/>
    <p:sldId id="257" r:id="rId102"/>
    <p:sldId id="258" r:id="rId103"/>
    <p:sldId id="259" r:id="rId104"/>
    <p:sldId id="260" r:id="rId105"/>
    <p:sldId id="261" r:id="rId106"/>
    <p:sldId id="262" r:id="rId107"/>
    <p:sldId id="263" r:id="rId108"/>
    <p:sldId id="264" r:id="rId109"/>
    <p:sldId id="265" r:id="rId110"/>
    <p:sldId id="266" r:id="rId111"/>
    <p:sldId id="267" r:id="rId112"/>
    <p:sldId id="268" r:id="rId113"/>
    <p:sldId id="269" r:id="rId114"/>
    <p:sldId id="270" r:id="rId115"/>
    <p:sldId id="271" r:id="rId116"/>
    <p:sldId id="272" r:id="rId117"/>
    <p:sldId id="273" r:id="rId118"/>
    <p:sldId id="274" r:id="rId119"/>
    <p:sldId id="275" r:id="rId120"/>
    <p:sldId id="276" r:id="rId121"/>
    <p:sldId id="277" r:id="rId122"/>
    <p:sldId id="278" r:id="rId123"/>
    <p:sldId id="279" r:id="rId124"/>
    <p:sldId id="280" r:id="rId125"/>
    <p:sldId id="281" r:id="rId12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120" Type="http://schemas.openxmlformats.org/officeDocument/2006/relationships/slide" Target="slides/slide20.xml"/><Relationship Id="rId121" Type="http://schemas.openxmlformats.org/officeDocument/2006/relationships/slide" Target="slides/slide21.xml"/><Relationship Id="rId122" Type="http://schemas.openxmlformats.org/officeDocument/2006/relationships/slide" Target="slides/slide22.xml"/><Relationship Id="rId123" Type="http://schemas.openxmlformats.org/officeDocument/2006/relationships/slide" Target="slides/slide23.xml"/><Relationship Id="rId124" Type="http://schemas.openxmlformats.org/officeDocument/2006/relationships/slide" Target="slides/slide24.xml"/><Relationship Id="rId125" Type="http://schemas.openxmlformats.org/officeDocument/2006/relationships/slide" Target="slides/slide25.xml"/><Relationship Id="rId126" Type="http://schemas.openxmlformats.org/officeDocument/2006/relationships/slide" Target="slides/slide26.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cNvSpPr>
            <a:spLocks noGrp="1"/>
          </p:cNvSpPr>
          <p:nvPr>
            <p:ph type="sldImg" idx="2"/>
          </p:nvPr>
        </p:nvSpPr>
        <p:spPr>
          <a:xfrm>
            <a:off x="381000" y="685800"/>
            <a:ext cx="6096000" cy="3429000"/>
          </a:xfrm>
          <a:prstGeom prst="rect">
            <a:avLst/>
          </a:prstGeom>
        </p:spPr>
      </p:sp>
      <p:sp>
        <p:nvSpPr>
          <p:cNvPr id="3" name="Notes"/>
          <p:cNvSpPr>
            <a:spLocks noGrp="1"/>
          </p:cNvSpPr>
          <p:nvPr>
            <p:ph type="body" idx="1"/>
          </p:nvPr>
        </p:nvSpPr>
        <p:spPr>
          <a:xfrm>
            <a:off x="685800" y="4343400"/>
            <a:ext cx="5486400" cy="41148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Style>
    <a:lvl1pPr>
      <a:defRPr sz="1200">
        <a:solidFill>
          <a:schemeClr val="tx1"/>
        </a:solidFill>
        <a:latin typeface="+mn-lt"/>
      </a:defRPr>
    </a:lvl1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Welcome. This deck walks through Snowflake's 'Getting Started' guide in detail, explaining every core concept and giving a working SQL example for each step.</a:t>
            </a:r>
          </a:p>
          <a:p>
            <a:endParaRPr lang="en-US" sz="1200" dirty="0"/>
          </a:p>
          <a:p>
            <a:r>
              <a:rPr lang="en-US" sz="1200" dirty="0"/>
              <a:t>Source: https://docs.snowflake.com/en/user-guide-getting-started. The page could not be fetched automatically when the deck was built (network proxy), so the content comes from general Snowflake documentation knowledge. Check product names and UI labels against the live docs before presenting to a wide audience.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The deck has three parts. First the concepts: what Snowflake is, how it is built, and the vocabulary you need. Then setup: getting an account, connecting, and understanding objects, roles and warehouses. Finally seven hands-on examples that take you from an empty account to loaded, queryable, secured data, followed by cost practices, common mistakes, next steps and a cheat sheet.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Snowflake is software-as-a-service. There is no hardware to provision and no software to install, patch or tune: Snowflake handles maintenance, upgrades and tuning.</a:t>
            </a:r>
          </a:p>
          <a:p>
            <a:endParaRPr lang="en-US" sz="1200" dirty="0"/>
          </a:p>
          <a:p>
            <a:r>
              <a:rPr lang="en-US" sz="1200" dirty="0"/>
              <a:t>Its defining design choice is that storage and compute are separate. Data sits once in cloud object storage, and any number of independent compute clusters (virtual warehouses) can query it without competing with each other.</a:t>
            </a:r>
          </a:p>
          <a:p>
            <a:endParaRPr lang="en-US" sz="1200" dirty="0"/>
          </a:p>
          <a:p>
            <a:r>
              <a:rPr lang="en-US" sz="1200" dirty="0"/>
              <a:t>It runs on AWS, Azure and Google Cloud, and supports standard SQL, semi-structured data (JSON, Parquet, Avro), Python/Java/Scala through Snowpark, secure data sharing, and AI/ML features such as Snowflake Cortex.</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Top layer, CLOUD SERVICES: the 'brain'. It authenticates users, enforces access control, stores metadata, parses and optimizes queries, and manages infrastructure. It also serves the result cache: an identical query re-run within 24 hours (with unchanged data) returns instantly without using a warehouse.</a:t>
            </a:r>
          </a:p>
          <a:p>
            <a:endParaRPr lang="en-US" sz="1200" dirty="0"/>
          </a:p>
          <a:p>
            <a:r>
              <a:rPr lang="en-US" sz="1200" dirty="0"/>
              <a:t>Middle layer, QUERY PROCESSING: virtual warehouses. Each is an independent MPP compute cluster. Because they are independent, a heavy ETL job on one warehouse does not slow a BI dashboard on another.</a:t>
            </a:r>
          </a:p>
          <a:p>
            <a:endParaRPr lang="en-US" sz="1200" dirty="0"/>
          </a:p>
          <a:p>
            <a:r>
              <a:rPr lang="en-US" sz="1200" dirty="0"/>
              <a:t>Bottom layer, DATABASE STORAGE: data is converted to a compressed, columnar format and stored in micro-partitions in cloud object storage. You never see or manage the files directly; you only access them through SQL.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Keep this slide as a reference. The most important relationship is that a warehouse is COMPUTE and a database is STORAGE. They are completely separate objects. You need both to run a query: a database for the data and a running warehouse to do the work.</a:t>
            </a:r>
          </a:p>
          <a:p>
            <a:endParaRPr lang="en-US" sz="1200" dirty="0"/>
          </a:p>
          <a:p>
            <a:r>
              <a:rPr lang="en-US" sz="1200" dirty="0"/>
              <a:t>Fully-qualified object names follow DATABASE.SCHEMA.OBJECT, e.g. SALES_DB.RAW.ORDERS.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Editions are cumulative: each one includes everything in the one before it.</a:t>
            </a:r>
          </a:p>
          <a:p>
            <a:endParaRPr lang="en-US" sz="1200" dirty="0"/>
          </a:p>
          <a:p>
            <a:r>
              <a:rPr lang="en-US" sz="1200" dirty="0"/>
              <a:t>STANDARD: the full SQL platform, including Time Travel of up to 1 day, secure data sharing, and encryption.</a:t>
            </a:r>
          </a:p>
          <a:p>
            <a:r>
              <a:rPr lang="en-US" sz="1200" dirty="0"/>
              <a:t>ENTERPRISE: adds multi-cluster warehouses for concurrency, Time Travel up to 90 days, materialized views, search optimization, and column/row-level security.</a:t>
            </a:r>
          </a:p>
          <a:p>
            <a:r>
              <a:rPr lang="en-US" sz="1200" dirty="0"/>
              <a:t>BUSINESS CRITICAL: adds support for regulated data (HIPAA, PCI DSS), Tri-Secret Secure customer-managed keys, private connectivity (PrivateLink), and account failover/failback for disaster recovery.</a:t>
            </a:r>
          </a:p>
          <a:p>
            <a:r>
              <a:rPr lang="en-US" sz="1200" dirty="0"/>
              <a:t>VIRTUAL PRIVATE SNOWFLAKE (VPS): a completely separate Snowflake environment for the highest isolation requirements.</a:t>
            </a:r>
          </a:p>
          <a:p>
            <a:endParaRPr lang="en-US" sz="1200" dirty="0"/>
          </a:p>
          <a:p>
            <a:r>
              <a:rPr lang="en-US" sz="1200" dirty="0"/>
              <a:t>Each account lives in ONE region of ONE cloud. Choose a region close to your data and users to reduce latency and egress cost. Replication makes data available in other regions and clouds.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This is the end-to-end path a new user follows, and the order of the hands-on examples.</a:t>
            </a:r>
          </a:p>
          <a:p>
            <a:r>
              <a:rPr lang="en-US" sz="1200" dirty="0"/>
              <a:t>1) Get an account and log in. 2) Create a warehouse so you have compute. 3) Create a database and schema so you have somewhere to put data. 4) Load data through a stage with COPY INTO. 5) Query it, including semi-structured JSON. 6) Create users and roles so others can access it securely. 7) Put cost guardrails in place.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1) Sign up for the free 30-day trial on the Snowflake website. It comes with free usage credits and no credit card is needed.</a:t>
            </a:r>
          </a:p>
          <a:p>
            <a:r>
              <a:rPr lang="en-US" sz="1200" dirty="0"/>
              <a:t>2) Choose edition, cloud provider and region. Enterprise is a good default for learning.</a:t>
            </a:r>
          </a:p>
          <a:p>
            <a:r>
              <a:rPr lang="en-US" sz="1200" dirty="0"/>
              <a:t>3) Activate from the email and create your username and password.</a:t>
            </a:r>
          </a:p>
          <a:p>
            <a:r>
              <a:rPr lang="en-US" sz="1200" dirty="0"/>
              <a:t>4) Log in to Snowsight, the web interface, at app.snowflake.com.</a:t>
            </a:r>
          </a:p>
          <a:p>
            <a:endParaRPr lang="en-US" sz="1200" dirty="0"/>
          </a:p>
          <a:p>
            <a:r>
              <a:rPr lang="en-US" sz="1200" dirty="0"/>
              <a:t>ACCOUNT IDENTIFIERS: the preferred format is &lt;orgname&gt;-&lt;account_name&gt;, e.g. myorg-analytics. Tools and drivers use this. The older format is the 'account locator', e.g. xy12345.us-east-2.aws. You can find both in Snowsight from the account menu (bottom-left) under account details.</a:t>
            </a:r>
          </a:p>
          <a:p>
            <a:endParaRPr lang="en-US" sz="1200" dirty="0"/>
          </a:p>
          <a:p>
            <a:r>
              <a:rPr lang="en-US" sz="1200" dirty="0"/>
              <a:t>Enable MFA. Snowflake is phasing out single-factor password logins for human users.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SNOWSIGHT is the browser UI: worksheets, notebooks, dashboards, data browser and admin pages. Most beginners start here.</a:t>
            </a:r>
          </a:p>
          <a:p>
            <a:endParaRPr lang="en-US" sz="1200" dirty="0"/>
          </a:p>
          <a:p>
            <a:r>
              <a:rPr lang="en-US" sz="1200" dirty="0"/>
              <a:t>SNOWFLAKE CLI ('snow') is the current command-line tool for SQL, Snowpark, Streamlit and Native Apps. SnowSQL is the older CLI and is still common in existing scripts. You need a command-line client (not Snowsight) to run PUT and GET to upload or download local files.</a:t>
            </a:r>
          </a:p>
          <a:p>
            <a:endParaRPr lang="en-US" sz="1200" dirty="0"/>
          </a:p>
          <a:p>
            <a:r>
              <a:rPr lang="en-US" sz="1200" dirty="0"/>
              <a:t>DRIVERS and CONNECTORS let applications connect: JDBC, ODBC, Python, Node.js, Go, .NET, PHP, plus Spark and Kafka connectors. Partner tools include BI (Tableau, Power BI), ELT (dbt, Fivetran) and more, found via Partner Connect.</a:t>
            </a:r>
          </a:p>
          <a:p>
            <a:endParaRPr lang="en-US" sz="1200" dirty="0"/>
          </a:p>
          <a:p>
            <a:r>
              <a:rPr lang="en-US" sz="1200" dirty="0"/>
              <a:t>The Python example uses externalbrowser (SSO) authentication, which suits corporate SSO setups.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The left navigation groups features by purpose. Exact labels change between Snowsight releases, so treat this as a map rather than exact text.</a:t>
            </a:r>
          </a:p>
          <a:p>
            <a:endParaRPr lang="en-US" sz="1200" dirty="0"/>
          </a:p>
          <a:p>
            <a:r>
              <a:rPr lang="en-US" sz="1200" dirty="0"/>
              <a:t>PROJECTS: worksheets (SQL and Python), notebooks, Streamlit apps, dashboards.</a:t>
            </a:r>
          </a:p>
          <a:p>
            <a:r>
              <a:rPr lang="en-US" sz="1200" dirty="0"/>
              <a:t>DATA: browse databases, schemas and tables; preview data; add or load data.</a:t>
            </a:r>
          </a:p>
          <a:p>
            <a:r>
              <a:rPr lang="en-US" sz="1200" dirty="0"/>
              <a:t>DATA PRODUCTS: the Marketplace and private sharing.</a:t>
            </a:r>
          </a:p>
          <a:p>
            <a:r>
              <a:rPr lang="en-US" sz="1200" dirty="0"/>
              <a:t>AI &amp; ML: Cortex features.</a:t>
            </a:r>
          </a:p>
          <a:p>
            <a:r>
              <a:rPr lang="en-US" sz="1200" dirty="0"/>
              <a:t>MONITORING: query history, copy history, task history. Open a query's Query Profile to see where time went.</a:t>
            </a:r>
          </a:p>
          <a:p>
            <a:r>
              <a:rPr lang="en-US" sz="1200" dirty="0"/>
              <a:t>ADMIN: warehouses, cost management, users &amp; roles, security.</a:t>
            </a:r>
          </a:p>
          <a:p>
            <a:endParaRPr lang="en-US" sz="1200" dirty="0"/>
          </a:p>
          <a:p>
            <a:r>
              <a:rPr lang="en-US" sz="1200" dirty="0"/>
              <a:t>In a worksheet, ALWAYS check the context selectors (role, warehouse, database.schema) at the top. Most beginner errors come from the wrong context.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An ORGANIZATION groups one or more ACCOUNTS. Inside an account there are account-level objects: users, roles, warehouses, databases, integrations and resource monitors.</a:t>
            </a:r>
          </a:p>
          <a:p>
            <a:endParaRPr lang="en-US" sz="1200" dirty="0"/>
          </a:p>
          <a:p>
            <a:r>
              <a:rPr lang="en-US" sz="1200" dirty="0"/>
              <a:t>A DATABASE contains SCHEMAS. Every new database automatically gets a PUBLIC schema and an INFORMATION_SCHEMA (read-only metadata views).</a:t>
            </a:r>
          </a:p>
          <a:p>
            <a:endParaRPr lang="en-US" sz="1200" dirty="0"/>
          </a:p>
          <a:p>
            <a:r>
              <a:rPr lang="en-US" sz="1200" dirty="0"/>
              <a:t>A SCHEMA holds the schema-level objects: tables, views, stages, file formats, sequences, functions and procedures, tasks, streams and pipes.</a:t>
            </a:r>
          </a:p>
          <a:p>
            <a:endParaRPr lang="en-US" sz="1200" dirty="0"/>
          </a:p>
          <a:p>
            <a:r>
              <a:rPr lang="en-US" sz="1200" dirty="0"/>
              <a:t>Unquoted identifiers are stored in UPPERCASE and are case-insensitive. Quoted identifiers ("MyTable") are case-sensitive and must always be quoted, so avoid them.</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Snowflake uses role-based access control. Privileges (SELECT, USAGE, CREATE…) are granted to ROLES, and roles are granted to USERS or to other roles. A user acts through one primary role at a time (USE ROLE) and can enable secondary roles.</a:t>
            </a:r>
          </a:p>
          <a:p>
            <a:endParaRPr lang="en-US" sz="1200" dirty="0"/>
          </a:p>
          <a:p>
            <a:r>
              <a:rPr lang="en-US" sz="1200" dirty="0"/>
              <a:t>SYSTEM ROLES:</a:t>
            </a:r>
          </a:p>
          <a:p>
            <a:r>
              <a:rPr lang="en-US" sz="1200" dirty="0"/>
              <a:t>ACCOUNTADMIN: the most powerful role (SYSADMIN + SECURITYADMIN). Keep it to very few people and never use it for daily work.</a:t>
            </a:r>
          </a:p>
          <a:p>
            <a:r>
              <a:rPr lang="en-US" sz="1200" dirty="0"/>
              <a:t>SECURITYADMIN: manages grants globally (MANAGE GRANTS) and inherits USERADMIN.</a:t>
            </a:r>
          </a:p>
          <a:p>
            <a:r>
              <a:rPr lang="en-US" sz="1200" dirty="0"/>
              <a:t>USERADMIN: creates users and roles.</a:t>
            </a:r>
          </a:p>
          <a:p>
            <a:r>
              <a:rPr lang="en-US" sz="1200" dirty="0"/>
              <a:t>SYSADMIN: creates warehouses, databases and other objects.</a:t>
            </a:r>
          </a:p>
          <a:p>
            <a:r>
              <a:rPr lang="en-US" sz="1200" dirty="0"/>
              <a:t>PUBLIC: granted to everyone automatically.</a:t>
            </a:r>
          </a:p>
          <a:p>
            <a:r>
              <a:rPr lang="en-US" sz="1200" dirty="0"/>
              <a:t>ORGADMIN: manages organization-level operations such as creating accounts.</a:t>
            </a:r>
          </a:p>
          <a:p>
            <a:endParaRPr lang="en-US" sz="1200" dirty="0"/>
          </a:p>
          <a:p>
            <a:r>
              <a:rPr lang="en-US" sz="1200" dirty="0"/>
              <a:t>Best practice: grant every custom role to SYSADMIN so that admins can manage the objects those roles create.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A virtual warehouse is the compute that runs your queries, DML and data loads. Each size step doubles the compute and doubles the credits per hour.</a:t>
            </a:r>
          </a:p>
          <a:p>
            <a:endParaRPr lang="en-US" sz="1200" dirty="0"/>
          </a:p>
          <a:p>
            <a:r>
              <a:rPr lang="en-US" sz="1200" dirty="0"/>
              <a:t>BILLING: per second, with a 60-second minimum each time a warehouse starts or resumes. A suspended warehouse costs nothing.</a:t>
            </a:r>
          </a:p>
          <a:p>
            <a:endParaRPr lang="en-US" sz="1200" dirty="0"/>
          </a:p>
          <a:p>
            <a:r>
              <a:rPr lang="en-US" sz="1200" dirty="0"/>
              <a:t>AUTO_SUSPEND stops the warehouse after N seconds idle, and AUTO_RESUME restarts it when a query arrives. Keep these on almost always.</a:t>
            </a:r>
          </a:p>
          <a:p>
            <a:endParaRPr lang="en-US" sz="1200" dirty="0"/>
          </a:p>
          <a:p>
            <a:r>
              <a:rPr lang="en-US" sz="1200" dirty="0"/>
              <a:t>SCALE UP (a bigger size) to make large, complex queries faster. SCALE OUT (multi-cluster, Enterprise edition) to handle many concurrent users. More clusters do not make a single query faster.</a:t>
            </a:r>
          </a:p>
          <a:p>
            <a:endParaRPr lang="en-US" sz="1200" dirty="0"/>
          </a:p>
          <a:p>
            <a:r>
              <a:rPr lang="en-US" sz="1200" dirty="0"/>
              <a:t>Types: Standard, and Snowpark-optimized (more memory per node for ML and large Python workloads).</a:t>
            </a:r>
          </a:p>
          <a:p>
            <a:endParaRPr lang="en-US" sz="1200" dirty="0"/>
          </a:p>
          <a:p>
            <a:r>
              <a:rPr lang="en-US" sz="1200" dirty="0"/>
              <a:t>Credit prices vary by edition, cloud and region. Check your contract or the Snowflake pricing page.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Line by line:</a:t>
            </a:r>
          </a:p>
          <a:p>
            <a:r>
              <a:rPr lang="en-US" sz="1200" dirty="0"/>
              <a:t>USE ROLE SYSADMIN: switch to the role that creates infrastructure objects.</a:t>
            </a:r>
          </a:p>
          <a:p>
            <a:r>
              <a:rPr lang="en-US" sz="1200" dirty="0"/>
              <a:t>CREATE WAREHOUSE IF NOT EXISTS: safe to re-run and won't error if it exists.</a:t>
            </a:r>
          </a:p>
          <a:p>
            <a:r>
              <a:rPr lang="en-US" sz="1200" dirty="0"/>
              <a:t>WAREHOUSE_SIZE = 'XSMALL': the smallest and cheapest size (1 credit/hour), plenty for learning.</a:t>
            </a:r>
          </a:p>
          <a:p>
            <a:r>
              <a:rPr lang="en-US" sz="1200" dirty="0"/>
              <a:t>AUTO_SUSPEND = 60: suspends after 60 idle seconds, so you stop paying.</a:t>
            </a:r>
          </a:p>
          <a:p>
            <a:r>
              <a:rPr lang="en-US" sz="1200" dirty="0"/>
              <a:t>AUTO_RESUME = TRUE: wakes up automatically on the next query.</a:t>
            </a:r>
          </a:p>
          <a:p>
            <a:r>
              <a:rPr lang="en-US" sz="1200" dirty="0"/>
              <a:t>INITIALLY_SUSPENDED = TRUE: no credits are used until the first query.</a:t>
            </a:r>
          </a:p>
          <a:p>
            <a:r>
              <a:rPr lang="en-US" sz="1200" dirty="0"/>
              <a:t>USE WAREHOUSE sets it as the session's compute.</a:t>
            </a:r>
          </a:p>
          <a:p>
            <a:r>
              <a:rPr lang="en-US" sz="1200" dirty="0"/>
              <a:t>The last SELECT confirms your context. Get into the habit of running it whenever something looks wrong.</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CREATE DATABASE automatically creates two schemas: PUBLIC and INFORMATION_SCHEMA. We add our own schema, RAW, for landing data.</a:t>
            </a:r>
          </a:p>
          <a:p>
            <a:endParaRPr lang="en-US" sz="1200" dirty="0"/>
          </a:p>
          <a:p>
            <a:r>
              <a:rPr lang="en-US" sz="1200" dirty="0"/>
              <a:t>The table uses common types: NUMBER, VARCHAR, DATE, NUMBER(10,2) for money, and a TIMESTAMP_LTZ audit column with a default.</a:t>
            </a:r>
          </a:p>
          <a:p>
            <a:endParaRPr lang="en-US" sz="1200" dirty="0"/>
          </a:p>
          <a:p>
            <a:r>
              <a:rPr lang="en-US" sz="1200" dirty="0"/>
              <a:t>WARNING: CREATE OR REPLACE TABLE drops and recreates the table, so all data is lost. Use it in tutorials only. In real environments use CREATE TABLE IF NOT EXISTS or ALTER TABLE.</a:t>
            </a:r>
          </a:p>
          <a:p>
            <a:endParaRPr lang="en-US" sz="1200" dirty="0"/>
          </a:p>
          <a:p>
            <a:r>
              <a:rPr lang="en-US" sz="1200" dirty="0"/>
              <a:t>Snowflake does not enforce PRIMARY KEY or UNIQUE constraints (only NOT NULL), so duplicates are possible. Dedupe in your pipeline.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Snowflake bulk-loads data from FILES that sit in a STAGE.</a:t>
            </a:r>
          </a:p>
          <a:p>
            <a:endParaRPr lang="en-US" sz="1200" dirty="0"/>
          </a:p>
          <a:p>
            <a:r>
              <a:rPr lang="en-US" sz="1200" dirty="0"/>
              <a:t>INTERNAL stages are storage managed by Snowflake. Every user has a user stage (@~), every table has a table stage (@%orders), and you can create named stages (@my_stage). Named stages are the most flexible and the easiest to grant access to.</a:t>
            </a:r>
          </a:p>
          <a:p>
            <a:endParaRPr lang="en-US" sz="1200" dirty="0"/>
          </a:p>
          <a:p>
            <a:r>
              <a:rPr lang="en-US" sz="1200" dirty="0"/>
              <a:t>EXTERNAL stages point to your own cloud storage (S3, Azure Blob, GCS), ideally through a STORAGE INTEGRATION so no keys are stored in SQL.</a:t>
            </a:r>
          </a:p>
          <a:p>
            <a:endParaRPr lang="en-US" sz="1200" dirty="0"/>
          </a:p>
          <a:p>
            <a:r>
              <a:rPr lang="en-US" sz="1200" dirty="0"/>
              <a:t>A FILE FORMAT describes how to parse the files. COPY INTO then loads them in parallel on the current warehouse.</a:t>
            </a:r>
          </a:p>
          <a:p>
            <a:endParaRPr lang="en-US" sz="1200" dirty="0"/>
          </a:p>
          <a:p>
            <a:r>
              <a:rPr lang="en-US" sz="1200" dirty="0"/>
              <a:t>Other options: Snowpipe (continuous auto-ingest from event notifications), Snowpipe Streaming (row-level, low latency), the Snowsight Load Data wizard for small files, and connectors such as Kafka.</a:t>
            </a:r>
          </a:p>
          <a:p>
            <a:endParaRPr lang="en-US" sz="1200" dirty="0"/>
          </a:p>
          <a:p>
            <a:r>
              <a:rPr lang="en-US" sz="1200" dirty="0"/>
              <a:t>Aim for files of about 100–250 MB compressed so the load parallelizes well.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Step 1: the FILE FORMAT says the file is comma-delimited with one header line, text may be wrapped in double quotes, and empty strings or the word NULL become SQL NULL.</a:t>
            </a:r>
          </a:p>
          <a:p>
            <a:r>
              <a:rPr lang="en-US" sz="1200" dirty="0"/>
              <a:t>Step 2: a named internal STAGE with that format attached.</a:t>
            </a:r>
          </a:p>
          <a:p>
            <a:r>
              <a:rPr lang="en-US" sz="1200" dirty="0"/>
              <a:t>Step 3: PUT uploads the file from your computer and gzip-compresses it. PUT must run from Snowflake CLI or SnowSQL, not a Snowsight worksheet.</a:t>
            </a:r>
          </a:p>
          <a:p>
            <a:r>
              <a:rPr lang="en-US" sz="1200" dirty="0"/>
              <a:t>Step 4: LIST shows staged files (orders.csv.gz).</a:t>
            </a:r>
          </a:p>
          <a:p>
            <a:r>
              <a:rPr lang="en-US" sz="1200" dirty="0"/>
              <a:t>Step 5: COPY INTO loads the four file columns into the matching table columns. loaded_at fills from its default. ON_ERROR='CONTINUE' skips bad rows instead of failing the whole file.</a:t>
            </a:r>
          </a:p>
          <a:p>
            <a:r>
              <a:rPr lang="en-US" sz="1200" dirty="0"/>
              <a:t>Step 6: VALIDATE shows the rows the last COPY rejected.</a:t>
            </a:r>
          </a:p>
          <a:p>
            <a:endParaRPr lang="en-US" sz="1200" dirty="0"/>
          </a:p>
          <a:p>
            <a:r>
              <a:rPr lang="en-US" sz="1200" dirty="0"/>
              <a:t>Snowflake keeps 64 days of load metadata, so re-running COPY does NOT load the same file twice (status LOAD_SKIPPED). Use FORCE = TRUE only if you really want to reload.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For production, data usually lands in cloud storage. A STORAGE INTEGRATION is a secure object that lets Snowflake assume an IAM role in your AWS account, so no access keys are stored in SQL.</a:t>
            </a:r>
          </a:p>
          <a:p>
            <a:endParaRPr lang="en-US" sz="1200" dirty="0"/>
          </a:p>
          <a:p>
            <a:r>
              <a:rPr lang="en-US" sz="1200" dirty="0"/>
              <a:t>Flow:</a:t>
            </a:r>
          </a:p>
          <a:p>
            <a:r>
              <a:rPr lang="en-US" sz="1200" dirty="0"/>
              <a:t>1) ACCOUNTADMIN creates the integration with your IAM role ARN and the allowed bucket paths.</a:t>
            </a:r>
          </a:p>
          <a:p>
            <a:r>
              <a:rPr lang="en-US" sz="1200" dirty="0"/>
              <a:t>2) DESC INTEGRATION shows STORAGE_AWS_IAM_USER_ARN and STORAGE_AWS_EXTERNAL_ID. Put these in the IAM role's trust policy in AWS.</a:t>
            </a:r>
          </a:p>
          <a:p>
            <a:r>
              <a:rPr lang="en-US" sz="1200" dirty="0"/>
              <a:t>3) Grant USAGE on the integration to the role that will create stages.</a:t>
            </a:r>
          </a:p>
          <a:p>
            <a:r>
              <a:rPr lang="en-US" sz="1200" dirty="0"/>
              <a:t>4) Create an external stage pointing at the S3 path.</a:t>
            </a:r>
          </a:p>
          <a:p>
            <a:r>
              <a:rPr lang="en-US" sz="1200" dirty="0"/>
              <a:t>5) COPY INTO with a PATTERN (a regular expression) to pick specific files.</a:t>
            </a:r>
          </a:p>
          <a:p>
            <a:endParaRPr lang="en-US" sz="1200" dirty="0"/>
          </a:p>
          <a:p>
            <a:r>
              <a:rPr lang="en-US" sz="1200" dirty="0"/>
              <a:t>Azure and GCS follow the same pattern with STORAGE_PROVIDER = 'AZURE' or 'GCS'. For continuous loading, wrap the COPY in a PIPE with AUTO_INGEST = TRUE (Snowpipe).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1) A normal aggregate query. Standard SQL works as you'd expect.</a:t>
            </a:r>
          </a:p>
          <a:p>
            <a:r>
              <a:rPr lang="en-US" sz="1200" dirty="0"/>
              <a:t>2) SNOWFLAKE_SAMPLE_DATA is a read-only shared database with TPC-H data, useful for practice. In newer accounts you may need to add it from the Marketplace or data sharing first.</a:t>
            </a:r>
          </a:p>
          <a:p>
            <a:r>
              <a:rPr lang="en-US" sz="1200" dirty="0"/>
              <a:t>3) TIME TRAVEL: AT(OFFSET =&gt; -1800) reads the table as it was 30 minutes ago. You can also use AT(TIMESTAMP =&gt; ...) or BEFORE(STATEMENT =&gt; '&lt;query_id&gt;'). Retention is 1 day by default, and up to 90 days on Enterprise+.</a:t>
            </a:r>
          </a:p>
          <a:p>
            <a:r>
              <a:rPr lang="en-US" sz="1200" dirty="0"/>
              <a:t>4) UNDROP restores a dropped table within the retention period.</a:t>
            </a:r>
          </a:p>
          <a:p>
            <a:r>
              <a:rPr lang="en-US" sz="1200" dirty="0"/>
              <a:t>Note: NULLs sort as the highest values, so Umbrella (NULL revenue) comes FIRST with DESC; add NULLS LAST to change that.</a:t>
            </a:r>
          </a:p>
          <a:p>
            <a:r>
              <a:rPr lang="en-US" sz="1200" dirty="0"/>
              <a:t>5) Zero-copy CLONE makes an instant copy that shares storage until either side changes. It's ideal for dev/test copies of production.</a:t>
            </a:r>
          </a:p>
          <a:p>
            <a:endParaRPr lang="en-US" sz="1200" dirty="0"/>
          </a:p>
          <a:p>
            <a:r>
              <a:rPr lang="en-US" sz="1200" dirty="0"/>
              <a:t>After Time Travel ends, data enters the 7-day FAIL-SAFE, which only Snowflake Support can recover.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A VARIANT column stores JSON (or Avro, Parquet, XML) as-is, up to 128 MB per value in current releases. There's no need to define a schema up front.</a:t>
            </a:r>
          </a:p>
          <a:p>
            <a:endParaRPr lang="en-US" sz="1200" dirty="0"/>
          </a:p>
          <a:p>
            <a:r>
              <a:rPr lang="en-US" sz="1200" dirty="0"/>
              <a:t>PATH NOTATION: v:user reads a top-level key and v:device.os reads a nested key. Keys are case-sensitive. The ::STRING / ::INT cast turns the VARIANT value into a normal SQL type. Without the cast you get JSON-quoted output like "jdoe".</a:t>
            </a:r>
          </a:p>
          <a:p>
            <a:endParaRPr lang="en-US" sz="1200" dirty="0"/>
          </a:p>
          <a:p>
            <a:r>
              <a:rPr lang="en-US" sz="1200" dirty="0"/>
              <a:t>LATERAL FLATTEN turns each array element into its own row. i.value is the element, and i.index its position.</a:t>
            </a:r>
          </a:p>
          <a:p>
            <a:endParaRPr lang="en-US" sz="1200" dirty="0"/>
          </a:p>
          <a:p>
            <a:r>
              <a:rPr lang="en-US" sz="1200" dirty="0"/>
              <a:t>Note: PARSE_JSON cannot be used directly in a VALUES clause, which is why we use INSERT … SELECT. For real files, COPY JSON into the VARIANT column with FILE_FORMAT = (TYPE = JSON).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USERADMIN creates the role and the user, and USERADMIN owns them. MUST_CHANGE_PASSWORD forces a reset at first login. In corporate setups users usually come from SSO/SCIM instead of passwords.</a:t>
            </a:r>
          </a:p>
          <a:p>
            <a:endParaRPr lang="en-US" sz="1200" dirty="0"/>
          </a:p>
          <a:p>
            <a:r>
              <a:rPr lang="en-US" sz="1200" dirty="0"/>
              <a:t>Granting ANALYST to SYSADMIN keeps the recommended hierarchy.</a:t>
            </a:r>
          </a:p>
          <a:p>
            <a:endParaRPr lang="en-US" sz="1200" dirty="0"/>
          </a:p>
          <a:p>
            <a:r>
              <a:rPr lang="en-US" sz="1200" dirty="0"/>
              <a:t>SECURITYADMIN (which has MANAGE GRANTS) grants the object privileges. To query a table the role needs USAGE on the warehouse, database and schema, plus SELECT on the tables.</a:t>
            </a:r>
          </a:p>
          <a:p>
            <a:endParaRPr lang="en-US" sz="1200" dirty="0"/>
          </a:p>
          <a:p>
            <a:r>
              <a:rPr lang="en-US" sz="1200" dirty="0"/>
              <a:t>GRANT … ON FUTURE TABLES makes sure tables created later are also readable, a very common gap for beginners.</a:t>
            </a:r>
          </a:p>
          <a:p>
            <a:endParaRPr lang="en-US" sz="1200" dirty="0"/>
          </a:p>
          <a:p>
            <a:r>
              <a:rPr lang="en-US" sz="1200" dirty="0"/>
              <a:t>Verify with SHOW GRANTS TO ROLE analyst, then log in as jdoe and run the SELECT.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Compute is almost always the biggest cost. The key practices:</a:t>
            </a:r>
          </a:p>
          <a:p>
            <a:r>
              <a:rPr lang="en-US" sz="1200" dirty="0"/>
              <a:t>Keep AUTO_SUSPEND short (60 seconds) for ad-hoc and BI warehouses.</a:t>
            </a:r>
          </a:p>
          <a:p>
            <a:r>
              <a:rPr lang="en-US" sz="1200" dirty="0"/>
              <a:t>Start at X-Small and size up only when the Query Profile shows the warehouse is the bottleneck.</a:t>
            </a:r>
          </a:p>
          <a:p>
            <a:r>
              <a:rPr lang="en-US" sz="1200" dirty="0"/>
              <a:t>Give each workload its own warehouse (ETL, BI, data science) so costs are attributable and isolated.</a:t>
            </a:r>
          </a:p>
          <a:p>
            <a:r>
              <a:rPr lang="en-US" sz="1200" dirty="0"/>
              <a:t>Use RESOURCE MONITORS to notify at 80% and suspend at 100% of a credit quota. Only ACCOUNTADMIN can create them.</a:t>
            </a:r>
          </a:p>
          <a:p>
            <a:r>
              <a:rPr lang="en-US" sz="1200" dirty="0"/>
              <a:t>Watch storage: Time Travel retention and Fail-safe add storage. Use TRANSIENT tables for re-creatable staging data (no Fail-safe).</a:t>
            </a:r>
          </a:p>
          <a:p>
            <a:endParaRPr lang="en-US" sz="1200" dirty="0"/>
          </a:p>
          <a:p>
            <a:r>
              <a:rPr lang="en-US" sz="1200" dirty="0"/>
              <a:t>Monitor with SNOWFLAKE.ACCOUNT_USAGE views such as WAREHOUSE_METERING_HISTORY. Note these views can lag by up to a few hours.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Walk through each row. Most beginner problems fall into three groups: the wrong context (role/warehouse), identifier case, and load metadata.</a:t>
            </a:r>
          </a:p>
          <a:p>
            <a:endParaRPr lang="en-US" sz="1200" dirty="0"/>
          </a:p>
          <a:p>
            <a:r>
              <a:rPr lang="en-US" sz="1200" dirty="0"/>
              <a:t>The identifier-case row catches many people: CREATE TABLE "orders" (quoted lowercase) creates a table that must ALWAYS be referenced as "orders" with quotes. SELECT * FROM orders will fail because it looks for ORDERS.</a:t>
            </a:r>
          </a:p>
          <a:p>
            <a:endParaRPr lang="en-US" sz="1200" dirty="0"/>
          </a:p>
          <a:p>
            <a:r>
              <a:rPr lang="en-US" sz="1200" dirty="0"/>
              <a:t>Timestamps: TIMESTAMP_NTZ has no time zone, TIMESTAMP_LTZ is stored in UTC and shown in the session time zone, and TIMESTAMP_TZ stores the offset. Pick one deliberately and be consistent.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The Getting Started section links to hands-on tutorials. A good order:</a:t>
            </a:r>
          </a:p>
          <a:p>
            <a:r>
              <a:rPr lang="en-US" sz="1200" dirty="0"/>
              <a:t>1) Snowsight quick tour and 'Snowflake in 20 minutes' (CLI: stage, load, query).</a:t>
            </a:r>
          </a:p>
          <a:p>
            <a:r>
              <a:rPr lang="en-US" sz="1200" dirty="0"/>
              <a:t>2) Create users and grant roles.</a:t>
            </a:r>
          </a:p>
          <a:p>
            <a:r>
              <a:rPr lang="en-US" sz="1200" dirty="0"/>
              <a:t>3) Load and query sample data using SQL.</a:t>
            </a:r>
          </a:p>
          <a:p>
            <a:r>
              <a:rPr lang="en-US" sz="1200" dirty="0"/>
              <a:t>4) Bulk loading from a local file system, and from Amazon S3 (or Azure / GCS).</a:t>
            </a:r>
          </a:p>
          <a:p>
            <a:r>
              <a:rPr lang="en-US" sz="1200" dirty="0"/>
              <a:t>5) JSON basics.</a:t>
            </a:r>
          </a:p>
          <a:p>
            <a:r>
              <a:rPr lang="en-US" sz="1200" dirty="0"/>
              <a:t>6) Snowpark / Python in Snowflake Notebooks.</a:t>
            </a:r>
          </a:p>
          <a:p>
            <a:endParaRPr lang="en-US" sz="1200" dirty="0"/>
          </a:p>
          <a:p>
            <a:r>
              <a:rPr lang="en-US" sz="1200" dirty="0"/>
              <a:t>Then move on to Snowflake Quickstarts (guided end-to-end labs), and the SnowPro Core certification as a structured goal. (There's already a SnowPro Core slide deck on your Desktop.)</a:t>
            </a:r>
          </a:p>
          <a:p>
            <a:endParaRPr lang="en-US" sz="1200" dirty="0"/>
          </a:p>
          <a:p>
            <a:r>
              <a:rPr lang="en-US" sz="1200" dirty="0"/>
              <a:t>Tutorial titles here are from general knowledge of the docs. Check them against the live page.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A one-page reference to print or keep open. Everything here was covered in the examples.</a:t>
            </a:r>
          </a:p>
          <a:p>
            <a:r>
              <a:rPr lang="en-US" sz="1200" dirty="0"/>
              <a:t>INFORMATION_SCHEMA functions are real-time but limited to recent history (e.g. 7 days of query history). SNOWFLAKE.ACCOUNT_USAGE views keep a year of history but can lag by up to a few hours.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Recap the five key ideas, then open for questions. Suggest the audience complete Examples 1–7 on a trial account. It takes about an hour and uses very few credits on an X-Small warehouse.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lvl1pPr>
    </p:titleStyle>
    <p:bodyStyle>
      <a:lvl1pPr>
        <a:defRPr sz="1800"/>
      </a:lvl1pPr>
    </p:bodyStyle>
    <p:otherStyle>
      <a:lvl1pPr>
        <a:defRPr sz="1800"/>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 name="Shape 3"/>
          <p:cNvSpPr/>
          <p:nvPr/>
        </p:nvSpPr>
        <p:spPr>
          <a:xfrm>
            <a:off x="0" y="0"/>
            <a:ext cx="320040" cy="6858000"/>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4" name="Shape 4"/>
          <p:cNvSpPr/>
          <p:nvPr/>
        </p:nvSpPr>
        <p:spPr>
          <a:xfrm>
            <a:off x="914400" y="1554480"/>
            <a:ext cx="10058400" cy="109728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4800" dirty="0" b="1">
                <a:solidFill>
                  <a:srgbClr val="FFFFFF"/>
                </a:solidFill>
              </a:rPr>
              <a:t>Getting Started with Snowflake</a:t>
            </a:r>
            <a:endParaRPr lang="en-US" sz="4800" dirty="0"/>
          </a:p>
        </p:txBody>
      </p:sp>
      <p:sp>
        <p:nvSpPr>
          <p:cNvPr id="5" name="Shape 5"/>
          <p:cNvSpPr/>
          <p:nvPr/>
        </p:nvSpPr>
        <p:spPr>
          <a:xfrm>
            <a:off x="914400" y="2697480"/>
            <a:ext cx="10058400" cy="64008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2200" dirty="0">
                <a:solidFill>
                  <a:srgbClr val="BFE6F7"/>
                </a:solidFill>
              </a:rPr>
              <a:t>A detailed walkthrough of concepts, setup, and hands-on SQL examples</a:t>
            </a:r>
            <a:endParaRPr lang="en-US" sz="2200" dirty="0"/>
          </a:p>
        </p:txBody>
      </p:sp>
      <p:sp>
        <p:nvSpPr>
          <p:cNvPr id="6" name="Shape 6"/>
          <p:cNvSpPr/>
          <p:nvPr/>
        </p:nvSpPr>
        <p:spPr>
          <a:xfrm>
            <a:off x="914400" y="3520440"/>
            <a:ext cx="2743200" cy="45720"/>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7" name="Shape 7"/>
          <p:cNvSpPr/>
          <p:nvPr/>
        </p:nvSpPr>
        <p:spPr>
          <a:xfrm>
            <a:off x="914400" y="3749040"/>
            <a:ext cx="10058400" cy="128016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400" dirty="0">
                <a:solidFill>
                  <a:srgbClr val="D1E9F6"/>
                </a:solidFill>
              </a:rPr>
              <a:t>Source: docs.snowflake.com/en/user-guide-getting-started</a:t>
            </a:r>
            <a:endParaRPr lang="en-US" sz="1400" dirty="0"/>
          </a:p>
          <a:p>
            <a:pPr algn="l">
              <a:lnSpc>
                <a:spcPct val="100000"/>
              </a:lnSpc>
              <a:spcBef>
                <a:spcPts val="600"/>
              </a:spcBef>
              <a:spcAft>
                <a:spcPts val="0"/>
              </a:spcAft>
              <a:buNone/>
            </a:pPr>
            <a:r>
              <a:rPr lang="en-US" sz="1400" dirty="0">
                <a:solidFill>
                  <a:srgbClr val="D1E9F6"/>
                </a:solidFill>
              </a:rPr>
              <a:t>Prepared: September 2026</a:t>
            </a:r>
            <a:endParaRPr lang="en-US" sz="1400" dirty="0"/>
          </a:p>
        </p:txBody>
      </p:sp>
      <p:sp>
        <p:nvSpPr>
          <p:cNvPr id="8" name="Shape 8"/>
          <p:cNvSpPr/>
          <p:nvPr/>
        </p:nvSpPr>
        <p:spPr>
          <a:xfrm>
            <a:off x="914400" y="5943600"/>
            <a:ext cx="1051560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100" dirty="0">
                <a:solidFill>
                  <a:srgbClr val="8FB3C9"/>
                </a:solidFill>
              </a:rPr>
              <a:t>Note: built from general Snowflake documentation knowledge; check UI labels against the live docs.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Agenda</a:t>
            </a:r>
            <a:endParaRPr lang="en-US" sz="2800" dirty="0"/>
          </a:p>
        </p:txBody>
      </p:sp>
      <p:sp>
        <p:nvSpPr>
          <p:cNvPr id="6" name="Shape 6"/>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7" name="Shape 7"/>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 / 26</a:t>
            </a:r>
            <a:endParaRPr lang="en-US" sz="1000" dirty="0"/>
          </a:p>
        </p:txBody>
      </p:sp>
      <p:sp>
        <p:nvSpPr>
          <p:cNvPr id="8" name="Shape 8"/>
          <p:cNvSpPr/>
          <p:nvPr/>
        </p:nvSpPr>
        <p:spPr>
          <a:xfrm>
            <a:off x="548640" y="1371600"/>
            <a:ext cx="3520440" cy="4846320"/>
          </a:xfrm>
          <a:prstGeom prst="roundRect">
            <a:avLst>
              <a:gd name="adj" fmla="val 6000"/>
            </a:avLst>
          </a:prstGeom>
          <a:solidFill>
            <a:srgbClr val="FFFFFF"/>
          </a:solidFill>
          <a:ln w="12700">
            <a:solidFill>
              <a:srgbClr val="D1D5DB"/>
            </a:solidFill>
          </a:ln>
          <a:effectLst>
            <a:outerShdw blurRad="50800" dist="19050" dir="5400000" algn="t" rotWithShape="0">
              <a:srgbClr val="000000">
                <a:alpha val="18000"/>
              </a:srgbClr>
            </a:outerShdw>
          </a:effectLst>
        </p:spPr>
        <p:txBody>
          <a:bodyPr wrap="square" lIns="91440" tIns="91440" rIns="91440" bIns="91440" anchor="t" rtlCol="0">
            <a:noAutofit/>
          </a:bodyPr>
          <a:lstStyle/>
          <a:p>
            <a:endParaRPr lang="en-US" dirty="0"/>
          </a:p>
        </p:txBody>
      </p:sp>
      <p:sp>
        <p:nvSpPr>
          <p:cNvPr id="9" name="Shape 9"/>
          <p:cNvSpPr/>
          <p:nvPr/>
        </p:nvSpPr>
        <p:spPr>
          <a:xfrm>
            <a:off x="548640" y="1371600"/>
            <a:ext cx="3520440" cy="457200"/>
          </a:xfrm>
          <a:prstGeom prst="roundRect">
            <a:avLst>
              <a:gd name="adj" fmla="val 18000"/>
            </a:avLst>
          </a:prstGeom>
          <a:solidFill>
            <a:srgbClr val="11567F"/>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600" dirty="0" b="1">
                <a:solidFill>
                  <a:srgbClr val="FFFFFF"/>
                </a:solidFill>
              </a:rPr>
              <a:t>PART 1 · CONCEPTS</a:t>
            </a:r>
            <a:endParaRPr lang="en-US" sz="1600" dirty="0"/>
          </a:p>
        </p:txBody>
      </p:sp>
      <p:sp>
        <p:nvSpPr>
          <p:cNvPr id="10" name="Shape 10"/>
          <p:cNvSpPr/>
          <p:nvPr/>
        </p:nvSpPr>
        <p:spPr>
          <a:xfrm>
            <a:off x="640080" y="1901952"/>
            <a:ext cx="3337560" cy="4251960"/>
          </a:xfrm>
          <a:prstGeom prst="rect">
            <a:avLst/>
          </a:prstGeom>
          <a:noFill/>
          <a:ln>
            <a:noFill/>
          </a:ln>
        </p:spPr>
        <p:txBody>
          <a:bodyPr wrap="square" lIns="45720" tIns="45720" rIns="45720" bIns="45720" anchor="t" rtlCol="0">
            <a:noAutofit/>
          </a:bodyPr>
          <a:lstStyle/>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What is Snowflake?</a:t>
            </a:r>
            <a:endParaRPr lang="en-US" sz="1500" dirty="0"/>
          </a:p>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Architecture: 3 layers</a:t>
            </a:r>
            <a:endParaRPr lang="en-US" sz="1500" dirty="0"/>
          </a:p>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Key terms glossary</a:t>
            </a:r>
            <a:endParaRPr lang="en-US" sz="1500" dirty="0"/>
          </a:p>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Editions, clouds &amp; regions</a:t>
            </a:r>
            <a:endParaRPr lang="en-US" sz="1500" dirty="0"/>
          </a:p>
        </p:txBody>
      </p:sp>
      <p:sp>
        <p:nvSpPr>
          <p:cNvPr id="11" name="Shape 11"/>
          <p:cNvSpPr/>
          <p:nvPr/>
        </p:nvSpPr>
        <p:spPr>
          <a:xfrm>
            <a:off x="4297680" y="1371600"/>
            <a:ext cx="3520440" cy="4846320"/>
          </a:xfrm>
          <a:prstGeom prst="roundRect">
            <a:avLst>
              <a:gd name="adj" fmla="val 6000"/>
            </a:avLst>
          </a:prstGeom>
          <a:solidFill>
            <a:srgbClr val="FFFFFF"/>
          </a:solidFill>
          <a:ln w="12700">
            <a:solidFill>
              <a:srgbClr val="D1D5DB"/>
            </a:solidFill>
          </a:ln>
          <a:effectLst>
            <a:outerShdw blurRad="50800" dist="19050" dir="5400000" algn="t" rotWithShape="0">
              <a:srgbClr val="000000">
                <a:alpha val="18000"/>
              </a:srgbClr>
            </a:outerShdw>
          </a:effectLst>
        </p:spPr>
        <p:txBody>
          <a:bodyPr wrap="square" lIns="91440" tIns="91440" rIns="91440" bIns="91440" anchor="t" rtlCol="0">
            <a:noAutofit/>
          </a:bodyPr>
          <a:lstStyle/>
          <a:p>
            <a:endParaRPr lang="en-US" dirty="0"/>
          </a:p>
        </p:txBody>
      </p:sp>
      <p:sp>
        <p:nvSpPr>
          <p:cNvPr id="12" name="Shape 12"/>
          <p:cNvSpPr/>
          <p:nvPr/>
        </p:nvSpPr>
        <p:spPr>
          <a:xfrm>
            <a:off x="4297680" y="1371600"/>
            <a:ext cx="3520440" cy="457200"/>
          </a:xfrm>
          <a:prstGeom prst="roundRect">
            <a:avLst>
              <a:gd name="adj" fmla="val 18000"/>
            </a:avLst>
          </a:prstGeom>
          <a:solidFill>
            <a:srgbClr val="1B7FB5"/>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600" dirty="0" b="1">
                <a:solidFill>
                  <a:srgbClr val="FFFFFF"/>
                </a:solidFill>
              </a:rPr>
              <a:t>PART 2 · SETUP</a:t>
            </a:r>
            <a:endParaRPr lang="en-US" sz="1600" dirty="0"/>
          </a:p>
        </p:txBody>
      </p:sp>
      <p:sp>
        <p:nvSpPr>
          <p:cNvPr id="13" name="Shape 13"/>
          <p:cNvSpPr/>
          <p:nvPr/>
        </p:nvSpPr>
        <p:spPr>
          <a:xfrm>
            <a:off x="4389120" y="1901952"/>
            <a:ext cx="3337560" cy="4251960"/>
          </a:xfrm>
          <a:prstGeom prst="rect">
            <a:avLst/>
          </a:prstGeom>
          <a:noFill/>
          <a:ln>
            <a:noFill/>
          </a:ln>
        </p:spPr>
        <p:txBody>
          <a:bodyPr wrap="square" lIns="45720" tIns="45720" rIns="45720" bIns="45720" anchor="t" rtlCol="0">
            <a:noAutofit/>
          </a:bodyPr>
          <a:lstStyle/>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Your first-day roadmap</a:t>
            </a:r>
            <a:endParaRPr lang="en-US" sz="1500" dirty="0"/>
          </a:p>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Getting an account</a:t>
            </a:r>
            <a:endParaRPr lang="en-US" sz="1500" dirty="0"/>
          </a:p>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Ways to connect</a:t>
            </a:r>
            <a:endParaRPr lang="en-US" sz="1500" dirty="0"/>
          </a:p>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Snowsight tour</a:t>
            </a:r>
            <a:endParaRPr lang="en-US" sz="1500" dirty="0"/>
          </a:p>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Object hierarchy</a:t>
            </a:r>
            <a:endParaRPr lang="en-US" sz="1500" dirty="0"/>
          </a:p>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Roles &amp; access control</a:t>
            </a:r>
            <a:endParaRPr lang="en-US" sz="1500" dirty="0"/>
          </a:p>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Virtual warehouses</a:t>
            </a:r>
            <a:endParaRPr lang="en-US" sz="1500" dirty="0"/>
          </a:p>
        </p:txBody>
      </p:sp>
      <p:sp>
        <p:nvSpPr>
          <p:cNvPr id="14" name="Shape 14"/>
          <p:cNvSpPr/>
          <p:nvPr/>
        </p:nvSpPr>
        <p:spPr>
          <a:xfrm>
            <a:off x="8046720" y="1371600"/>
            <a:ext cx="3520440" cy="4846320"/>
          </a:xfrm>
          <a:prstGeom prst="roundRect">
            <a:avLst>
              <a:gd name="adj" fmla="val 6000"/>
            </a:avLst>
          </a:prstGeom>
          <a:solidFill>
            <a:srgbClr val="FFFFFF"/>
          </a:solidFill>
          <a:ln w="12700">
            <a:solidFill>
              <a:srgbClr val="D1D5DB"/>
            </a:solidFill>
          </a:ln>
          <a:effectLst>
            <a:outerShdw blurRad="50800" dist="19050" dir="5400000" algn="t" rotWithShape="0">
              <a:srgbClr val="000000">
                <a:alpha val="18000"/>
              </a:srgbClr>
            </a:outerShdw>
          </a:effectLst>
        </p:spPr>
        <p:txBody>
          <a:bodyPr wrap="square" lIns="91440" tIns="91440" rIns="91440" bIns="91440" anchor="t" rtlCol="0">
            <a:noAutofit/>
          </a:bodyPr>
          <a:lstStyle/>
          <a:p>
            <a:endParaRPr lang="en-US" dirty="0"/>
          </a:p>
        </p:txBody>
      </p:sp>
      <p:sp>
        <p:nvSpPr>
          <p:cNvPr id="15" name="Shape 15"/>
          <p:cNvSpPr/>
          <p:nvPr/>
        </p:nvSpPr>
        <p:spPr>
          <a:xfrm>
            <a:off x="8046720" y="1371600"/>
            <a:ext cx="3520440" cy="457200"/>
          </a:xfrm>
          <a:prstGeom prst="roundRect">
            <a:avLst>
              <a:gd name="adj" fmla="val 18000"/>
            </a:avLst>
          </a:prstGeom>
          <a:solidFill>
            <a:srgbClr val="29B5E8"/>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600" dirty="0" b="1">
                <a:solidFill>
                  <a:srgbClr val="FFFFFF"/>
                </a:solidFill>
              </a:rPr>
              <a:t>PART 3 · HANDS-ON</a:t>
            </a:r>
            <a:endParaRPr lang="en-US" sz="1600" dirty="0"/>
          </a:p>
        </p:txBody>
      </p:sp>
      <p:sp>
        <p:nvSpPr>
          <p:cNvPr id="16" name="Shape 16"/>
          <p:cNvSpPr/>
          <p:nvPr/>
        </p:nvSpPr>
        <p:spPr>
          <a:xfrm>
            <a:off x="8138160" y="1901952"/>
            <a:ext cx="3337560" cy="4251960"/>
          </a:xfrm>
          <a:prstGeom prst="rect">
            <a:avLst/>
          </a:prstGeom>
          <a:noFill/>
          <a:ln>
            <a:noFill/>
          </a:ln>
        </p:spPr>
        <p:txBody>
          <a:bodyPr wrap="square" lIns="45720" tIns="45720" rIns="45720" bIns="45720" anchor="t" rtlCol="0">
            <a:noAutofit/>
          </a:bodyPr>
          <a:lstStyle/>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Ex 1–7: warehouse → tables → loading → querying → JSON → users</a:t>
            </a:r>
            <a:endParaRPr lang="en-US" sz="1500" dirty="0"/>
          </a:p>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Cost best practices</a:t>
            </a:r>
            <a:endParaRPr lang="en-US" sz="1500" dirty="0"/>
          </a:p>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Common mistakes</a:t>
            </a:r>
            <a:endParaRPr lang="en-US" sz="1500" dirty="0"/>
          </a:p>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Tutorials &amp; next steps</a:t>
            </a:r>
            <a:endParaRPr lang="en-US" sz="1500" dirty="0"/>
          </a:p>
          <a:p>
            <a:pPr algn="l" marL="285750" indent="-285750">
              <a:lnSpc>
                <a:spcPct val="100000"/>
              </a:lnSpc>
              <a:spcBef>
                <a:spcPts val="400"/>
              </a:spcBef>
              <a:spcAft>
                <a:spcPts val="0"/>
              </a:spcAft>
              <a:buClr>
                <a:srgbClr val="29B5E8"/>
              </a:buClr>
              <a:buFont typeface="Arial"/>
              <a:buChar char="•"/>
            </a:pPr>
            <a:r>
              <a:rPr lang="en-US" sz="1500" dirty="0">
                <a:solidFill>
                  <a:srgbClr val="1F2937"/>
                </a:solidFill>
              </a:rPr>
              <a:t>Cheat sheet · Summary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What is Snowflake?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A fully managed cloud data platform delivered as a service</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3 / 26</a:t>
            </a:r>
            <a:endParaRPr lang="en-US" sz="1000" dirty="0"/>
          </a:p>
        </p:txBody>
      </p:sp>
      <p:sp>
        <p:nvSpPr>
          <p:cNvPr id="9" name="Shape 9"/>
          <p:cNvSpPr/>
          <p:nvPr/>
        </p:nvSpPr>
        <p:spPr>
          <a:xfrm>
            <a:off x="548640" y="1280160"/>
            <a:ext cx="5852160" cy="5029200"/>
          </a:xfrm>
          <a:prstGeom prst="rect">
            <a:avLst/>
          </a:prstGeom>
          <a:noFill/>
          <a:ln>
            <a:noFill/>
          </a:ln>
        </p:spPr>
        <p:txBody>
          <a:bodyPr wrap="square" lIns="45720" tIns="45720" rIns="45720" bIns="45720" anchor="t" rtlCol="0">
            <a:noAutofit/>
          </a:bodyPr>
          <a:lstStyle/>
          <a:p>
            <a:pPr algn="l" marL="285750" indent="-285750">
              <a:lnSpc>
                <a:spcPct val="100000"/>
              </a:lnSpc>
              <a:spcBef>
                <a:spcPts val="1000"/>
              </a:spcBef>
              <a:spcAft>
                <a:spcPts val="0"/>
              </a:spcAft>
              <a:buClr>
                <a:srgbClr val="29B5E8"/>
              </a:buClr>
              <a:buFont typeface="Arial"/>
              <a:buChar char="•"/>
            </a:pPr>
            <a:r>
              <a:rPr lang="en-US" sz="1700" dirty="0" b="1">
                <a:solidFill>
                  <a:srgbClr val="1F2937"/>
                </a:solidFill>
              </a:rPr>
              <a:t>SaaS</a:t>
            </a:r>
            <a:r>
              <a:rPr lang="en-US" sz="1700" dirty="0">
                <a:solidFill>
                  <a:srgbClr val="1F2937"/>
                </a:solidFill>
              </a:rPr>
              <a:t>: no hardware, installation, patching or index tuning</a:t>
            </a:r>
            <a:endParaRPr lang="en-US" sz="1700" dirty="0"/>
          </a:p>
          <a:p>
            <a:pPr algn="l" marL="285750" indent="-285750">
              <a:lnSpc>
                <a:spcPct val="100000"/>
              </a:lnSpc>
              <a:spcBef>
                <a:spcPts val="1000"/>
              </a:spcBef>
              <a:spcAft>
                <a:spcPts val="0"/>
              </a:spcAft>
              <a:buClr>
                <a:srgbClr val="29B5E8"/>
              </a:buClr>
              <a:buFont typeface="Arial"/>
              <a:buChar char="•"/>
            </a:pPr>
            <a:r>
              <a:rPr lang="en-US" sz="1700" dirty="0">
                <a:solidFill>
                  <a:srgbClr val="1F2937"/>
                </a:solidFill>
              </a:rPr>
              <a:t>Runs on </a:t>
            </a:r>
            <a:r>
              <a:rPr lang="en-US" sz="1700" dirty="0" b="1">
                <a:solidFill>
                  <a:srgbClr val="1F2937"/>
                </a:solidFill>
              </a:rPr>
              <a:t>AWS, Microsoft Azure, Google Cloud</a:t>
            </a:r>
            <a:endParaRPr lang="en-US" sz="1700" dirty="0"/>
          </a:p>
          <a:p>
            <a:pPr algn="l" marL="285750" indent="-285750">
              <a:lnSpc>
                <a:spcPct val="100000"/>
              </a:lnSpc>
              <a:spcBef>
                <a:spcPts val="1000"/>
              </a:spcBef>
              <a:spcAft>
                <a:spcPts val="0"/>
              </a:spcAft>
              <a:buClr>
                <a:srgbClr val="29B5E8"/>
              </a:buClr>
              <a:buFont typeface="Arial"/>
              <a:buChar char="•"/>
            </a:pPr>
            <a:r>
              <a:rPr lang="en-US" sz="1700" dirty="0" b="1">
                <a:solidFill>
                  <a:srgbClr val="1F2937"/>
                </a:solidFill>
              </a:rPr>
              <a:t>Storage and compute are separate</a:t>
            </a:r>
            <a:r>
              <a:rPr lang="en-US" sz="1700" dirty="0">
                <a:solidFill>
                  <a:srgbClr val="1F2937"/>
                </a:solidFill>
              </a:rPr>
              <a:t>, so they scale and are billed independently</a:t>
            </a:r>
            <a:endParaRPr lang="en-US" sz="1700" dirty="0"/>
          </a:p>
          <a:p>
            <a:pPr algn="l" marL="285750" indent="-285750">
              <a:lnSpc>
                <a:spcPct val="100000"/>
              </a:lnSpc>
              <a:spcBef>
                <a:spcPts val="1000"/>
              </a:spcBef>
              <a:spcAft>
                <a:spcPts val="0"/>
              </a:spcAft>
              <a:buClr>
                <a:srgbClr val="29B5E8"/>
              </a:buClr>
              <a:buFont typeface="Arial"/>
              <a:buChar char="•"/>
            </a:pPr>
            <a:r>
              <a:rPr lang="en-US" sz="1700" dirty="0" b="1">
                <a:solidFill>
                  <a:srgbClr val="1F2937"/>
                </a:solidFill>
              </a:rPr>
              <a:t>ANSI SQL</a:t>
            </a:r>
            <a:r>
              <a:rPr lang="en-US" sz="1700" dirty="0">
                <a:solidFill>
                  <a:srgbClr val="1F2937"/>
                </a:solidFill>
              </a:rPr>
              <a:t> plus native </a:t>
            </a:r>
            <a:r>
              <a:rPr lang="en-US" sz="1700" dirty="0" b="1">
                <a:solidFill>
                  <a:srgbClr val="1F2937"/>
                </a:solidFill>
              </a:rPr>
              <a:t>semi-structured</a:t>
            </a:r>
            <a:r>
              <a:rPr lang="en-US" sz="1700" dirty="0">
                <a:solidFill>
                  <a:srgbClr val="1F2937"/>
                </a:solidFill>
              </a:rPr>
              <a:t> data (JSON, Parquet, Avro, ORC, XML)</a:t>
            </a:r>
            <a:endParaRPr lang="en-US" sz="1700" dirty="0"/>
          </a:p>
          <a:p>
            <a:pPr algn="l" marL="285750" indent="-285750">
              <a:lnSpc>
                <a:spcPct val="100000"/>
              </a:lnSpc>
              <a:spcBef>
                <a:spcPts val="1000"/>
              </a:spcBef>
              <a:spcAft>
                <a:spcPts val="0"/>
              </a:spcAft>
              <a:buClr>
                <a:srgbClr val="29B5E8"/>
              </a:buClr>
              <a:buFont typeface="Arial"/>
              <a:buChar char="•"/>
            </a:pPr>
            <a:r>
              <a:rPr lang="en-US" sz="1700" dirty="0" b="1">
                <a:solidFill>
                  <a:srgbClr val="1F2937"/>
                </a:solidFill>
              </a:rPr>
              <a:t>Snowpark</a:t>
            </a:r>
            <a:r>
              <a:rPr lang="en-US" sz="1700" dirty="0">
                <a:solidFill>
                  <a:srgbClr val="1F2937"/>
                </a:solidFill>
              </a:rPr>
              <a:t>: Python, Java, Scala running inside Snowflake</a:t>
            </a:r>
            <a:endParaRPr lang="en-US" sz="1700" dirty="0"/>
          </a:p>
          <a:p>
            <a:pPr algn="l" marL="285750" indent="-285750">
              <a:lnSpc>
                <a:spcPct val="100000"/>
              </a:lnSpc>
              <a:spcBef>
                <a:spcPts val="1000"/>
              </a:spcBef>
              <a:spcAft>
                <a:spcPts val="0"/>
              </a:spcAft>
              <a:buClr>
                <a:srgbClr val="29B5E8"/>
              </a:buClr>
              <a:buFont typeface="Arial"/>
              <a:buChar char="•"/>
            </a:pPr>
            <a:r>
              <a:rPr lang="en-US" sz="1700" dirty="0" b="1">
                <a:solidFill>
                  <a:srgbClr val="1F2937"/>
                </a:solidFill>
              </a:rPr>
              <a:t>Secure data sharing</a:t>
            </a:r>
            <a:r>
              <a:rPr lang="en-US" sz="1700" dirty="0">
                <a:solidFill>
                  <a:srgbClr val="1F2937"/>
                </a:solidFill>
              </a:rPr>
              <a:t> with no copies, plus the Marketplace</a:t>
            </a:r>
            <a:endParaRPr lang="en-US" sz="1700" dirty="0"/>
          </a:p>
          <a:p>
            <a:pPr algn="l" marL="285750" indent="-285750">
              <a:lnSpc>
                <a:spcPct val="100000"/>
              </a:lnSpc>
              <a:spcBef>
                <a:spcPts val="1000"/>
              </a:spcBef>
              <a:spcAft>
                <a:spcPts val="0"/>
              </a:spcAft>
              <a:buClr>
                <a:srgbClr val="29B5E8"/>
              </a:buClr>
              <a:buFont typeface="Arial"/>
              <a:buChar char="•"/>
            </a:pPr>
            <a:r>
              <a:rPr lang="en-US" sz="1700" dirty="0">
                <a:solidFill>
                  <a:srgbClr val="1F2937"/>
                </a:solidFill>
              </a:rPr>
              <a:t>Built-in </a:t>
            </a:r>
            <a:r>
              <a:rPr lang="en-US" sz="1700" dirty="0" b="1">
                <a:solidFill>
                  <a:srgbClr val="1F2937"/>
                </a:solidFill>
              </a:rPr>
              <a:t>AI / ML</a:t>
            </a:r>
            <a:r>
              <a:rPr lang="en-US" sz="1700" dirty="0">
                <a:solidFill>
                  <a:srgbClr val="1F2937"/>
                </a:solidFill>
              </a:rPr>
              <a:t> (Cortex), Notebooks, Streamlit apps</a:t>
            </a:r>
            <a:endParaRPr lang="en-US" sz="1700" dirty="0"/>
          </a:p>
        </p:txBody>
      </p:sp>
      <p:sp>
        <p:nvSpPr>
          <p:cNvPr id="10" name="Shape 10"/>
          <p:cNvSpPr/>
          <p:nvPr/>
        </p:nvSpPr>
        <p:spPr>
          <a:xfrm>
            <a:off x="6766560" y="1325880"/>
            <a:ext cx="4892040" cy="1078992"/>
          </a:xfrm>
          <a:prstGeom prst="roundRect">
            <a:avLst>
              <a:gd name="adj" fmla="val 10000"/>
            </a:avLst>
          </a:prstGeom>
          <a:solidFill>
            <a:srgbClr val="EAF6FC"/>
          </a:solidFill>
          <a:ln w="19050">
            <a:solidFill>
              <a:srgbClr val="11567F"/>
            </a:solidFill>
          </a:ln>
        </p:spPr>
        <p:txBody>
          <a:bodyPr wrap="square" lIns="91440" tIns="91440" rIns="91440" bIns="91440" anchor="t" rtlCol="0">
            <a:noAutofit/>
          </a:bodyPr>
          <a:lstStyle/>
          <a:p>
            <a:endParaRPr lang="en-US" dirty="0"/>
          </a:p>
        </p:txBody>
      </p:sp>
      <p:sp>
        <p:nvSpPr>
          <p:cNvPr id="11" name="Shape 11"/>
          <p:cNvSpPr/>
          <p:nvPr/>
        </p:nvSpPr>
        <p:spPr>
          <a:xfrm>
            <a:off x="6766560" y="1325880"/>
            <a:ext cx="128016" cy="1078992"/>
          </a:xfrm>
          <a:prstGeom prst="rect">
            <a:avLst/>
          </a:prstGeom>
          <a:solidFill>
            <a:srgbClr val="11567F"/>
          </a:solidFill>
          <a:ln>
            <a:noFill/>
          </a:ln>
        </p:spPr>
        <p:txBody>
          <a:bodyPr wrap="square" lIns="91440" tIns="91440" rIns="91440" bIns="91440" anchor="t" rtlCol="0">
            <a:noAutofit/>
          </a:bodyPr>
          <a:lstStyle/>
          <a:p>
            <a:endParaRPr lang="en-US" dirty="0"/>
          </a:p>
        </p:txBody>
      </p:sp>
      <p:sp>
        <p:nvSpPr>
          <p:cNvPr id="12" name="Shape 12"/>
          <p:cNvSpPr/>
          <p:nvPr/>
        </p:nvSpPr>
        <p:spPr>
          <a:xfrm>
            <a:off x="7040880" y="1417320"/>
            <a:ext cx="4480560" cy="91440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700" dirty="0" b="1">
                <a:solidFill>
                  <a:srgbClr val="11567F"/>
                </a:solidFill>
              </a:rPr>
              <a:t>Elastic scale</a:t>
            </a:r>
            <a:endParaRPr lang="en-US" sz="1700" dirty="0"/>
          </a:p>
          <a:p>
            <a:pPr algn="l">
              <a:lnSpc>
                <a:spcPct val="100000"/>
              </a:lnSpc>
              <a:spcBef>
                <a:spcPts val="300"/>
              </a:spcBef>
              <a:spcAft>
                <a:spcPts val="0"/>
              </a:spcAft>
              <a:buNone/>
            </a:pPr>
            <a:r>
              <a:rPr lang="en-US" sz="1300" dirty="0">
                <a:solidFill>
                  <a:srgbClr val="1F2937"/>
                </a:solidFill>
              </a:rPr>
              <a:t>Resize or add compute in seconds with no data movement</a:t>
            </a:r>
            <a:endParaRPr lang="en-US" sz="1300" dirty="0"/>
          </a:p>
        </p:txBody>
      </p:sp>
      <p:sp>
        <p:nvSpPr>
          <p:cNvPr id="13" name="Shape 13"/>
          <p:cNvSpPr/>
          <p:nvPr/>
        </p:nvSpPr>
        <p:spPr>
          <a:xfrm>
            <a:off x="6766560" y="2560320"/>
            <a:ext cx="4892040" cy="1078992"/>
          </a:xfrm>
          <a:prstGeom prst="roundRect">
            <a:avLst>
              <a:gd name="adj" fmla="val 10000"/>
            </a:avLst>
          </a:prstGeom>
          <a:solidFill>
            <a:srgbClr val="EAF6FC"/>
          </a:solidFill>
          <a:ln w="19050">
            <a:solidFill>
              <a:srgbClr val="1B7FB5"/>
            </a:solidFill>
          </a:ln>
        </p:spPr>
        <p:txBody>
          <a:bodyPr wrap="square" lIns="91440" tIns="91440" rIns="91440" bIns="91440" anchor="t" rtlCol="0">
            <a:noAutofit/>
          </a:bodyPr>
          <a:lstStyle/>
          <a:p>
            <a:endParaRPr lang="en-US" dirty="0"/>
          </a:p>
        </p:txBody>
      </p:sp>
      <p:sp>
        <p:nvSpPr>
          <p:cNvPr id="14" name="Shape 14"/>
          <p:cNvSpPr/>
          <p:nvPr/>
        </p:nvSpPr>
        <p:spPr>
          <a:xfrm>
            <a:off x="6766560" y="2560320"/>
            <a:ext cx="128016" cy="1078992"/>
          </a:xfrm>
          <a:prstGeom prst="rect">
            <a:avLst/>
          </a:prstGeom>
          <a:solidFill>
            <a:srgbClr val="1B7FB5"/>
          </a:solidFill>
          <a:ln>
            <a:noFill/>
          </a:ln>
        </p:spPr>
        <p:txBody>
          <a:bodyPr wrap="square" lIns="91440" tIns="91440" rIns="91440" bIns="91440" anchor="t" rtlCol="0">
            <a:noAutofit/>
          </a:bodyPr>
          <a:lstStyle/>
          <a:p>
            <a:endParaRPr lang="en-US" dirty="0"/>
          </a:p>
        </p:txBody>
      </p:sp>
      <p:sp>
        <p:nvSpPr>
          <p:cNvPr id="15" name="Shape 15"/>
          <p:cNvSpPr/>
          <p:nvPr/>
        </p:nvSpPr>
        <p:spPr>
          <a:xfrm>
            <a:off x="7040880" y="2651760"/>
            <a:ext cx="4480560" cy="91440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700" dirty="0" b="1">
                <a:solidFill>
                  <a:srgbClr val="1B7FB5"/>
                </a:solidFill>
              </a:rPr>
              <a:t>Pay per use</a:t>
            </a:r>
            <a:endParaRPr lang="en-US" sz="1700" dirty="0"/>
          </a:p>
          <a:p>
            <a:pPr algn="l">
              <a:lnSpc>
                <a:spcPct val="100000"/>
              </a:lnSpc>
              <a:spcBef>
                <a:spcPts val="300"/>
              </a:spcBef>
              <a:spcAft>
                <a:spcPts val="0"/>
              </a:spcAft>
              <a:buNone/>
            </a:pPr>
            <a:r>
              <a:rPr lang="en-US" sz="1300" dirty="0">
                <a:solidFill>
                  <a:srgbClr val="1F2937"/>
                </a:solidFill>
              </a:rPr>
              <a:t>Compute billed per second (60 s minimum) only while running</a:t>
            </a:r>
            <a:endParaRPr lang="en-US" sz="1300" dirty="0"/>
          </a:p>
        </p:txBody>
      </p:sp>
      <p:sp>
        <p:nvSpPr>
          <p:cNvPr id="16" name="Shape 16"/>
          <p:cNvSpPr/>
          <p:nvPr/>
        </p:nvSpPr>
        <p:spPr>
          <a:xfrm>
            <a:off x="6766560" y="3794760"/>
            <a:ext cx="4892040" cy="1078992"/>
          </a:xfrm>
          <a:prstGeom prst="roundRect">
            <a:avLst>
              <a:gd name="adj" fmla="val 10000"/>
            </a:avLst>
          </a:prstGeom>
          <a:solidFill>
            <a:srgbClr val="EAF6FC"/>
          </a:solidFill>
          <a:ln w="19050">
            <a:solidFill>
              <a:srgbClr val="29B5E8"/>
            </a:solidFill>
          </a:ln>
        </p:spPr>
        <p:txBody>
          <a:bodyPr wrap="square" lIns="91440" tIns="91440" rIns="91440" bIns="91440" anchor="t" rtlCol="0">
            <a:noAutofit/>
          </a:bodyPr>
          <a:lstStyle/>
          <a:p>
            <a:endParaRPr lang="en-US" dirty="0"/>
          </a:p>
        </p:txBody>
      </p:sp>
      <p:sp>
        <p:nvSpPr>
          <p:cNvPr id="17" name="Shape 17"/>
          <p:cNvSpPr/>
          <p:nvPr/>
        </p:nvSpPr>
        <p:spPr>
          <a:xfrm>
            <a:off x="6766560" y="3794760"/>
            <a:ext cx="128016" cy="1078992"/>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18" name="Shape 18"/>
          <p:cNvSpPr/>
          <p:nvPr/>
        </p:nvSpPr>
        <p:spPr>
          <a:xfrm>
            <a:off x="7040880" y="3886200"/>
            <a:ext cx="4480560" cy="91440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700" dirty="0" b="1">
                <a:solidFill>
                  <a:srgbClr val="29B5E8"/>
                </a:solidFill>
              </a:rPr>
              <a:t>Near-zero admin</a:t>
            </a:r>
            <a:endParaRPr lang="en-US" sz="1700" dirty="0"/>
          </a:p>
          <a:p>
            <a:pPr algn="l">
              <a:lnSpc>
                <a:spcPct val="100000"/>
              </a:lnSpc>
              <a:spcBef>
                <a:spcPts val="300"/>
              </a:spcBef>
              <a:spcAft>
                <a:spcPts val="0"/>
              </a:spcAft>
              <a:buNone/>
            </a:pPr>
            <a:r>
              <a:rPr lang="en-US" sz="1300" dirty="0">
                <a:solidFill>
                  <a:srgbClr val="1F2937"/>
                </a:solidFill>
              </a:rPr>
              <a:t>Automatic storage, micro-partitioning, caching</a:t>
            </a:r>
            <a:endParaRPr lang="en-US" sz="1300" dirty="0"/>
          </a:p>
        </p:txBody>
      </p:sp>
      <p:sp>
        <p:nvSpPr>
          <p:cNvPr id="19" name="Shape 19"/>
          <p:cNvSpPr/>
          <p:nvPr/>
        </p:nvSpPr>
        <p:spPr>
          <a:xfrm>
            <a:off x="6766560" y="5029200"/>
            <a:ext cx="4892040" cy="1078992"/>
          </a:xfrm>
          <a:prstGeom prst="roundRect">
            <a:avLst>
              <a:gd name="adj" fmla="val 10000"/>
            </a:avLst>
          </a:prstGeom>
          <a:solidFill>
            <a:srgbClr val="EAF6FC"/>
          </a:solidFill>
          <a:ln w="19050">
            <a:solidFill>
              <a:srgbClr val="2E9E6A"/>
            </a:solidFill>
          </a:ln>
        </p:spPr>
        <p:txBody>
          <a:bodyPr wrap="square" lIns="91440" tIns="91440" rIns="91440" bIns="91440" anchor="t" rtlCol="0">
            <a:noAutofit/>
          </a:bodyPr>
          <a:lstStyle/>
          <a:p>
            <a:endParaRPr lang="en-US" dirty="0"/>
          </a:p>
        </p:txBody>
      </p:sp>
      <p:sp>
        <p:nvSpPr>
          <p:cNvPr id="20" name="Shape 20"/>
          <p:cNvSpPr/>
          <p:nvPr/>
        </p:nvSpPr>
        <p:spPr>
          <a:xfrm>
            <a:off x="6766560" y="5029200"/>
            <a:ext cx="128016" cy="1078992"/>
          </a:xfrm>
          <a:prstGeom prst="rect">
            <a:avLst/>
          </a:prstGeom>
          <a:solidFill>
            <a:srgbClr val="2E9E6A"/>
          </a:solidFill>
          <a:ln>
            <a:noFill/>
          </a:ln>
        </p:spPr>
        <p:txBody>
          <a:bodyPr wrap="square" lIns="91440" tIns="91440" rIns="91440" bIns="91440" anchor="t" rtlCol="0">
            <a:noAutofit/>
          </a:bodyPr>
          <a:lstStyle/>
          <a:p>
            <a:endParaRPr lang="en-US" dirty="0"/>
          </a:p>
        </p:txBody>
      </p:sp>
      <p:sp>
        <p:nvSpPr>
          <p:cNvPr id="21" name="Shape 21"/>
          <p:cNvSpPr/>
          <p:nvPr/>
        </p:nvSpPr>
        <p:spPr>
          <a:xfrm>
            <a:off x="7040880" y="5120640"/>
            <a:ext cx="4480560" cy="91440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700" dirty="0" b="1">
                <a:solidFill>
                  <a:srgbClr val="2E9E6A"/>
                </a:solidFill>
              </a:rPr>
              <a:t>Governed sharing</a:t>
            </a:r>
            <a:endParaRPr lang="en-US" sz="1700" dirty="0"/>
          </a:p>
          <a:p>
            <a:pPr algn="l">
              <a:lnSpc>
                <a:spcPct val="100000"/>
              </a:lnSpc>
              <a:spcBef>
                <a:spcPts val="300"/>
              </a:spcBef>
              <a:spcAft>
                <a:spcPts val="0"/>
              </a:spcAft>
              <a:buNone/>
            </a:pPr>
            <a:r>
              <a:rPr lang="en-US" sz="1300" dirty="0">
                <a:solidFill>
                  <a:srgbClr val="1F2937"/>
                </a:solidFill>
              </a:rPr>
              <a:t>Share live data across accounts &amp; clouds securely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Architecture: Three Independent Layers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A hybrid of shared-disk (central storage) and shared-nothing (MPP compute)</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4 / 26</a:t>
            </a:r>
            <a:endParaRPr lang="en-US" sz="1000" dirty="0"/>
          </a:p>
        </p:txBody>
      </p:sp>
      <p:sp>
        <p:nvSpPr>
          <p:cNvPr id="9" name="Shape 9"/>
          <p:cNvSpPr/>
          <p:nvPr/>
        </p:nvSpPr>
        <p:spPr>
          <a:xfrm>
            <a:off x="548640" y="1325880"/>
            <a:ext cx="8229600" cy="1234440"/>
          </a:xfrm>
          <a:prstGeom prst="roundRect">
            <a:avLst>
              <a:gd name="adj" fmla="val 8000"/>
            </a:avLst>
          </a:prstGeom>
          <a:solidFill>
            <a:srgbClr val="0B2545"/>
          </a:solidFill>
          <a:ln>
            <a:noFill/>
          </a:ln>
        </p:spPr>
        <p:txBody>
          <a:bodyPr wrap="square" lIns="91440" tIns="91440" rIns="91440" bIns="91440" anchor="t" rtlCol="0">
            <a:noAutofit/>
          </a:bodyPr>
          <a:lstStyle/>
          <a:p>
            <a:endParaRPr lang="en-US" dirty="0"/>
          </a:p>
        </p:txBody>
      </p:sp>
      <p:sp>
        <p:nvSpPr>
          <p:cNvPr id="10" name="Shape 10"/>
          <p:cNvSpPr/>
          <p:nvPr/>
        </p:nvSpPr>
        <p:spPr>
          <a:xfrm>
            <a:off x="777240" y="1399032"/>
            <a:ext cx="7772400" cy="41148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700" dirty="0" b="1">
                <a:solidFill>
                  <a:srgbClr val="FFFFFF"/>
                </a:solidFill>
              </a:rPr>
              <a:t>CLOUD SERVICES</a:t>
            </a:r>
            <a:endParaRPr lang="en-US" sz="1700" dirty="0"/>
          </a:p>
        </p:txBody>
      </p:sp>
      <p:sp>
        <p:nvSpPr>
          <p:cNvPr id="11" name="Shape 11"/>
          <p:cNvSpPr/>
          <p:nvPr/>
        </p:nvSpPr>
        <p:spPr>
          <a:xfrm>
            <a:off x="777240" y="1828800"/>
            <a:ext cx="7772400" cy="68580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300" dirty="0">
                <a:solidFill>
                  <a:srgbClr val="E0F2FE"/>
                </a:solidFill>
              </a:rPr>
              <a:t>Authentication · Access control · Metadata · Query parsing &amp; optimization · Result cache · Infrastructure management</a:t>
            </a:r>
            <a:endParaRPr lang="en-US" sz="1300" dirty="0"/>
          </a:p>
        </p:txBody>
      </p:sp>
      <p:sp>
        <p:nvSpPr>
          <p:cNvPr id="12" name="Shape 12"/>
          <p:cNvSpPr/>
          <p:nvPr/>
        </p:nvSpPr>
        <p:spPr>
          <a:xfrm>
            <a:off x="548640" y="2926080"/>
            <a:ext cx="8229600" cy="1554480"/>
          </a:xfrm>
          <a:prstGeom prst="roundRect">
            <a:avLst>
              <a:gd name="adj" fmla="val 8000"/>
            </a:avLst>
          </a:prstGeom>
          <a:solidFill>
            <a:srgbClr val="11567F"/>
          </a:solidFill>
          <a:ln>
            <a:noFill/>
          </a:ln>
        </p:spPr>
        <p:txBody>
          <a:bodyPr wrap="square" lIns="91440" tIns="91440" rIns="91440" bIns="91440" anchor="t" rtlCol="0">
            <a:noAutofit/>
          </a:bodyPr>
          <a:lstStyle/>
          <a:p>
            <a:endParaRPr lang="en-US" dirty="0"/>
          </a:p>
        </p:txBody>
      </p:sp>
      <p:sp>
        <p:nvSpPr>
          <p:cNvPr id="13" name="Shape 13"/>
          <p:cNvSpPr/>
          <p:nvPr/>
        </p:nvSpPr>
        <p:spPr>
          <a:xfrm>
            <a:off x="777240" y="2999232"/>
            <a:ext cx="7772400" cy="41148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700" dirty="0" b="1">
                <a:solidFill>
                  <a:srgbClr val="FFFFFF"/>
                </a:solidFill>
              </a:rPr>
              <a:t>QUERY PROCESSING</a:t>
            </a:r>
            <a:endParaRPr lang="en-US" sz="1700" dirty="0"/>
          </a:p>
        </p:txBody>
      </p:sp>
      <p:sp>
        <p:nvSpPr>
          <p:cNvPr id="14" name="Shape 14"/>
          <p:cNvSpPr/>
          <p:nvPr/>
        </p:nvSpPr>
        <p:spPr>
          <a:xfrm>
            <a:off x="548640" y="4800600"/>
            <a:ext cx="8229600" cy="1234440"/>
          </a:xfrm>
          <a:prstGeom prst="roundRect">
            <a:avLst>
              <a:gd name="adj" fmla="val 8000"/>
            </a:avLst>
          </a:prstGeom>
          <a:solidFill>
            <a:srgbClr val="1B7FB5"/>
          </a:solidFill>
          <a:ln>
            <a:noFill/>
          </a:ln>
        </p:spPr>
        <p:txBody>
          <a:bodyPr wrap="square" lIns="91440" tIns="91440" rIns="91440" bIns="91440" anchor="t" rtlCol="0">
            <a:noAutofit/>
          </a:bodyPr>
          <a:lstStyle/>
          <a:p>
            <a:endParaRPr lang="en-US" dirty="0"/>
          </a:p>
        </p:txBody>
      </p:sp>
      <p:sp>
        <p:nvSpPr>
          <p:cNvPr id="15" name="Shape 15"/>
          <p:cNvSpPr/>
          <p:nvPr/>
        </p:nvSpPr>
        <p:spPr>
          <a:xfrm>
            <a:off x="777240" y="4873752"/>
            <a:ext cx="7772400" cy="41148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700" dirty="0" b="1">
                <a:solidFill>
                  <a:srgbClr val="FFFFFF"/>
                </a:solidFill>
              </a:rPr>
              <a:t>DATABASE STORAGE</a:t>
            </a:r>
            <a:endParaRPr lang="en-US" sz="1700" dirty="0"/>
          </a:p>
        </p:txBody>
      </p:sp>
      <p:sp>
        <p:nvSpPr>
          <p:cNvPr id="16" name="Shape 16"/>
          <p:cNvSpPr/>
          <p:nvPr/>
        </p:nvSpPr>
        <p:spPr>
          <a:xfrm>
            <a:off x="777240" y="5303520"/>
            <a:ext cx="7772400" cy="68580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300" dirty="0">
                <a:solidFill>
                  <a:srgbClr val="E0F2FE"/>
                </a:solidFill>
              </a:rPr>
              <a:t>Compressed, columnar micro-partitions in cloud object storage (S3 / Azure Blob / GCS), managed entirely by Snowflake</a:t>
            </a:r>
            <a:endParaRPr lang="en-US" sz="1300" dirty="0"/>
          </a:p>
        </p:txBody>
      </p:sp>
      <p:sp>
        <p:nvSpPr>
          <p:cNvPr id="17" name="Shape 17"/>
          <p:cNvSpPr/>
          <p:nvPr/>
        </p:nvSpPr>
        <p:spPr>
          <a:xfrm>
            <a:off x="868680" y="3401568"/>
            <a:ext cx="2286000" cy="914400"/>
          </a:xfrm>
          <a:prstGeom prst="roundRect">
            <a:avLst>
              <a:gd name="adj" fmla="val 12000"/>
            </a:avLst>
          </a:prstGeom>
          <a:solidFill>
            <a:srgbClr val="D6F0FB"/>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400" dirty="0" b="1">
                <a:solidFill>
                  <a:srgbClr val="0B2545"/>
                </a:solidFill>
              </a:rPr>
              <a:t>ETL_WH</a:t>
            </a:r>
            <a:endParaRPr lang="en-US" sz="1400" dirty="0"/>
          </a:p>
          <a:p>
            <a:pPr algn="ctr">
              <a:lnSpc>
                <a:spcPct val="100000"/>
              </a:lnSpc>
              <a:spcBef>
                <a:spcPts val="200"/>
              </a:spcBef>
              <a:spcAft>
                <a:spcPts val="0"/>
              </a:spcAft>
              <a:buNone/>
            </a:pPr>
            <a:r>
              <a:rPr lang="en-US" sz="1100" dirty="0">
                <a:solidFill>
                  <a:srgbClr val="1F2937"/>
                </a:solidFill>
              </a:rPr>
              <a:t>(Large) virtual warehouse</a:t>
            </a:r>
            <a:endParaRPr lang="en-US" sz="1100" dirty="0"/>
          </a:p>
        </p:txBody>
      </p:sp>
      <p:sp>
        <p:nvSpPr>
          <p:cNvPr id="18" name="Shape 18"/>
          <p:cNvSpPr/>
          <p:nvPr/>
        </p:nvSpPr>
        <p:spPr>
          <a:xfrm>
            <a:off x="3520440" y="3401568"/>
            <a:ext cx="2286000" cy="914400"/>
          </a:xfrm>
          <a:prstGeom prst="roundRect">
            <a:avLst>
              <a:gd name="adj" fmla="val 12000"/>
            </a:avLst>
          </a:prstGeom>
          <a:solidFill>
            <a:srgbClr val="D6F0FB"/>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400" dirty="0" b="1">
                <a:solidFill>
                  <a:srgbClr val="0B2545"/>
                </a:solidFill>
              </a:rPr>
              <a:t>BI_WH</a:t>
            </a:r>
            <a:endParaRPr lang="en-US" sz="1400" dirty="0"/>
          </a:p>
          <a:p>
            <a:pPr algn="ctr">
              <a:lnSpc>
                <a:spcPct val="100000"/>
              </a:lnSpc>
              <a:spcBef>
                <a:spcPts val="200"/>
              </a:spcBef>
              <a:spcAft>
                <a:spcPts val="0"/>
              </a:spcAft>
              <a:buNone/>
            </a:pPr>
            <a:r>
              <a:rPr lang="en-US" sz="1100" dirty="0">
                <a:solidFill>
                  <a:srgbClr val="1F2937"/>
                </a:solidFill>
              </a:rPr>
              <a:t>(Small) virtual warehouse</a:t>
            </a:r>
            <a:endParaRPr lang="en-US" sz="1100" dirty="0"/>
          </a:p>
        </p:txBody>
      </p:sp>
      <p:sp>
        <p:nvSpPr>
          <p:cNvPr id="19" name="Shape 19"/>
          <p:cNvSpPr/>
          <p:nvPr/>
        </p:nvSpPr>
        <p:spPr>
          <a:xfrm>
            <a:off x="6172200" y="3401568"/>
            <a:ext cx="2286000" cy="914400"/>
          </a:xfrm>
          <a:prstGeom prst="roundRect">
            <a:avLst>
              <a:gd name="adj" fmla="val 12000"/>
            </a:avLst>
          </a:prstGeom>
          <a:solidFill>
            <a:srgbClr val="D6F0FB"/>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400" dirty="0" b="1">
                <a:solidFill>
                  <a:srgbClr val="0B2545"/>
                </a:solidFill>
              </a:rPr>
              <a:t>DS_WH</a:t>
            </a:r>
            <a:endParaRPr lang="en-US" sz="1400" dirty="0"/>
          </a:p>
          <a:p>
            <a:pPr algn="ctr">
              <a:lnSpc>
                <a:spcPct val="100000"/>
              </a:lnSpc>
              <a:spcBef>
                <a:spcPts val="200"/>
              </a:spcBef>
              <a:spcAft>
                <a:spcPts val="0"/>
              </a:spcAft>
              <a:buNone/>
            </a:pPr>
            <a:r>
              <a:rPr lang="en-US" sz="1100" dirty="0">
                <a:solidFill>
                  <a:srgbClr val="1F2937"/>
                </a:solidFill>
              </a:rPr>
              <a:t>(Medium) virtual warehouse</a:t>
            </a:r>
            <a:endParaRPr lang="en-US" sz="1100" dirty="0"/>
          </a:p>
        </p:txBody>
      </p:sp>
      <p:sp>
        <p:nvSpPr>
          <p:cNvPr id="20" name="Shape 20"/>
          <p:cNvSpPr/>
          <p:nvPr/>
        </p:nvSpPr>
        <p:spPr>
          <a:xfrm>
            <a:off x="4434840" y="2606040"/>
            <a:ext cx="457200" cy="292608"/>
          </a:xfrm>
          <a:prstGeom prst="downArrow">
            <a:avLst/>
          </a:prstGeom>
          <a:solidFill>
            <a:srgbClr val="29B5E8"/>
          </a:solidFill>
          <a:ln>
            <a:noFill/>
          </a:ln>
        </p:spPr>
        <p:txBody>
          <a:bodyPr wrap="square" lIns="91440" tIns="91440" rIns="91440" bIns="91440" anchor="t" rtlCol="0">
            <a:noAutofit/>
          </a:bodyPr>
          <a:lstStyle/>
          <a:p>
            <a:endParaRPr lang="en-US" dirty="0"/>
          </a:p>
        </p:txBody>
      </p:sp>
      <p:sp>
        <p:nvSpPr>
          <p:cNvPr id="21" name="Shape 21"/>
          <p:cNvSpPr/>
          <p:nvPr/>
        </p:nvSpPr>
        <p:spPr>
          <a:xfrm>
            <a:off x="4434840" y="4507992"/>
            <a:ext cx="457200" cy="292608"/>
          </a:xfrm>
          <a:prstGeom prst="downArrow">
            <a:avLst/>
          </a:prstGeom>
          <a:solidFill>
            <a:srgbClr val="29B5E8"/>
          </a:solidFill>
          <a:ln>
            <a:noFill/>
          </a:ln>
        </p:spPr>
        <p:txBody>
          <a:bodyPr wrap="square" lIns="91440" tIns="91440" rIns="91440" bIns="91440" anchor="t" rtlCol="0">
            <a:noAutofit/>
          </a:bodyPr>
          <a:lstStyle/>
          <a:p>
            <a:endParaRPr lang="en-US" dirty="0"/>
          </a:p>
        </p:txBody>
      </p:sp>
      <p:sp>
        <p:nvSpPr>
          <p:cNvPr id="22" name="Shape 22"/>
          <p:cNvSpPr/>
          <p:nvPr/>
        </p:nvSpPr>
        <p:spPr>
          <a:xfrm>
            <a:off x="9098280" y="1325880"/>
            <a:ext cx="2606040" cy="4709160"/>
          </a:xfrm>
          <a:prstGeom prst="roundRect">
            <a:avLst>
              <a:gd name="adj" fmla="val 5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23" name="Shape 23"/>
          <p:cNvSpPr/>
          <p:nvPr/>
        </p:nvSpPr>
        <p:spPr>
          <a:xfrm>
            <a:off x="9235440" y="1417320"/>
            <a:ext cx="2377440" cy="457200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600" dirty="0" b="1">
                <a:solidFill>
                  <a:srgbClr val="11567F"/>
                </a:solidFill>
              </a:rPr>
              <a:t>Why it matters</a:t>
            </a:r>
            <a:endParaRPr lang="en-US" sz="1600" dirty="0"/>
          </a:p>
          <a:p>
            <a:pPr algn="l" marL="285750" indent="-285750">
              <a:lnSpc>
                <a:spcPct val="100000"/>
              </a:lnSpc>
              <a:spcBef>
                <a:spcPts val="800"/>
              </a:spcBef>
              <a:spcAft>
                <a:spcPts val="0"/>
              </a:spcAft>
              <a:buClr>
                <a:srgbClr val="29B5E8"/>
              </a:buClr>
              <a:buFont typeface="Arial"/>
              <a:buChar char="•"/>
            </a:pPr>
            <a:r>
              <a:rPr lang="en-US" sz="1250" dirty="0">
                <a:solidFill>
                  <a:srgbClr val="1F2937"/>
                </a:solidFill>
              </a:rPr>
              <a:t>Scale compute </a:t>
            </a:r>
            <a:r>
              <a:rPr lang="en-US" sz="1250" dirty="0" b="1">
                <a:solidFill>
                  <a:srgbClr val="1F2937"/>
                </a:solidFill>
              </a:rPr>
              <a:t>without</a:t>
            </a:r>
            <a:r>
              <a:rPr lang="en-US" sz="1250" dirty="0">
                <a:solidFill>
                  <a:srgbClr val="1F2937"/>
                </a:solidFill>
              </a:rPr>
              <a:t> moving data</a:t>
            </a:r>
            <a:endParaRPr lang="en-US" sz="1250" dirty="0"/>
          </a:p>
          <a:p>
            <a:pPr algn="l" marL="285750" indent="-285750">
              <a:lnSpc>
                <a:spcPct val="100000"/>
              </a:lnSpc>
              <a:spcBef>
                <a:spcPts val="600"/>
              </a:spcBef>
              <a:spcAft>
                <a:spcPts val="0"/>
              </a:spcAft>
              <a:buClr>
                <a:srgbClr val="29B5E8"/>
              </a:buClr>
              <a:buFont typeface="Arial"/>
              <a:buChar char="•"/>
            </a:pPr>
            <a:r>
              <a:rPr lang="en-US" sz="1250" dirty="0">
                <a:solidFill>
                  <a:srgbClr val="1F2937"/>
                </a:solidFill>
              </a:rPr>
              <a:t>Workloads are </a:t>
            </a:r>
            <a:r>
              <a:rPr lang="en-US" sz="1250" dirty="0" b="1">
                <a:solidFill>
                  <a:srgbClr val="1F2937"/>
                </a:solidFill>
              </a:rPr>
              <a:t>isolated</a:t>
            </a:r>
            <a:r>
              <a:rPr lang="en-US" sz="1250" dirty="0">
                <a:solidFill>
                  <a:srgbClr val="1F2937"/>
                </a:solidFill>
              </a:rPr>
              <a:t>: ETL can't slow BI</a:t>
            </a:r>
            <a:endParaRPr lang="en-US" sz="1250" dirty="0"/>
          </a:p>
          <a:p>
            <a:pPr algn="l" marL="285750" indent="-285750">
              <a:lnSpc>
                <a:spcPct val="100000"/>
              </a:lnSpc>
              <a:spcBef>
                <a:spcPts val="600"/>
              </a:spcBef>
              <a:spcAft>
                <a:spcPts val="0"/>
              </a:spcAft>
              <a:buClr>
                <a:srgbClr val="29B5E8"/>
              </a:buClr>
              <a:buFont typeface="Arial"/>
              <a:buChar char="•"/>
            </a:pPr>
            <a:r>
              <a:rPr lang="en-US" sz="1250" dirty="0">
                <a:solidFill>
                  <a:srgbClr val="1F2937"/>
                </a:solidFill>
              </a:rPr>
              <a:t>Storage billed per </a:t>
            </a:r>
            <a:r>
              <a:rPr lang="en-US" sz="1250" dirty="0" b="1">
                <a:solidFill>
                  <a:srgbClr val="1F2937"/>
                </a:solidFill>
              </a:rPr>
              <a:t>TB/month</a:t>
            </a:r>
            <a:r>
              <a:rPr lang="en-US" sz="1250" dirty="0">
                <a:solidFill>
                  <a:srgbClr val="1F2937"/>
                </a:solidFill>
              </a:rPr>
              <a:t> (compressed)</a:t>
            </a:r>
            <a:endParaRPr lang="en-US" sz="1250" dirty="0"/>
          </a:p>
          <a:p>
            <a:pPr algn="l" marL="285750" indent="-285750">
              <a:lnSpc>
                <a:spcPct val="100000"/>
              </a:lnSpc>
              <a:spcBef>
                <a:spcPts val="600"/>
              </a:spcBef>
              <a:spcAft>
                <a:spcPts val="0"/>
              </a:spcAft>
              <a:buClr>
                <a:srgbClr val="29B5E8"/>
              </a:buClr>
              <a:buFont typeface="Arial"/>
              <a:buChar char="•"/>
            </a:pPr>
            <a:r>
              <a:rPr lang="en-US" sz="1250" dirty="0">
                <a:solidFill>
                  <a:srgbClr val="1F2937"/>
                </a:solidFill>
              </a:rPr>
              <a:t>Compute billed in </a:t>
            </a:r>
            <a:r>
              <a:rPr lang="en-US" sz="1250" dirty="0" b="1">
                <a:solidFill>
                  <a:srgbClr val="1F2937"/>
                </a:solidFill>
              </a:rPr>
              <a:t>credits</a:t>
            </a:r>
            <a:r>
              <a:rPr lang="en-US" sz="1250" dirty="0">
                <a:solidFill>
                  <a:srgbClr val="1F2937"/>
                </a:solidFill>
              </a:rPr>
              <a:t> only while a warehouse runs</a:t>
            </a:r>
            <a:endParaRPr lang="en-US" sz="1250" dirty="0"/>
          </a:p>
          <a:p>
            <a:pPr algn="l" marL="285750" indent="-285750">
              <a:lnSpc>
                <a:spcPct val="100000"/>
              </a:lnSpc>
              <a:spcBef>
                <a:spcPts val="600"/>
              </a:spcBef>
              <a:spcAft>
                <a:spcPts val="0"/>
              </a:spcAft>
              <a:buClr>
                <a:srgbClr val="29B5E8"/>
              </a:buClr>
              <a:buFont typeface="Arial"/>
              <a:buChar char="•"/>
            </a:pPr>
            <a:r>
              <a:rPr lang="en-US" sz="1250" dirty="0">
                <a:solidFill>
                  <a:srgbClr val="1F2937"/>
                </a:solidFill>
              </a:rPr>
              <a:t>Cloud services cost is free up to </a:t>
            </a:r>
            <a:r>
              <a:rPr lang="en-US" sz="1250" dirty="0" b="1">
                <a:solidFill>
                  <a:srgbClr val="1F2937"/>
                </a:solidFill>
              </a:rPr>
              <a:t>10%</a:t>
            </a:r>
            <a:r>
              <a:rPr lang="en-US" sz="1250" dirty="0">
                <a:solidFill>
                  <a:srgbClr val="1F2937"/>
                </a:solidFill>
              </a:rPr>
              <a:t> of daily compute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Key Terms Glossary</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The vocabulary used throughout the Getting Started guide</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5 / 26</a:t>
            </a:r>
            <a:endParaRPr lang="en-US" sz="1000" dirty="0"/>
          </a:p>
        </p:txBody>
      </p:sp>
      <p:sp>
        <p:nvSpPr>
          <p:cNvPr id="9" name="Shape 9"/>
          <p:cNvSpPr/>
          <p:nvPr/>
        </p:nvSpPr>
        <p:spPr>
          <a:xfrm>
            <a:off x="548640" y="1280160"/>
            <a:ext cx="2377440" cy="420624"/>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FFFFFF"/>
                </a:solidFill>
              </a:rPr>
              <a:t>Term</a:t>
            </a:r>
            <a:endParaRPr lang="en-US" sz="1250" dirty="0"/>
          </a:p>
        </p:txBody>
      </p:sp>
      <p:sp>
        <p:nvSpPr>
          <p:cNvPr id="10" name="Shape 10"/>
          <p:cNvSpPr/>
          <p:nvPr/>
        </p:nvSpPr>
        <p:spPr>
          <a:xfrm>
            <a:off x="2926080" y="1280160"/>
            <a:ext cx="6035040" cy="420624"/>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FFFFFF"/>
                </a:solidFill>
              </a:rPr>
              <a:t>Meaning</a:t>
            </a:r>
            <a:endParaRPr lang="en-US" sz="1250" dirty="0"/>
          </a:p>
        </p:txBody>
      </p:sp>
      <p:sp>
        <p:nvSpPr>
          <p:cNvPr id="11" name="Shape 11"/>
          <p:cNvSpPr/>
          <p:nvPr/>
        </p:nvSpPr>
        <p:spPr>
          <a:xfrm>
            <a:off x="8961120" y="1280160"/>
            <a:ext cx="2697480" cy="420624"/>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FFFFFF"/>
                </a:solidFill>
              </a:rPr>
              <a:t>Example</a:t>
            </a:r>
            <a:endParaRPr lang="en-US" sz="1250" dirty="0"/>
          </a:p>
        </p:txBody>
      </p:sp>
      <p:sp>
        <p:nvSpPr>
          <p:cNvPr id="12" name="Shape 12"/>
          <p:cNvSpPr/>
          <p:nvPr/>
        </p:nvSpPr>
        <p:spPr>
          <a:xfrm>
            <a:off x="548640" y="1700784"/>
            <a:ext cx="237744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Account</a:t>
            </a:r>
            <a:endParaRPr lang="en-US" sz="1250" dirty="0"/>
          </a:p>
        </p:txBody>
      </p:sp>
      <p:sp>
        <p:nvSpPr>
          <p:cNvPr id="13" name="Shape 13"/>
          <p:cNvSpPr/>
          <p:nvPr/>
        </p:nvSpPr>
        <p:spPr>
          <a:xfrm>
            <a:off x="2926080" y="1700784"/>
            <a:ext cx="603504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Your Snowflake instance, in one cloud region</a:t>
            </a:r>
            <a:endParaRPr lang="en-US" sz="1250" dirty="0"/>
          </a:p>
        </p:txBody>
      </p:sp>
      <p:sp>
        <p:nvSpPr>
          <p:cNvPr id="14" name="Shape 14"/>
          <p:cNvSpPr/>
          <p:nvPr/>
        </p:nvSpPr>
        <p:spPr>
          <a:xfrm>
            <a:off x="8961120" y="1700784"/>
            <a:ext cx="269748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myorg-analytics</a:t>
            </a:r>
            <a:endParaRPr lang="en-US" sz="1250" dirty="0"/>
          </a:p>
        </p:txBody>
      </p:sp>
      <p:sp>
        <p:nvSpPr>
          <p:cNvPr id="15" name="Shape 15"/>
          <p:cNvSpPr/>
          <p:nvPr/>
        </p:nvSpPr>
        <p:spPr>
          <a:xfrm>
            <a:off x="548640" y="2121408"/>
            <a:ext cx="237744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Virtual warehouse</a:t>
            </a:r>
            <a:endParaRPr lang="en-US" sz="1250" dirty="0"/>
          </a:p>
        </p:txBody>
      </p:sp>
      <p:sp>
        <p:nvSpPr>
          <p:cNvPr id="16" name="Shape 16"/>
          <p:cNvSpPr/>
          <p:nvPr/>
        </p:nvSpPr>
        <p:spPr>
          <a:xfrm>
            <a:off x="2926080" y="2121408"/>
            <a:ext cx="603504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Compute cluster that runs queries, DML and loads; consumes credits</a:t>
            </a:r>
            <a:endParaRPr lang="en-US" sz="1250" dirty="0"/>
          </a:p>
        </p:txBody>
      </p:sp>
      <p:sp>
        <p:nvSpPr>
          <p:cNvPr id="17" name="Shape 17"/>
          <p:cNvSpPr/>
          <p:nvPr/>
        </p:nvSpPr>
        <p:spPr>
          <a:xfrm>
            <a:off x="8961120" y="2121408"/>
            <a:ext cx="269748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DEMO_WH (X-Small)</a:t>
            </a:r>
            <a:endParaRPr lang="en-US" sz="1250" dirty="0"/>
          </a:p>
        </p:txBody>
      </p:sp>
      <p:sp>
        <p:nvSpPr>
          <p:cNvPr id="18" name="Shape 18"/>
          <p:cNvSpPr/>
          <p:nvPr/>
        </p:nvSpPr>
        <p:spPr>
          <a:xfrm>
            <a:off x="548640" y="2542032"/>
            <a:ext cx="237744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Database</a:t>
            </a:r>
            <a:endParaRPr lang="en-US" sz="1250" dirty="0"/>
          </a:p>
        </p:txBody>
      </p:sp>
      <p:sp>
        <p:nvSpPr>
          <p:cNvPr id="19" name="Shape 19"/>
          <p:cNvSpPr/>
          <p:nvPr/>
        </p:nvSpPr>
        <p:spPr>
          <a:xfrm>
            <a:off x="2926080" y="2542032"/>
            <a:ext cx="603504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Top-level logical container for schemas</a:t>
            </a:r>
            <a:endParaRPr lang="en-US" sz="1250" dirty="0"/>
          </a:p>
        </p:txBody>
      </p:sp>
      <p:sp>
        <p:nvSpPr>
          <p:cNvPr id="20" name="Shape 20"/>
          <p:cNvSpPr/>
          <p:nvPr/>
        </p:nvSpPr>
        <p:spPr>
          <a:xfrm>
            <a:off x="8961120" y="2542032"/>
            <a:ext cx="269748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SALES_DB</a:t>
            </a:r>
            <a:endParaRPr lang="en-US" sz="1250" dirty="0"/>
          </a:p>
        </p:txBody>
      </p:sp>
      <p:sp>
        <p:nvSpPr>
          <p:cNvPr id="21" name="Shape 21"/>
          <p:cNvSpPr/>
          <p:nvPr/>
        </p:nvSpPr>
        <p:spPr>
          <a:xfrm>
            <a:off x="548640" y="2962656"/>
            <a:ext cx="237744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Schema</a:t>
            </a:r>
            <a:endParaRPr lang="en-US" sz="1250" dirty="0"/>
          </a:p>
        </p:txBody>
      </p:sp>
      <p:sp>
        <p:nvSpPr>
          <p:cNvPr id="22" name="Shape 22"/>
          <p:cNvSpPr/>
          <p:nvPr/>
        </p:nvSpPr>
        <p:spPr>
          <a:xfrm>
            <a:off x="2926080" y="2962656"/>
            <a:ext cx="603504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Logical grouping of tables, views, stages… inside a database</a:t>
            </a:r>
            <a:endParaRPr lang="en-US" sz="1250" dirty="0"/>
          </a:p>
        </p:txBody>
      </p:sp>
      <p:sp>
        <p:nvSpPr>
          <p:cNvPr id="23" name="Shape 23"/>
          <p:cNvSpPr/>
          <p:nvPr/>
        </p:nvSpPr>
        <p:spPr>
          <a:xfrm>
            <a:off x="8961120" y="2962656"/>
            <a:ext cx="269748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SALES_DB.RAW</a:t>
            </a:r>
            <a:endParaRPr lang="en-US" sz="1250" dirty="0"/>
          </a:p>
        </p:txBody>
      </p:sp>
      <p:sp>
        <p:nvSpPr>
          <p:cNvPr id="24" name="Shape 24"/>
          <p:cNvSpPr/>
          <p:nvPr/>
        </p:nvSpPr>
        <p:spPr>
          <a:xfrm>
            <a:off x="548640" y="3383280"/>
            <a:ext cx="237744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Table / View</a:t>
            </a:r>
            <a:endParaRPr lang="en-US" sz="1250" dirty="0"/>
          </a:p>
        </p:txBody>
      </p:sp>
      <p:sp>
        <p:nvSpPr>
          <p:cNvPr id="25" name="Shape 25"/>
          <p:cNvSpPr/>
          <p:nvPr/>
        </p:nvSpPr>
        <p:spPr>
          <a:xfrm>
            <a:off x="2926080" y="3383280"/>
            <a:ext cx="603504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Stored rows / saved query over tables</a:t>
            </a:r>
            <a:endParaRPr lang="en-US" sz="1250" dirty="0"/>
          </a:p>
        </p:txBody>
      </p:sp>
      <p:sp>
        <p:nvSpPr>
          <p:cNvPr id="26" name="Shape 26"/>
          <p:cNvSpPr/>
          <p:nvPr/>
        </p:nvSpPr>
        <p:spPr>
          <a:xfrm>
            <a:off x="8961120" y="3383280"/>
            <a:ext cx="269748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SALES_DB.RAW.ORDERS</a:t>
            </a:r>
            <a:endParaRPr lang="en-US" sz="1250" dirty="0"/>
          </a:p>
        </p:txBody>
      </p:sp>
      <p:sp>
        <p:nvSpPr>
          <p:cNvPr id="27" name="Shape 27"/>
          <p:cNvSpPr/>
          <p:nvPr/>
        </p:nvSpPr>
        <p:spPr>
          <a:xfrm>
            <a:off x="548640" y="3803904"/>
            <a:ext cx="237744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Stage</a:t>
            </a:r>
            <a:endParaRPr lang="en-US" sz="1250" dirty="0"/>
          </a:p>
        </p:txBody>
      </p:sp>
      <p:sp>
        <p:nvSpPr>
          <p:cNvPr id="28" name="Shape 28"/>
          <p:cNvSpPr/>
          <p:nvPr/>
        </p:nvSpPr>
        <p:spPr>
          <a:xfrm>
            <a:off x="2926080" y="3803904"/>
            <a:ext cx="603504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Location holding files to load or unload (internal or external)</a:t>
            </a:r>
            <a:endParaRPr lang="en-US" sz="1250" dirty="0"/>
          </a:p>
        </p:txBody>
      </p:sp>
      <p:sp>
        <p:nvSpPr>
          <p:cNvPr id="29" name="Shape 29"/>
          <p:cNvSpPr/>
          <p:nvPr/>
        </p:nvSpPr>
        <p:spPr>
          <a:xfrm>
            <a:off x="8961120" y="3803904"/>
            <a:ext cx="269748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@my_int_stage</a:t>
            </a:r>
            <a:endParaRPr lang="en-US" sz="1250" dirty="0"/>
          </a:p>
        </p:txBody>
      </p:sp>
      <p:sp>
        <p:nvSpPr>
          <p:cNvPr id="30" name="Shape 30"/>
          <p:cNvSpPr/>
          <p:nvPr/>
        </p:nvSpPr>
        <p:spPr>
          <a:xfrm>
            <a:off x="548640" y="4224528"/>
            <a:ext cx="237744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File format</a:t>
            </a:r>
            <a:endParaRPr lang="en-US" sz="1250" dirty="0"/>
          </a:p>
        </p:txBody>
      </p:sp>
      <p:sp>
        <p:nvSpPr>
          <p:cNvPr id="31" name="Shape 31"/>
          <p:cNvSpPr/>
          <p:nvPr/>
        </p:nvSpPr>
        <p:spPr>
          <a:xfrm>
            <a:off x="2926080" y="4224528"/>
            <a:ext cx="603504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Named description of file structure</a:t>
            </a:r>
            <a:endParaRPr lang="en-US" sz="1250" dirty="0"/>
          </a:p>
        </p:txBody>
      </p:sp>
      <p:sp>
        <p:nvSpPr>
          <p:cNvPr id="32" name="Shape 32"/>
          <p:cNvSpPr/>
          <p:nvPr/>
        </p:nvSpPr>
        <p:spPr>
          <a:xfrm>
            <a:off x="8961120" y="4224528"/>
            <a:ext cx="269748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CSV, JSON, PARQUET</a:t>
            </a:r>
            <a:endParaRPr lang="en-US" sz="1250" dirty="0"/>
          </a:p>
        </p:txBody>
      </p:sp>
      <p:sp>
        <p:nvSpPr>
          <p:cNvPr id="33" name="Shape 33"/>
          <p:cNvSpPr/>
          <p:nvPr/>
        </p:nvSpPr>
        <p:spPr>
          <a:xfrm>
            <a:off x="548640" y="4645152"/>
            <a:ext cx="237744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Role</a:t>
            </a:r>
            <a:endParaRPr lang="en-US" sz="1250" dirty="0"/>
          </a:p>
        </p:txBody>
      </p:sp>
      <p:sp>
        <p:nvSpPr>
          <p:cNvPr id="34" name="Shape 34"/>
          <p:cNvSpPr/>
          <p:nvPr/>
        </p:nvSpPr>
        <p:spPr>
          <a:xfrm>
            <a:off x="2926080" y="4645152"/>
            <a:ext cx="603504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Named set of privileges; granted to users and other roles</a:t>
            </a:r>
            <a:endParaRPr lang="en-US" sz="1250" dirty="0"/>
          </a:p>
        </p:txBody>
      </p:sp>
      <p:sp>
        <p:nvSpPr>
          <p:cNvPr id="35" name="Shape 35"/>
          <p:cNvSpPr/>
          <p:nvPr/>
        </p:nvSpPr>
        <p:spPr>
          <a:xfrm>
            <a:off x="8961120" y="4645152"/>
            <a:ext cx="269748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SYSADMIN, ANALYST</a:t>
            </a:r>
            <a:endParaRPr lang="en-US" sz="1250" dirty="0"/>
          </a:p>
        </p:txBody>
      </p:sp>
      <p:sp>
        <p:nvSpPr>
          <p:cNvPr id="36" name="Shape 36"/>
          <p:cNvSpPr/>
          <p:nvPr/>
        </p:nvSpPr>
        <p:spPr>
          <a:xfrm>
            <a:off x="548640" y="5065776"/>
            <a:ext cx="237744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Credit</a:t>
            </a:r>
            <a:endParaRPr lang="en-US" sz="1250" dirty="0"/>
          </a:p>
        </p:txBody>
      </p:sp>
      <p:sp>
        <p:nvSpPr>
          <p:cNvPr id="37" name="Shape 37"/>
          <p:cNvSpPr/>
          <p:nvPr/>
        </p:nvSpPr>
        <p:spPr>
          <a:xfrm>
            <a:off x="2926080" y="5065776"/>
            <a:ext cx="603504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Unit of compute consumption</a:t>
            </a:r>
            <a:endParaRPr lang="en-US" sz="1250" dirty="0"/>
          </a:p>
        </p:txBody>
      </p:sp>
      <p:sp>
        <p:nvSpPr>
          <p:cNvPr id="38" name="Shape 38"/>
          <p:cNvSpPr/>
          <p:nvPr/>
        </p:nvSpPr>
        <p:spPr>
          <a:xfrm>
            <a:off x="8961120" y="5065776"/>
            <a:ext cx="269748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X-Small = 1 credit / hour</a:t>
            </a:r>
            <a:endParaRPr lang="en-US" sz="1250" dirty="0"/>
          </a:p>
        </p:txBody>
      </p:sp>
      <p:sp>
        <p:nvSpPr>
          <p:cNvPr id="39" name="Shape 39"/>
          <p:cNvSpPr/>
          <p:nvPr/>
        </p:nvSpPr>
        <p:spPr>
          <a:xfrm>
            <a:off x="548640" y="5486400"/>
            <a:ext cx="237744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Micro-partition</a:t>
            </a:r>
            <a:endParaRPr lang="en-US" sz="1250" dirty="0"/>
          </a:p>
        </p:txBody>
      </p:sp>
      <p:sp>
        <p:nvSpPr>
          <p:cNvPr id="40" name="Shape 40"/>
          <p:cNvSpPr/>
          <p:nvPr/>
        </p:nvSpPr>
        <p:spPr>
          <a:xfrm>
            <a:off x="2926080" y="5486400"/>
            <a:ext cx="603504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Automatic 50–500 MB (uncompressed) columnar storage unit</a:t>
            </a:r>
            <a:endParaRPr lang="en-US" sz="1250" dirty="0"/>
          </a:p>
        </p:txBody>
      </p:sp>
      <p:sp>
        <p:nvSpPr>
          <p:cNvPr id="41" name="Shape 41"/>
          <p:cNvSpPr/>
          <p:nvPr/>
        </p:nvSpPr>
        <p:spPr>
          <a:xfrm>
            <a:off x="8961120" y="5486400"/>
            <a:ext cx="2697480" cy="420624"/>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managed for you</a:t>
            </a:r>
            <a:endParaRPr lang="en-US" sz="1250" dirty="0"/>
          </a:p>
        </p:txBody>
      </p:sp>
      <p:sp>
        <p:nvSpPr>
          <p:cNvPr id="42" name="Shape 42"/>
          <p:cNvSpPr/>
          <p:nvPr/>
        </p:nvSpPr>
        <p:spPr>
          <a:xfrm>
            <a:off x="548640" y="5907024"/>
            <a:ext cx="237744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Time Travel</a:t>
            </a:r>
            <a:endParaRPr lang="en-US" sz="1250" dirty="0"/>
          </a:p>
        </p:txBody>
      </p:sp>
      <p:sp>
        <p:nvSpPr>
          <p:cNvPr id="43" name="Shape 43"/>
          <p:cNvSpPr/>
          <p:nvPr/>
        </p:nvSpPr>
        <p:spPr>
          <a:xfrm>
            <a:off x="2926080" y="5907024"/>
            <a:ext cx="603504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Query or restore data as of an earlier point in time</a:t>
            </a:r>
            <a:endParaRPr lang="en-US" sz="1250" dirty="0"/>
          </a:p>
        </p:txBody>
      </p:sp>
      <p:sp>
        <p:nvSpPr>
          <p:cNvPr id="44" name="Shape 44"/>
          <p:cNvSpPr/>
          <p:nvPr/>
        </p:nvSpPr>
        <p:spPr>
          <a:xfrm>
            <a:off x="8961120" y="5907024"/>
            <a:ext cx="2697480" cy="420624"/>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AT(OFFSET =&gt; -3600)</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Editions, Clouds &amp; Regions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Choose the edition and region when the account is created</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6 / 26</a:t>
            </a:r>
            <a:endParaRPr lang="en-US" sz="1000" dirty="0"/>
          </a:p>
        </p:txBody>
      </p:sp>
      <p:sp>
        <p:nvSpPr>
          <p:cNvPr id="9" name="Shape 9"/>
          <p:cNvSpPr/>
          <p:nvPr/>
        </p:nvSpPr>
        <p:spPr>
          <a:xfrm>
            <a:off x="548640" y="1325880"/>
            <a:ext cx="2651760" cy="2926080"/>
          </a:xfrm>
          <a:prstGeom prst="roundRect">
            <a:avLst>
              <a:gd name="adj" fmla="val 6000"/>
            </a:avLst>
          </a:prstGeom>
          <a:solidFill>
            <a:srgbClr val="FFFFFF"/>
          </a:solidFill>
          <a:ln w="12700">
            <a:solidFill>
              <a:srgbClr val="D1D5DB"/>
            </a:solidFill>
          </a:ln>
          <a:effectLst>
            <a:outerShdw blurRad="50800" dist="19050" dir="5400000" algn="t" rotWithShape="0">
              <a:srgbClr val="000000">
                <a:alpha val="18000"/>
              </a:srgbClr>
            </a:outerShdw>
          </a:effectLst>
        </p:spPr>
        <p:txBody>
          <a:bodyPr wrap="square" lIns="91440" tIns="91440" rIns="91440" bIns="91440" anchor="t" rtlCol="0">
            <a:noAutofit/>
          </a:bodyPr>
          <a:lstStyle/>
          <a:p>
            <a:endParaRPr lang="en-US" dirty="0"/>
          </a:p>
        </p:txBody>
      </p:sp>
      <p:sp>
        <p:nvSpPr>
          <p:cNvPr id="10" name="Shape 10"/>
          <p:cNvSpPr/>
          <p:nvPr/>
        </p:nvSpPr>
        <p:spPr>
          <a:xfrm>
            <a:off x="548640" y="1325880"/>
            <a:ext cx="2651760" cy="457200"/>
          </a:xfrm>
          <a:prstGeom prst="roundRect">
            <a:avLst>
              <a:gd name="adj" fmla="val 18000"/>
            </a:avLst>
          </a:prstGeom>
          <a:solidFill>
            <a:srgbClr val="6B8EAD"/>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600" dirty="0" b="1">
                <a:solidFill>
                  <a:srgbClr val="FFFFFF"/>
                </a:solidFill>
              </a:rPr>
              <a:t>Standard</a:t>
            </a:r>
            <a:endParaRPr lang="en-US" sz="1600" dirty="0"/>
          </a:p>
        </p:txBody>
      </p:sp>
      <p:sp>
        <p:nvSpPr>
          <p:cNvPr id="11" name="Shape 11"/>
          <p:cNvSpPr/>
          <p:nvPr/>
        </p:nvSpPr>
        <p:spPr>
          <a:xfrm>
            <a:off x="640080" y="1856232"/>
            <a:ext cx="2468880" cy="2331720"/>
          </a:xfrm>
          <a:prstGeom prst="rect">
            <a:avLst/>
          </a:prstGeom>
          <a:noFill/>
          <a:ln>
            <a:noFill/>
          </a:ln>
        </p:spPr>
        <p:txBody>
          <a:bodyPr wrap="square" lIns="45720" tIns="45720" rIns="45720" bIns="45720" anchor="t" rtlCol="0">
            <a:noAutofit/>
          </a:bodyPr>
          <a:lstStyle/>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Full SQL data platform</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Time Travel: up to 1 day</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Secure data sharing</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Always-on encryption</a:t>
            </a:r>
            <a:endParaRPr lang="en-US" sz="1300" dirty="0"/>
          </a:p>
        </p:txBody>
      </p:sp>
      <p:sp>
        <p:nvSpPr>
          <p:cNvPr id="12" name="Shape 12"/>
          <p:cNvSpPr/>
          <p:nvPr/>
        </p:nvSpPr>
        <p:spPr>
          <a:xfrm>
            <a:off x="3200400" y="2651760"/>
            <a:ext cx="182880" cy="274320"/>
          </a:xfrm>
          <a:prstGeom prst="rightArrow">
            <a:avLst/>
          </a:prstGeom>
          <a:solidFill>
            <a:srgbClr val="29B5E8"/>
          </a:solidFill>
          <a:ln>
            <a:noFill/>
          </a:ln>
        </p:spPr>
        <p:txBody>
          <a:bodyPr wrap="square" lIns="91440" tIns="91440" rIns="91440" bIns="91440" anchor="t" rtlCol="0">
            <a:noAutofit/>
          </a:bodyPr>
          <a:lstStyle/>
          <a:p>
            <a:endParaRPr lang="en-US" dirty="0"/>
          </a:p>
        </p:txBody>
      </p:sp>
      <p:sp>
        <p:nvSpPr>
          <p:cNvPr id="13" name="Shape 13"/>
          <p:cNvSpPr/>
          <p:nvPr/>
        </p:nvSpPr>
        <p:spPr>
          <a:xfrm>
            <a:off x="3383280" y="1325880"/>
            <a:ext cx="2651760" cy="2926080"/>
          </a:xfrm>
          <a:prstGeom prst="roundRect">
            <a:avLst>
              <a:gd name="adj" fmla="val 6000"/>
            </a:avLst>
          </a:prstGeom>
          <a:solidFill>
            <a:srgbClr val="FFFFFF"/>
          </a:solidFill>
          <a:ln w="12700">
            <a:solidFill>
              <a:srgbClr val="D1D5DB"/>
            </a:solidFill>
          </a:ln>
          <a:effectLst>
            <a:outerShdw blurRad="50800" dist="19050" dir="5400000" algn="t" rotWithShape="0">
              <a:srgbClr val="000000">
                <a:alpha val="18000"/>
              </a:srgbClr>
            </a:outerShdw>
          </a:effectLst>
        </p:spPr>
        <p:txBody>
          <a:bodyPr wrap="square" lIns="91440" tIns="91440" rIns="91440" bIns="91440" anchor="t" rtlCol="0">
            <a:noAutofit/>
          </a:bodyPr>
          <a:lstStyle/>
          <a:p>
            <a:endParaRPr lang="en-US" dirty="0"/>
          </a:p>
        </p:txBody>
      </p:sp>
      <p:sp>
        <p:nvSpPr>
          <p:cNvPr id="14" name="Shape 14"/>
          <p:cNvSpPr/>
          <p:nvPr/>
        </p:nvSpPr>
        <p:spPr>
          <a:xfrm>
            <a:off x="3383280" y="1325880"/>
            <a:ext cx="2651760" cy="457200"/>
          </a:xfrm>
          <a:prstGeom prst="roundRect">
            <a:avLst>
              <a:gd name="adj" fmla="val 18000"/>
            </a:avLst>
          </a:prstGeom>
          <a:solidFill>
            <a:srgbClr val="11567F"/>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600" dirty="0" b="1">
                <a:solidFill>
                  <a:srgbClr val="FFFFFF"/>
                </a:solidFill>
              </a:rPr>
              <a:t>Enterprise</a:t>
            </a:r>
            <a:endParaRPr lang="en-US" sz="1600" dirty="0"/>
          </a:p>
        </p:txBody>
      </p:sp>
      <p:sp>
        <p:nvSpPr>
          <p:cNvPr id="15" name="Shape 15"/>
          <p:cNvSpPr/>
          <p:nvPr/>
        </p:nvSpPr>
        <p:spPr>
          <a:xfrm>
            <a:off x="3474720" y="1856232"/>
            <a:ext cx="2468880" cy="2331720"/>
          </a:xfrm>
          <a:prstGeom prst="rect">
            <a:avLst/>
          </a:prstGeom>
          <a:noFill/>
          <a:ln>
            <a:noFill/>
          </a:ln>
        </p:spPr>
        <p:txBody>
          <a:bodyPr wrap="square" lIns="45720" tIns="45720" rIns="45720" bIns="45720" anchor="t" rtlCol="0">
            <a:noAutofit/>
          </a:bodyPr>
          <a:lstStyle/>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 Multi-cluster warehouses</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 Time Travel up to 90 days</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 Materialized views</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 Column &amp; row-level security</a:t>
            </a:r>
            <a:endParaRPr lang="en-US" sz="1300" dirty="0"/>
          </a:p>
        </p:txBody>
      </p:sp>
      <p:sp>
        <p:nvSpPr>
          <p:cNvPr id="16" name="Shape 16"/>
          <p:cNvSpPr/>
          <p:nvPr/>
        </p:nvSpPr>
        <p:spPr>
          <a:xfrm>
            <a:off x="6035040" y="2651760"/>
            <a:ext cx="182880" cy="274320"/>
          </a:xfrm>
          <a:prstGeom prst="rightArrow">
            <a:avLst/>
          </a:prstGeom>
          <a:solidFill>
            <a:srgbClr val="29B5E8"/>
          </a:solidFill>
          <a:ln>
            <a:noFill/>
          </a:ln>
        </p:spPr>
        <p:txBody>
          <a:bodyPr wrap="square" lIns="91440" tIns="91440" rIns="91440" bIns="91440" anchor="t" rtlCol="0">
            <a:noAutofit/>
          </a:bodyPr>
          <a:lstStyle/>
          <a:p>
            <a:endParaRPr lang="en-US" dirty="0"/>
          </a:p>
        </p:txBody>
      </p:sp>
      <p:sp>
        <p:nvSpPr>
          <p:cNvPr id="17" name="Shape 17"/>
          <p:cNvSpPr/>
          <p:nvPr/>
        </p:nvSpPr>
        <p:spPr>
          <a:xfrm>
            <a:off x="6217920" y="1325880"/>
            <a:ext cx="2651760" cy="2926080"/>
          </a:xfrm>
          <a:prstGeom prst="roundRect">
            <a:avLst>
              <a:gd name="adj" fmla="val 6000"/>
            </a:avLst>
          </a:prstGeom>
          <a:solidFill>
            <a:srgbClr val="FFFFFF"/>
          </a:solidFill>
          <a:ln w="12700">
            <a:solidFill>
              <a:srgbClr val="D1D5DB"/>
            </a:solidFill>
          </a:ln>
          <a:effectLst>
            <a:outerShdw blurRad="50800" dist="19050" dir="5400000" algn="t" rotWithShape="0">
              <a:srgbClr val="000000">
                <a:alpha val="18000"/>
              </a:srgbClr>
            </a:outerShdw>
          </a:effectLst>
        </p:spPr>
        <p:txBody>
          <a:bodyPr wrap="square" lIns="91440" tIns="91440" rIns="91440" bIns="91440" anchor="t" rtlCol="0">
            <a:noAutofit/>
          </a:bodyPr>
          <a:lstStyle/>
          <a:p>
            <a:endParaRPr lang="en-US" dirty="0"/>
          </a:p>
        </p:txBody>
      </p:sp>
      <p:sp>
        <p:nvSpPr>
          <p:cNvPr id="18" name="Shape 18"/>
          <p:cNvSpPr/>
          <p:nvPr/>
        </p:nvSpPr>
        <p:spPr>
          <a:xfrm>
            <a:off x="6217920" y="1325880"/>
            <a:ext cx="2651760" cy="457200"/>
          </a:xfrm>
          <a:prstGeom prst="roundRect">
            <a:avLst>
              <a:gd name="adj" fmla="val 18000"/>
            </a:avLst>
          </a:prstGeom>
          <a:solidFill>
            <a:srgbClr val="1B7FB5"/>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600" dirty="0" b="1">
                <a:solidFill>
                  <a:srgbClr val="FFFFFF"/>
                </a:solidFill>
              </a:rPr>
              <a:t>Business Critical</a:t>
            </a:r>
            <a:endParaRPr lang="en-US" sz="1600" dirty="0"/>
          </a:p>
        </p:txBody>
      </p:sp>
      <p:sp>
        <p:nvSpPr>
          <p:cNvPr id="19" name="Shape 19"/>
          <p:cNvSpPr/>
          <p:nvPr/>
        </p:nvSpPr>
        <p:spPr>
          <a:xfrm>
            <a:off x="6309360" y="1856232"/>
            <a:ext cx="2468880" cy="2331720"/>
          </a:xfrm>
          <a:prstGeom prst="rect">
            <a:avLst/>
          </a:prstGeom>
          <a:noFill/>
          <a:ln>
            <a:noFill/>
          </a:ln>
        </p:spPr>
        <p:txBody>
          <a:bodyPr wrap="square" lIns="45720" tIns="45720" rIns="45720" bIns="45720" anchor="t" rtlCol="0">
            <a:noAutofit/>
          </a:bodyPr>
          <a:lstStyle/>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 HIPAA / PCI DSS support</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 Tri-Secret Secure (CMK)</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 PrivateLink connectivity</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 Account failover / failback</a:t>
            </a:r>
            <a:endParaRPr lang="en-US" sz="1300" dirty="0"/>
          </a:p>
        </p:txBody>
      </p:sp>
      <p:sp>
        <p:nvSpPr>
          <p:cNvPr id="20" name="Shape 20"/>
          <p:cNvSpPr/>
          <p:nvPr/>
        </p:nvSpPr>
        <p:spPr>
          <a:xfrm>
            <a:off x="8869680" y="2651760"/>
            <a:ext cx="182880" cy="274320"/>
          </a:xfrm>
          <a:prstGeom prst="rightArrow">
            <a:avLst/>
          </a:prstGeom>
          <a:solidFill>
            <a:srgbClr val="29B5E8"/>
          </a:solidFill>
          <a:ln>
            <a:noFill/>
          </a:ln>
        </p:spPr>
        <p:txBody>
          <a:bodyPr wrap="square" lIns="91440" tIns="91440" rIns="91440" bIns="91440" anchor="t" rtlCol="0">
            <a:noAutofit/>
          </a:bodyPr>
          <a:lstStyle/>
          <a:p>
            <a:endParaRPr lang="en-US" dirty="0"/>
          </a:p>
        </p:txBody>
      </p:sp>
      <p:sp>
        <p:nvSpPr>
          <p:cNvPr id="21" name="Shape 21"/>
          <p:cNvSpPr/>
          <p:nvPr/>
        </p:nvSpPr>
        <p:spPr>
          <a:xfrm>
            <a:off x="9052560" y="1325880"/>
            <a:ext cx="2651760" cy="2926080"/>
          </a:xfrm>
          <a:prstGeom prst="roundRect">
            <a:avLst>
              <a:gd name="adj" fmla="val 6000"/>
            </a:avLst>
          </a:prstGeom>
          <a:solidFill>
            <a:srgbClr val="FFFFFF"/>
          </a:solidFill>
          <a:ln w="12700">
            <a:solidFill>
              <a:srgbClr val="D1D5DB"/>
            </a:solidFill>
          </a:ln>
          <a:effectLst>
            <a:outerShdw blurRad="50800" dist="19050" dir="5400000" algn="t" rotWithShape="0">
              <a:srgbClr val="000000">
                <a:alpha val="18000"/>
              </a:srgbClr>
            </a:outerShdw>
          </a:effectLst>
        </p:spPr>
        <p:txBody>
          <a:bodyPr wrap="square" lIns="91440" tIns="91440" rIns="91440" bIns="91440" anchor="t" rtlCol="0">
            <a:noAutofit/>
          </a:bodyPr>
          <a:lstStyle/>
          <a:p>
            <a:endParaRPr lang="en-US" dirty="0"/>
          </a:p>
        </p:txBody>
      </p:sp>
      <p:sp>
        <p:nvSpPr>
          <p:cNvPr id="22" name="Shape 22"/>
          <p:cNvSpPr/>
          <p:nvPr/>
        </p:nvSpPr>
        <p:spPr>
          <a:xfrm>
            <a:off x="9052560" y="1325880"/>
            <a:ext cx="2651760" cy="457200"/>
          </a:xfrm>
          <a:prstGeom prst="roundRect">
            <a:avLst>
              <a:gd name="adj" fmla="val 18000"/>
            </a:avLst>
          </a:prstGeom>
          <a:solidFill>
            <a:srgbClr val="0B2545"/>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600" dirty="0" b="1">
                <a:solidFill>
                  <a:srgbClr val="FFFFFF"/>
                </a:solidFill>
              </a:rPr>
              <a:t>VPS</a:t>
            </a:r>
            <a:endParaRPr lang="en-US" sz="1600" dirty="0"/>
          </a:p>
        </p:txBody>
      </p:sp>
      <p:sp>
        <p:nvSpPr>
          <p:cNvPr id="23" name="Shape 23"/>
          <p:cNvSpPr/>
          <p:nvPr/>
        </p:nvSpPr>
        <p:spPr>
          <a:xfrm>
            <a:off x="9144000" y="1856232"/>
            <a:ext cx="2468880" cy="2331720"/>
          </a:xfrm>
          <a:prstGeom prst="rect">
            <a:avLst/>
          </a:prstGeom>
          <a:noFill/>
          <a:ln>
            <a:noFill/>
          </a:ln>
        </p:spPr>
        <p:txBody>
          <a:bodyPr wrap="square" lIns="45720" tIns="45720" rIns="45720" bIns="45720" anchor="t" rtlCol="0">
            <a:noAutofit/>
          </a:bodyPr>
          <a:lstStyle/>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 Fully isolated Snowflake environment</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 Dedicated metadata store</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For the strictest security needs</a:t>
            </a:r>
            <a:endParaRPr lang="en-US" sz="1300" dirty="0"/>
          </a:p>
        </p:txBody>
      </p:sp>
      <p:sp>
        <p:nvSpPr>
          <p:cNvPr id="24" name="Shape 24"/>
          <p:cNvSpPr/>
          <p:nvPr/>
        </p:nvSpPr>
        <p:spPr>
          <a:xfrm>
            <a:off x="548640" y="4343400"/>
            <a:ext cx="10972800" cy="36576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a:solidFill>
                  <a:srgbClr val="6B7280"/>
                </a:solidFill>
              </a:rPr>
              <a:t>Each edition includes everything in the one to its left.</a:t>
            </a:r>
            <a:endParaRPr lang="en-US" sz="1200" dirty="0"/>
          </a:p>
        </p:txBody>
      </p:sp>
      <p:sp>
        <p:nvSpPr>
          <p:cNvPr id="25" name="Shape 25"/>
          <p:cNvSpPr/>
          <p:nvPr/>
        </p:nvSpPr>
        <p:spPr>
          <a:xfrm>
            <a:off x="548640" y="4800600"/>
            <a:ext cx="2194560" cy="1188720"/>
          </a:xfrm>
          <a:prstGeom prst="roundRect">
            <a:avLst>
              <a:gd name="adj" fmla="val 12000"/>
            </a:avLst>
          </a:prstGeom>
          <a:solidFill>
            <a:srgbClr val="EAF6FC"/>
          </a:solidFill>
          <a:ln w="12700">
            <a:solidFill>
              <a:srgbClr val="29B5E8"/>
            </a:solidFill>
          </a:ln>
        </p:spPr>
        <p:txBody>
          <a:bodyPr wrap="square" lIns="91440" tIns="91440" rIns="91440" bIns="91440" anchor="ctr" rtlCol="0">
            <a:noAutofit/>
          </a:bodyPr>
          <a:lstStyle/>
          <a:p>
            <a:pPr algn="ctr">
              <a:lnSpc>
                <a:spcPct val="100000"/>
              </a:lnSpc>
              <a:spcBef>
                <a:spcPts val="0"/>
              </a:spcBef>
              <a:spcAft>
                <a:spcPts val="0"/>
              </a:spcAft>
              <a:buNone/>
            </a:pPr>
            <a:r>
              <a:rPr lang="en-US" sz="1500" dirty="0" b="1">
                <a:solidFill>
                  <a:srgbClr val="11567F"/>
                </a:solidFill>
              </a:rPr>
              <a:t>AWS</a:t>
            </a:r>
            <a:endParaRPr lang="en-US" sz="1500" dirty="0"/>
          </a:p>
          <a:p>
            <a:pPr algn="ctr">
              <a:lnSpc>
                <a:spcPct val="100000"/>
              </a:lnSpc>
              <a:spcBef>
                <a:spcPts val="400"/>
              </a:spcBef>
              <a:spcAft>
                <a:spcPts val="0"/>
              </a:spcAft>
              <a:buNone/>
            </a:pPr>
            <a:r>
              <a:rPr lang="en-US" sz="1150" dirty="0">
                <a:solidFill>
                  <a:srgbClr val="1F2937"/>
                </a:solidFill>
              </a:rPr>
              <a:t>e.g. us-west-2 (Oregon)</a:t>
            </a:r>
            <a:endParaRPr lang="en-US" sz="1150" dirty="0"/>
          </a:p>
        </p:txBody>
      </p:sp>
      <p:sp>
        <p:nvSpPr>
          <p:cNvPr id="26" name="Shape 26"/>
          <p:cNvSpPr/>
          <p:nvPr/>
        </p:nvSpPr>
        <p:spPr>
          <a:xfrm>
            <a:off x="2880360" y="4800600"/>
            <a:ext cx="2194560" cy="1188720"/>
          </a:xfrm>
          <a:prstGeom prst="roundRect">
            <a:avLst>
              <a:gd name="adj" fmla="val 12000"/>
            </a:avLst>
          </a:prstGeom>
          <a:solidFill>
            <a:srgbClr val="EAF6FC"/>
          </a:solidFill>
          <a:ln w="12700">
            <a:solidFill>
              <a:srgbClr val="29B5E8"/>
            </a:solidFill>
          </a:ln>
        </p:spPr>
        <p:txBody>
          <a:bodyPr wrap="square" lIns="91440" tIns="91440" rIns="91440" bIns="91440" anchor="ctr" rtlCol="0">
            <a:noAutofit/>
          </a:bodyPr>
          <a:lstStyle/>
          <a:p>
            <a:pPr algn="ctr">
              <a:lnSpc>
                <a:spcPct val="100000"/>
              </a:lnSpc>
              <a:spcBef>
                <a:spcPts val="0"/>
              </a:spcBef>
              <a:spcAft>
                <a:spcPts val="0"/>
              </a:spcAft>
              <a:buNone/>
            </a:pPr>
            <a:r>
              <a:rPr lang="en-US" sz="1500" dirty="0" b="1">
                <a:solidFill>
                  <a:srgbClr val="11567F"/>
                </a:solidFill>
              </a:rPr>
              <a:t>Microsoft Azure</a:t>
            </a:r>
            <a:endParaRPr lang="en-US" sz="1500" dirty="0"/>
          </a:p>
          <a:p>
            <a:pPr algn="ctr">
              <a:lnSpc>
                <a:spcPct val="100000"/>
              </a:lnSpc>
              <a:spcBef>
                <a:spcPts val="400"/>
              </a:spcBef>
              <a:spcAft>
                <a:spcPts val="0"/>
              </a:spcAft>
              <a:buNone/>
            </a:pPr>
            <a:r>
              <a:rPr lang="en-US" sz="1150" dirty="0">
                <a:solidFill>
                  <a:srgbClr val="1F2937"/>
                </a:solidFill>
              </a:rPr>
              <a:t>e.g. eastus2</a:t>
            </a:r>
            <a:endParaRPr lang="en-US" sz="1150" dirty="0"/>
          </a:p>
        </p:txBody>
      </p:sp>
      <p:sp>
        <p:nvSpPr>
          <p:cNvPr id="27" name="Shape 27"/>
          <p:cNvSpPr/>
          <p:nvPr/>
        </p:nvSpPr>
        <p:spPr>
          <a:xfrm>
            <a:off x="5212080" y="4800600"/>
            <a:ext cx="2194560" cy="1188720"/>
          </a:xfrm>
          <a:prstGeom prst="roundRect">
            <a:avLst>
              <a:gd name="adj" fmla="val 12000"/>
            </a:avLst>
          </a:prstGeom>
          <a:solidFill>
            <a:srgbClr val="EAF6FC"/>
          </a:solidFill>
          <a:ln w="12700">
            <a:solidFill>
              <a:srgbClr val="29B5E8"/>
            </a:solidFill>
          </a:ln>
        </p:spPr>
        <p:txBody>
          <a:bodyPr wrap="square" lIns="91440" tIns="91440" rIns="91440" bIns="91440" anchor="ctr" rtlCol="0">
            <a:noAutofit/>
          </a:bodyPr>
          <a:lstStyle/>
          <a:p>
            <a:pPr algn="ctr">
              <a:lnSpc>
                <a:spcPct val="100000"/>
              </a:lnSpc>
              <a:spcBef>
                <a:spcPts val="0"/>
              </a:spcBef>
              <a:spcAft>
                <a:spcPts val="0"/>
              </a:spcAft>
              <a:buNone/>
            </a:pPr>
            <a:r>
              <a:rPr lang="en-US" sz="1500" dirty="0" b="1">
                <a:solidFill>
                  <a:srgbClr val="11567F"/>
                </a:solidFill>
              </a:rPr>
              <a:t>Google Cloud</a:t>
            </a:r>
            <a:endParaRPr lang="en-US" sz="1500" dirty="0"/>
          </a:p>
          <a:p>
            <a:pPr algn="ctr">
              <a:lnSpc>
                <a:spcPct val="100000"/>
              </a:lnSpc>
              <a:spcBef>
                <a:spcPts val="400"/>
              </a:spcBef>
              <a:spcAft>
                <a:spcPts val="0"/>
              </a:spcAft>
              <a:buNone/>
            </a:pPr>
            <a:r>
              <a:rPr lang="en-US" sz="1150" dirty="0">
                <a:solidFill>
                  <a:srgbClr val="1F2937"/>
                </a:solidFill>
              </a:rPr>
              <a:t>e.g. us-central1</a:t>
            </a:r>
            <a:endParaRPr lang="en-US" sz="1150" dirty="0"/>
          </a:p>
        </p:txBody>
      </p:sp>
      <p:sp>
        <p:nvSpPr>
          <p:cNvPr id="28" name="Shape 28"/>
          <p:cNvSpPr/>
          <p:nvPr/>
        </p:nvSpPr>
        <p:spPr>
          <a:xfrm>
            <a:off x="7680960" y="4800600"/>
            <a:ext cx="3977640" cy="1188720"/>
          </a:xfrm>
          <a:prstGeom prst="roundRect">
            <a:avLst>
              <a:gd name="adj" fmla="val 10000"/>
            </a:avLst>
          </a:prstGeom>
          <a:solidFill>
            <a:srgbClr val="FFF7E6"/>
          </a:solidFill>
          <a:ln w="15875">
            <a:solidFill>
              <a:srgbClr val="F59E0B"/>
            </a:solidFill>
          </a:ln>
        </p:spPr>
        <p:txBody>
          <a:bodyPr wrap="square" lIns="91440" tIns="91440" rIns="91440" bIns="91440" anchor="t" rtlCol="0">
            <a:noAutofit/>
          </a:bodyPr>
          <a:lstStyle/>
          <a:p>
            <a:endParaRPr lang="en-US" dirty="0"/>
          </a:p>
        </p:txBody>
      </p:sp>
      <p:sp>
        <p:nvSpPr>
          <p:cNvPr id="29" name="Shape 29"/>
          <p:cNvSpPr/>
          <p:nvPr/>
        </p:nvSpPr>
        <p:spPr>
          <a:xfrm>
            <a:off x="7790688" y="4846320"/>
            <a:ext cx="3758184" cy="109728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00" dirty="0" b="1">
                <a:solidFill>
                  <a:srgbClr val="F59E0B"/>
                </a:solidFill>
              </a:rPr>
              <a:t>REGION  </a:t>
            </a:r>
            <a:r>
              <a:rPr lang="en-US" sz="1200" dirty="0">
                <a:solidFill>
                  <a:srgbClr val="1F2937"/>
                </a:solidFill>
              </a:rPr>
              <a:t>An account lives in </a:t>
            </a:r>
            <a:r>
              <a:rPr lang="en-US" sz="1200" dirty="0" b="1">
                <a:solidFill>
                  <a:srgbClr val="1F2937"/>
                </a:solidFill>
              </a:rPr>
              <a:t>one region of one cloud</a:t>
            </a:r>
            <a:r>
              <a:rPr lang="en-US" sz="1200" dirty="0">
                <a:solidFill>
                  <a:srgbClr val="1F2937"/>
                </a:solidFill>
              </a:rPr>
              <a:t>. Pick one close to your data; use replication for other regions.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Your First-Day Roadmap</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The path the rest of this deck follows</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7 / 26</a:t>
            </a:r>
            <a:endParaRPr lang="en-US" sz="1000" dirty="0"/>
          </a:p>
        </p:txBody>
      </p:sp>
      <p:sp>
        <p:nvSpPr>
          <p:cNvPr id="9" name="Shape 9"/>
          <p:cNvSpPr/>
          <p:nvPr/>
        </p:nvSpPr>
        <p:spPr>
          <a:xfrm>
            <a:off x="822960" y="1600200"/>
            <a:ext cx="731520" cy="731520"/>
          </a:xfrm>
          <a:prstGeom prst="ellipse">
            <a:avLst/>
          </a:prstGeom>
          <a:solidFill>
            <a:srgbClr val="29B5E8"/>
          </a:solidFill>
          <a:ln>
            <a:noFill/>
          </a:ln>
        </p:spPr>
        <p:txBody>
          <a:bodyPr wrap="square" lIns="0" tIns="0" rIns="0" bIns="0" anchor="ctr" rtlCol="0">
            <a:noAutofit/>
          </a:bodyPr>
          <a:lstStyle/>
          <a:p>
            <a:pPr algn="ctr">
              <a:lnSpc>
                <a:spcPct val="100000"/>
              </a:lnSpc>
              <a:spcBef>
                <a:spcPts val="0"/>
              </a:spcBef>
              <a:spcAft>
                <a:spcPts val="0"/>
              </a:spcAft>
              <a:buNone/>
            </a:pPr>
            <a:r>
              <a:rPr lang="en-US" sz="2200" dirty="0" b="1">
                <a:solidFill>
                  <a:srgbClr val="FFFFFF"/>
                </a:solidFill>
              </a:rPr>
              <a:t>1</a:t>
            </a:r>
            <a:endParaRPr lang="en-US" sz="2200" dirty="0"/>
          </a:p>
        </p:txBody>
      </p:sp>
      <p:sp>
        <p:nvSpPr>
          <p:cNvPr id="10" name="Shape 10"/>
          <p:cNvSpPr/>
          <p:nvPr/>
        </p:nvSpPr>
        <p:spPr>
          <a:xfrm>
            <a:off x="411480" y="2560320"/>
            <a:ext cx="1554480" cy="1143000"/>
          </a:xfrm>
          <a:prstGeom prst="roundRect">
            <a:avLst>
              <a:gd name="adj" fmla="val 12000"/>
            </a:avLst>
          </a:prstGeom>
          <a:solidFill>
            <a:srgbClr val="EAF6FC"/>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400" dirty="0" b="1">
                <a:solidFill>
                  <a:srgbClr val="0B2545"/>
                </a:solidFill>
              </a:rPr>
              <a:t>Sign up &amp;</a:t>
            </a:r>
            <a:endParaRPr lang="en-US" sz="1400" dirty="0"/>
          </a:p>
          <a:p>
            <a:pPr algn="ctr">
              <a:lnSpc>
                <a:spcPct val="100000"/>
              </a:lnSpc>
              <a:spcBef>
                <a:spcPts val="0"/>
              </a:spcBef>
              <a:spcAft>
                <a:spcPts val="0"/>
              </a:spcAft>
              <a:buNone/>
            </a:pPr>
            <a:r>
              <a:rPr lang="en-US" sz="1400" dirty="0" b="1">
                <a:solidFill>
                  <a:srgbClr val="0B2545"/>
                </a:solidFill>
              </a:rPr>
              <a:t>log in</a:t>
            </a:r>
            <a:endParaRPr lang="en-US" sz="1400" dirty="0"/>
          </a:p>
        </p:txBody>
      </p:sp>
      <p:sp>
        <p:nvSpPr>
          <p:cNvPr id="11" name="Shape 11"/>
          <p:cNvSpPr/>
          <p:nvPr/>
        </p:nvSpPr>
        <p:spPr>
          <a:xfrm>
            <a:off x="411480" y="3749040"/>
            <a:ext cx="1554480" cy="365760"/>
          </a:xfrm>
          <a:prstGeom prst="rect">
            <a:avLst/>
          </a:prstGeom>
          <a:noFill/>
          <a:ln>
            <a:noFill/>
          </a:ln>
        </p:spPr>
        <p:txBody>
          <a:bodyPr wrap="square" lIns="45720" tIns="45720" rIns="45720" bIns="45720" anchor="t" rtlCol="0">
            <a:noAutofit/>
          </a:bodyPr>
          <a:lstStyle/>
          <a:p>
            <a:pPr algn="ctr">
              <a:lnSpc>
                <a:spcPct val="100000"/>
              </a:lnSpc>
              <a:spcBef>
                <a:spcPts val="0"/>
              </a:spcBef>
              <a:spcAft>
                <a:spcPts val="0"/>
              </a:spcAft>
              <a:buNone/>
            </a:pPr>
            <a:r>
              <a:rPr lang="en-US" sz="1150" dirty="0">
                <a:solidFill>
                  <a:srgbClr val="6B7280"/>
                </a:solidFill>
              </a:rPr>
              <a:t>Snowsight</a:t>
            </a:r>
            <a:endParaRPr lang="en-US" sz="1150" dirty="0"/>
          </a:p>
        </p:txBody>
      </p:sp>
      <p:sp>
        <p:nvSpPr>
          <p:cNvPr id="12" name="Shape 12"/>
          <p:cNvSpPr/>
          <p:nvPr/>
        </p:nvSpPr>
        <p:spPr>
          <a:xfrm>
            <a:off x="1984248" y="2999232"/>
            <a:ext cx="91440" cy="256032"/>
          </a:xfrm>
          <a:prstGeom prst="rightArrow">
            <a:avLst/>
          </a:prstGeom>
          <a:solidFill>
            <a:srgbClr val="29B5E8"/>
          </a:solidFill>
          <a:ln>
            <a:noFill/>
          </a:ln>
        </p:spPr>
        <p:txBody>
          <a:bodyPr wrap="square" lIns="91440" tIns="91440" rIns="91440" bIns="91440" anchor="t" rtlCol="0">
            <a:noAutofit/>
          </a:bodyPr>
          <a:lstStyle/>
          <a:p>
            <a:endParaRPr lang="en-US" dirty="0"/>
          </a:p>
        </p:txBody>
      </p:sp>
      <p:sp>
        <p:nvSpPr>
          <p:cNvPr id="13" name="Shape 13"/>
          <p:cNvSpPr/>
          <p:nvPr/>
        </p:nvSpPr>
        <p:spPr>
          <a:xfrm>
            <a:off x="2496312" y="1600200"/>
            <a:ext cx="731520" cy="731520"/>
          </a:xfrm>
          <a:prstGeom prst="ellipse">
            <a:avLst/>
          </a:prstGeom>
          <a:solidFill>
            <a:srgbClr val="29B5E8"/>
          </a:solidFill>
          <a:ln>
            <a:noFill/>
          </a:ln>
        </p:spPr>
        <p:txBody>
          <a:bodyPr wrap="square" lIns="0" tIns="0" rIns="0" bIns="0" anchor="ctr" rtlCol="0">
            <a:noAutofit/>
          </a:bodyPr>
          <a:lstStyle/>
          <a:p>
            <a:pPr algn="ctr">
              <a:lnSpc>
                <a:spcPct val="100000"/>
              </a:lnSpc>
              <a:spcBef>
                <a:spcPts val="0"/>
              </a:spcBef>
              <a:spcAft>
                <a:spcPts val="0"/>
              </a:spcAft>
              <a:buNone/>
            </a:pPr>
            <a:r>
              <a:rPr lang="en-US" sz="2200" dirty="0" b="1">
                <a:solidFill>
                  <a:srgbClr val="FFFFFF"/>
                </a:solidFill>
              </a:rPr>
              <a:t>2</a:t>
            </a:r>
            <a:endParaRPr lang="en-US" sz="2200" dirty="0"/>
          </a:p>
        </p:txBody>
      </p:sp>
      <p:sp>
        <p:nvSpPr>
          <p:cNvPr id="14" name="Shape 14"/>
          <p:cNvSpPr/>
          <p:nvPr/>
        </p:nvSpPr>
        <p:spPr>
          <a:xfrm>
            <a:off x="2084832" y="2560320"/>
            <a:ext cx="1554480" cy="1143000"/>
          </a:xfrm>
          <a:prstGeom prst="roundRect">
            <a:avLst>
              <a:gd name="adj" fmla="val 12000"/>
            </a:avLst>
          </a:prstGeom>
          <a:solidFill>
            <a:srgbClr val="EAF6FC"/>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400" dirty="0" b="1">
                <a:solidFill>
                  <a:srgbClr val="0B2545"/>
                </a:solidFill>
              </a:rPr>
              <a:t>Create a</a:t>
            </a:r>
            <a:endParaRPr lang="en-US" sz="1400" dirty="0"/>
          </a:p>
          <a:p>
            <a:pPr algn="ctr">
              <a:lnSpc>
                <a:spcPct val="100000"/>
              </a:lnSpc>
              <a:spcBef>
                <a:spcPts val="0"/>
              </a:spcBef>
              <a:spcAft>
                <a:spcPts val="0"/>
              </a:spcAft>
              <a:buNone/>
            </a:pPr>
            <a:r>
              <a:rPr lang="en-US" sz="1400" dirty="0" b="1">
                <a:solidFill>
                  <a:srgbClr val="0B2545"/>
                </a:solidFill>
              </a:rPr>
              <a:t>warehouse</a:t>
            </a:r>
            <a:endParaRPr lang="en-US" sz="1400" dirty="0"/>
          </a:p>
        </p:txBody>
      </p:sp>
      <p:sp>
        <p:nvSpPr>
          <p:cNvPr id="15" name="Shape 15"/>
          <p:cNvSpPr/>
          <p:nvPr/>
        </p:nvSpPr>
        <p:spPr>
          <a:xfrm>
            <a:off x="2084832" y="3749040"/>
            <a:ext cx="1554480" cy="365760"/>
          </a:xfrm>
          <a:prstGeom prst="rect">
            <a:avLst/>
          </a:prstGeom>
          <a:noFill/>
          <a:ln>
            <a:noFill/>
          </a:ln>
        </p:spPr>
        <p:txBody>
          <a:bodyPr wrap="square" lIns="45720" tIns="45720" rIns="45720" bIns="45720" anchor="t" rtlCol="0">
            <a:noAutofit/>
          </a:bodyPr>
          <a:lstStyle/>
          <a:p>
            <a:pPr algn="ctr">
              <a:lnSpc>
                <a:spcPct val="100000"/>
              </a:lnSpc>
              <a:spcBef>
                <a:spcPts val="0"/>
              </a:spcBef>
              <a:spcAft>
                <a:spcPts val="0"/>
              </a:spcAft>
              <a:buNone/>
            </a:pPr>
            <a:r>
              <a:rPr lang="en-US" sz="1150" dirty="0">
                <a:solidFill>
                  <a:srgbClr val="6B7280"/>
                </a:solidFill>
              </a:rPr>
              <a:t>Ex 1</a:t>
            </a:r>
            <a:endParaRPr lang="en-US" sz="1150" dirty="0"/>
          </a:p>
        </p:txBody>
      </p:sp>
      <p:sp>
        <p:nvSpPr>
          <p:cNvPr id="16" name="Shape 16"/>
          <p:cNvSpPr/>
          <p:nvPr/>
        </p:nvSpPr>
        <p:spPr>
          <a:xfrm>
            <a:off x="3657600" y="2999232"/>
            <a:ext cx="91440" cy="256032"/>
          </a:xfrm>
          <a:prstGeom prst="rightArrow">
            <a:avLst/>
          </a:prstGeom>
          <a:solidFill>
            <a:srgbClr val="29B5E8"/>
          </a:solidFill>
          <a:ln>
            <a:noFill/>
          </a:ln>
        </p:spPr>
        <p:txBody>
          <a:bodyPr wrap="square" lIns="91440" tIns="91440" rIns="91440" bIns="91440" anchor="t" rtlCol="0">
            <a:noAutofit/>
          </a:bodyPr>
          <a:lstStyle/>
          <a:p>
            <a:endParaRPr lang="en-US" dirty="0"/>
          </a:p>
        </p:txBody>
      </p:sp>
      <p:sp>
        <p:nvSpPr>
          <p:cNvPr id="17" name="Shape 17"/>
          <p:cNvSpPr/>
          <p:nvPr/>
        </p:nvSpPr>
        <p:spPr>
          <a:xfrm>
            <a:off x="4169664" y="1600200"/>
            <a:ext cx="731520" cy="731520"/>
          </a:xfrm>
          <a:prstGeom prst="ellipse">
            <a:avLst/>
          </a:prstGeom>
          <a:solidFill>
            <a:srgbClr val="29B5E8"/>
          </a:solidFill>
          <a:ln>
            <a:noFill/>
          </a:ln>
        </p:spPr>
        <p:txBody>
          <a:bodyPr wrap="square" lIns="0" tIns="0" rIns="0" bIns="0" anchor="ctr" rtlCol="0">
            <a:noAutofit/>
          </a:bodyPr>
          <a:lstStyle/>
          <a:p>
            <a:pPr algn="ctr">
              <a:lnSpc>
                <a:spcPct val="100000"/>
              </a:lnSpc>
              <a:spcBef>
                <a:spcPts val="0"/>
              </a:spcBef>
              <a:spcAft>
                <a:spcPts val="0"/>
              </a:spcAft>
              <a:buNone/>
            </a:pPr>
            <a:r>
              <a:rPr lang="en-US" sz="2200" dirty="0" b="1">
                <a:solidFill>
                  <a:srgbClr val="FFFFFF"/>
                </a:solidFill>
              </a:rPr>
              <a:t>3</a:t>
            </a:r>
            <a:endParaRPr lang="en-US" sz="2200" dirty="0"/>
          </a:p>
        </p:txBody>
      </p:sp>
      <p:sp>
        <p:nvSpPr>
          <p:cNvPr id="18" name="Shape 18"/>
          <p:cNvSpPr/>
          <p:nvPr/>
        </p:nvSpPr>
        <p:spPr>
          <a:xfrm>
            <a:off x="3758184" y="2560320"/>
            <a:ext cx="1554480" cy="1143000"/>
          </a:xfrm>
          <a:prstGeom prst="roundRect">
            <a:avLst>
              <a:gd name="adj" fmla="val 12000"/>
            </a:avLst>
          </a:prstGeom>
          <a:solidFill>
            <a:srgbClr val="EAF6FC"/>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400" dirty="0" b="1">
                <a:solidFill>
                  <a:srgbClr val="0B2545"/>
                </a:solidFill>
              </a:rPr>
              <a:t>Create DB,</a:t>
            </a:r>
            <a:endParaRPr lang="en-US" sz="1400" dirty="0"/>
          </a:p>
          <a:p>
            <a:pPr algn="ctr">
              <a:lnSpc>
                <a:spcPct val="100000"/>
              </a:lnSpc>
              <a:spcBef>
                <a:spcPts val="0"/>
              </a:spcBef>
              <a:spcAft>
                <a:spcPts val="0"/>
              </a:spcAft>
              <a:buNone/>
            </a:pPr>
            <a:r>
              <a:rPr lang="en-US" sz="1400" dirty="0" b="1">
                <a:solidFill>
                  <a:srgbClr val="0B2545"/>
                </a:solidFill>
              </a:rPr>
              <a:t>schema, table</a:t>
            </a:r>
            <a:endParaRPr lang="en-US" sz="1400" dirty="0"/>
          </a:p>
        </p:txBody>
      </p:sp>
      <p:sp>
        <p:nvSpPr>
          <p:cNvPr id="19" name="Shape 19"/>
          <p:cNvSpPr/>
          <p:nvPr/>
        </p:nvSpPr>
        <p:spPr>
          <a:xfrm>
            <a:off x="3758184" y="3749040"/>
            <a:ext cx="1554480" cy="365760"/>
          </a:xfrm>
          <a:prstGeom prst="rect">
            <a:avLst/>
          </a:prstGeom>
          <a:noFill/>
          <a:ln>
            <a:noFill/>
          </a:ln>
        </p:spPr>
        <p:txBody>
          <a:bodyPr wrap="square" lIns="45720" tIns="45720" rIns="45720" bIns="45720" anchor="t" rtlCol="0">
            <a:noAutofit/>
          </a:bodyPr>
          <a:lstStyle/>
          <a:p>
            <a:pPr algn="ctr">
              <a:lnSpc>
                <a:spcPct val="100000"/>
              </a:lnSpc>
              <a:spcBef>
                <a:spcPts val="0"/>
              </a:spcBef>
              <a:spcAft>
                <a:spcPts val="0"/>
              </a:spcAft>
              <a:buNone/>
            </a:pPr>
            <a:r>
              <a:rPr lang="en-US" sz="1150" dirty="0">
                <a:solidFill>
                  <a:srgbClr val="6B7280"/>
                </a:solidFill>
              </a:rPr>
              <a:t>Ex 2</a:t>
            </a:r>
            <a:endParaRPr lang="en-US" sz="1150" dirty="0"/>
          </a:p>
        </p:txBody>
      </p:sp>
      <p:sp>
        <p:nvSpPr>
          <p:cNvPr id="20" name="Shape 20"/>
          <p:cNvSpPr/>
          <p:nvPr/>
        </p:nvSpPr>
        <p:spPr>
          <a:xfrm>
            <a:off x="5330952" y="2999232"/>
            <a:ext cx="91440" cy="256032"/>
          </a:xfrm>
          <a:prstGeom prst="rightArrow">
            <a:avLst/>
          </a:prstGeom>
          <a:solidFill>
            <a:srgbClr val="29B5E8"/>
          </a:solidFill>
          <a:ln>
            <a:noFill/>
          </a:ln>
        </p:spPr>
        <p:txBody>
          <a:bodyPr wrap="square" lIns="91440" tIns="91440" rIns="91440" bIns="91440" anchor="t" rtlCol="0">
            <a:noAutofit/>
          </a:bodyPr>
          <a:lstStyle/>
          <a:p>
            <a:endParaRPr lang="en-US" dirty="0"/>
          </a:p>
        </p:txBody>
      </p:sp>
      <p:sp>
        <p:nvSpPr>
          <p:cNvPr id="21" name="Shape 21"/>
          <p:cNvSpPr/>
          <p:nvPr/>
        </p:nvSpPr>
        <p:spPr>
          <a:xfrm>
            <a:off x="5843016" y="1600200"/>
            <a:ext cx="731520" cy="731520"/>
          </a:xfrm>
          <a:prstGeom prst="ellipse">
            <a:avLst/>
          </a:prstGeom>
          <a:solidFill>
            <a:srgbClr val="29B5E8"/>
          </a:solidFill>
          <a:ln>
            <a:noFill/>
          </a:ln>
        </p:spPr>
        <p:txBody>
          <a:bodyPr wrap="square" lIns="0" tIns="0" rIns="0" bIns="0" anchor="ctr" rtlCol="0">
            <a:noAutofit/>
          </a:bodyPr>
          <a:lstStyle/>
          <a:p>
            <a:pPr algn="ctr">
              <a:lnSpc>
                <a:spcPct val="100000"/>
              </a:lnSpc>
              <a:spcBef>
                <a:spcPts val="0"/>
              </a:spcBef>
              <a:spcAft>
                <a:spcPts val="0"/>
              </a:spcAft>
              <a:buNone/>
            </a:pPr>
            <a:r>
              <a:rPr lang="en-US" sz="2200" dirty="0" b="1">
                <a:solidFill>
                  <a:srgbClr val="FFFFFF"/>
                </a:solidFill>
              </a:rPr>
              <a:t>4</a:t>
            </a:r>
            <a:endParaRPr lang="en-US" sz="2200" dirty="0"/>
          </a:p>
        </p:txBody>
      </p:sp>
      <p:sp>
        <p:nvSpPr>
          <p:cNvPr id="22" name="Shape 22"/>
          <p:cNvSpPr/>
          <p:nvPr/>
        </p:nvSpPr>
        <p:spPr>
          <a:xfrm>
            <a:off x="5431536" y="2560320"/>
            <a:ext cx="1554480" cy="1143000"/>
          </a:xfrm>
          <a:prstGeom prst="roundRect">
            <a:avLst>
              <a:gd name="adj" fmla="val 12000"/>
            </a:avLst>
          </a:prstGeom>
          <a:solidFill>
            <a:srgbClr val="EAF6FC"/>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400" dirty="0" b="1">
                <a:solidFill>
                  <a:srgbClr val="0B2545"/>
                </a:solidFill>
              </a:rPr>
              <a:t>Stage &amp;</a:t>
            </a:r>
            <a:endParaRPr lang="en-US" sz="1400" dirty="0"/>
          </a:p>
          <a:p>
            <a:pPr algn="ctr">
              <a:lnSpc>
                <a:spcPct val="100000"/>
              </a:lnSpc>
              <a:spcBef>
                <a:spcPts val="0"/>
              </a:spcBef>
              <a:spcAft>
                <a:spcPts val="0"/>
              </a:spcAft>
              <a:buNone/>
            </a:pPr>
            <a:r>
              <a:rPr lang="en-US" sz="1400" dirty="0" b="1">
                <a:solidFill>
                  <a:srgbClr val="0B2545"/>
                </a:solidFill>
              </a:rPr>
              <a:t>load data</a:t>
            </a:r>
            <a:endParaRPr lang="en-US" sz="1400" dirty="0"/>
          </a:p>
        </p:txBody>
      </p:sp>
      <p:sp>
        <p:nvSpPr>
          <p:cNvPr id="23" name="Shape 23"/>
          <p:cNvSpPr/>
          <p:nvPr/>
        </p:nvSpPr>
        <p:spPr>
          <a:xfrm>
            <a:off x="5431536" y="3749040"/>
            <a:ext cx="1554480" cy="365760"/>
          </a:xfrm>
          <a:prstGeom prst="rect">
            <a:avLst/>
          </a:prstGeom>
          <a:noFill/>
          <a:ln>
            <a:noFill/>
          </a:ln>
        </p:spPr>
        <p:txBody>
          <a:bodyPr wrap="square" lIns="45720" tIns="45720" rIns="45720" bIns="45720" anchor="t" rtlCol="0">
            <a:noAutofit/>
          </a:bodyPr>
          <a:lstStyle/>
          <a:p>
            <a:pPr algn="ctr">
              <a:lnSpc>
                <a:spcPct val="100000"/>
              </a:lnSpc>
              <a:spcBef>
                <a:spcPts val="0"/>
              </a:spcBef>
              <a:spcAft>
                <a:spcPts val="0"/>
              </a:spcAft>
              <a:buNone/>
            </a:pPr>
            <a:r>
              <a:rPr lang="en-US" sz="1150" dirty="0">
                <a:solidFill>
                  <a:srgbClr val="6B7280"/>
                </a:solidFill>
              </a:rPr>
              <a:t>Ex 3–4</a:t>
            </a:r>
            <a:endParaRPr lang="en-US" sz="1150" dirty="0"/>
          </a:p>
        </p:txBody>
      </p:sp>
      <p:sp>
        <p:nvSpPr>
          <p:cNvPr id="24" name="Shape 24"/>
          <p:cNvSpPr/>
          <p:nvPr/>
        </p:nvSpPr>
        <p:spPr>
          <a:xfrm>
            <a:off x="7004304" y="2999232"/>
            <a:ext cx="91440" cy="256032"/>
          </a:xfrm>
          <a:prstGeom prst="rightArrow">
            <a:avLst/>
          </a:prstGeom>
          <a:solidFill>
            <a:srgbClr val="29B5E8"/>
          </a:solidFill>
          <a:ln>
            <a:noFill/>
          </a:ln>
        </p:spPr>
        <p:txBody>
          <a:bodyPr wrap="square" lIns="91440" tIns="91440" rIns="91440" bIns="91440" anchor="t" rtlCol="0">
            <a:noAutofit/>
          </a:bodyPr>
          <a:lstStyle/>
          <a:p>
            <a:endParaRPr lang="en-US" dirty="0"/>
          </a:p>
        </p:txBody>
      </p:sp>
      <p:sp>
        <p:nvSpPr>
          <p:cNvPr id="25" name="Shape 25"/>
          <p:cNvSpPr/>
          <p:nvPr/>
        </p:nvSpPr>
        <p:spPr>
          <a:xfrm>
            <a:off x="7516368" y="1600200"/>
            <a:ext cx="731520" cy="731520"/>
          </a:xfrm>
          <a:prstGeom prst="ellipse">
            <a:avLst/>
          </a:prstGeom>
          <a:solidFill>
            <a:srgbClr val="29B5E8"/>
          </a:solidFill>
          <a:ln>
            <a:noFill/>
          </a:ln>
        </p:spPr>
        <p:txBody>
          <a:bodyPr wrap="square" lIns="0" tIns="0" rIns="0" bIns="0" anchor="ctr" rtlCol="0">
            <a:noAutofit/>
          </a:bodyPr>
          <a:lstStyle/>
          <a:p>
            <a:pPr algn="ctr">
              <a:lnSpc>
                <a:spcPct val="100000"/>
              </a:lnSpc>
              <a:spcBef>
                <a:spcPts val="0"/>
              </a:spcBef>
              <a:spcAft>
                <a:spcPts val="0"/>
              </a:spcAft>
              <a:buNone/>
            </a:pPr>
            <a:r>
              <a:rPr lang="en-US" sz="2200" dirty="0" b="1">
                <a:solidFill>
                  <a:srgbClr val="FFFFFF"/>
                </a:solidFill>
              </a:rPr>
              <a:t>5</a:t>
            </a:r>
            <a:endParaRPr lang="en-US" sz="2200" dirty="0"/>
          </a:p>
        </p:txBody>
      </p:sp>
      <p:sp>
        <p:nvSpPr>
          <p:cNvPr id="26" name="Shape 26"/>
          <p:cNvSpPr/>
          <p:nvPr/>
        </p:nvSpPr>
        <p:spPr>
          <a:xfrm>
            <a:off x="7104888" y="2560320"/>
            <a:ext cx="1554480" cy="1143000"/>
          </a:xfrm>
          <a:prstGeom prst="roundRect">
            <a:avLst>
              <a:gd name="adj" fmla="val 12000"/>
            </a:avLst>
          </a:prstGeom>
          <a:solidFill>
            <a:srgbClr val="EAF6FC"/>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400" dirty="0" b="1">
                <a:solidFill>
                  <a:srgbClr val="0B2545"/>
                </a:solidFill>
              </a:rPr>
              <a:t>Query &amp;</a:t>
            </a:r>
            <a:endParaRPr lang="en-US" sz="1400" dirty="0"/>
          </a:p>
          <a:p>
            <a:pPr algn="ctr">
              <a:lnSpc>
                <a:spcPct val="100000"/>
              </a:lnSpc>
              <a:spcBef>
                <a:spcPts val="0"/>
              </a:spcBef>
              <a:spcAft>
                <a:spcPts val="0"/>
              </a:spcAft>
              <a:buNone/>
            </a:pPr>
            <a:r>
              <a:rPr lang="en-US" sz="1400" dirty="0" b="1">
                <a:solidFill>
                  <a:srgbClr val="0B2545"/>
                </a:solidFill>
              </a:rPr>
              <a:t>explore</a:t>
            </a:r>
            <a:endParaRPr lang="en-US" sz="1400" dirty="0"/>
          </a:p>
        </p:txBody>
      </p:sp>
      <p:sp>
        <p:nvSpPr>
          <p:cNvPr id="27" name="Shape 27"/>
          <p:cNvSpPr/>
          <p:nvPr/>
        </p:nvSpPr>
        <p:spPr>
          <a:xfrm>
            <a:off x="7104888" y="3749040"/>
            <a:ext cx="1554480" cy="365760"/>
          </a:xfrm>
          <a:prstGeom prst="rect">
            <a:avLst/>
          </a:prstGeom>
          <a:noFill/>
          <a:ln>
            <a:noFill/>
          </a:ln>
        </p:spPr>
        <p:txBody>
          <a:bodyPr wrap="square" lIns="45720" tIns="45720" rIns="45720" bIns="45720" anchor="t" rtlCol="0">
            <a:noAutofit/>
          </a:bodyPr>
          <a:lstStyle/>
          <a:p>
            <a:pPr algn="ctr">
              <a:lnSpc>
                <a:spcPct val="100000"/>
              </a:lnSpc>
              <a:spcBef>
                <a:spcPts val="0"/>
              </a:spcBef>
              <a:spcAft>
                <a:spcPts val="0"/>
              </a:spcAft>
              <a:buNone/>
            </a:pPr>
            <a:r>
              <a:rPr lang="en-US" sz="1150" dirty="0">
                <a:solidFill>
                  <a:srgbClr val="6B7280"/>
                </a:solidFill>
              </a:rPr>
              <a:t>Ex 5–6</a:t>
            </a:r>
            <a:endParaRPr lang="en-US" sz="1150" dirty="0"/>
          </a:p>
        </p:txBody>
      </p:sp>
      <p:sp>
        <p:nvSpPr>
          <p:cNvPr id="28" name="Shape 28"/>
          <p:cNvSpPr/>
          <p:nvPr/>
        </p:nvSpPr>
        <p:spPr>
          <a:xfrm>
            <a:off x="8677656" y="2999232"/>
            <a:ext cx="91440" cy="256032"/>
          </a:xfrm>
          <a:prstGeom prst="rightArrow">
            <a:avLst/>
          </a:prstGeom>
          <a:solidFill>
            <a:srgbClr val="29B5E8"/>
          </a:solidFill>
          <a:ln>
            <a:noFill/>
          </a:ln>
        </p:spPr>
        <p:txBody>
          <a:bodyPr wrap="square" lIns="91440" tIns="91440" rIns="91440" bIns="91440" anchor="t" rtlCol="0">
            <a:noAutofit/>
          </a:bodyPr>
          <a:lstStyle/>
          <a:p>
            <a:endParaRPr lang="en-US" dirty="0"/>
          </a:p>
        </p:txBody>
      </p:sp>
      <p:sp>
        <p:nvSpPr>
          <p:cNvPr id="29" name="Shape 29"/>
          <p:cNvSpPr/>
          <p:nvPr/>
        </p:nvSpPr>
        <p:spPr>
          <a:xfrm>
            <a:off x="9189720" y="1600200"/>
            <a:ext cx="731520" cy="731520"/>
          </a:xfrm>
          <a:prstGeom prst="ellipse">
            <a:avLst/>
          </a:prstGeom>
          <a:solidFill>
            <a:srgbClr val="29B5E8"/>
          </a:solidFill>
          <a:ln>
            <a:noFill/>
          </a:ln>
        </p:spPr>
        <p:txBody>
          <a:bodyPr wrap="square" lIns="0" tIns="0" rIns="0" bIns="0" anchor="ctr" rtlCol="0">
            <a:noAutofit/>
          </a:bodyPr>
          <a:lstStyle/>
          <a:p>
            <a:pPr algn="ctr">
              <a:lnSpc>
                <a:spcPct val="100000"/>
              </a:lnSpc>
              <a:spcBef>
                <a:spcPts val="0"/>
              </a:spcBef>
              <a:spcAft>
                <a:spcPts val="0"/>
              </a:spcAft>
              <a:buNone/>
            </a:pPr>
            <a:r>
              <a:rPr lang="en-US" sz="2200" dirty="0" b="1">
                <a:solidFill>
                  <a:srgbClr val="FFFFFF"/>
                </a:solidFill>
              </a:rPr>
              <a:t>6</a:t>
            </a:r>
            <a:endParaRPr lang="en-US" sz="2200" dirty="0"/>
          </a:p>
        </p:txBody>
      </p:sp>
      <p:sp>
        <p:nvSpPr>
          <p:cNvPr id="30" name="Shape 30"/>
          <p:cNvSpPr/>
          <p:nvPr/>
        </p:nvSpPr>
        <p:spPr>
          <a:xfrm>
            <a:off x="8778240" y="2560320"/>
            <a:ext cx="1554480" cy="1143000"/>
          </a:xfrm>
          <a:prstGeom prst="roundRect">
            <a:avLst>
              <a:gd name="adj" fmla="val 12000"/>
            </a:avLst>
          </a:prstGeom>
          <a:solidFill>
            <a:srgbClr val="EAF6FC"/>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400" dirty="0" b="1">
                <a:solidFill>
                  <a:srgbClr val="0B2545"/>
                </a:solidFill>
              </a:rPr>
              <a:t>Users &amp;</a:t>
            </a:r>
            <a:endParaRPr lang="en-US" sz="1400" dirty="0"/>
          </a:p>
          <a:p>
            <a:pPr algn="ctr">
              <a:lnSpc>
                <a:spcPct val="100000"/>
              </a:lnSpc>
              <a:spcBef>
                <a:spcPts val="0"/>
              </a:spcBef>
              <a:spcAft>
                <a:spcPts val="0"/>
              </a:spcAft>
              <a:buNone/>
            </a:pPr>
            <a:r>
              <a:rPr lang="en-US" sz="1400" dirty="0" b="1">
                <a:solidFill>
                  <a:srgbClr val="0B2545"/>
                </a:solidFill>
              </a:rPr>
              <a:t>roles</a:t>
            </a:r>
            <a:endParaRPr lang="en-US" sz="1400" dirty="0"/>
          </a:p>
        </p:txBody>
      </p:sp>
      <p:sp>
        <p:nvSpPr>
          <p:cNvPr id="31" name="Shape 31"/>
          <p:cNvSpPr/>
          <p:nvPr/>
        </p:nvSpPr>
        <p:spPr>
          <a:xfrm>
            <a:off x="8778240" y="3749040"/>
            <a:ext cx="1554480" cy="365760"/>
          </a:xfrm>
          <a:prstGeom prst="rect">
            <a:avLst/>
          </a:prstGeom>
          <a:noFill/>
          <a:ln>
            <a:noFill/>
          </a:ln>
        </p:spPr>
        <p:txBody>
          <a:bodyPr wrap="square" lIns="45720" tIns="45720" rIns="45720" bIns="45720" anchor="t" rtlCol="0">
            <a:noAutofit/>
          </a:bodyPr>
          <a:lstStyle/>
          <a:p>
            <a:pPr algn="ctr">
              <a:lnSpc>
                <a:spcPct val="100000"/>
              </a:lnSpc>
              <a:spcBef>
                <a:spcPts val="0"/>
              </a:spcBef>
              <a:spcAft>
                <a:spcPts val="0"/>
              </a:spcAft>
              <a:buNone/>
            </a:pPr>
            <a:r>
              <a:rPr lang="en-US" sz="1150" dirty="0">
                <a:solidFill>
                  <a:srgbClr val="6B7280"/>
                </a:solidFill>
              </a:rPr>
              <a:t>Ex 7</a:t>
            </a:r>
            <a:endParaRPr lang="en-US" sz="1150" dirty="0"/>
          </a:p>
        </p:txBody>
      </p:sp>
      <p:sp>
        <p:nvSpPr>
          <p:cNvPr id="32" name="Shape 32"/>
          <p:cNvSpPr/>
          <p:nvPr/>
        </p:nvSpPr>
        <p:spPr>
          <a:xfrm>
            <a:off x="10351008" y="2999232"/>
            <a:ext cx="91440" cy="256032"/>
          </a:xfrm>
          <a:prstGeom prst="rightArrow">
            <a:avLst/>
          </a:prstGeom>
          <a:solidFill>
            <a:srgbClr val="29B5E8"/>
          </a:solidFill>
          <a:ln>
            <a:noFill/>
          </a:ln>
        </p:spPr>
        <p:txBody>
          <a:bodyPr wrap="square" lIns="91440" tIns="91440" rIns="91440" bIns="91440" anchor="t" rtlCol="0">
            <a:noAutofit/>
          </a:bodyPr>
          <a:lstStyle/>
          <a:p>
            <a:endParaRPr lang="en-US" dirty="0"/>
          </a:p>
        </p:txBody>
      </p:sp>
      <p:sp>
        <p:nvSpPr>
          <p:cNvPr id="33" name="Shape 33"/>
          <p:cNvSpPr/>
          <p:nvPr/>
        </p:nvSpPr>
        <p:spPr>
          <a:xfrm>
            <a:off x="10863072" y="1600200"/>
            <a:ext cx="731520" cy="731520"/>
          </a:xfrm>
          <a:prstGeom prst="ellipse">
            <a:avLst/>
          </a:prstGeom>
          <a:solidFill>
            <a:srgbClr val="29B5E8"/>
          </a:solidFill>
          <a:ln>
            <a:noFill/>
          </a:ln>
        </p:spPr>
        <p:txBody>
          <a:bodyPr wrap="square" lIns="0" tIns="0" rIns="0" bIns="0" anchor="ctr" rtlCol="0">
            <a:noAutofit/>
          </a:bodyPr>
          <a:lstStyle/>
          <a:p>
            <a:pPr algn="ctr">
              <a:lnSpc>
                <a:spcPct val="100000"/>
              </a:lnSpc>
              <a:spcBef>
                <a:spcPts val="0"/>
              </a:spcBef>
              <a:spcAft>
                <a:spcPts val="0"/>
              </a:spcAft>
              <a:buNone/>
            </a:pPr>
            <a:r>
              <a:rPr lang="en-US" sz="2200" dirty="0" b="1">
                <a:solidFill>
                  <a:srgbClr val="FFFFFF"/>
                </a:solidFill>
              </a:rPr>
              <a:t>7</a:t>
            </a:r>
            <a:endParaRPr lang="en-US" sz="2200" dirty="0"/>
          </a:p>
        </p:txBody>
      </p:sp>
      <p:sp>
        <p:nvSpPr>
          <p:cNvPr id="34" name="Shape 34"/>
          <p:cNvSpPr/>
          <p:nvPr/>
        </p:nvSpPr>
        <p:spPr>
          <a:xfrm>
            <a:off x="10451592" y="2560320"/>
            <a:ext cx="1554480" cy="1143000"/>
          </a:xfrm>
          <a:prstGeom prst="roundRect">
            <a:avLst>
              <a:gd name="adj" fmla="val 12000"/>
            </a:avLst>
          </a:prstGeom>
          <a:solidFill>
            <a:srgbClr val="EAF6FC"/>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400" dirty="0" b="1">
                <a:solidFill>
                  <a:srgbClr val="0B2545"/>
                </a:solidFill>
              </a:rPr>
              <a:t>Monitor</a:t>
            </a:r>
            <a:endParaRPr lang="en-US" sz="1400" dirty="0"/>
          </a:p>
          <a:p>
            <a:pPr algn="ctr">
              <a:lnSpc>
                <a:spcPct val="100000"/>
              </a:lnSpc>
              <a:spcBef>
                <a:spcPts val="0"/>
              </a:spcBef>
              <a:spcAft>
                <a:spcPts val="0"/>
              </a:spcAft>
              <a:buNone/>
            </a:pPr>
            <a:r>
              <a:rPr lang="en-US" sz="1400" dirty="0" b="1">
                <a:solidFill>
                  <a:srgbClr val="0B2545"/>
                </a:solidFill>
              </a:rPr>
              <a:t>cost</a:t>
            </a:r>
            <a:endParaRPr lang="en-US" sz="1400" dirty="0"/>
          </a:p>
        </p:txBody>
      </p:sp>
      <p:sp>
        <p:nvSpPr>
          <p:cNvPr id="35" name="Shape 35"/>
          <p:cNvSpPr/>
          <p:nvPr/>
        </p:nvSpPr>
        <p:spPr>
          <a:xfrm>
            <a:off x="10451592" y="3749040"/>
            <a:ext cx="1554480" cy="365760"/>
          </a:xfrm>
          <a:prstGeom prst="rect">
            <a:avLst/>
          </a:prstGeom>
          <a:noFill/>
          <a:ln>
            <a:noFill/>
          </a:ln>
        </p:spPr>
        <p:txBody>
          <a:bodyPr wrap="square" lIns="45720" tIns="45720" rIns="45720" bIns="45720" anchor="t" rtlCol="0">
            <a:noAutofit/>
          </a:bodyPr>
          <a:lstStyle/>
          <a:p>
            <a:pPr algn="ctr">
              <a:lnSpc>
                <a:spcPct val="100000"/>
              </a:lnSpc>
              <a:spcBef>
                <a:spcPts val="0"/>
              </a:spcBef>
              <a:spcAft>
                <a:spcPts val="0"/>
              </a:spcAft>
              <a:buNone/>
            </a:pPr>
            <a:r>
              <a:rPr lang="en-US" sz="1150" dirty="0">
                <a:solidFill>
                  <a:srgbClr val="6B7280"/>
                </a:solidFill>
              </a:rPr>
              <a:t>Resource monitors</a:t>
            </a:r>
            <a:endParaRPr lang="en-US" sz="1150" dirty="0"/>
          </a:p>
        </p:txBody>
      </p:sp>
      <p:sp>
        <p:nvSpPr>
          <p:cNvPr id="36" name="Shape 36"/>
          <p:cNvSpPr/>
          <p:nvPr/>
        </p:nvSpPr>
        <p:spPr>
          <a:xfrm>
            <a:off x="548640" y="4434840"/>
            <a:ext cx="11109960" cy="1691640"/>
          </a:xfrm>
          <a:prstGeom prst="roundRect">
            <a:avLst>
              <a:gd name="adj" fmla="val 6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37" name="Shape 37"/>
          <p:cNvSpPr/>
          <p:nvPr/>
        </p:nvSpPr>
        <p:spPr>
          <a:xfrm>
            <a:off x="777240" y="4526280"/>
            <a:ext cx="10698480" cy="155448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500" dirty="0" b="1">
                <a:solidFill>
                  <a:srgbClr val="11567F"/>
                </a:solidFill>
              </a:rPr>
              <a:t>Running example used in every hands-on slide</a:t>
            </a:r>
            <a:endParaRPr lang="en-US" sz="1500" dirty="0"/>
          </a:p>
          <a:p>
            <a:pPr algn="l">
              <a:lnSpc>
                <a:spcPct val="100000"/>
              </a:lnSpc>
              <a:spcBef>
                <a:spcPts val="800"/>
              </a:spcBef>
              <a:spcAft>
                <a:spcPts val="0"/>
              </a:spcAft>
              <a:buNone/>
            </a:pPr>
            <a:r>
              <a:rPr lang="en-US" sz="1350" dirty="0">
                <a:solidFill>
                  <a:srgbClr val="1F2937"/>
                </a:solidFill>
              </a:rPr>
              <a:t>Warehouse </a:t>
            </a:r>
            <a:r>
              <a:rPr lang="en-US" sz="1282" dirty="0" b="1">
                <a:solidFill>
                  <a:srgbClr val="11567F"/>
                </a:solidFill>
                <a:latin typeface="Courier New"/>
                <a:cs typeface="Courier New"/>
              </a:rPr>
              <a:t>DEMO_WH</a:t>
            </a:r>
            <a:r>
              <a:rPr lang="en-US" sz="1350" dirty="0">
                <a:solidFill>
                  <a:srgbClr val="1F2937"/>
                </a:solidFill>
              </a:rPr>
              <a:t> → database </a:t>
            </a:r>
            <a:r>
              <a:rPr lang="en-US" sz="1282" dirty="0" b="1">
                <a:solidFill>
                  <a:srgbClr val="11567F"/>
                </a:solidFill>
                <a:latin typeface="Courier New"/>
                <a:cs typeface="Courier New"/>
              </a:rPr>
              <a:t>SALES_DB</a:t>
            </a:r>
            <a:r>
              <a:rPr lang="en-US" sz="1350" dirty="0">
                <a:solidFill>
                  <a:srgbClr val="1F2937"/>
                </a:solidFill>
              </a:rPr>
              <a:t> → schema </a:t>
            </a:r>
            <a:r>
              <a:rPr lang="en-US" sz="1282" dirty="0" b="1">
                <a:solidFill>
                  <a:srgbClr val="11567F"/>
                </a:solidFill>
                <a:latin typeface="Courier New"/>
                <a:cs typeface="Courier New"/>
              </a:rPr>
              <a:t>RAW</a:t>
            </a:r>
            <a:r>
              <a:rPr lang="en-US" sz="1350" dirty="0">
                <a:solidFill>
                  <a:srgbClr val="1F2937"/>
                </a:solidFill>
              </a:rPr>
              <a:t> → table </a:t>
            </a:r>
            <a:r>
              <a:rPr lang="en-US" sz="1282" dirty="0" b="1">
                <a:solidFill>
                  <a:srgbClr val="11567F"/>
                </a:solidFill>
                <a:latin typeface="Courier New"/>
                <a:cs typeface="Courier New"/>
              </a:rPr>
              <a:t>ORDERS</a:t>
            </a:r>
            <a:r>
              <a:rPr lang="en-US" sz="1350" dirty="0">
                <a:solidFill>
                  <a:srgbClr val="1F2937"/>
                </a:solidFill>
              </a:rPr>
              <a:t> (order_id, customer, order_date, amount) → loaded from </a:t>
            </a:r>
            <a:r>
              <a:rPr lang="en-US" sz="1282" dirty="0" b="1">
                <a:solidFill>
                  <a:srgbClr val="11567F"/>
                </a:solidFill>
                <a:latin typeface="Courier New"/>
                <a:cs typeface="Courier New"/>
              </a:rPr>
              <a:t>orders.csv</a:t>
            </a:r>
            <a:r>
              <a:rPr lang="en-US" sz="1350" dirty="0">
                <a:solidFill>
                  <a:srgbClr val="1F2937"/>
                </a:solidFill>
              </a:rPr>
              <a:t> → shared with role </a:t>
            </a:r>
            <a:r>
              <a:rPr lang="en-US" sz="1282" dirty="0" b="1">
                <a:solidFill>
                  <a:srgbClr val="11567F"/>
                </a:solidFill>
                <a:latin typeface="Courier New"/>
                <a:cs typeface="Courier New"/>
              </a:rPr>
              <a:t>ANALYST</a:t>
            </a:r>
            <a:endParaRPr lang="en-US" sz="1350" dirty="0"/>
          </a:p>
          <a:p>
            <a:pPr algn="l">
              <a:lnSpc>
                <a:spcPct val="100000"/>
              </a:lnSpc>
              <a:spcBef>
                <a:spcPts val="800"/>
              </a:spcBef>
              <a:spcAft>
                <a:spcPts val="0"/>
              </a:spcAft>
              <a:buNone/>
            </a:pPr>
            <a:r>
              <a:rPr lang="en-US" sz="1350" dirty="0">
                <a:solidFill>
                  <a:srgbClr val="6B7280"/>
                </a:solidFill>
              </a:rPr>
              <a:t>Every snippet can be copied into a Snowsight worksheet and run in order on a trial account.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Getting an Account &amp; Logging In</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Trial sign-up, account identifiers, and login URLs</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8 / 26</a:t>
            </a:r>
            <a:endParaRPr lang="en-US" sz="1000" dirty="0"/>
          </a:p>
        </p:txBody>
      </p:sp>
      <p:sp>
        <p:nvSpPr>
          <p:cNvPr id="9" name="Shape 9"/>
          <p:cNvSpPr/>
          <p:nvPr/>
        </p:nvSpPr>
        <p:spPr>
          <a:xfrm>
            <a:off x="548640" y="1325880"/>
            <a:ext cx="640080" cy="640080"/>
          </a:xfrm>
          <a:prstGeom prst="ellipse">
            <a:avLst/>
          </a:prstGeom>
          <a:solidFill>
            <a:srgbClr val="11567F"/>
          </a:solidFill>
          <a:ln>
            <a:noFill/>
          </a:ln>
        </p:spPr>
        <p:txBody>
          <a:bodyPr wrap="square" lIns="0" tIns="0" rIns="0" bIns="0" anchor="ctr" rtlCol="0">
            <a:noAutofit/>
          </a:bodyPr>
          <a:lstStyle/>
          <a:p>
            <a:pPr algn="ctr">
              <a:lnSpc>
                <a:spcPct val="100000"/>
              </a:lnSpc>
              <a:spcBef>
                <a:spcPts val="0"/>
              </a:spcBef>
              <a:spcAft>
                <a:spcPts val="0"/>
              </a:spcAft>
              <a:buNone/>
            </a:pPr>
            <a:r>
              <a:rPr lang="en-US" sz="2000" dirty="0" b="1">
                <a:solidFill>
                  <a:srgbClr val="FFFFFF"/>
                </a:solidFill>
              </a:rPr>
              <a:t>1</a:t>
            </a:r>
            <a:endParaRPr lang="en-US" sz="2000" dirty="0"/>
          </a:p>
        </p:txBody>
      </p:sp>
      <p:sp>
        <p:nvSpPr>
          <p:cNvPr id="10" name="Shape 10"/>
          <p:cNvSpPr/>
          <p:nvPr/>
        </p:nvSpPr>
        <p:spPr>
          <a:xfrm>
            <a:off x="1371600" y="1307592"/>
            <a:ext cx="4480560" cy="82296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600" dirty="0" b="1">
                <a:solidFill>
                  <a:srgbClr val="0B2545"/>
                </a:solidFill>
              </a:rPr>
              <a:t>Sign up</a:t>
            </a:r>
            <a:endParaRPr lang="en-US" sz="1600" dirty="0"/>
          </a:p>
          <a:p>
            <a:pPr algn="l">
              <a:lnSpc>
                <a:spcPct val="100000"/>
              </a:lnSpc>
              <a:spcBef>
                <a:spcPts val="200"/>
              </a:spcBef>
              <a:spcAft>
                <a:spcPts val="0"/>
              </a:spcAft>
              <a:buNone/>
            </a:pPr>
            <a:r>
              <a:rPr lang="en-US" sz="1300" dirty="0">
                <a:solidFill>
                  <a:srgbClr val="1F2937"/>
                </a:solidFill>
              </a:rPr>
              <a:t>Start a free 30-day trial with free credits; no card needed</a:t>
            </a:r>
            <a:endParaRPr lang="en-US" sz="1300" dirty="0"/>
          </a:p>
        </p:txBody>
      </p:sp>
      <p:sp>
        <p:nvSpPr>
          <p:cNvPr id="11" name="Shape 11"/>
          <p:cNvSpPr/>
          <p:nvPr/>
        </p:nvSpPr>
        <p:spPr>
          <a:xfrm>
            <a:off x="548640" y="2258568"/>
            <a:ext cx="640080" cy="640080"/>
          </a:xfrm>
          <a:prstGeom prst="ellipse">
            <a:avLst/>
          </a:prstGeom>
          <a:solidFill>
            <a:srgbClr val="11567F"/>
          </a:solidFill>
          <a:ln>
            <a:noFill/>
          </a:ln>
        </p:spPr>
        <p:txBody>
          <a:bodyPr wrap="square" lIns="0" tIns="0" rIns="0" bIns="0" anchor="ctr" rtlCol="0">
            <a:noAutofit/>
          </a:bodyPr>
          <a:lstStyle/>
          <a:p>
            <a:pPr algn="ctr">
              <a:lnSpc>
                <a:spcPct val="100000"/>
              </a:lnSpc>
              <a:spcBef>
                <a:spcPts val="0"/>
              </a:spcBef>
              <a:spcAft>
                <a:spcPts val="0"/>
              </a:spcAft>
              <a:buNone/>
            </a:pPr>
            <a:r>
              <a:rPr lang="en-US" sz="2000" dirty="0" b="1">
                <a:solidFill>
                  <a:srgbClr val="FFFFFF"/>
                </a:solidFill>
              </a:rPr>
              <a:t>2</a:t>
            </a:r>
            <a:endParaRPr lang="en-US" sz="2000" dirty="0"/>
          </a:p>
        </p:txBody>
      </p:sp>
      <p:sp>
        <p:nvSpPr>
          <p:cNvPr id="12" name="Shape 12"/>
          <p:cNvSpPr/>
          <p:nvPr/>
        </p:nvSpPr>
        <p:spPr>
          <a:xfrm>
            <a:off x="1371600" y="2240280"/>
            <a:ext cx="4480560" cy="82296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600" dirty="0" b="1">
                <a:solidFill>
                  <a:srgbClr val="0B2545"/>
                </a:solidFill>
              </a:rPr>
              <a:t>Choose</a:t>
            </a:r>
            <a:endParaRPr lang="en-US" sz="1600" dirty="0"/>
          </a:p>
          <a:p>
            <a:pPr algn="l">
              <a:lnSpc>
                <a:spcPct val="100000"/>
              </a:lnSpc>
              <a:spcBef>
                <a:spcPts val="200"/>
              </a:spcBef>
              <a:spcAft>
                <a:spcPts val="0"/>
              </a:spcAft>
              <a:buNone/>
            </a:pPr>
            <a:r>
              <a:rPr lang="en-US" sz="1300" dirty="0">
                <a:solidFill>
                  <a:srgbClr val="1F2937"/>
                </a:solidFill>
              </a:rPr>
              <a:t>Edition, cloud provider (AWS / Azure / GCP) and region</a:t>
            </a:r>
            <a:endParaRPr lang="en-US" sz="1300" dirty="0"/>
          </a:p>
        </p:txBody>
      </p:sp>
      <p:sp>
        <p:nvSpPr>
          <p:cNvPr id="13" name="Shape 13"/>
          <p:cNvSpPr/>
          <p:nvPr/>
        </p:nvSpPr>
        <p:spPr>
          <a:xfrm>
            <a:off x="548640" y="3191256"/>
            <a:ext cx="640080" cy="640080"/>
          </a:xfrm>
          <a:prstGeom prst="ellipse">
            <a:avLst/>
          </a:prstGeom>
          <a:solidFill>
            <a:srgbClr val="11567F"/>
          </a:solidFill>
          <a:ln>
            <a:noFill/>
          </a:ln>
        </p:spPr>
        <p:txBody>
          <a:bodyPr wrap="square" lIns="0" tIns="0" rIns="0" bIns="0" anchor="ctr" rtlCol="0">
            <a:noAutofit/>
          </a:bodyPr>
          <a:lstStyle/>
          <a:p>
            <a:pPr algn="ctr">
              <a:lnSpc>
                <a:spcPct val="100000"/>
              </a:lnSpc>
              <a:spcBef>
                <a:spcPts val="0"/>
              </a:spcBef>
              <a:spcAft>
                <a:spcPts val="0"/>
              </a:spcAft>
              <a:buNone/>
            </a:pPr>
            <a:r>
              <a:rPr lang="en-US" sz="2000" dirty="0" b="1">
                <a:solidFill>
                  <a:srgbClr val="FFFFFF"/>
                </a:solidFill>
              </a:rPr>
              <a:t>3</a:t>
            </a:r>
            <a:endParaRPr lang="en-US" sz="2000" dirty="0"/>
          </a:p>
        </p:txBody>
      </p:sp>
      <p:sp>
        <p:nvSpPr>
          <p:cNvPr id="14" name="Shape 14"/>
          <p:cNvSpPr/>
          <p:nvPr/>
        </p:nvSpPr>
        <p:spPr>
          <a:xfrm>
            <a:off x="1371600" y="3172968"/>
            <a:ext cx="4480560" cy="82296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600" dirty="0" b="1">
                <a:solidFill>
                  <a:srgbClr val="0B2545"/>
                </a:solidFill>
              </a:rPr>
              <a:t>Activate</a:t>
            </a:r>
            <a:endParaRPr lang="en-US" sz="1600" dirty="0"/>
          </a:p>
          <a:p>
            <a:pPr algn="l">
              <a:lnSpc>
                <a:spcPct val="100000"/>
              </a:lnSpc>
              <a:spcBef>
                <a:spcPts val="200"/>
              </a:spcBef>
              <a:spcAft>
                <a:spcPts val="0"/>
              </a:spcAft>
              <a:buNone/>
            </a:pPr>
            <a:r>
              <a:rPr lang="en-US" sz="1300" dirty="0">
                <a:solidFill>
                  <a:srgbClr val="1F2937"/>
                </a:solidFill>
              </a:rPr>
              <a:t>Open the email link; create username &amp; password; enroll MFA</a:t>
            </a:r>
            <a:endParaRPr lang="en-US" sz="1300" dirty="0"/>
          </a:p>
        </p:txBody>
      </p:sp>
      <p:sp>
        <p:nvSpPr>
          <p:cNvPr id="15" name="Shape 15"/>
          <p:cNvSpPr/>
          <p:nvPr/>
        </p:nvSpPr>
        <p:spPr>
          <a:xfrm>
            <a:off x="548640" y="4123944"/>
            <a:ext cx="640080" cy="640080"/>
          </a:xfrm>
          <a:prstGeom prst="ellipse">
            <a:avLst/>
          </a:prstGeom>
          <a:solidFill>
            <a:srgbClr val="11567F"/>
          </a:solidFill>
          <a:ln>
            <a:noFill/>
          </a:ln>
        </p:spPr>
        <p:txBody>
          <a:bodyPr wrap="square" lIns="0" tIns="0" rIns="0" bIns="0" anchor="ctr" rtlCol="0">
            <a:noAutofit/>
          </a:bodyPr>
          <a:lstStyle/>
          <a:p>
            <a:pPr algn="ctr">
              <a:lnSpc>
                <a:spcPct val="100000"/>
              </a:lnSpc>
              <a:spcBef>
                <a:spcPts val="0"/>
              </a:spcBef>
              <a:spcAft>
                <a:spcPts val="0"/>
              </a:spcAft>
              <a:buNone/>
            </a:pPr>
            <a:r>
              <a:rPr lang="en-US" sz="2000" dirty="0" b="1">
                <a:solidFill>
                  <a:srgbClr val="FFFFFF"/>
                </a:solidFill>
              </a:rPr>
              <a:t>4</a:t>
            </a:r>
            <a:endParaRPr lang="en-US" sz="2000" dirty="0"/>
          </a:p>
        </p:txBody>
      </p:sp>
      <p:sp>
        <p:nvSpPr>
          <p:cNvPr id="16" name="Shape 16"/>
          <p:cNvSpPr/>
          <p:nvPr/>
        </p:nvSpPr>
        <p:spPr>
          <a:xfrm>
            <a:off x="1371600" y="4105656"/>
            <a:ext cx="4480560" cy="82296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600" dirty="0" b="1">
                <a:solidFill>
                  <a:srgbClr val="0B2545"/>
                </a:solidFill>
              </a:rPr>
              <a:t>Log in</a:t>
            </a:r>
            <a:endParaRPr lang="en-US" sz="1600" dirty="0"/>
          </a:p>
          <a:p>
            <a:pPr algn="l">
              <a:lnSpc>
                <a:spcPct val="100000"/>
              </a:lnSpc>
              <a:spcBef>
                <a:spcPts val="200"/>
              </a:spcBef>
              <a:spcAft>
                <a:spcPts val="0"/>
              </a:spcAft>
              <a:buNone/>
            </a:pPr>
            <a:r>
              <a:rPr lang="en-US" sz="1300" dirty="0">
                <a:solidFill>
                  <a:srgbClr val="1F2937"/>
                </a:solidFill>
              </a:rPr>
              <a:t>Open Snowsight at app.snowflake.com and pick your account</a:t>
            </a:r>
            <a:endParaRPr lang="en-US" sz="1300" dirty="0"/>
          </a:p>
        </p:txBody>
      </p:sp>
      <p:sp>
        <p:nvSpPr>
          <p:cNvPr id="17" name="Shape 17"/>
          <p:cNvSpPr/>
          <p:nvPr/>
        </p:nvSpPr>
        <p:spPr>
          <a:xfrm>
            <a:off x="6126480" y="1325880"/>
            <a:ext cx="1783080" cy="384048"/>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b="1">
                <a:solidFill>
                  <a:srgbClr val="FFFFFF"/>
                </a:solidFill>
              </a:rPr>
              <a:t>Identifier</a:t>
            </a:r>
            <a:endParaRPr lang="en-US" sz="1100" dirty="0"/>
          </a:p>
        </p:txBody>
      </p:sp>
      <p:sp>
        <p:nvSpPr>
          <p:cNvPr id="18" name="Shape 18"/>
          <p:cNvSpPr/>
          <p:nvPr/>
        </p:nvSpPr>
        <p:spPr>
          <a:xfrm>
            <a:off x="7909560" y="1325880"/>
            <a:ext cx="1920240" cy="384048"/>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b="1">
                <a:solidFill>
                  <a:srgbClr val="FFFFFF"/>
                </a:solidFill>
              </a:rPr>
              <a:t>Format</a:t>
            </a:r>
            <a:endParaRPr lang="en-US" sz="1100" dirty="0"/>
          </a:p>
        </p:txBody>
      </p:sp>
      <p:sp>
        <p:nvSpPr>
          <p:cNvPr id="19" name="Shape 19"/>
          <p:cNvSpPr/>
          <p:nvPr/>
        </p:nvSpPr>
        <p:spPr>
          <a:xfrm>
            <a:off x="9829800" y="1325880"/>
            <a:ext cx="1828800" cy="384048"/>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b="1">
                <a:solidFill>
                  <a:srgbClr val="FFFFFF"/>
                </a:solidFill>
              </a:rPr>
              <a:t>Example</a:t>
            </a:r>
            <a:endParaRPr lang="en-US" sz="1100" dirty="0"/>
          </a:p>
        </p:txBody>
      </p:sp>
      <p:sp>
        <p:nvSpPr>
          <p:cNvPr id="20" name="Shape 20"/>
          <p:cNvSpPr/>
          <p:nvPr/>
        </p:nvSpPr>
        <p:spPr>
          <a:xfrm>
            <a:off x="6126480" y="1709928"/>
            <a:ext cx="1783080" cy="56692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b="1">
                <a:solidFill>
                  <a:srgbClr val="1F2937"/>
                </a:solidFill>
              </a:rPr>
              <a:t>Account name (preferred)</a:t>
            </a:r>
            <a:endParaRPr lang="en-US" sz="1100" dirty="0"/>
          </a:p>
        </p:txBody>
      </p:sp>
      <p:sp>
        <p:nvSpPr>
          <p:cNvPr id="21" name="Shape 21"/>
          <p:cNvSpPr/>
          <p:nvPr/>
        </p:nvSpPr>
        <p:spPr>
          <a:xfrm>
            <a:off x="7909560" y="1709928"/>
            <a:ext cx="1920240" cy="56692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&lt;orgname&gt;-&lt;account_name&gt;</a:t>
            </a:r>
            <a:endParaRPr lang="en-US" sz="1100" dirty="0"/>
          </a:p>
        </p:txBody>
      </p:sp>
      <p:sp>
        <p:nvSpPr>
          <p:cNvPr id="22" name="Shape 22"/>
          <p:cNvSpPr/>
          <p:nvPr/>
        </p:nvSpPr>
        <p:spPr>
          <a:xfrm>
            <a:off x="9829800" y="1709928"/>
            <a:ext cx="1828800" cy="56692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myorg-analytics</a:t>
            </a:r>
            <a:endParaRPr lang="en-US" sz="1100" dirty="0"/>
          </a:p>
        </p:txBody>
      </p:sp>
      <p:sp>
        <p:nvSpPr>
          <p:cNvPr id="23" name="Shape 23"/>
          <p:cNvSpPr/>
          <p:nvPr/>
        </p:nvSpPr>
        <p:spPr>
          <a:xfrm>
            <a:off x="6126480" y="2276856"/>
            <a:ext cx="1783080" cy="822960"/>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b="1">
                <a:solidFill>
                  <a:srgbClr val="1F2937"/>
                </a:solidFill>
              </a:rPr>
              <a:t>Account URL</a:t>
            </a:r>
            <a:endParaRPr lang="en-US" sz="1100" dirty="0"/>
          </a:p>
        </p:txBody>
      </p:sp>
      <p:sp>
        <p:nvSpPr>
          <p:cNvPr id="24" name="Shape 24"/>
          <p:cNvSpPr/>
          <p:nvPr/>
        </p:nvSpPr>
        <p:spPr>
          <a:xfrm>
            <a:off x="7909560" y="2276856"/>
            <a:ext cx="1920240" cy="822960"/>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&lt;org&gt;-&lt;acct&gt;. snowflakecomputing.com</a:t>
            </a:r>
            <a:endParaRPr lang="en-US" sz="1100" dirty="0"/>
          </a:p>
        </p:txBody>
      </p:sp>
      <p:sp>
        <p:nvSpPr>
          <p:cNvPr id="25" name="Shape 25"/>
          <p:cNvSpPr/>
          <p:nvPr/>
        </p:nvSpPr>
        <p:spPr>
          <a:xfrm>
            <a:off x="9829800" y="2276856"/>
            <a:ext cx="1828800" cy="822960"/>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myorg-analytics. snowflakecomputing.com</a:t>
            </a:r>
            <a:endParaRPr lang="en-US" sz="1100" dirty="0"/>
          </a:p>
        </p:txBody>
      </p:sp>
      <p:sp>
        <p:nvSpPr>
          <p:cNvPr id="26" name="Shape 26"/>
          <p:cNvSpPr/>
          <p:nvPr/>
        </p:nvSpPr>
        <p:spPr>
          <a:xfrm>
            <a:off x="6126480" y="3099816"/>
            <a:ext cx="1783080" cy="56692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b="1">
                <a:solidFill>
                  <a:srgbClr val="1F2937"/>
                </a:solidFill>
              </a:rPr>
              <a:t>Account locator (legacy)</a:t>
            </a:r>
            <a:endParaRPr lang="en-US" sz="1100" dirty="0"/>
          </a:p>
        </p:txBody>
      </p:sp>
      <p:sp>
        <p:nvSpPr>
          <p:cNvPr id="27" name="Shape 27"/>
          <p:cNvSpPr/>
          <p:nvPr/>
        </p:nvSpPr>
        <p:spPr>
          <a:xfrm>
            <a:off x="7909560" y="3099816"/>
            <a:ext cx="1920240" cy="56692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&lt;locator&gt;.&lt;region&gt;.&lt;cloud&gt;</a:t>
            </a:r>
            <a:endParaRPr lang="en-US" sz="1100" dirty="0"/>
          </a:p>
        </p:txBody>
      </p:sp>
      <p:sp>
        <p:nvSpPr>
          <p:cNvPr id="28" name="Shape 28"/>
          <p:cNvSpPr/>
          <p:nvPr/>
        </p:nvSpPr>
        <p:spPr>
          <a:xfrm>
            <a:off x="9829800" y="3099816"/>
            <a:ext cx="1828800" cy="56692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xy12345.us-east-2.aws</a:t>
            </a:r>
            <a:endParaRPr lang="en-US" sz="1100" dirty="0"/>
          </a:p>
        </p:txBody>
      </p:sp>
      <p:sp>
        <p:nvSpPr>
          <p:cNvPr id="29" name="Shape 29"/>
          <p:cNvSpPr/>
          <p:nvPr/>
        </p:nvSpPr>
        <p:spPr>
          <a:xfrm>
            <a:off x="6126480" y="3886200"/>
            <a:ext cx="5532120" cy="914400"/>
          </a:xfrm>
          <a:prstGeom prst="roundRect">
            <a:avLst>
              <a:gd name="adj" fmla="val 10000"/>
            </a:avLst>
          </a:prstGeom>
          <a:solidFill>
            <a:srgbClr val="FFF7E6"/>
          </a:solidFill>
          <a:ln w="15875">
            <a:solidFill>
              <a:srgbClr val="F59E0B"/>
            </a:solidFill>
          </a:ln>
        </p:spPr>
        <p:txBody>
          <a:bodyPr wrap="square" lIns="91440" tIns="91440" rIns="91440" bIns="91440" anchor="t" rtlCol="0">
            <a:noAutofit/>
          </a:bodyPr>
          <a:lstStyle/>
          <a:p>
            <a:endParaRPr lang="en-US" dirty="0"/>
          </a:p>
        </p:txBody>
      </p:sp>
      <p:sp>
        <p:nvSpPr>
          <p:cNvPr id="30" name="Shape 30"/>
          <p:cNvSpPr/>
          <p:nvPr/>
        </p:nvSpPr>
        <p:spPr>
          <a:xfrm>
            <a:off x="6236208" y="3931920"/>
            <a:ext cx="5312664" cy="8229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00" dirty="0" b="1">
                <a:solidFill>
                  <a:srgbClr val="F59E0B"/>
                </a:solidFill>
              </a:rPr>
              <a:t>WHERE?  </a:t>
            </a:r>
            <a:r>
              <a:rPr lang="en-US" sz="1200" dirty="0">
                <a:solidFill>
                  <a:srgbClr val="1F2937"/>
                </a:solidFill>
              </a:rPr>
              <a:t>Find your identifiers in Snowsight → account menu (bottom-left) → </a:t>
            </a:r>
            <a:r>
              <a:rPr lang="en-US" sz="1200" dirty="0" b="1">
                <a:solidFill>
                  <a:srgbClr val="1F2937"/>
                </a:solidFill>
              </a:rPr>
              <a:t>Account details</a:t>
            </a:r>
            <a:r>
              <a:rPr lang="en-US" sz="1200" dirty="0">
                <a:solidFill>
                  <a:srgbClr val="1F2937"/>
                </a:solidFill>
              </a:rPr>
              <a:t>.</a:t>
            </a:r>
            <a:endParaRPr lang="en-US" sz="1200" dirty="0"/>
          </a:p>
        </p:txBody>
      </p:sp>
      <p:sp>
        <p:nvSpPr>
          <p:cNvPr id="31" name="Shape 31"/>
          <p:cNvSpPr/>
          <p:nvPr/>
        </p:nvSpPr>
        <p:spPr>
          <a:xfrm>
            <a:off x="6126480" y="4983480"/>
            <a:ext cx="5532120" cy="914400"/>
          </a:xfrm>
          <a:prstGeom prst="roundRect">
            <a:avLst>
              <a:gd name="adj" fmla="val 10000"/>
            </a:avLst>
          </a:prstGeom>
          <a:solidFill>
            <a:srgbClr val="FFF7E6"/>
          </a:solidFill>
          <a:ln w="15875">
            <a:solidFill>
              <a:srgbClr val="DC2626"/>
            </a:solidFill>
          </a:ln>
        </p:spPr>
        <p:txBody>
          <a:bodyPr wrap="square" lIns="91440" tIns="91440" rIns="91440" bIns="91440" anchor="t" rtlCol="0">
            <a:noAutofit/>
          </a:bodyPr>
          <a:lstStyle/>
          <a:p>
            <a:endParaRPr lang="en-US" dirty="0"/>
          </a:p>
        </p:txBody>
      </p:sp>
      <p:sp>
        <p:nvSpPr>
          <p:cNvPr id="32" name="Shape 32"/>
          <p:cNvSpPr/>
          <p:nvPr/>
        </p:nvSpPr>
        <p:spPr>
          <a:xfrm>
            <a:off x="6236208" y="5029200"/>
            <a:ext cx="5312664" cy="8229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00" dirty="0" b="1">
                <a:solidFill>
                  <a:srgbClr val="DC2626"/>
                </a:solidFill>
              </a:rPr>
              <a:t>SECURITY  </a:t>
            </a:r>
            <a:r>
              <a:rPr lang="en-US" sz="1200" dirty="0">
                <a:solidFill>
                  <a:srgbClr val="1F2937"/>
                </a:solidFill>
              </a:rPr>
              <a:t>Enable </a:t>
            </a:r>
            <a:r>
              <a:rPr lang="en-US" sz="1200" dirty="0" b="1">
                <a:solidFill>
                  <a:srgbClr val="1F2937"/>
                </a:solidFill>
              </a:rPr>
              <a:t>MFA</a:t>
            </a:r>
            <a:r>
              <a:rPr lang="en-US" sz="1200" dirty="0">
                <a:solidFill>
                  <a:srgbClr val="1F2937"/>
                </a:solidFill>
              </a:rPr>
              <a:t> right away. Password-only logins for people are being phased out.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Ways to Connect</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Web UI, command line, drivers, and partner tools</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9 / 26</a:t>
            </a:r>
            <a:endParaRPr lang="en-US" sz="1000" dirty="0"/>
          </a:p>
        </p:txBody>
      </p:sp>
      <p:sp>
        <p:nvSpPr>
          <p:cNvPr id="9" name="Shape 9"/>
          <p:cNvSpPr/>
          <p:nvPr/>
        </p:nvSpPr>
        <p:spPr>
          <a:xfrm>
            <a:off x="548640" y="1325880"/>
            <a:ext cx="2286000" cy="502920"/>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FFFFFF"/>
                </a:solidFill>
              </a:rPr>
              <a:t>Client</a:t>
            </a:r>
            <a:endParaRPr lang="en-US" sz="1250" dirty="0"/>
          </a:p>
        </p:txBody>
      </p:sp>
      <p:sp>
        <p:nvSpPr>
          <p:cNvPr id="10" name="Shape 10"/>
          <p:cNvSpPr/>
          <p:nvPr/>
        </p:nvSpPr>
        <p:spPr>
          <a:xfrm>
            <a:off x="2834640" y="1325880"/>
            <a:ext cx="3246120" cy="502920"/>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FFFFFF"/>
                </a:solidFill>
              </a:rPr>
              <a:t>Best for</a:t>
            </a:r>
            <a:endParaRPr lang="en-US" sz="1250" dirty="0"/>
          </a:p>
        </p:txBody>
      </p:sp>
      <p:sp>
        <p:nvSpPr>
          <p:cNvPr id="11" name="Shape 11"/>
          <p:cNvSpPr/>
          <p:nvPr/>
        </p:nvSpPr>
        <p:spPr>
          <a:xfrm>
            <a:off x="548640" y="1828800"/>
            <a:ext cx="2286000" cy="502920"/>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Snowsight (web)</a:t>
            </a:r>
            <a:endParaRPr lang="en-US" sz="1250" dirty="0"/>
          </a:p>
        </p:txBody>
      </p:sp>
      <p:sp>
        <p:nvSpPr>
          <p:cNvPr id="12" name="Shape 12"/>
          <p:cNvSpPr/>
          <p:nvPr/>
        </p:nvSpPr>
        <p:spPr>
          <a:xfrm>
            <a:off x="2834640" y="1828800"/>
            <a:ext cx="3246120" cy="502920"/>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Worksheets, notebooks, dashboards, admin</a:t>
            </a:r>
            <a:endParaRPr lang="en-US" sz="1250" dirty="0"/>
          </a:p>
        </p:txBody>
      </p:sp>
      <p:sp>
        <p:nvSpPr>
          <p:cNvPr id="13" name="Shape 13"/>
          <p:cNvSpPr/>
          <p:nvPr/>
        </p:nvSpPr>
        <p:spPr>
          <a:xfrm>
            <a:off x="548640" y="2331720"/>
            <a:ext cx="2286000" cy="502920"/>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Snowflake CLI  </a:t>
            </a:r>
            <a:r>
              <a:rPr lang="en-US" sz="1187" dirty="0" b="1">
                <a:solidFill>
                  <a:srgbClr val="11567F"/>
                </a:solidFill>
                <a:latin typeface="Courier New"/>
                <a:cs typeface="Courier New"/>
              </a:rPr>
              <a:t>snow</a:t>
            </a:r>
            <a:endParaRPr lang="en-US" sz="1250" dirty="0"/>
          </a:p>
        </p:txBody>
      </p:sp>
      <p:sp>
        <p:nvSpPr>
          <p:cNvPr id="14" name="Shape 14"/>
          <p:cNvSpPr/>
          <p:nvPr/>
        </p:nvSpPr>
        <p:spPr>
          <a:xfrm>
            <a:off x="2834640" y="2331720"/>
            <a:ext cx="3246120" cy="502920"/>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Scripts, CI/CD, PUT/GET, Snowpark apps</a:t>
            </a:r>
            <a:endParaRPr lang="en-US" sz="1250" dirty="0"/>
          </a:p>
        </p:txBody>
      </p:sp>
      <p:sp>
        <p:nvSpPr>
          <p:cNvPr id="15" name="Shape 15"/>
          <p:cNvSpPr/>
          <p:nvPr/>
        </p:nvSpPr>
        <p:spPr>
          <a:xfrm>
            <a:off x="548640" y="2834640"/>
            <a:ext cx="2286000" cy="502920"/>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SnowSQL (legacy CLI)</a:t>
            </a:r>
            <a:endParaRPr lang="en-US" sz="1250" dirty="0"/>
          </a:p>
        </p:txBody>
      </p:sp>
      <p:sp>
        <p:nvSpPr>
          <p:cNvPr id="16" name="Shape 16"/>
          <p:cNvSpPr/>
          <p:nvPr/>
        </p:nvSpPr>
        <p:spPr>
          <a:xfrm>
            <a:off x="2834640" y="2834640"/>
            <a:ext cx="3246120" cy="502920"/>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Existing shell scripts &amp; automation</a:t>
            </a:r>
            <a:endParaRPr lang="en-US" sz="1250" dirty="0"/>
          </a:p>
        </p:txBody>
      </p:sp>
      <p:sp>
        <p:nvSpPr>
          <p:cNvPr id="17" name="Shape 17"/>
          <p:cNvSpPr/>
          <p:nvPr/>
        </p:nvSpPr>
        <p:spPr>
          <a:xfrm>
            <a:off x="548640" y="3337560"/>
            <a:ext cx="2286000" cy="502920"/>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Drivers</a:t>
            </a:r>
            <a:endParaRPr lang="en-US" sz="1250" dirty="0"/>
          </a:p>
        </p:txBody>
      </p:sp>
      <p:sp>
        <p:nvSpPr>
          <p:cNvPr id="18" name="Shape 18"/>
          <p:cNvSpPr/>
          <p:nvPr/>
        </p:nvSpPr>
        <p:spPr>
          <a:xfrm>
            <a:off x="2834640" y="3337560"/>
            <a:ext cx="3246120" cy="502920"/>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JDBC · ODBC · Python · Node.js · Go · .NET</a:t>
            </a:r>
            <a:endParaRPr lang="en-US" sz="1250" dirty="0"/>
          </a:p>
        </p:txBody>
      </p:sp>
      <p:sp>
        <p:nvSpPr>
          <p:cNvPr id="19" name="Shape 19"/>
          <p:cNvSpPr/>
          <p:nvPr/>
        </p:nvSpPr>
        <p:spPr>
          <a:xfrm>
            <a:off x="548640" y="3840480"/>
            <a:ext cx="2286000" cy="502920"/>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Connectors / Partners</a:t>
            </a:r>
            <a:endParaRPr lang="en-US" sz="1250" dirty="0"/>
          </a:p>
        </p:txBody>
      </p:sp>
      <p:sp>
        <p:nvSpPr>
          <p:cNvPr id="20" name="Shape 20"/>
          <p:cNvSpPr/>
          <p:nvPr/>
        </p:nvSpPr>
        <p:spPr>
          <a:xfrm>
            <a:off x="2834640" y="3840480"/>
            <a:ext cx="3246120" cy="502920"/>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Spark, Kafka, dbt, Tableau, Power BI</a:t>
            </a:r>
            <a:endParaRPr lang="en-US" sz="1250" dirty="0"/>
          </a:p>
        </p:txBody>
      </p:sp>
      <p:sp>
        <p:nvSpPr>
          <p:cNvPr id="21" name="Shape 21"/>
          <p:cNvSpPr/>
          <p:nvPr/>
        </p:nvSpPr>
        <p:spPr>
          <a:xfrm>
            <a:off x="6355080" y="1325880"/>
            <a:ext cx="530352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Command line</a:t>
            </a:r>
            <a:endParaRPr lang="en-US" sz="1100" dirty="0"/>
          </a:p>
        </p:txBody>
      </p:sp>
      <p:sp>
        <p:nvSpPr>
          <p:cNvPr id="22" name="Shape 22"/>
          <p:cNvSpPr/>
          <p:nvPr/>
        </p:nvSpPr>
        <p:spPr>
          <a:xfrm>
            <a:off x="6355080" y="1618488"/>
            <a:ext cx="5303520" cy="107899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100" dirty="0" i="1">
                <a:solidFill>
                  <a:srgbClr val="6A9955"/>
                </a:solidFill>
                <a:latin typeface="Courier New"/>
                <a:cs typeface="Courier New"/>
              </a:rPr>
              <a:t># Snowflake CLI: run one query</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snow</a:t>
            </a:r>
            <a:r>
              <a:rPr lang="en-US" sz="1100" dirty="0">
                <a:solidFill>
                  <a:srgbClr val="D4D4D4"/>
                </a:solidFill>
                <a:latin typeface="Courier New"/>
                <a:cs typeface="Courier New"/>
              </a:rPr>
              <a:t> </a:t>
            </a:r>
            <a:r>
              <a:rPr lang="en-US" sz="1100" dirty="0">
                <a:solidFill>
                  <a:srgbClr val="D4D4D4"/>
                </a:solidFill>
                <a:latin typeface="Courier New"/>
                <a:cs typeface="Courier New"/>
              </a:rPr>
              <a:t>connection</a:t>
            </a:r>
            <a:r>
              <a:rPr lang="en-US" sz="1100" dirty="0">
                <a:solidFill>
                  <a:srgbClr val="D4D4D4"/>
                </a:solidFill>
                <a:latin typeface="Courier New"/>
                <a:cs typeface="Courier New"/>
              </a:rPr>
              <a:t> </a:t>
            </a:r>
            <a:r>
              <a:rPr lang="en-US" sz="1100" dirty="0">
                <a:solidFill>
                  <a:srgbClr val="D4D4D4"/>
                </a:solidFill>
                <a:latin typeface="Courier New"/>
                <a:cs typeface="Courier New"/>
              </a:rPr>
              <a:t>add</a:t>
            </a:r>
            <a:r>
              <a:rPr lang="en-US" sz="1100" dirty="0">
                <a:solidFill>
                  <a:srgbClr val="D4D4D4"/>
                </a:solidFill>
                <a:latin typeface="Courier New"/>
                <a:cs typeface="Courier New"/>
              </a:rPr>
              <a:t>            </a:t>
            </a:r>
            <a:r>
              <a:rPr lang="en-US" sz="1100" dirty="0" i="1">
                <a:solidFill>
                  <a:srgbClr val="6A9955"/>
                </a:solidFill>
                <a:latin typeface="Courier New"/>
                <a:cs typeface="Courier New"/>
              </a:rPr>
              <a:t># interactive setup</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snow</a:t>
            </a:r>
            <a:r>
              <a:rPr lang="en-US" sz="1100" dirty="0">
                <a:solidFill>
                  <a:srgbClr val="D4D4D4"/>
                </a:solidFill>
                <a:latin typeface="Courier New"/>
                <a:cs typeface="Courier New"/>
              </a:rPr>
              <a:t> </a:t>
            </a:r>
            <a:r>
              <a:rPr lang="en-US" sz="1100" dirty="0">
                <a:solidFill>
                  <a:srgbClr val="D4D4D4"/>
                </a:solidFill>
                <a:latin typeface="Courier New"/>
                <a:cs typeface="Courier New"/>
              </a:rPr>
              <a:t>sql</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q</a:t>
            </a:r>
            <a:r>
              <a:rPr lang="en-US" sz="1100" dirty="0">
                <a:solidFill>
                  <a:srgbClr val="D4D4D4"/>
                </a:solidFill>
                <a:latin typeface="Courier New"/>
                <a:cs typeface="Courier New"/>
              </a:rPr>
              <a:t> </a:t>
            </a:r>
            <a:r>
              <a:rPr lang="en-US" sz="1100" dirty="0">
                <a:solidFill>
                  <a:srgbClr val="CE9178"/>
                </a:solidFill>
                <a:latin typeface="Courier New"/>
                <a:cs typeface="Courier New"/>
              </a:rPr>
              <a:t>"SELECT CURRENT_VERSION();"</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c</a:t>
            </a:r>
            <a:r>
              <a:rPr lang="en-US" sz="1100" dirty="0">
                <a:solidFill>
                  <a:srgbClr val="D4D4D4"/>
                </a:solidFill>
                <a:latin typeface="Courier New"/>
                <a:cs typeface="Courier New"/>
              </a:rPr>
              <a:t> </a:t>
            </a:r>
            <a:r>
              <a:rPr lang="en-US" sz="1100" dirty="0">
                <a:solidFill>
                  <a:srgbClr val="D4D4D4"/>
                </a:solidFill>
                <a:latin typeface="Courier New"/>
                <a:cs typeface="Courier New"/>
              </a:rPr>
              <a:t>my_conn</a:t>
            </a:r>
            <a:endParaRPr lang="en-US" sz="1100" dirty="0"/>
          </a:p>
        </p:txBody>
      </p:sp>
      <p:sp>
        <p:nvSpPr>
          <p:cNvPr id="23" name="Shape 23"/>
          <p:cNvSpPr/>
          <p:nvPr/>
        </p:nvSpPr>
        <p:spPr>
          <a:xfrm>
            <a:off x="6355080" y="2880360"/>
            <a:ext cx="530352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Python</a:t>
            </a:r>
            <a:endParaRPr lang="en-US" sz="1100" dirty="0"/>
          </a:p>
        </p:txBody>
      </p:sp>
      <p:sp>
        <p:nvSpPr>
          <p:cNvPr id="24" name="Shape 24"/>
          <p:cNvSpPr/>
          <p:nvPr/>
        </p:nvSpPr>
        <p:spPr>
          <a:xfrm>
            <a:off x="6355080" y="3172968"/>
            <a:ext cx="5303520" cy="299923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050" dirty="0" i="1">
                <a:solidFill>
                  <a:srgbClr val="6A9955"/>
                </a:solidFill>
                <a:latin typeface="Courier New"/>
                <a:cs typeface="Courier New"/>
              </a:rPr>
              <a:t># Python connector (pip install snowflake-connector-python)</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import</a:t>
            </a:r>
            <a:r>
              <a:rPr lang="en-US" sz="1050" dirty="0">
                <a:solidFill>
                  <a:srgbClr val="D4D4D4"/>
                </a:solidFill>
                <a:latin typeface="Courier New"/>
                <a:cs typeface="Courier New"/>
              </a:rPr>
              <a:t> </a:t>
            </a:r>
            <a:r>
              <a:rPr lang="en-US" sz="1050" dirty="0">
                <a:solidFill>
                  <a:srgbClr val="D4D4D4"/>
                </a:solidFill>
                <a:latin typeface="Courier New"/>
                <a:cs typeface="Courier New"/>
              </a:rPr>
              <a:t>snowflake</a:t>
            </a:r>
            <a:r>
              <a:rPr lang="en-US" sz="1050" dirty="0">
                <a:solidFill>
                  <a:srgbClr val="D4D4D4"/>
                </a:solidFill>
                <a:latin typeface="Courier New"/>
                <a:cs typeface="Courier New"/>
              </a:rPr>
              <a:t>.</a:t>
            </a:r>
            <a:r>
              <a:rPr lang="en-US" sz="1050" dirty="0">
                <a:solidFill>
                  <a:srgbClr val="D4D4D4"/>
                </a:solidFill>
                <a:latin typeface="Courier New"/>
                <a:cs typeface="Courier New"/>
              </a:rPr>
              <a:t>connector</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conn</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snowflake</a:t>
            </a:r>
            <a:r>
              <a:rPr lang="en-US" sz="1050" dirty="0">
                <a:solidFill>
                  <a:srgbClr val="D4D4D4"/>
                </a:solidFill>
                <a:latin typeface="Courier New"/>
                <a:cs typeface="Courier New"/>
              </a:rPr>
              <a:t>.</a:t>
            </a:r>
            <a:r>
              <a:rPr lang="en-US" sz="1050" dirty="0">
                <a:solidFill>
                  <a:srgbClr val="D4D4D4"/>
                </a:solidFill>
                <a:latin typeface="Courier New"/>
                <a:cs typeface="Courier New"/>
              </a:rPr>
              <a:t>connector</a:t>
            </a:r>
            <a:r>
              <a:rPr lang="en-US" sz="1050" dirty="0">
                <a:solidFill>
                  <a:srgbClr val="D4D4D4"/>
                </a:solidFill>
                <a:latin typeface="Courier New"/>
                <a:cs typeface="Courier New"/>
              </a:rPr>
              <a:t>.</a:t>
            </a:r>
            <a:r>
              <a:rPr lang="en-US" sz="1050" dirty="0">
                <a:solidFill>
                  <a:srgbClr val="D4D4D4"/>
                </a:solidFill>
                <a:latin typeface="Courier New"/>
                <a:cs typeface="Courier New"/>
              </a:rPr>
              <a:t>connect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account</a:t>
            </a:r>
            <a:r>
              <a:rPr lang="en-US" sz="1050" dirty="0">
                <a:solidFill>
                  <a:srgbClr val="D4D4D4"/>
                </a:solidFill>
                <a:latin typeface="Courier New"/>
                <a:cs typeface="Courier New"/>
              </a:rPr>
              <a:t>=</a:t>
            </a:r>
            <a:r>
              <a:rPr lang="en-US" sz="1050" dirty="0">
                <a:solidFill>
                  <a:srgbClr val="CE9178"/>
                </a:solidFill>
                <a:latin typeface="Courier New"/>
                <a:cs typeface="Courier New"/>
              </a:rPr>
              <a:t>"myorg-analytics"</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user</a:t>
            </a:r>
            <a:r>
              <a:rPr lang="en-US" sz="1050" dirty="0">
                <a:solidFill>
                  <a:srgbClr val="D4D4D4"/>
                </a:solidFill>
                <a:latin typeface="Courier New"/>
                <a:cs typeface="Courier New"/>
              </a:rPr>
              <a:t>=</a:t>
            </a:r>
            <a:r>
              <a:rPr lang="en-US" sz="1050" dirty="0">
                <a:solidFill>
                  <a:srgbClr val="CE9178"/>
                </a:solidFill>
                <a:latin typeface="Courier New"/>
                <a:cs typeface="Courier New"/>
              </a:rPr>
              <a:t>"JDOE"</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authenticator</a:t>
            </a:r>
            <a:r>
              <a:rPr lang="en-US" sz="1050" dirty="0">
                <a:solidFill>
                  <a:srgbClr val="D4D4D4"/>
                </a:solidFill>
                <a:latin typeface="Courier New"/>
                <a:cs typeface="Courier New"/>
              </a:rPr>
              <a:t>=</a:t>
            </a:r>
            <a:r>
              <a:rPr lang="en-US" sz="1050" dirty="0">
                <a:solidFill>
                  <a:srgbClr val="CE9178"/>
                </a:solidFill>
                <a:latin typeface="Courier New"/>
                <a:cs typeface="Courier New"/>
              </a:rPr>
              <a:t>"externalbrowser"</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i="1">
                <a:solidFill>
                  <a:srgbClr val="6A9955"/>
                </a:solidFill>
                <a:latin typeface="Courier New"/>
                <a:cs typeface="Courier New"/>
              </a:rPr>
              <a:t># SSO</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warehouse</a:t>
            </a:r>
            <a:r>
              <a:rPr lang="en-US" sz="1050" dirty="0">
                <a:solidFill>
                  <a:srgbClr val="D4D4D4"/>
                </a:solidFill>
                <a:latin typeface="Courier New"/>
                <a:cs typeface="Courier New"/>
              </a:rPr>
              <a:t>=</a:t>
            </a:r>
            <a:r>
              <a:rPr lang="en-US" sz="1050" dirty="0">
                <a:solidFill>
                  <a:srgbClr val="CE9178"/>
                </a:solidFill>
                <a:latin typeface="Courier New"/>
                <a:cs typeface="Courier New"/>
              </a:rPr>
              <a:t>"DEMO_WH"</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database</a:t>
            </a:r>
            <a:r>
              <a:rPr lang="en-US" sz="1050" dirty="0">
                <a:solidFill>
                  <a:srgbClr val="D4D4D4"/>
                </a:solidFill>
                <a:latin typeface="Courier New"/>
                <a:cs typeface="Courier New"/>
              </a:rPr>
              <a:t>=</a:t>
            </a:r>
            <a:r>
              <a:rPr lang="en-US" sz="1050" dirty="0">
                <a:solidFill>
                  <a:srgbClr val="CE9178"/>
                </a:solidFill>
                <a:latin typeface="Courier New"/>
                <a:cs typeface="Courier New"/>
              </a:rPr>
              <a:t>"SALES_DB"</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schema</a:t>
            </a:r>
            <a:r>
              <a:rPr lang="en-US" sz="1050" dirty="0">
                <a:solidFill>
                  <a:srgbClr val="D4D4D4"/>
                </a:solidFill>
                <a:latin typeface="Courier New"/>
                <a:cs typeface="Courier New"/>
              </a:rPr>
              <a:t>=</a:t>
            </a:r>
            <a:r>
              <a:rPr lang="en-US" sz="1050" dirty="0">
                <a:solidFill>
                  <a:srgbClr val="CE9178"/>
                </a:solidFill>
                <a:latin typeface="Courier New"/>
                <a:cs typeface="Courier New"/>
              </a:rPr>
              <a:t>"RAW"</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cur</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conn</a:t>
            </a:r>
            <a:r>
              <a:rPr lang="en-US" sz="1050" dirty="0">
                <a:solidFill>
                  <a:srgbClr val="D4D4D4"/>
                </a:solidFill>
                <a:latin typeface="Courier New"/>
                <a:cs typeface="Courier New"/>
              </a:rPr>
              <a:t>.</a:t>
            </a:r>
            <a:r>
              <a:rPr lang="en-US" sz="1050" dirty="0">
                <a:solidFill>
                  <a:srgbClr val="D4D4D4"/>
                </a:solidFill>
                <a:latin typeface="Courier New"/>
                <a:cs typeface="Courier New"/>
              </a:rPr>
              <a:t>cursor</a:t>
            </a:r>
            <a:r>
              <a:rPr lang="en-US" sz="1050" dirty="0">
                <a:solidFill>
                  <a:srgbClr val="D4D4D4"/>
                </a:solidFill>
                <a:latin typeface="Courier New"/>
                <a:cs typeface="Courier New"/>
              </a:rPr>
              <a: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print</a:t>
            </a:r>
            <a:r>
              <a:rPr lang="en-US" sz="1050" dirty="0">
                <a:solidFill>
                  <a:srgbClr val="D4D4D4"/>
                </a:solidFill>
                <a:latin typeface="Courier New"/>
                <a:cs typeface="Courier New"/>
              </a:rPr>
              <a:t>(</a:t>
            </a:r>
            <a:r>
              <a:rPr lang="en-US" sz="1050" dirty="0">
                <a:solidFill>
                  <a:srgbClr val="D4D4D4"/>
                </a:solidFill>
                <a:latin typeface="Courier New"/>
                <a:cs typeface="Courier New"/>
              </a:rPr>
              <a:t>cur</a:t>
            </a:r>
            <a:r>
              <a:rPr lang="en-US" sz="1050" dirty="0">
                <a:solidFill>
                  <a:srgbClr val="D4D4D4"/>
                </a:solidFill>
                <a:latin typeface="Courier New"/>
                <a:cs typeface="Courier New"/>
              </a:rPr>
              <a:t>.</a:t>
            </a:r>
            <a:r>
              <a:rPr lang="en-US" sz="1050" dirty="0">
                <a:solidFill>
                  <a:srgbClr val="D4D4D4"/>
                </a:solidFill>
                <a:latin typeface="Courier New"/>
                <a:cs typeface="Courier New"/>
              </a:rPr>
              <a:t>execute</a:t>
            </a:r>
            <a:r>
              <a:rPr lang="en-US" sz="1050" dirty="0">
                <a:solidFill>
                  <a:srgbClr val="D4D4D4"/>
                </a:solidFill>
                <a:latin typeface="Courier New"/>
                <a:cs typeface="Courier New"/>
              </a:rPr>
              <a:t>(</a:t>
            </a:r>
            <a:r>
              <a:rPr lang="en-US" sz="1050" dirty="0">
                <a:solidFill>
                  <a:srgbClr val="CE9178"/>
                </a:solidFill>
                <a:latin typeface="Courier New"/>
                <a:cs typeface="Courier New"/>
              </a:rPr>
              <a:t>"SELECT CURRENT_VERSION()"</a:t>
            </a:r>
            <a:r>
              <a:rPr lang="en-US" sz="1050" dirty="0">
                <a:solidFill>
                  <a:srgbClr val="D4D4D4"/>
                </a:solidFill>
                <a:latin typeface="Courier New"/>
                <a:cs typeface="Courier New"/>
              </a:rPr>
              <a:t>)</a:t>
            </a:r>
            <a:r>
              <a:rPr lang="en-US" sz="1050" dirty="0">
                <a:solidFill>
                  <a:srgbClr val="D4D4D4"/>
                </a:solidFill>
                <a:latin typeface="Courier New"/>
                <a:cs typeface="Courier New"/>
              </a:rPr>
              <a:t>.</a:t>
            </a:r>
            <a:r>
              <a:rPr lang="en-US" sz="1050" dirty="0">
                <a:solidFill>
                  <a:srgbClr val="D4D4D4"/>
                </a:solidFill>
                <a:latin typeface="Courier New"/>
                <a:cs typeface="Courier New"/>
              </a:rPr>
              <a:t>fetchone</a:t>
            </a:r>
            <a:r>
              <a:rPr lang="en-US" sz="1050" dirty="0">
                <a:solidFill>
                  <a:srgbClr val="D4D4D4"/>
                </a:solidFill>
                <a:latin typeface="Courier New"/>
                <a:cs typeface="Courier New"/>
              </a:rPr>
              <a:t>(</a:t>
            </a:r>
            <a:r>
              <a:rPr lang="en-US" sz="1050" dirty="0">
                <a:solidFill>
                  <a:srgbClr val="D4D4D4"/>
                </a:solidFill>
                <a:latin typeface="Courier New"/>
                <a:cs typeface="Courier New"/>
              </a:rPr>
              <a:t>)</a:t>
            </a:r>
            <a:r>
              <a:rPr lang="en-US" sz="1050" dirty="0">
                <a:solidFill>
                  <a:srgbClr val="D4D4D4"/>
                </a:solidFill>
                <a:latin typeface="Courier New"/>
                <a:cs typeface="Courier New"/>
              </a:rPr>
              <a:t>)</a:t>
            </a:r>
            <a:endParaRPr lang="en-US" sz="1050" dirty="0"/>
          </a:p>
        </p:txBody>
      </p:sp>
      <p:sp>
        <p:nvSpPr>
          <p:cNvPr id="25" name="Shape 25"/>
          <p:cNvSpPr/>
          <p:nvPr/>
        </p:nvSpPr>
        <p:spPr>
          <a:xfrm>
            <a:off x="548640" y="4572000"/>
            <a:ext cx="5532120" cy="1188720"/>
          </a:xfrm>
          <a:prstGeom prst="roundRect">
            <a:avLst>
              <a:gd name="adj" fmla="val 10000"/>
            </a:avLst>
          </a:prstGeom>
          <a:solidFill>
            <a:srgbClr val="FFF7E6"/>
          </a:solidFill>
          <a:ln w="15875">
            <a:solidFill>
              <a:srgbClr val="F59E0B"/>
            </a:solidFill>
          </a:ln>
        </p:spPr>
        <p:txBody>
          <a:bodyPr wrap="square" lIns="91440" tIns="91440" rIns="91440" bIns="91440" anchor="t" rtlCol="0">
            <a:noAutofit/>
          </a:bodyPr>
          <a:lstStyle/>
          <a:p>
            <a:endParaRPr lang="en-US" dirty="0"/>
          </a:p>
        </p:txBody>
      </p:sp>
      <p:sp>
        <p:nvSpPr>
          <p:cNvPr id="26" name="Shape 26"/>
          <p:cNvSpPr/>
          <p:nvPr/>
        </p:nvSpPr>
        <p:spPr>
          <a:xfrm>
            <a:off x="658368" y="4617720"/>
            <a:ext cx="5312664" cy="109728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00" dirty="0" b="1">
                <a:solidFill>
                  <a:srgbClr val="F59E0B"/>
                </a:solidFill>
              </a:rPr>
              <a:t>NOTE  </a:t>
            </a:r>
            <a:r>
              <a:rPr lang="en-US" sz="1139" dirty="0" b="1">
                <a:solidFill>
                  <a:srgbClr val="11567F"/>
                </a:solidFill>
                <a:latin typeface="Courier New"/>
                <a:cs typeface="Courier New"/>
              </a:rPr>
              <a:t>PUT</a:t>
            </a:r>
            <a:r>
              <a:rPr lang="en-US" sz="1200" dirty="0">
                <a:solidFill>
                  <a:srgbClr val="1F2937"/>
                </a:solidFill>
              </a:rPr>
              <a:t> (upload local files) runs only from a command-line client or driver, </a:t>
            </a:r>
            <a:r>
              <a:rPr lang="en-US" sz="1200" dirty="0" b="1">
                <a:solidFill>
                  <a:srgbClr val="1F2937"/>
                </a:solidFill>
              </a:rPr>
              <a:t>not</a:t>
            </a:r>
            <a:r>
              <a:rPr lang="en-US" sz="1200" dirty="0">
                <a:solidFill>
                  <a:srgbClr val="1F2937"/>
                </a:solidFill>
              </a:rPr>
              <a:t> a Snowsight worksheet. In Snowsight use </a:t>
            </a:r>
            <a:r>
              <a:rPr lang="en-US" sz="1200" dirty="0" b="1">
                <a:solidFill>
                  <a:srgbClr val="1F2937"/>
                </a:solidFill>
              </a:rPr>
              <a:t>Add data / Load data</a:t>
            </a:r>
            <a:r>
              <a:rPr lang="en-US" sz="1200" dirty="0">
                <a:solidFill>
                  <a:srgbClr val="1F2937"/>
                </a:solidFill>
              </a:rPr>
              <a:t> instead.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Snowsight Tour</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The main areas of the web interface (labels may change between releases)</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10 / 26</a:t>
            </a:r>
            <a:endParaRPr lang="en-US" sz="1000" dirty="0"/>
          </a:p>
        </p:txBody>
      </p:sp>
      <p:sp>
        <p:nvSpPr>
          <p:cNvPr id="9" name="Shape 9"/>
          <p:cNvSpPr/>
          <p:nvPr/>
        </p:nvSpPr>
        <p:spPr>
          <a:xfrm>
            <a:off x="548640" y="1325880"/>
            <a:ext cx="2743200" cy="4892040"/>
          </a:xfrm>
          <a:prstGeom prst="roundRect">
            <a:avLst>
              <a:gd name="adj" fmla="val 4000"/>
            </a:avLst>
          </a:prstGeom>
          <a:solidFill>
            <a:srgbClr val="0B2545"/>
          </a:solidFill>
          <a:ln>
            <a:noFill/>
          </a:ln>
        </p:spPr>
        <p:txBody>
          <a:bodyPr wrap="square" lIns="91440" tIns="91440" rIns="91440" bIns="91440" anchor="t" rtlCol="0">
            <a:noAutofit/>
          </a:bodyPr>
          <a:lstStyle/>
          <a:p>
            <a:endParaRPr lang="en-US" dirty="0"/>
          </a:p>
        </p:txBody>
      </p:sp>
      <p:sp>
        <p:nvSpPr>
          <p:cNvPr id="10" name="Shape 10"/>
          <p:cNvSpPr/>
          <p:nvPr/>
        </p:nvSpPr>
        <p:spPr>
          <a:xfrm>
            <a:off x="731520" y="1417320"/>
            <a:ext cx="2377440" cy="36576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600" dirty="0" b="1">
                <a:solidFill>
                  <a:srgbClr val="FFFFFF"/>
                </a:solidFill>
              </a:rPr>
              <a:t>❄  Snowsight</a:t>
            </a:r>
            <a:endParaRPr lang="en-US" sz="1600" dirty="0"/>
          </a:p>
        </p:txBody>
      </p:sp>
      <p:sp>
        <p:nvSpPr>
          <p:cNvPr id="11" name="Shape 11"/>
          <p:cNvSpPr/>
          <p:nvPr/>
        </p:nvSpPr>
        <p:spPr>
          <a:xfrm>
            <a:off x="731520" y="1920240"/>
            <a:ext cx="2377440" cy="566928"/>
          </a:xfrm>
          <a:prstGeom prst="roundRect">
            <a:avLst>
              <a:gd name="adj" fmla="val 15000"/>
            </a:avLst>
          </a:prstGeom>
          <a:solidFill>
            <a:srgbClr val="29B5E8"/>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400" dirty="0" b="1">
                <a:solidFill>
                  <a:srgbClr val="FFFFFF"/>
                </a:solidFill>
              </a:rPr>
              <a:t>Projects</a:t>
            </a:r>
            <a:endParaRPr lang="en-US" sz="1400" dirty="0"/>
          </a:p>
        </p:txBody>
      </p:sp>
      <p:sp>
        <p:nvSpPr>
          <p:cNvPr id="12" name="Shape 12"/>
          <p:cNvSpPr/>
          <p:nvPr/>
        </p:nvSpPr>
        <p:spPr>
          <a:xfrm>
            <a:off x="3474720" y="1965960"/>
            <a:ext cx="3017520" cy="54864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50" dirty="0">
                <a:solidFill>
                  <a:srgbClr val="1F2937"/>
                </a:solidFill>
              </a:rPr>
              <a:t>Worksheets · Notebooks · Streamlit · Dashboards</a:t>
            </a:r>
            <a:endParaRPr lang="en-US" sz="1250" dirty="0"/>
          </a:p>
        </p:txBody>
      </p:sp>
      <p:sp>
        <p:nvSpPr>
          <p:cNvPr id="13" name="Shape 13"/>
          <p:cNvSpPr/>
          <p:nvPr/>
        </p:nvSpPr>
        <p:spPr>
          <a:xfrm>
            <a:off x="731520" y="2624328"/>
            <a:ext cx="2377440" cy="566928"/>
          </a:xfrm>
          <a:prstGeom prst="roundRect">
            <a:avLst>
              <a:gd name="adj" fmla="val 15000"/>
            </a:avLst>
          </a:prstGeom>
          <a:solidFill>
            <a:srgbClr val="11567F"/>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400" dirty="0" b="1">
                <a:solidFill>
                  <a:srgbClr val="FFFFFF"/>
                </a:solidFill>
              </a:rPr>
              <a:t>Data</a:t>
            </a:r>
            <a:endParaRPr lang="en-US" sz="1400" dirty="0"/>
          </a:p>
        </p:txBody>
      </p:sp>
      <p:sp>
        <p:nvSpPr>
          <p:cNvPr id="14" name="Shape 14"/>
          <p:cNvSpPr/>
          <p:nvPr/>
        </p:nvSpPr>
        <p:spPr>
          <a:xfrm>
            <a:off x="3474720" y="2670048"/>
            <a:ext cx="3017520" cy="54864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50" dirty="0">
                <a:solidFill>
                  <a:srgbClr val="1F2937"/>
                </a:solidFill>
              </a:rPr>
              <a:t>Database explorer · Data preview · Add / Load data</a:t>
            </a:r>
            <a:endParaRPr lang="en-US" sz="1250" dirty="0"/>
          </a:p>
        </p:txBody>
      </p:sp>
      <p:sp>
        <p:nvSpPr>
          <p:cNvPr id="15" name="Shape 15"/>
          <p:cNvSpPr/>
          <p:nvPr/>
        </p:nvSpPr>
        <p:spPr>
          <a:xfrm>
            <a:off x="731520" y="3328416"/>
            <a:ext cx="2377440" cy="566928"/>
          </a:xfrm>
          <a:prstGeom prst="roundRect">
            <a:avLst>
              <a:gd name="adj" fmla="val 15000"/>
            </a:avLst>
          </a:prstGeom>
          <a:solidFill>
            <a:srgbClr val="11567F"/>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400" dirty="0" b="1">
                <a:solidFill>
                  <a:srgbClr val="FFFFFF"/>
                </a:solidFill>
              </a:rPr>
              <a:t>Data Products</a:t>
            </a:r>
            <a:endParaRPr lang="en-US" sz="1400" dirty="0"/>
          </a:p>
        </p:txBody>
      </p:sp>
      <p:sp>
        <p:nvSpPr>
          <p:cNvPr id="16" name="Shape 16"/>
          <p:cNvSpPr/>
          <p:nvPr/>
        </p:nvSpPr>
        <p:spPr>
          <a:xfrm>
            <a:off x="3474720" y="3374136"/>
            <a:ext cx="3017520" cy="54864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50" dirty="0">
                <a:solidFill>
                  <a:srgbClr val="1F2937"/>
                </a:solidFill>
              </a:rPr>
              <a:t>Marketplace · Private sharing</a:t>
            </a:r>
            <a:endParaRPr lang="en-US" sz="1250" dirty="0"/>
          </a:p>
        </p:txBody>
      </p:sp>
      <p:sp>
        <p:nvSpPr>
          <p:cNvPr id="17" name="Shape 17"/>
          <p:cNvSpPr/>
          <p:nvPr/>
        </p:nvSpPr>
        <p:spPr>
          <a:xfrm>
            <a:off x="731520" y="4032504"/>
            <a:ext cx="2377440" cy="566928"/>
          </a:xfrm>
          <a:prstGeom prst="roundRect">
            <a:avLst>
              <a:gd name="adj" fmla="val 15000"/>
            </a:avLst>
          </a:prstGeom>
          <a:solidFill>
            <a:srgbClr val="11567F"/>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400" dirty="0" b="1">
                <a:solidFill>
                  <a:srgbClr val="FFFFFF"/>
                </a:solidFill>
              </a:rPr>
              <a:t>AI &amp; ML</a:t>
            </a:r>
            <a:endParaRPr lang="en-US" sz="1400" dirty="0"/>
          </a:p>
        </p:txBody>
      </p:sp>
      <p:sp>
        <p:nvSpPr>
          <p:cNvPr id="18" name="Shape 18"/>
          <p:cNvSpPr/>
          <p:nvPr/>
        </p:nvSpPr>
        <p:spPr>
          <a:xfrm>
            <a:off x="3474720" y="4078224"/>
            <a:ext cx="3017520" cy="54864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50" dirty="0">
                <a:solidFill>
                  <a:srgbClr val="1F2937"/>
                </a:solidFill>
              </a:rPr>
              <a:t>Cortex AI functions &amp; tools</a:t>
            </a:r>
            <a:endParaRPr lang="en-US" sz="1250" dirty="0"/>
          </a:p>
        </p:txBody>
      </p:sp>
      <p:sp>
        <p:nvSpPr>
          <p:cNvPr id="19" name="Shape 19"/>
          <p:cNvSpPr/>
          <p:nvPr/>
        </p:nvSpPr>
        <p:spPr>
          <a:xfrm>
            <a:off x="731520" y="4736592"/>
            <a:ext cx="2377440" cy="566928"/>
          </a:xfrm>
          <a:prstGeom prst="roundRect">
            <a:avLst>
              <a:gd name="adj" fmla="val 15000"/>
            </a:avLst>
          </a:prstGeom>
          <a:solidFill>
            <a:srgbClr val="11567F"/>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400" dirty="0" b="1">
                <a:solidFill>
                  <a:srgbClr val="FFFFFF"/>
                </a:solidFill>
              </a:rPr>
              <a:t>Monitoring</a:t>
            </a:r>
            <a:endParaRPr lang="en-US" sz="1400" dirty="0"/>
          </a:p>
        </p:txBody>
      </p:sp>
      <p:sp>
        <p:nvSpPr>
          <p:cNvPr id="20" name="Shape 20"/>
          <p:cNvSpPr/>
          <p:nvPr/>
        </p:nvSpPr>
        <p:spPr>
          <a:xfrm>
            <a:off x="3474720" y="4782312"/>
            <a:ext cx="3017520" cy="54864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50" dirty="0">
                <a:solidFill>
                  <a:srgbClr val="1F2937"/>
                </a:solidFill>
              </a:rPr>
              <a:t>Query history · Copy history · Task history</a:t>
            </a:r>
            <a:endParaRPr lang="en-US" sz="1250" dirty="0"/>
          </a:p>
        </p:txBody>
      </p:sp>
      <p:sp>
        <p:nvSpPr>
          <p:cNvPr id="21" name="Shape 21"/>
          <p:cNvSpPr/>
          <p:nvPr/>
        </p:nvSpPr>
        <p:spPr>
          <a:xfrm>
            <a:off x="731520" y="5440680"/>
            <a:ext cx="2377440" cy="566928"/>
          </a:xfrm>
          <a:prstGeom prst="roundRect">
            <a:avLst>
              <a:gd name="adj" fmla="val 15000"/>
            </a:avLst>
          </a:prstGeom>
          <a:solidFill>
            <a:srgbClr val="11567F"/>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400" dirty="0" b="1">
                <a:solidFill>
                  <a:srgbClr val="FFFFFF"/>
                </a:solidFill>
              </a:rPr>
              <a:t>Admin</a:t>
            </a:r>
            <a:endParaRPr lang="en-US" sz="1400" dirty="0"/>
          </a:p>
        </p:txBody>
      </p:sp>
      <p:sp>
        <p:nvSpPr>
          <p:cNvPr id="22" name="Shape 22"/>
          <p:cNvSpPr/>
          <p:nvPr/>
        </p:nvSpPr>
        <p:spPr>
          <a:xfrm>
            <a:off x="3474720" y="5486400"/>
            <a:ext cx="3017520" cy="54864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50" dirty="0">
                <a:solidFill>
                  <a:srgbClr val="1F2937"/>
                </a:solidFill>
              </a:rPr>
              <a:t>Warehouses · Cost mgmt · Users &amp; roles · Security</a:t>
            </a:r>
            <a:endParaRPr lang="en-US" sz="1250" dirty="0"/>
          </a:p>
        </p:txBody>
      </p:sp>
      <p:sp>
        <p:nvSpPr>
          <p:cNvPr id="23" name="Shape 23"/>
          <p:cNvSpPr/>
          <p:nvPr/>
        </p:nvSpPr>
        <p:spPr>
          <a:xfrm>
            <a:off x="6675120" y="1325880"/>
            <a:ext cx="4983480" cy="4892040"/>
          </a:xfrm>
          <a:prstGeom prst="roundRect">
            <a:avLst>
              <a:gd name="adj" fmla="val 4000"/>
            </a:avLst>
          </a:prstGeom>
          <a:solidFill>
            <a:srgbClr val="F9FAFB"/>
          </a:solidFill>
          <a:ln w="12700">
            <a:solidFill>
              <a:srgbClr val="D1D5DB"/>
            </a:solidFill>
          </a:ln>
        </p:spPr>
        <p:txBody>
          <a:bodyPr wrap="square" lIns="91440" tIns="91440" rIns="91440" bIns="91440" anchor="t" rtlCol="0">
            <a:noAutofit/>
          </a:bodyPr>
          <a:lstStyle/>
          <a:p>
            <a:endParaRPr lang="en-US" dirty="0"/>
          </a:p>
        </p:txBody>
      </p:sp>
      <p:sp>
        <p:nvSpPr>
          <p:cNvPr id="24" name="Shape 24"/>
          <p:cNvSpPr/>
          <p:nvPr/>
        </p:nvSpPr>
        <p:spPr>
          <a:xfrm>
            <a:off x="6858000" y="1417320"/>
            <a:ext cx="4663440" cy="36576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600" dirty="0" b="1">
                <a:solidFill>
                  <a:srgbClr val="11567F"/>
                </a:solidFill>
              </a:rPr>
              <a:t>Anatomy of a worksheet</a:t>
            </a:r>
            <a:endParaRPr lang="en-US" sz="1600" dirty="0"/>
          </a:p>
        </p:txBody>
      </p:sp>
      <p:sp>
        <p:nvSpPr>
          <p:cNvPr id="25" name="Shape 25"/>
          <p:cNvSpPr/>
          <p:nvPr/>
        </p:nvSpPr>
        <p:spPr>
          <a:xfrm>
            <a:off x="6858000" y="1874520"/>
            <a:ext cx="4617720" cy="457200"/>
          </a:xfrm>
          <a:prstGeom prst="rect">
            <a:avLst/>
          </a:prstGeom>
          <a:solidFill>
            <a:srgbClr val="374151"/>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200" dirty="0" b="1">
                <a:solidFill>
                  <a:srgbClr val="FFFFFF"/>
                </a:solidFill>
                <a:latin typeface="Courier New"/>
                <a:cs typeface="Courier New"/>
              </a:rPr>
              <a:t>Role ▾   Warehouse ▾   DB.Schema ▾        ▶ Run</a:t>
            </a:r>
            <a:endParaRPr lang="en-US" sz="1200" dirty="0"/>
          </a:p>
        </p:txBody>
      </p:sp>
      <p:sp>
        <p:nvSpPr>
          <p:cNvPr id="26" name="Shape 26"/>
          <p:cNvSpPr/>
          <p:nvPr/>
        </p:nvSpPr>
        <p:spPr>
          <a:xfrm>
            <a:off x="6858000" y="2377440"/>
            <a:ext cx="4617720" cy="1234440"/>
          </a:xfrm>
          <a:prstGeom prst="rect">
            <a:avLst/>
          </a:prstGeom>
          <a:solidFill>
            <a:srgbClr val="1E1E1E"/>
          </a:solidFill>
          <a:ln>
            <a:noFill/>
          </a:ln>
        </p:spPr>
        <p:txBody>
          <a:bodyPr wrap="square" lIns="109728" tIns="109728" rIns="109728" bIns="109728" anchor="t" rtlCol="0">
            <a:noAutofit/>
          </a:bodyPr>
          <a:lstStyle/>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customer</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SUM</a:t>
            </a:r>
            <a:r>
              <a:rPr lang="en-US" sz="1100" dirty="0">
                <a:solidFill>
                  <a:srgbClr val="D4D4D4"/>
                </a:solidFill>
                <a:latin typeface="Courier New"/>
                <a:cs typeface="Courier New"/>
              </a:rPr>
              <a:t>(</a:t>
            </a:r>
            <a:r>
              <a:rPr lang="en-US" sz="1100" dirty="0">
                <a:solidFill>
                  <a:srgbClr val="D4D4D4"/>
                </a:solidFill>
                <a:latin typeface="Courier New"/>
                <a:cs typeface="Courier New"/>
              </a:rPr>
              <a:t>amount</a:t>
            </a:r>
            <a:r>
              <a:rPr lang="en-US" sz="1100" dirty="0">
                <a:solidFill>
                  <a:srgbClr val="D4D4D4"/>
                </a:solidFill>
                <a:latin typeface="Courier New"/>
                <a:cs typeface="Courier New"/>
              </a:rPr>
              <a:t>)</a:t>
            </a:r>
            <a:endParaRPr lang="en-US" sz="1600" dirty="0"/>
          </a:p>
          <a:p>
            <a:pPr algn="l">
              <a:lnSpc>
                <a:spcPct val="100000"/>
              </a:lnSpc>
              <a:spcBef>
                <a:spcPts val="0"/>
              </a:spcBef>
              <a:spcAft>
                <a:spcPts val="0"/>
              </a:spcAft>
              <a:buNone/>
            </a:pPr>
            <a:r>
              <a:rPr lang="en-US" sz="1100" dirty="0" b="1">
                <a:solidFill>
                  <a:srgbClr val="569CD6"/>
                </a:solidFill>
                <a:latin typeface="Courier New"/>
                <a:cs typeface="Courier New"/>
              </a:rPr>
              <a:t>FROM</a:t>
            </a:r>
            <a:r>
              <a:rPr lang="en-US" sz="1100" dirty="0">
                <a:solidFill>
                  <a:srgbClr val="D4D4D4"/>
                </a:solidFill>
                <a:latin typeface="Courier New"/>
                <a:cs typeface="Courier New"/>
              </a:rPr>
              <a:t> </a:t>
            </a:r>
            <a:r>
              <a:rPr lang="en-US" sz="1100" dirty="0">
                <a:solidFill>
                  <a:srgbClr val="D4D4D4"/>
                </a:solidFill>
                <a:latin typeface="Courier New"/>
                <a:cs typeface="Courier New"/>
              </a:rPr>
              <a:t>orders</a:t>
            </a:r>
            <a:r>
              <a:rPr lang="en-US" sz="1100" dirty="0">
                <a:solidFill>
                  <a:srgbClr val="D4D4D4"/>
                </a:solidFill>
                <a:latin typeface="Courier New"/>
                <a:cs typeface="Courier New"/>
              </a:rPr>
              <a:t> </a:t>
            </a:r>
            <a:r>
              <a:rPr lang="en-US" sz="1100" dirty="0" b="1">
                <a:solidFill>
                  <a:srgbClr val="569CD6"/>
                </a:solidFill>
                <a:latin typeface="Courier New"/>
                <a:cs typeface="Courier New"/>
              </a:rPr>
              <a:t>GROUP</a:t>
            </a:r>
            <a:r>
              <a:rPr lang="en-US" sz="1100" dirty="0">
                <a:solidFill>
                  <a:srgbClr val="D4D4D4"/>
                </a:solidFill>
                <a:latin typeface="Courier New"/>
                <a:cs typeface="Courier New"/>
              </a:rPr>
              <a:t> </a:t>
            </a:r>
            <a:r>
              <a:rPr lang="en-US" sz="1100" dirty="0" b="1">
                <a:solidFill>
                  <a:srgbClr val="569CD6"/>
                </a:solidFill>
                <a:latin typeface="Courier New"/>
                <a:cs typeface="Courier New"/>
              </a:rPr>
              <a:t>BY</a:t>
            </a:r>
            <a:r>
              <a:rPr lang="en-US" sz="1100" dirty="0">
                <a:solidFill>
                  <a:srgbClr val="D4D4D4"/>
                </a:solidFill>
                <a:latin typeface="Courier New"/>
                <a:cs typeface="Courier New"/>
              </a:rPr>
              <a:t> </a:t>
            </a:r>
            <a:r>
              <a:rPr lang="en-US" sz="1100" dirty="0">
                <a:solidFill>
                  <a:srgbClr val="D4D4D4"/>
                </a:solidFill>
                <a:latin typeface="Courier New"/>
                <a:cs typeface="Courier New"/>
              </a:rPr>
              <a:t>customer</a:t>
            </a:r>
            <a:r>
              <a:rPr lang="en-US" sz="1100" dirty="0">
                <a:solidFill>
                  <a:srgbClr val="D4D4D4"/>
                </a:solidFill>
                <a:latin typeface="Courier New"/>
                <a:cs typeface="Courier New"/>
              </a:rPr>
              <a:t>;</a:t>
            </a:r>
            <a:endParaRPr lang="en-US" sz="1600" dirty="0"/>
          </a:p>
        </p:txBody>
      </p:sp>
      <p:sp>
        <p:nvSpPr>
          <p:cNvPr id="27" name="Shape 27"/>
          <p:cNvSpPr/>
          <p:nvPr/>
        </p:nvSpPr>
        <p:spPr>
          <a:xfrm>
            <a:off x="6858000" y="3657600"/>
            <a:ext cx="4617720" cy="822960"/>
          </a:xfrm>
          <a:prstGeom prst="rect">
            <a:avLst/>
          </a:prstGeom>
          <a:solidFill>
            <a:srgbClr val="EAF6FC"/>
          </a:solidFill>
          <a:ln>
            <a:noFill/>
          </a:ln>
        </p:spPr>
        <p:txBody>
          <a:bodyPr wrap="square" lIns="109728" tIns="109728" rIns="109728" bIns="109728" anchor="t" rtlCol="0">
            <a:noAutofit/>
          </a:bodyPr>
          <a:lstStyle/>
          <a:p>
            <a:pPr algn="l">
              <a:lnSpc>
                <a:spcPct val="100000"/>
              </a:lnSpc>
              <a:spcBef>
                <a:spcPts val="0"/>
              </a:spcBef>
              <a:spcAft>
                <a:spcPts val="0"/>
              </a:spcAft>
              <a:buNone/>
            </a:pPr>
            <a:r>
              <a:rPr lang="en-US" sz="1200" dirty="0" b="1">
                <a:solidFill>
                  <a:srgbClr val="11567F"/>
                </a:solidFill>
              </a:rPr>
              <a:t>Results  ·  Chart  ·  Query details / Profile</a:t>
            </a:r>
            <a:endParaRPr lang="en-US" sz="1200" dirty="0"/>
          </a:p>
        </p:txBody>
      </p:sp>
      <p:sp>
        <p:nvSpPr>
          <p:cNvPr id="28" name="Shape 28"/>
          <p:cNvSpPr/>
          <p:nvPr/>
        </p:nvSpPr>
        <p:spPr>
          <a:xfrm>
            <a:off x="6858000" y="4526280"/>
            <a:ext cx="4663440" cy="1645920"/>
          </a:xfrm>
          <a:prstGeom prst="rect">
            <a:avLst/>
          </a:prstGeom>
          <a:noFill/>
          <a:ln>
            <a:noFill/>
          </a:ln>
        </p:spPr>
        <p:txBody>
          <a:bodyPr wrap="square" lIns="45720" tIns="45720" rIns="45720" bIns="45720" anchor="t" rtlCol="0">
            <a:noAutofit/>
          </a:bodyPr>
          <a:lstStyle/>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Run: </a:t>
            </a:r>
            <a:r>
              <a:rPr lang="en-US" sz="1300" dirty="0" b="1">
                <a:solidFill>
                  <a:srgbClr val="1F2937"/>
                </a:solidFill>
              </a:rPr>
              <a:t>Cmd/Ctrl + Enter</a:t>
            </a:r>
            <a:r>
              <a:rPr lang="en-US" sz="1300" dirty="0">
                <a:solidFill>
                  <a:srgbClr val="1F2937"/>
                </a:solidFill>
              </a:rPr>
              <a:t> (current statement)</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Check the </a:t>
            </a:r>
            <a:r>
              <a:rPr lang="en-US" sz="1300" dirty="0" b="1">
                <a:solidFill>
                  <a:srgbClr val="1F2937"/>
                </a:solidFill>
              </a:rPr>
              <a:t>context selectors</a:t>
            </a:r>
            <a:r>
              <a:rPr lang="en-US" sz="1300" dirty="0">
                <a:solidFill>
                  <a:srgbClr val="1F2937"/>
                </a:solidFill>
              </a:rPr>
              <a:t> before running</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Open </a:t>
            </a:r>
            <a:r>
              <a:rPr lang="en-US" sz="1300" dirty="0" b="1">
                <a:solidFill>
                  <a:srgbClr val="1F2937"/>
                </a:solidFill>
              </a:rPr>
              <a:t>Query Profile</a:t>
            </a:r>
            <a:r>
              <a:rPr lang="en-US" sz="1300" dirty="0">
                <a:solidFill>
                  <a:srgbClr val="1F2937"/>
                </a:solidFill>
              </a:rPr>
              <a:t> to see slow steps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Object Hierarchy</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Everything is addressed as DATABASE.SCHEMA.OBJECT</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11 / 26</a:t>
            </a:r>
            <a:endParaRPr lang="en-US" sz="1000" dirty="0"/>
          </a:p>
        </p:txBody>
      </p:sp>
      <p:sp>
        <p:nvSpPr>
          <p:cNvPr id="9" name="Shape 9"/>
          <p:cNvSpPr/>
          <p:nvPr/>
        </p:nvSpPr>
        <p:spPr>
          <a:xfrm>
            <a:off x="4480560" y="1280160"/>
            <a:ext cx="3200400" cy="548640"/>
          </a:xfrm>
          <a:prstGeom prst="roundRect">
            <a:avLst>
              <a:gd name="adj" fmla="val 15000"/>
            </a:avLst>
          </a:prstGeom>
          <a:solidFill>
            <a:srgbClr val="0B2545"/>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500" dirty="0" b="1">
                <a:solidFill>
                  <a:srgbClr val="FFFFFF"/>
                </a:solidFill>
              </a:rPr>
              <a:t>ORGANIZATION</a:t>
            </a:r>
            <a:endParaRPr lang="en-US" sz="1500" dirty="0"/>
          </a:p>
        </p:txBody>
      </p:sp>
      <p:sp>
        <p:nvSpPr>
          <p:cNvPr id="10" name="Shape 10"/>
          <p:cNvSpPr/>
          <p:nvPr/>
        </p:nvSpPr>
        <p:spPr>
          <a:xfrm>
            <a:off x="5943600" y="1847088"/>
            <a:ext cx="274320" cy="274320"/>
          </a:xfrm>
          <a:prstGeom prst="downArrow">
            <a:avLst/>
          </a:prstGeom>
          <a:solidFill>
            <a:srgbClr val="29B5E8"/>
          </a:solidFill>
          <a:ln>
            <a:noFill/>
          </a:ln>
        </p:spPr>
        <p:txBody>
          <a:bodyPr wrap="square" lIns="91440" tIns="91440" rIns="91440" bIns="91440" anchor="t" rtlCol="0">
            <a:noAutofit/>
          </a:bodyPr>
          <a:lstStyle/>
          <a:p>
            <a:endParaRPr lang="en-US" dirty="0"/>
          </a:p>
        </p:txBody>
      </p:sp>
      <p:sp>
        <p:nvSpPr>
          <p:cNvPr id="11" name="Shape 11"/>
          <p:cNvSpPr/>
          <p:nvPr/>
        </p:nvSpPr>
        <p:spPr>
          <a:xfrm>
            <a:off x="4480560" y="2148840"/>
            <a:ext cx="3200400" cy="548640"/>
          </a:xfrm>
          <a:prstGeom prst="roundRect">
            <a:avLst>
              <a:gd name="adj" fmla="val 15000"/>
            </a:avLst>
          </a:prstGeom>
          <a:solidFill>
            <a:srgbClr val="11567F"/>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500" dirty="0" b="1">
                <a:solidFill>
                  <a:srgbClr val="FFFFFF"/>
                </a:solidFill>
              </a:rPr>
              <a:t>ACCOUNT</a:t>
            </a:r>
            <a:endParaRPr lang="en-US" sz="1500" dirty="0"/>
          </a:p>
        </p:txBody>
      </p:sp>
      <p:sp>
        <p:nvSpPr>
          <p:cNvPr id="12" name="Shape 12"/>
          <p:cNvSpPr/>
          <p:nvPr/>
        </p:nvSpPr>
        <p:spPr>
          <a:xfrm>
            <a:off x="548640" y="3017520"/>
            <a:ext cx="1371600" cy="457200"/>
          </a:xfrm>
          <a:prstGeom prst="roundRect">
            <a:avLst>
              <a:gd name="adj" fmla="val 15000"/>
            </a:avLst>
          </a:prstGeom>
          <a:solidFill>
            <a:srgbClr val="EAF6FC"/>
          </a:solidFill>
          <a:ln w="12700">
            <a:solidFill>
              <a:srgbClr val="29B5E8"/>
            </a:solidFill>
          </a:ln>
        </p:spPr>
        <p:txBody>
          <a:bodyPr wrap="square" lIns="27432" tIns="27432" rIns="27432" bIns="27432" anchor="ctr" rtlCol="0">
            <a:noAutofit/>
          </a:bodyPr>
          <a:lstStyle/>
          <a:p>
            <a:pPr algn="ctr">
              <a:lnSpc>
                <a:spcPct val="100000"/>
              </a:lnSpc>
              <a:spcBef>
                <a:spcPts val="0"/>
              </a:spcBef>
              <a:spcAft>
                <a:spcPts val="0"/>
              </a:spcAft>
              <a:buNone/>
            </a:pPr>
            <a:r>
              <a:rPr lang="en-US" sz="1150" dirty="0" b="1">
                <a:solidFill>
                  <a:srgbClr val="0B2545"/>
                </a:solidFill>
              </a:rPr>
              <a:t>Users</a:t>
            </a:r>
            <a:endParaRPr lang="en-US" sz="1150" dirty="0"/>
          </a:p>
        </p:txBody>
      </p:sp>
      <p:sp>
        <p:nvSpPr>
          <p:cNvPr id="13" name="Shape 13"/>
          <p:cNvSpPr/>
          <p:nvPr/>
        </p:nvSpPr>
        <p:spPr>
          <a:xfrm>
            <a:off x="2029968" y="3017520"/>
            <a:ext cx="1371600" cy="457200"/>
          </a:xfrm>
          <a:prstGeom prst="roundRect">
            <a:avLst>
              <a:gd name="adj" fmla="val 15000"/>
            </a:avLst>
          </a:prstGeom>
          <a:solidFill>
            <a:srgbClr val="EAF6FC"/>
          </a:solidFill>
          <a:ln w="12700">
            <a:solidFill>
              <a:srgbClr val="29B5E8"/>
            </a:solidFill>
          </a:ln>
        </p:spPr>
        <p:txBody>
          <a:bodyPr wrap="square" lIns="27432" tIns="27432" rIns="27432" bIns="27432" anchor="ctr" rtlCol="0">
            <a:noAutofit/>
          </a:bodyPr>
          <a:lstStyle/>
          <a:p>
            <a:pPr algn="ctr">
              <a:lnSpc>
                <a:spcPct val="100000"/>
              </a:lnSpc>
              <a:spcBef>
                <a:spcPts val="0"/>
              </a:spcBef>
              <a:spcAft>
                <a:spcPts val="0"/>
              </a:spcAft>
              <a:buNone/>
            </a:pPr>
            <a:r>
              <a:rPr lang="en-US" sz="1150" dirty="0" b="1">
                <a:solidFill>
                  <a:srgbClr val="0B2545"/>
                </a:solidFill>
              </a:rPr>
              <a:t>Roles</a:t>
            </a:r>
            <a:endParaRPr lang="en-US" sz="1150" dirty="0"/>
          </a:p>
        </p:txBody>
      </p:sp>
      <p:sp>
        <p:nvSpPr>
          <p:cNvPr id="14" name="Shape 14"/>
          <p:cNvSpPr/>
          <p:nvPr/>
        </p:nvSpPr>
        <p:spPr>
          <a:xfrm>
            <a:off x="3511296" y="3017520"/>
            <a:ext cx="1371600" cy="457200"/>
          </a:xfrm>
          <a:prstGeom prst="roundRect">
            <a:avLst>
              <a:gd name="adj" fmla="val 15000"/>
            </a:avLst>
          </a:prstGeom>
          <a:solidFill>
            <a:srgbClr val="EAF6FC"/>
          </a:solidFill>
          <a:ln w="12700">
            <a:solidFill>
              <a:srgbClr val="29B5E8"/>
            </a:solidFill>
          </a:ln>
        </p:spPr>
        <p:txBody>
          <a:bodyPr wrap="square" lIns="27432" tIns="27432" rIns="27432" bIns="27432" anchor="ctr" rtlCol="0">
            <a:noAutofit/>
          </a:bodyPr>
          <a:lstStyle/>
          <a:p>
            <a:pPr algn="ctr">
              <a:lnSpc>
                <a:spcPct val="100000"/>
              </a:lnSpc>
              <a:spcBef>
                <a:spcPts val="0"/>
              </a:spcBef>
              <a:spcAft>
                <a:spcPts val="0"/>
              </a:spcAft>
              <a:buNone/>
            </a:pPr>
            <a:r>
              <a:rPr lang="en-US" sz="1150" dirty="0" b="1">
                <a:solidFill>
                  <a:srgbClr val="0B2545"/>
                </a:solidFill>
              </a:rPr>
              <a:t>Warehouses</a:t>
            </a:r>
            <a:endParaRPr lang="en-US" sz="1150" dirty="0"/>
          </a:p>
        </p:txBody>
      </p:sp>
      <p:sp>
        <p:nvSpPr>
          <p:cNvPr id="15" name="Shape 15"/>
          <p:cNvSpPr/>
          <p:nvPr/>
        </p:nvSpPr>
        <p:spPr>
          <a:xfrm>
            <a:off x="4992624" y="3017520"/>
            <a:ext cx="1371600" cy="457200"/>
          </a:xfrm>
          <a:prstGeom prst="roundRect">
            <a:avLst>
              <a:gd name="adj" fmla="val 15000"/>
            </a:avLst>
          </a:prstGeom>
          <a:solidFill>
            <a:srgbClr val="EAF6FC"/>
          </a:solidFill>
          <a:ln w="12700">
            <a:solidFill>
              <a:srgbClr val="29B5E8"/>
            </a:solidFill>
          </a:ln>
        </p:spPr>
        <p:txBody>
          <a:bodyPr wrap="square" lIns="27432" tIns="27432" rIns="27432" bIns="27432" anchor="ctr" rtlCol="0">
            <a:noAutofit/>
          </a:bodyPr>
          <a:lstStyle/>
          <a:p>
            <a:pPr algn="ctr">
              <a:lnSpc>
                <a:spcPct val="100000"/>
              </a:lnSpc>
              <a:spcBef>
                <a:spcPts val="0"/>
              </a:spcBef>
              <a:spcAft>
                <a:spcPts val="0"/>
              </a:spcAft>
              <a:buNone/>
            </a:pPr>
            <a:r>
              <a:rPr lang="en-US" sz="1150" dirty="0" b="1">
                <a:solidFill>
                  <a:srgbClr val="0B2545"/>
                </a:solidFill>
              </a:rPr>
              <a:t>Integrations</a:t>
            </a:r>
            <a:endParaRPr lang="en-US" sz="1150" dirty="0"/>
          </a:p>
        </p:txBody>
      </p:sp>
      <p:sp>
        <p:nvSpPr>
          <p:cNvPr id="16" name="Shape 16"/>
          <p:cNvSpPr/>
          <p:nvPr/>
        </p:nvSpPr>
        <p:spPr>
          <a:xfrm>
            <a:off x="6473952" y="3017520"/>
            <a:ext cx="1371600" cy="457200"/>
          </a:xfrm>
          <a:prstGeom prst="roundRect">
            <a:avLst>
              <a:gd name="adj" fmla="val 15000"/>
            </a:avLst>
          </a:prstGeom>
          <a:solidFill>
            <a:srgbClr val="EAF6FC"/>
          </a:solidFill>
          <a:ln w="12700">
            <a:solidFill>
              <a:srgbClr val="29B5E8"/>
            </a:solidFill>
          </a:ln>
        </p:spPr>
        <p:txBody>
          <a:bodyPr wrap="square" lIns="27432" tIns="27432" rIns="27432" bIns="27432" anchor="ctr" rtlCol="0">
            <a:noAutofit/>
          </a:bodyPr>
          <a:lstStyle/>
          <a:p>
            <a:pPr algn="ctr">
              <a:lnSpc>
                <a:spcPct val="100000"/>
              </a:lnSpc>
              <a:spcBef>
                <a:spcPts val="0"/>
              </a:spcBef>
              <a:spcAft>
                <a:spcPts val="0"/>
              </a:spcAft>
              <a:buNone/>
            </a:pPr>
            <a:r>
              <a:rPr lang="en-US" sz="1150" dirty="0" b="1">
                <a:solidFill>
                  <a:srgbClr val="0B2545"/>
                </a:solidFill>
              </a:rPr>
              <a:t>Resource monitors</a:t>
            </a:r>
            <a:endParaRPr lang="en-US" sz="1150" dirty="0"/>
          </a:p>
        </p:txBody>
      </p:sp>
      <p:sp>
        <p:nvSpPr>
          <p:cNvPr id="17" name="Shape 17"/>
          <p:cNvSpPr/>
          <p:nvPr/>
        </p:nvSpPr>
        <p:spPr>
          <a:xfrm>
            <a:off x="8229600" y="3017520"/>
            <a:ext cx="3429000" cy="457200"/>
          </a:xfrm>
          <a:prstGeom prst="roundRect">
            <a:avLst>
              <a:gd name="adj" fmla="val 15000"/>
            </a:avLst>
          </a:prstGeom>
          <a:solidFill>
            <a:srgbClr val="1B7FB5"/>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300" dirty="0" b="1">
                <a:solidFill>
                  <a:srgbClr val="FFFFFF"/>
                </a:solidFill>
              </a:rPr>
              <a:t>DATABASE   e.g. SALES_DB</a:t>
            </a:r>
            <a:endParaRPr lang="en-US" sz="1300" dirty="0"/>
          </a:p>
        </p:txBody>
      </p:sp>
      <p:sp>
        <p:nvSpPr>
          <p:cNvPr id="18" name="Shape 18"/>
          <p:cNvSpPr/>
          <p:nvPr/>
        </p:nvSpPr>
        <p:spPr>
          <a:xfrm>
            <a:off x="548640" y="2697480"/>
            <a:ext cx="7315200" cy="3200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6B7280"/>
                </a:solidFill>
              </a:rPr>
              <a:t>Account-level objects</a:t>
            </a:r>
            <a:endParaRPr lang="en-US" sz="1200" dirty="0"/>
          </a:p>
        </p:txBody>
      </p:sp>
      <p:sp>
        <p:nvSpPr>
          <p:cNvPr id="19" name="Shape 19"/>
          <p:cNvSpPr/>
          <p:nvPr/>
        </p:nvSpPr>
        <p:spPr>
          <a:xfrm>
            <a:off x="9802368" y="3520440"/>
            <a:ext cx="274320" cy="274320"/>
          </a:xfrm>
          <a:prstGeom prst="downArrow">
            <a:avLst/>
          </a:prstGeom>
          <a:solidFill>
            <a:srgbClr val="29B5E8"/>
          </a:solidFill>
          <a:ln>
            <a:noFill/>
          </a:ln>
        </p:spPr>
        <p:txBody>
          <a:bodyPr wrap="square" lIns="91440" tIns="91440" rIns="91440" bIns="91440" anchor="t" rtlCol="0">
            <a:noAutofit/>
          </a:bodyPr>
          <a:lstStyle/>
          <a:p>
            <a:endParaRPr lang="en-US" dirty="0"/>
          </a:p>
        </p:txBody>
      </p:sp>
      <p:sp>
        <p:nvSpPr>
          <p:cNvPr id="20" name="Shape 20"/>
          <p:cNvSpPr/>
          <p:nvPr/>
        </p:nvSpPr>
        <p:spPr>
          <a:xfrm>
            <a:off x="8229600" y="3840480"/>
            <a:ext cx="3429000" cy="457200"/>
          </a:xfrm>
          <a:prstGeom prst="roundRect">
            <a:avLst>
              <a:gd name="adj" fmla="val 15000"/>
            </a:avLst>
          </a:prstGeom>
          <a:solidFill>
            <a:srgbClr val="29B5E8"/>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300" dirty="0" b="1">
                <a:solidFill>
                  <a:srgbClr val="FFFFFF"/>
                </a:solidFill>
              </a:rPr>
              <a:t>SCHEMA   e.g. RAW, PUBLIC</a:t>
            </a:r>
            <a:endParaRPr lang="en-US" sz="1300" dirty="0"/>
          </a:p>
        </p:txBody>
      </p:sp>
      <p:sp>
        <p:nvSpPr>
          <p:cNvPr id="21" name="Shape 21"/>
          <p:cNvSpPr/>
          <p:nvPr/>
        </p:nvSpPr>
        <p:spPr>
          <a:xfrm>
            <a:off x="9802368" y="4343400"/>
            <a:ext cx="274320" cy="274320"/>
          </a:xfrm>
          <a:prstGeom prst="downArrow">
            <a:avLst/>
          </a:prstGeom>
          <a:solidFill>
            <a:srgbClr val="29B5E8"/>
          </a:solidFill>
          <a:ln>
            <a:noFill/>
          </a:ln>
        </p:spPr>
        <p:txBody>
          <a:bodyPr wrap="square" lIns="91440" tIns="91440" rIns="91440" bIns="91440" anchor="t" rtlCol="0">
            <a:noAutofit/>
          </a:bodyPr>
          <a:lstStyle/>
          <a:p>
            <a:endParaRPr lang="en-US" dirty="0"/>
          </a:p>
        </p:txBody>
      </p:sp>
      <p:sp>
        <p:nvSpPr>
          <p:cNvPr id="22" name="Shape 22"/>
          <p:cNvSpPr/>
          <p:nvPr/>
        </p:nvSpPr>
        <p:spPr>
          <a:xfrm>
            <a:off x="8229600" y="4663440"/>
            <a:ext cx="1097280" cy="384048"/>
          </a:xfrm>
          <a:prstGeom prst="roundRect">
            <a:avLst>
              <a:gd name="adj" fmla="val 15000"/>
            </a:avLst>
          </a:prstGeom>
          <a:solidFill>
            <a:srgbClr val="EAF6FC"/>
          </a:solidFill>
          <a:ln w="9525">
            <a:solidFill>
              <a:srgbClr val="29B5E8"/>
            </a:solidFill>
          </a:ln>
        </p:spPr>
        <p:txBody>
          <a:bodyPr wrap="square" lIns="18288" tIns="18288" rIns="18288" bIns="18288" anchor="ctr" rtlCol="0">
            <a:noAutofit/>
          </a:bodyPr>
          <a:lstStyle/>
          <a:p>
            <a:pPr algn="ctr">
              <a:lnSpc>
                <a:spcPct val="100000"/>
              </a:lnSpc>
              <a:spcBef>
                <a:spcPts val="0"/>
              </a:spcBef>
              <a:spcAft>
                <a:spcPts val="0"/>
              </a:spcAft>
              <a:buNone/>
            </a:pPr>
            <a:r>
              <a:rPr lang="en-US" sz="1050" dirty="0" b="1">
                <a:solidFill>
                  <a:srgbClr val="0B2545"/>
                </a:solidFill>
              </a:rPr>
              <a:t>Tables</a:t>
            </a:r>
            <a:endParaRPr lang="en-US" sz="1050" dirty="0"/>
          </a:p>
        </p:txBody>
      </p:sp>
      <p:sp>
        <p:nvSpPr>
          <p:cNvPr id="23" name="Shape 23"/>
          <p:cNvSpPr/>
          <p:nvPr/>
        </p:nvSpPr>
        <p:spPr>
          <a:xfrm>
            <a:off x="9390888" y="4663440"/>
            <a:ext cx="1097280" cy="384048"/>
          </a:xfrm>
          <a:prstGeom prst="roundRect">
            <a:avLst>
              <a:gd name="adj" fmla="val 15000"/>
            </a:avLst>
          </a:prstGeom>
          <a:solidFill>
            <a:srgbClr val="EAF6FC"/>
          </a:solidFill>
          <a:ln w="9525">
            <a:solidFill>
              <a:srgbClr val="29B5E8"/>
            </a:solidFill>
          </a:ln>
        </p:spPr>
        <p:txBody>
          <a:bodyPr wrap="square" lIns="18288" tIns="18288" rIns="18288" bIns="18288" anchor="ctr" rtlCol="0">
            <a:noAutofit/>
          </a:bodyPr>
          <a:lstStyle/>
          <a:p>
            <a:pPr algn="ctr">
              <a:lnSpc>
                <a:spcPct val="100000"/>
              </a:lnSpc>
              <a:spcBef>
                <a:spcPts val="0"/>
              </a:spcBef>
              <a:spcAft>
                <a:spcPts val="0"/>
              </a:spcAft>
              <a:buNone/>
            </a:pPr>
            <a:r>
              <a:rPr lang="en-US" sz="1050" dirty="0" b="1">
                <a:solidFill>
                  <a:srgbClr val="0B2545"/>
                </a:solidFill>
              </a:rPr>
              <a:t>Views</a:t>
            </a:r>
            <a:endParaRPr lang="en-US" sz="1050" dirty="0"/>
          </a:p>
        </p:txBody>
      </p:sp>
      <p:sp>
        <p:nvSpPr>
          <p:cNvPr id="24" name="Shape 24"/>
          <p:cNvSpPr/>
          <p:nvPr/>
        </p:nvSpPr>
        <p:spPr>
          <a:xfrm>
            <a:off x="10552176" y="4663440"/>
            <a:ext cx="1097280" cy="384048"/>
          </a:xfrm>
          <a:prstGeom prst="roundRect">
            <a:avLst>
              <a:gd name="adj" fmla="val 15000"/>
            </a:avLst>
          </a:prstGeom>
          <a:solidFill>
            <a:srgbClr val="EAF6FC"/>
          </a:solidFill>
          <a:ln w="9525">
            <a:solidFill>
              <a:srgbClr val="29B5E8"/>
            </a:solidFill>
          </a:ln>
        </p:spPr>
        <p:txBody>
          <a:bodyPr wrap="square" lIns="18288" tIns="18288" rIns="18288" bIns="18288" anchor="ctr" rtlCol="0">
            <a:noAutofit/>
          </a:bodyPr>
          <a:lstStyle/>
          <a:p>
            <a:pPr algn="ctr">
              <a:lnSpc>
                <a:spcPct val="100000"/>
              </a:lnSpc>
              <a:spcBef>
                <a:spcPts val="0"/>
              </a:spcBef>
              <a:spcAft>
                <a:spcPts val="0"/>
              </a:spcAft>
              <a:buNone/>
            </a:pPr>
            <a:r>
              <a:rPr lang="en-US" sz="1050" dirty="0" b="1">
                <a:solidFill>
                  <a:srgbClr val="0B2545"/>
                </a:solidFill>
              </a:rPr>
              <a:t>Stages</a:t>
            </a:r>
            <a:endParaRPr lang="en-US" sz="1050" dirty="0"/>
          </a:p>
        </p:txBody>
      </p:sp>
      <p:sp>
        <p:nvSpPr>
          <p:cNvPr id="25" name="Shape 25"/>
          <p:cNvSpPr/>
          <p:nvPr/>
        </p:nvSpPr>
        <p:spPr>
          <a:xfrm>
            <a:off x="8229600" y="5120640"/>
            <a:ext cx="1097280" cy="384048"/>
          </a:xfrm>
          <a:prstGeom prst="roundRect">
            <a:avLst>
              <a:gd name="adj" fmla="val 15000"/>
            </a:avLst>
          </a:prstGeom>
          <a:solidFill>
            <a:srgbClr val="EAF6FC"/>
          </a:solidFill>
          <a:ln w="9525">
            <a:solidFill>
              <a:srgbClr val="29B5E8"/>
            </a:solidFill>
          </a:ln>
        </p:spPr>
        <p:txBody>
          <a:bodyPr wrap="square" lIns="18288" tIns="18288" rIns="18288" bIns="18288" anchor="ctr" rtlCol="0">
            <a:noAutofit/>
          </a:bodyPr>
          <a:lstStyle/>
          <a:p>
            <a:pPr algn="ctr">
              <a:lnSpc>
                <a:spcPct val="100000"/>
              </a:lnSpc>
              <a:spcBef>
                <a:spcPts val="0"/>
              </a:spcBef>
              <a:spcAft>
                <a:spcPts val="0"/>
              </a:spcAft>
              <a:buNone/>
            </a:pPr>
            <a:r>
              <a:rPr lang="en-US" sz="1050" dirty="0" b="1">
                <a:solidFill>
                  <a:srgbClr val="0B2545"/>
                </a:solidFill>
              </a:rPr>
              <a:t>File formats</a:t>
            </a:r>
            <a:endParaRPr lang="en-US" sz="1050" dirty="0"/>
          </a:p>
        </p:txBody>
      </p:sp>
      <p:sp>
        <p:nvSpPr>
          <p:cNvPr id="26" name="Shape 26"/>
          <p:cNvSpPr/>
          <p:nvPr/>
        </p:nvSpPr>
        <p:spPr>
          <a:xfrm>
            <a:off x="9390888" y="5120640"/>
            <a:ext cx="1097280" cy="384048"/>
          </a:xfrm>
          <a:prstGeom prst="roundRect">
            <a:avLst>
              <a:gd name="adj" fmla="val 15000"/>
            </a:avLst>
          </a:prstGeom>
          <a:solidFill>
            <a:srgbClr val="EAF6FC"/>
          </a:solidFill>
          <a:ln w="9525">
            <a:solidFill>
              <a:srgbClr val="29B5E8"/>
            </a:solidFill>
          </a:ln>
        </p:spPr>
        <p:txBody>
          <a:bodyPr wrap="square" lIns="18288" tIns="18288" rIns="18288" bIns="18288" anchor="ctr" rtlCol="0">
            <a:noAutofit/>
          </a:bodyPr>
          <a:lstStyle/>
          <a:p>
            <a:pPr algn="ctr">
              <a:lnSpc>
                <a:spcPct val="100000"/>
              </a:lnSpc>
              <a:spcBef>
                <a:spcPts val="0"/>
              </a:spcBef>
              <a:spcAft>
                <a:spcPts val="0"/>
              </a:spcAft>
              <a:buNone/>
            </a:pPr>
            <a:r>
              <a:rPr lang="en-US" sz="1050" dirty="0" b="1">
                <a:solidFill>
                  <a:srgbClr val="0B2545"/>
                </a:solidFill>
              </a:rPr>
              <a:t>Sequences</a:t>
            </a:r>
            <a:endParaRPr lang="en-US" sz="1050" dirty="0"/>
          </a:p>
        </p:txBody>
      </p:sp>
      <p:sp>
        <p:nvSpPr>
          <p:cNvPr id="27" name="Shape 27"/>
          <p:cNvSpPr/>
          <p:nvPr/>
        </p:nvSpPr>
        <p:spPr>
          <a:xfrm>
            <a:off x="10552176" y="5120640"/>
            <a:ext cx="1097280" cy="384048"/>
          </a:xfrm>
          <a:prstGeom prst="roundRect">
            <a:avLst>
              <a:gd name="adj" fmla="val 15000"/>
            </a:avLst>
          </a:prstGeom>
          <a:solidFill>
            <a:srgbClr val="EAF6FC"/>
          </a:solidFill>
          <a:ln w="9525">
            <a:solidFill>
              <a:srgbClr val="29B5E8"/>
            </a:solidFill>
          </a:ln>
        </p:spPr>
        <p:txBody>
          <a:bodyPr wrap="square" lIns="18288" tIns="18288" rIns="18288" bIns="18288" anchor="ctr" rtlCol="0">
            <a:noAutofit/>
          </a:bodyPr>
          <a:lstStyle/>
          <a:p>
            <a:pPr algn="ctr">
              <a:lnSpc>
                <a:spcPct val="100000"/>
              </a:lnSpc>
              <a:spcBef>
                <a:spcPts val="0"/>
              </a:spcBef>
              <a:spcAft>
                <a:spcPts val="0"/>
              </a:spcAft>
              <a:buNone/>
            </a:pPr>
            <a:r>
              <a:rPr lang="en-US" sz="1050" dirty="0" b="1">
                <a:solidFill>
                  <a:srgbClr val="0B2545"/>
                </a:solidFill>
              </a:rPr>
              <a:t>Functions / Procs</a:t>
            </a:r>
            <a:endParaRPr lang="en-US" sz="1050" dirty="0"/>
          </a:p>
        </p:txBody>
      </p:sp>
      <p:sp>
        <p:nvSpPr>
          <p:cNvPr id="28" name="Shape 28"/>
          <p:cNvSpPr/>
          <p:nvPr/>
        </p:nvSpPr>
        <p:spPr>
          <a:xfrm>
            <a:off x="8229600" y="5577840"/>
            <a:ext cx="1097280" cy="384048"/>
          </a:xfrm>
          <a:prstGeom prst="roundRect">
            <a:avLst>
              <a:gd name="adj" fmla="val 15000"/>
            </a:avLst>
          </a:prstGeom>
          <a:solidFill>
            <a:srgbClr val="EAF6FC"/>
          </a:solidFill>
          <a:ln w="9525">
            <a:solidFill>
              <a:srgbClr val="29B5E8"/>
            </a:solidFill>
          </a:ln>
        </p:spPr>
        <p:txBody>
          <a:bodyPr wrap="square" lIns="18288" tIns="18288" rIns="18288" bIns="18288" anchor="ctr" rtlCol="0">
            <a:noAutofit/>
          </a:bodyPr>
          <a:lstStyle/>
          <a:p>
            <a:pPr algn="ctr">
              <a:lnSpc>
                <a:spcPct val="100000"/>
              </a:lnSpc>
              <a:spcBef>
                <a:spcPts val="0"/>
              </a:spcBef>
              <a:spcAft>
                <a:spcPts val="0"/>
              </a:spcAft>
              <a:buNone/>
            </a:pPr>
            <a:r>
              <a:rPr lang="en-US" sz="1050" dirty="0" b="1">
                <a:solidFill>
                  <a:srgbClr val="0B2545"/>
                </a:solidFill>
              </a:rPr>
              <a:t>Tasks</a:t>
            </a:r>
            <a:endParaRPr lang="en-US" sz="1050" dirty="0"/>
          </a:p>
        </p:txBody>
      </p:sp>
      <p:sp>
        <p:nvSpPr>
          <p:cNvPr id="29" name="Shape 29"/>
          <p:cNvSpPr/>
          <p:nvPr/>
        </p:nvSpPr>
        <p:spPr>
          <a:xfrm>
            <a:off x="9390888" y="5577840"/>
            <a:ext cx="1097280" cy="384048"/>
          </a:xfrm>
          <a:prstGeom prst="roundRect">
            <a:avLst>
              <a:gd name="adj" fmla="val 15000"/>
            </a:avLst>
          </a:prstGeom>
          <a:solidFill>
            <a:srgbClr val="EAF6FC"/>
          </a:solidFill>
          <a:ln w="9525">
            <a:solidFill>
              <a:srgbClr val="29B5E8"/>
            </a:solidFill>
          </a:ln>
        </p:spPr>
        <p:txBody>
          <a:bodyPr wrap="square" lIns="18288" tIns="18288" rIns="18288" bIns="18288" anchor="ctr" rtlCol="0">
            <a:noAutofit/>
          </a:bodyPr>
          <a:lstStyle/>
          <a:p>
            <a:pPr algn="ctr">
              <a:lnSpc>
                <a:spcPct val="100000"/>
              </a:lnSpc>
              <a:spcBef>
                <a:spcPts val="0"/>
              </a:spcBef>
              <a:spcAft>
                <a:spcPts val="0"/>
              </a:spcAft>
              <a:buNone/>
            </a:pPr>
            <a:r>
              <a:rPr lang="en-US" sz="1050" dirty="0" b="1">
                <a:solidFill>
                  <a:srgbClr val="0B2545"/>
                </a:solidFill>
              </a:rPr>
              <a:t>Streams</a:t>
            </a:r>
            <a:endParaRPr lang="en-US" sz="1050" dirty="0"/>
          </a:p>
        </p:txBody>
      </p:sp>
      <p:sp>
        <p:nvSpPr>
          <p:cNvPr id="30" name="Shape 30"/>
          <p:cNvSpPr/>
          <p:nvPr/>
        </p:nvSpPr>
        <p:spPr>
          <a:xfrm>
            <a:off x="10552176" y="5577840"/>
            <a:ext cx="1097280" cy="384048"/>
          </a:xfrm>
          <a:prstGeom prst="roundRect">
            <a:avLst>
              <a:gd name="adj" fmla="val 15000"/>
            </a:avLst>
          </a:prstGeom>
          <a:solidFill>
            <a:srgbClr val="EAF6FC"/>
          </a:solidFill>
          <a:ln w="9525">
            <a:solidFill>
              <a:srgbClr val="29B5E8"/>
            </a:solidFill>
          </a:ln>
        </p:spPr>
        <p:txBody>
          <a:bodyPr wrap="square" lIns="18288" tIns="18288" rIns="18288" bIns="18288" anchor="ctr" rtlCol="0">
            <a:noAutofit/>
          </a:bodyPr>
          <a:lstStyle/>
          <a:p>
            <a:pPr algn="ctr">
              <a:lnSpc>
                <a:spcPct val="100000"/>
              </a:lnSpc>
              <a:spcBef>
                <a:spcPts val="0"/>
              </a:spcBef>
              <a:spcAft>
                <a:spcPts val="0"/>
              </a:spcAft>
              <a:buNone/>
            </a:pPr>
            <a:r>
              <a:rPr lang="en-US" sz="1050" dirty="0" b="1">
                <a:solidFill>
                  <a:srgbClr val="0B2545"/>
                </a:solidFill>
              </a:rPr>
              <a:t>Pipes</a:t>
            </a:r>
            <a:endParaRPr lang="en-US" sz="1050" dirty="0"/>
          </a:p>
        </p:txBody>
      </p:sp>
      <p:sp>
        <p:nvSpPr>
          <p:cNvPr id="31" name="Shape 31"/>
          <p:cNvSpPr/>
          <p:nvPr/>
        </p:nvSpPr>
        <p:spPr>
          <a:xfrm>
            <a:off x="548640" y="3840480"/>
            <a:ext cx="722376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Naming in practice</a:t>
            </a:r>
            <a:endParaRPr lang="en-US" sz="1100" dirty="0"/>
          </a:p>
        </p:txBody>
      </p:sp>
      <p:sp>
        <p:nvSpPr>
          <p:cNvPr id="32" name="Shape 32"/>
          <p:cNvSpPr/>
          <p:nvPr/>
        </p:nvSpPr>
        <p:spPr>
          <a:xfrm>
            <a:off x="548640" y="4133088"/>
            <a:ext cx="7223760" cy="203911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100" dirty="0" i="1">
                <a:solidFill>
                  <a:srgbClr val="6A9955"/>
                </a:solidFill>
                <a:latin typeface="Courier New"/>
                <a:cs typeface="Courier New"/>
              </a:rPr>
              <a:t>-- Fully qualified name: &lt;database&gt;.&lt;schema&gt;.&lt;object&gt;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FROM</a:t>
            </a:r>
            <a:r>
              <a:rPr lang="en-US" sz="1100" dirty="0">
                <a:solidFill>
                  <a:srgbClr val="D4D4D4"/>
                </a:solidFill>
                <a:latin typeface="Courier New"/>
                <a:cs typeface="Courier New"/>
              </a:rPr>
              <a:t> </a:t>
            </a:r>
            <a:r>
              <a:rPr lang="en-US" sz="1100" dirty="0">
                <a:solidFill>
                  <a:srgbClr val="D4D4D4"/>
                </a:solidFill>
                <a:latin typeface="Courier New"/>
                <a:cs typeface="Courier New"/>
              </a:rPr>
              <a:t>sales_db</a:t>
            </a:r>
            <a:r>
              <a:rPr lang="en-US" sz="1100" dirty="0">
                <a:solidFill>
                  <a:srgbClr val="D4D4D4"/>
                </a:solidFill>
                <a:latin typeface="Courier New"/>
                <a:cs typeface="Courier New"/>
              </a:rPr>
              <a:t>.</a:t>
            </a:r>
            <a:r>
              <a:rPr lang="en-US" sz="1100" dirty="0">
                <a:solidFill>
                  <a:srgbClr val="D4D4D4"/>
                </a:solidFill>
                <a:latin typeface="Courier New"/>
                <a:cs typeface="Courier New"/>
              </a:rPr>
              <a:t>raw</a:t>
            </a:r>
            <a:r>
              <a:rPr lang="en-US" sz="1100" dirty="0">
                <a:solidFill>
                  <a:srgbClr val="D4D4D4"/>
                </a:solidFill>
                <a:latin typeface="Courier New"/>
                <a:cs typeface="Courier New"/>
              </a:rPr>
              <a:t>.</a:t>
            </a:r>
            <a:r>
              <a:rPr lang="en-US" sz="1100" dirty="0">
                <a:solidFill>
                  <a:srgbClr val="D4D4D4"/>
                </a:solidFill>
                <a:latin typeface="Courier New"/>
                <a:cs typeface="Courier New"/>
              </a:rPr>
              <a:t>orders</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endParaRPr lang="en-US" sz="1100" dirty="0"/>
          </a:p>
          <a:p>
            <a:pPr algn="l">
              <a:lnSpc>
                <a:spcPct val="100000"/>
              </a:lnSpc>
              <a:spcBef>
                <a:spcPts val="0"/>
              </a:spcBef>
              <a:spcAft>
                <a:spcPts val="0"/>
              </a:spcAft>
              <a:buNone/>
            </a:pPr>
            <a:r>
              <a:rPr lang="en-US" sz="1100" dirty="0" i="1">
                <a:solidFill>
                  <a:srgbClr val="6A9955"/>
                </a:solidFill>
                <a:latin typeface="Courier New"/>
                <a:cs typeface="Courier New"/>
              </a:rPr>
              <a:t>-- Or set the context once, then use short names</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USE</a:t>
            </a:r>
            <a:r>
              <a:rPr lang="en-US" sz="1100" dirty="0">
                <a:solidFill>
                  <a:srgbClr val="D4D4D4"/>
                </a:solidFill>
                <a:latin typeface="Courier New"/>
                <a:cs typeface="Courier New"/>
              </a:rPr>
              <a:t> </a:t>
            </a:r>
            <a:r>
              <a:rPr lang="en-US" sz="1100" dirty="0" b="1">
                <a:solidFill>
                  <a:srgbClr val="569CD6"/>
                </a:solidFill>
                <a:latin typeface="Courier New"/>
                <a:cs typeface="Courier New"/>
              </a:rPr>
              <a:t>SCHEMA</a:t>
            </a:r>
            <a:r>
              <a:rPr lang="en-US" sz="1100" dirty="0">
                <a:solidFill>
                  <a:srgbClr val="D4D4D4"/>
                </a:solidFill>
                <a:latin typeface="Courier New"/>
                <a:cs typeface="Courier New"/>
              </a:rPr>
              <a:t> </a:t>
            </a:r>
            <a:r>
              <a:rPr lang="en-US" sz="1100" dirty="0">
                <a:solidFill>
                  <a:srgbClr val="D4D4D4"/>
                </a:solidFill>
                <a:latin typeface="Courier New"/>
                <a:cs typeface="Courier New"/>
              </a:rPr>
              <a:t>sales_db</a:t>
            </a:r>
            <a:r>
              <a:rPr lang="en-US" sz="1100" dirty="0">
                <a:solidFill>
                  <a:srgbClr val="D4D4D4"/>
                </a:solidFill>
                <a:latin typeface="Courier New"/>
                <a:cs typeface="Courier New"/>
              </a:rPr>
              <a:t>.</a:t>
            </a:r>
            <a:r>
              <a:rPr lang="en-US" sz="1100" dirty="0">
                <a:solidFill>
                  <a:srgbClr val="D4D4D4"/>
                </a:solidFill>
                <a:latin typeface="Courier New"/>
                <a:cs typeface="Courier New"/>
              </a:rPr>
              <a:t>raw</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FROM</a:t>
            </a:r>
            <a:r>
              <a:rPr lang="en-US" sz="1100" dirty="0">
                <a:solidFill>
                  <a:srgbClr val="D4D4D4"/>
                </a:solidFill>
                <a:latin typeface="Courier New"/>
                <a:cs typeface="Courier New"/>
              </a:rPr>
              <a:t> </a:t>
            </a:r>
            <a:r>
              <a:rPr lang="en-US" sz="1100" dirty="0">
                <a:solidFill>
                  <a:srgbClr val="D4D4D4"/>
                </a:solidFill>
                <a:latin typeface="Courier New"/>
                <a:cs typeface="Courier New"/>
              </a:rPr>
              <a:t>orders</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endParaRPr lang="en-US" sz="1100" dirty="0"/>
          </a:p>
          <a:p>
            <a:pPr algn="l">
              <a:lnSpc>
                <a:spcPct val="100000"/>
              </a:lnSpc>
              <a:spcBef>
                <a:spcPts val="0"/>
              </a:spcBef>
              <a:spcAft>
                <a:spcPts val="0"/>
              </a:spcAft>
              <a:buNone/>
            </a:pPr>
            <a:r>
              <a:rPr lang="en-US" sz="1100" dirty="0" i="1">
                <a:solidFill>
                  <a:srgbClr val="6A9955"/>
                </a:solidFill>
                <a:latin typeface="Courier New"/>
                <a:cs typeface="Courier New"/>
              </a:rPr>
              <a:t>-- Unquoted = case-insensitive (stored UPPERCASE)</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FROM</a:t>
            </a:r>
            <a:r>
              <a:rPr lang="en-US" sz="1100" dirty="0">
                <a:solidFill>
                  <a:srgbClr val="D4D4D4"/>
                </a:solidFill>
                <a:latin typeface="Courier New"/>
                <a:cs typeface="Courier New"/>
              </a:rPr>
              <a:t> </a:t>
            </a:r>
            <a:r>
              <a:rPr lang="en-US" sz="1100" dirty="0">
                <a:solidFill>
                  <a:srgbClr val="D4D4D4"/>
                </a:solidFill>
                <a:latin typeface="Courier New"/>
                <a:cs typeface="Courier New"/>
              </a:rPr>
              <a:t>ORDERS</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i="1">
                <a:solidFill>
                  <a:srgbClr val="6A9955"/>
                </a:solidFill>
                <a:latin typeface="Courier New"/>
                <a:cs typeface="Courier New"/>
              </a:rPr>
              <a:t>-- same table as above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Roles &amp; Access Control</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Privileges → roles → users (role-based access control)</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12 / 26</a:t>
            </a:r>
            <a:endParaRPr lang="en-US" sz="1000" dirty="0"/>
          </a:p>
        </p:txBody>
      </p:sp>
      <p:sp>
        <p:nvSpPr>
          <p:cNvPr id="9" name="Shape 9"/>
          <p:cNvSpPr/>
          <p:nvPr/>
        </p:nvSpPr>
        <p:spPr>
          <a:xfrm>
            <a:off x="2103120" y="1280160"/>
            <a:ext cx="2377440" cy="822960"/>
          </a:xfrm>
          <a:prstGeom prst="roundRect">
            <a:avLst>
              <a:gd name="adj" fmla="val 12000"/>
            </a:avLst>
          </a:prstGeom>
          <a:solidFill>
            <a:srgbClr val="0B2545"/>
          </a:solidFill>
          <a:ln>
            <a:noFill/>
          </a:ln>
        </p:spPr>
        <p:txBody>
          <a:bodyPr wrap="square" lIns="45720" tIns="45720" rIns="45720" bIns="45720" anchor="ctr" rtlCol="0">
            <a:noAutofit/>
          </a:bodyPr>
          <a:lstStyle/>
          <a:p>
            <a:pPr algn="ctr">
              <a:lnSpc>
                <a:spcPct val="100000"/>
              </a:lnSpc>
              <a:spcBef>
                <a:spcPts val="0"/>
              </a:spcBef>
              <a:spcAft>
                <a:spcPts val="0"/>
              </a:spcAft>
              <a:buNone/>
            </a:pPr>
            <a:r>
              <a:rPr lang="en-US" sz="1400" dirty="0" b="1">
                <a:solidFill>
                  <a:srgbClr val="FFFFFF"/>
                </a:solidFill>
              </a:rPr>
              <a:t>ACCOUNTADMIN</a:t>
            </a:r>
            <a:endParaRPr lang="en-US" sz="1400" dirty="0"/>
          </a:p>
          <a:p>
            <a:pPr algn="ctr">
              <a:lnSpc>
                <a:spcPct val="100000"/>
              </a:lnSpc>
              <a:spcBef>
                <a:spcPts val="100"/>
              </a:spcBef>
              <a:spcAft>
                <a:spcPts val="0"/>
              </a:spcAft>
              <a:buNone/>
            </a:pPr>
            <a:r>
              <a:rPr lang="en-US" sz="1050" dirty="0">
                <a:solidFill>
                  <a:srgbClr val="E0F2FE"/>
                </a:solidFill>
              </a:rPr>
              <a:t>top-level · use sparingly</a:t>
            </a:r>
            <a:endParaRPr lang="en-US" sz="1050" dirty="0"/>
          </a:p>
        </p:txBody>
      </p:sp>
      <p:sp>
        <p:nvSpPr>
          <p:cNvPr id="10" name="Shape 10"/>
          <p:cNvSpPr/>
          <p:nvPr/>
        </p:nvSpPr>
        <p:spPr>
          <a:xfrm>
            <a:off x="548640" y="2514600"/>
            <a:ext cx="2377440" cy="822960"/>
          </a:xfrm>
          <a:prstGeom prst="roundRect">
            <a:avLst>
              <a:gd name="adj" fmla="val 12000"/>
            </a:avLst>
          </a:prstGeom>
          <a:solidFill>
            <a:srgbClr val="11567F"/>
          </a:solidFill>
          <a:ln>
            <a:noFill/>
          </a:ln>
        </p:spPr>
        <p:txBody>
          <a:bodyPr wrap="square" lIns="45720" tIns="45720" rIns="45720" bIns="45720" anchor="ctr" rtlCol="0">
            <a:noAutofit/>
          </a:bodyPr>
          <a:lstStyle/>
          <a:p>
            <a:pPr algn="ctr">
              <a:lnSpc>
                <a:spcPct val="100000"/>
              </a:lnSpc>
              <a:spcBef>
                <a:spcPts val="0"/>
              </a:spcBef>
              <a:spcAft>
                <a:spcPts val="0"/>
              </a:spcAft>
              <a:buNone/>
            </a:pPr>
            <a:r>
              <a:rPr lang="en-US" sz="1400" dirty="0" b="1">
                <a:solidFill>
                  <a:srgbClr val="FFFFFF"/>
                </a:solidFill>
              </a:rPr>
              <a:t>SECURITYADMIN</a:t>
            </a:r>
            <a:endParaRPr lang="en-US" sz="1400" dirty="0"/>
          </a:p>
          <a:p>
            <a:pPr algn="ctr">
              <a:lnSpc>
                <a:spcPct val="100000"/>
              </a:lnSpc>
              <a:spcBef>
                <a:spcPts val="100"/>
              </a:spcBef>
              <a:spcAft>
                <a:spcPts val="0"/>
              </a:spcAft>
              <a:buNone/>
            </a:pPr>
            <a:r>
              <a:rPr lang="en-US" sz="1050" dirty="0">
                <a:solidFill>
                  <a:srgbClr val="E0F2FE"/>
                </a:solidFill>
              </a:rPr>
              <a:t>manages grants</a:t>
            </a:r>
            <a:endParaRPr lang="en-US" sz="1050" dirty="0"/>
          </a:p>
        </p:txBody>
      </p:sp>
      <p:sp>
        <p:nvSpPr>
          <p:cNvPr id="11" name="Shape 11"/>
          <p:cNvSpPr/>
          <p:nvPr/>
        </p:nvSpPr>
        <p:spPr>
          <a:xfrm>
            <a:off x="3657600" y="2514600"/>
            <a:ext cx="2377440" cy="822960"/>
          </a:xfrm>
          <a:prstGeom prst="roundRect">
            <a:avLst>
              <a:gd name="adj" fmla="val 12000"/>
            </a:avLst>
          </a:prstGeom>
          <a:solidFill>
            <a:srgbClr val="11567F"/>
          </a:solidFill>
          <a:ln>
            <a:noFill/>
          </a:ln>
        </p:spPr>
        <p:txBody>
          <a:bodyPr wrap="square" lIns="45720" tIns="45720" rIns="45720" bIns="45720" anchor="ctr" rtlCol="0">
            <a:noAutofit/>
          </a:bodyPr>
          <a:lstStyle/>
          <a:p>
            <a:pPr algn="ctr">
              <a:lnSpc>
                <a:spcPct val="100000"/>
              </a:lnSpc>
              <a:spcBef>
                <a:spcPts val="0"/>
              </a:spcBef>
              <a:spcAft>
                <a:spcPts val="0"/>
              </a:spcAft>
              <a:buNone/>
            </a:pPr>
            <a:r>
              <a:rPr lang="en-US" sz="1400" dirty="0" b="1">
                <a:solidFill>
                  <a:srgbClr val="FFFFFF"/>
                </a:solidFill>
              </a:rPr>
              <a:t>SYSADMIN</a:t>
            </a:r>
            <a:endParaRPr lang="en-US" sz="1400" dirty="0"/>
          </a:p>
          <a:p>
            <a:pPr algn="ctr">
              <a:lnSpc>
                <a:spcPct val="100000"/>
              </a:lnSpc>
              <a:spcBef>
                <a:spcPts val="100"/>
              </a:spcBef>
              <a:spcAft>
                <a:spcPts val="0"/>
              </a:spcAft>
              <a:buNone/>
            </a:pPr>
            <a:r>
              <a:rPr lang="en-US" sz="1050" dirty="0">
                <a:solidFill>
                  <a:srgbClr val="E0F2FE"/>
                </a:solidFill>
              </a:rPr>
              <a:t>creates objects</a:t>
            </a:r>
            <a:endParaRPr lang="en-US" sz="1050" dirty="0"/>
          </a:p>
        </p:txBody>
      </p:sp>
      <p:sp>
        <p:nvSpPr>
          <p:cNvPr id="12" name="Shape 12"/>
          <p:cNvSpPr/>
          <p:nvPr/>
        </p:nvSpPr>
        <p:spPr>
          <a:xfrm>
            <a:off x="548640" y="3749040"/>
            <a:ext cx="2377440" cy="822960"/>
          </a:xfrm>
          <a:prstGeom prst="roundRect">
            <a:avLst>
              <a:gd name="adj" fmla="val 12000"/>
            </a:avLst>
          </a:prstGeom>
          <a:solidFill>
            <a:srgbClr val="1B7FB5"/>
          </a:solidFill>
          <a:ln>
            <a:noFill/>
          </a:ln>
        </p:spPr>
        <p:txBody>
          <a:bodyPr wrap="square" lIns="45720" tIns="45720" rIns="45720" bIns="45720" anchor="ctr" rtlCol="0">
            <a:noAutofit/>
          </a:bodyPr>
          <a:lstStyle/>
          <a:p>
            <a:pPr algn="ctr">
              <a:lnSpc>
                <a:spcPct val="100000"/>
              </a:lnSpc>
              <a:spcBef>
                <a:spcPts val="0"/>
              </a:spcBef>
              <a:spcAft>
                <a:spcPts val="0"/>
              </a:spcAft>
              <a:buNone/>
            </a:pPr>
            <a:r>
              <a:rPr lang="en-US" sz="1400" dirty="0" b="1">
                <a:solidFill>
                  <a:srgbClr val="FFFFFF"/>
                </a:solidFill>
              </a:rPr>
              <a:t>USERADMIN</a:t>
            </a:r>
            <a:endParaRPr lang="en-US" sz="1400" dirty="0"/>
          </a:p>
          <a:p>
            <a:pPr algn="ctr">
              <a:lnSpc>
                <a:spcPct val="100000"/>
              </a:lnSpc>
              <a:spcBef>
                <a:spcPts val="100"/>
              </a:spcBef>
              <a:spcAft>
                <a:spcPts val="0"/>
              </a:spcAft>
              <a:buNone/>
            </a:pPr>
            <a:r>
              <a:rPr lang="en-US" sz="1050" dirty="0">
                <a:solidFill>
                  <a:srgbClr val="E0F2FE"/>
                </a:solidFill>
              </a:rPr>
              <a:t>creates users &amp; roles</a:t>
            </a:r>
            <a:endParaRPr lang="en-US" sz="1050" dirty="0"/>
          </a:p>
        </p:txBody>
      </p:sp>
      <p:sp>
        <p:nvSpPr>
          <p:cNvPr id="13" name="Shape 13"/>
          <p:cNvSpPr/>
          <p:nvPr/>
        </p:nvSpPr>
        <p:spPr>
          <a:xfrm>
            <a:off x="3657600" y="3749040"/>
            <a:ext cx="2377440" cy="822960"/>
          </a:xfrm>
          <a:prstGeom prst="roundRect">
            <a:avLst>
              <a:gd name="adj" fmla="val 12000"/>
            </a:avLst>
          </a:prstGeom>
          <a:solidFill>
            <a:srgbClr val="2E9E6A"/>
          </a:solidFill>
          <a:ln>
            <a:noFill/>
          </a:ln>
        </p:spPr>
        <p:txBody>
          <a:bodyPr wrap="square" lIns="45720" tIns="45720" rIns="45720" bIns="45720" anchor="ctr" rtlCol="0">
            <a:noAutofit/>
          </a:bodyPr>
          <a:lstStyle/>
          <a:p>
            <a:pPr algn="ctr">
              <a:lnSpc>
                <a:spcPct val="100000"/>
              </a:lnSpc>
              <a:spcBef>
                <a:spcPts val="0"/>
              </a:spcBef>
              <a:spcAft>
                <a:spcPts val="0"/>
              </a:spcAft>
              <a:buNone/>
            </a:pPr>
            <a:r>
              <a:rPr lang="en-US" sz="1400" dirty="0" b="1">
                <a:solidFill>
                  <a:srgbClr val="FFFFFF"/>
                </a:solidFill>
              </a:rPr>
              <a:t>Custom roles</a:t>
            </a:r>
            <a:endParaRPr lang="en-US" sz="1400" dirty="0"/>
          </a:p>
          <a:p>
            <a:pPr algn="ctr">
              <a:lnSpc>
                <a:spcPct val="100000"/>
              </a:lnSpc>
              <a:spcBef>
                <a:spcPts val="100"/>
              </a:spcBef>
              <a:spcAft>
                <a:spcPts val="0"/>
              </a:spcAft>
              <a:buNone/>
            </a:pPr>
            <a:r>
              <a:rPr lang="en-US" sz="1050" dirty="0">
                <a:solidFill>
                  <a:srgbClr val="E0F2FE"/>
                </a:solidFill>
              </a:rPr>
              <a:t>e.g. ANALYST, ETL_ROLE</a:t>
            </a:r>
            <a:endParaRPr lang="en-US" sz="1050" dirty="0"/>
          </a:p>
        </p:txBody>
      </p:sp>
      <p:sp>
        <p:nvSpPr>
          <p:cNvPr id="14" name="Shape 14"/>
          <p:cNvSpPr/>
          <p:nvPr/>
        </p:nvSpPr>
        <p:spPr>
          <a:xfrm>
            <a:off x="2103120" y="4983480"/>
            <a:ext cx="2377440" cy="822960"/>
          </a:xfrm>
          <a:prstGeom prst="roundRect">
            <a:avLst>
              <a:gd name="adj" fmla="val 12000"/>
            </a:avLst>
          </a:prstGeom>
          <a:solidFill>
            <a:srgbClr val="6B8EAD"/>
          </a:solidFill>
          <a:ln>
            <a:noFill/>
          </a:ln>
        </p:spPr>
        <p:txBody>
          <a:bodyPr wrap="square" lIns="45720" tIns="45720" rIns="45720" bIns="45720" anchor="ctr" rtlCol="0">
            <a:noAutofit/>
          </a:bodyPr>
          <a:lstStyle/>
          <a:p>
            <a:pPr algn="ctr">
              <a:lnSpc>
                <a:spcPct val="100000"/>
              </a:lnSpc>
              <a:spcBef>
                <a:spcPts val="0"/>
              </a:spcBef>
              <a:spcAft>
                <a:spcPts val="0"/>
              </a:spcAft>
              <a:buNone/>
            </a:pPr>
            <a:r>
              <a:rPr lang="en-US" sz="1400" dirty="0" b="1">
                <a:solidFill>
                  <a:srgbClr val="FFFFFF"/>
                </a:solidFill>
              </a:rPr>
              <a:t>PUBLIC</a:t>
            </a:r>
            <a:endParaRPr lang="en-US" sz="1400" dirty="0"/>
          </a:p>
          <a:p>
            <a:pPr algn="ctr">
              <a:lnSpc>
                <a:spcPct val="100000"/>
              </a:lnSpc>
              <a:spcBef>
                <a:spcPts val="100"/>
              </a:spcBef>
              <a:spcAft>
                <a:spcPts val="0"/>
              </a:spcAft>
              <a:buNone/>
            </a:pPr>
            <a:r>
              <a:rPr lang="en-US" sz="1050" dirty="0">
                <a:solidFill>
                  <a:srgbClr val="E0F2FE"/>
                </a:solidFill>
              </a:rPr>
              <a:t>granted to every user</a:t>
            </a:r>
            <a:endParaRPr lang="en-US" sz="1050" dirty="0"/>
          </a:p>
        </p:txBody>
      </p:sp>
      <p:sp>
        <p:nvSpPr>
          <p:cNvPr id="15" name="Shape 15"/>
          <p:cNvSpPr/>
          <p:nvPr/>
        </p:nvSpPr>
        <p:spPr>
          <a:xfrm>
            <a:off x="1600200" y="2148840"/>
            <a:ext cx="274320" cy="320040"/>
          </a:xfrm>
          <a:prstGeom prst="downArrow">
            <a:avLst/>
          </a:prstGeom>
          <a:solidFill>
            <a:srgbClr val="29B5E8"/>
          </a:solidFill>
          <a:ln>
            <a:noFill/>
          </a:ln>
        </p:spPr>
        <p:txBody>
          <a:bodyPr wrap="square" lIns="91440" tIns="91440" rIns="91440" bIns="91440" anchor="t" rtlCol="0">
            <a:noAutofit/>
          </a:bodyPr>
          <a:lstStyle/>
          <a:p>
            <a:endParaRPr lang="en-US" dirty="0"/>
          </a:p>
        </p:txBody>
      </p:sp>
      <p:sp>
        <p:nvSpPr>
          <p:cNvPr id="16" name="Shape 16"/>
          <p:cNvSpPr/>
          <p:nvPr/>
        </p:nvSpPr>
        <p:spPr>
          <a:xfrm>
            <a:off x="4709160" y="2148840"/>
            <a:ext cx="274320" cy="320040"/>
          </a:xfrm>
          <a:prstGeom prst="downArrow">
            <a:avLst/>
          </a:prstGeom>
          <a:solidFill>
            <a:srgbClr val="29B5E8"/>
          </a:solidFill>
          <a:ln>
            <a:noFill/>
          </a:ln>
        </p:spPr>
        <p:txBody>
          <a:bodyPr wrap="square" lIns="91440" tIns="91440" rIns="91440" bIns="91440" anchor="t" rtlCol="0">
            <a:noAutofit/>
          </a:bodyPr>
          <a:lstStyle/>
          <a:p>
            <a:endParaRPr lang="en-US" dirty="0"/>
          </a:p>
        </p:txBody>
      </p:sp>
      <p:sp>
        <p:nvSpPr>
          <p:cNvPr id="17" name="Shape 17"/>
          <p:cNvSpPr/>
          <p:nvPr/>
        </p:nvSpPr>
        <p:spPr>
          <a:xfrm>
            <a:off x="1600200" y="3383280"/>
            <a:ext cx="274320" cy="320040"/>
          </a:xfrm>
          <a:prstGeom prst="downArrow">
            <a:avLst/>
          </a:prstGeom>
          <a:solidFill>
            <a:srgbClr val="29B5E8"/>
          </a:solidFill>
          <a:ln>
            <a:noFill/>
          </a:ln>
        </p:spPr>
        <p:txBody>
          <a:bodyPr wrap="square" lIns="91440" tIns="91440" rIns="91440" bIns="91440" anchor="t" rtlCol="0">
            <a:noAutofit/>
          </a:bodyPr>
          <a:lstStyle/>
          <a:p>
            <a:endParaRPr lang="en-US" dirty="0"/>
          </a:p>
        </p:txBody>
      </p:sp>
      <p:sp>
        <p:nvSpPr>
          <p:cNvPr id="18" name="Shape 18"/>
          <p:cNvSpPr/>
          <p:nvPr/>
        </p:nvSpPr>
        <p:spPr>
          <a:xfrm>
            <a:off x="4709160" y="3383280"/>
            <a:ext cx="274320" cy="320040"/>
          </a:xfrm>
          <a:prstGeom prst="downArrow">
            <a:avLst/>
          </a:prstGeom>
          <a:solidFill>
            <a:srgbClr val="29B5E8"/>
          </a:solidFill>
          <a:ln>
            <a:noFill/>
          </a:ln>
        </p:spPr>
        <p:txBody>
          <a:bodyPr wrap="square" lIns="91440" tIns="91440" rIns="91440" bIns="91440" anchor="t" rtlCol="0">
            <a:noAutofit/>
          </a:bodyPr>
          <a:lstStyle/>
          <a:p>
            <a:endParaRPr lang="en-US" dirty="0"/>
          </a:p>
        </p:txBody>
      </p:sp>
      <p:sp>
        <p:nvSpPr>
          <p:cNvPr id="19" name="Shape 19"/>
          <p:cNvSpPr/>
          <p:nvPr/>
        </p:nvSpPr>
        <p:spPr>
          <a:xfrm>
            <a:off x="3154680" y="4617720"/>
            <a:ext cx="274320" cy="320040"/>
          </a:xfrm>
          <a:prstGeom prst="downArrow">
            <a:avLst/>
          </a:prstGeom>
          <a:solidFill>
            <a:srgbClr val="29B5E8"/>
          </a:solidFill>
          <a:ln>
            <a:noFill/>
          </a:ln>
        </p:spPr>
        <p:txBody>
          <a:bodyPr wrap="square" lIns="91440" tIns="91440" rIns="91440" bIns="91440" anchor="t" rtlCol="0">
            <a:noAutofit/>
          </a:bodyPr>
          <a:lstStyle/>
          <a:p>
            <a:endParaRPr lang="en-US" dirty="0"/>
          </a:p>
        </p:txBody>
      </p:sp>
      <p:sp>
        <p:nvSpPr>
          <p:cNvPr id="20" name="Shape 20"/>
          <p:cNvSpPr/>
          <p:nvPr/>
        </p:nvSpPr>
        <p:spPr>
          <a:xfrm>
            <a:off x="548640" y="5897880"/>
            <a:ext cx="5669280" cy="36576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100" dirty="0">
                <a:solidFill>
                  <a:srgbClr val="6B7280"/>
                </a:solidFill>
              </a:rPr>
              <a:t>Arrows point from parent to child; a parent inherits all of its children's privileges.</a:t>
            </a:r>
            <a:endParaRPr lang="en-US" sz="1100" dirty="0"/>
          </a:p>
        </p:txBody>
      </p:sp>
      <p:sp>
        <p:nvSpPr>
          <p:cNvPr id="21" name="Shape 21"/>
          <p:cNvSpPr/>
          <p:nvPr/>
        </p:nvSpPr>
        <p:spPr>
          <a:xfrm>
            <a:off x="6583680" y="1280160"/>
            <a:ext cx="5120640" cy="3017520"/>
          </a:xfrm>
          <a:prstGeom prst="rect">
            <a:avLst/>
          </a:prstGeom>
          <a:noFill/>
          <a:ln>
            <a:noFill/>
          </a:ln>
        </p:spPr>
        <p:txBody>
          <a:bodyPr wrap="square" lIns="45720" tIns="45720" rIns="45720" bIns="45720" anchor="t" rtlCol="0">
            <a:noAutofit/>
          </a:bodyPr>
          <a:lstStyle/>
          <a:p>
            <a:pPr algn="l" marL="285750" indent="-285750">
              <a:lnSpc>
                <a:spcPct val="100000"/>
              </a:lnSpc>
              <a:spcBef>
                <a:spcPts val="700"/>
              </a:spcBef>
              <a:spcAft>
                <a:spcPts val="0"/>
              </a:spcAft>
              <a:buClr>
                <a:srgbClr val="29B5E8"/>
              </a:buClr>
              <a:buFont typeface="Arial"/>
              <a:buChar char="•"/>
            </a:pPr>
            <a:r>
              <a:rPr lang="en-US" sz="1400" dirty="0">
                <a:solidFill>
                  <a:srgbClr val="1F2937"/>
                </a:solidFill>
              </a:rPr>
              <a:t>Privileges are granted to </a:t>
            </a:r>
            <a:r>
              <a:rPr lang="en-US" sz="1400" dirty="0" b="1">
                <a:solidFill>
                  <a:srgbClr val="1F2937"/>
                </a:solidFill>
              </a:rPr>
              <a:t>roles</a:t>
            </a:r>
            <a:r>
              <a:rPr lang="en-US" sz="1400" dirty="0">
                <a:solidFill>
                  <a:srgbClr val="1F2937"/>
                </a:solidFill>
              </a:rPr>
              <a:t>, never directly to users</a:t>
            </a:r>
            <a:endParaRPr lang="en-US" sz="1400" dirty="0"/>
          </a:p>
          <a:p>
            <a:pPr algn="l" marL="285750" indent="-285750">
              <a:lnSpc>
                <a:spcPct val="100000"/>
              </a:lnSpc>
              <a:spcBef>
                <a:spcPts val="700"/>
              </a:spcBef>
              <a:spcAft>
                <a:spcPts val="0"/>
              </a:spcAft>
              <a:buClr>
                <a:srgbClr val="29B5E8"/>
              </a:buClr>
              <a:buFont typeface="Arial"/>
              <a:buChar char="•"/>
            </a:pPr>
            <a:r>
              <a:rPr lang="en-US" sz="1400" dirty="0">
                <a:solidFill>
                  <a:srgbClr val="1F2937"/>
                </a:solidFill>
              </a:rPr>
              <a:t>Users switch roles with </a:t>
            </a:r>
            <a:r>
              <a:rPr lang="en-US" sz="1330" dirty="0" b="1">
                <a:solidFill>
                  <a:srgbClr val="11567F"/>
                </a:solidFill>
                <a:latin typeface="Courier New"/>
                <a:cs typeface="Courier New"/>
              </a:rPr>
              <a:t>USE ROLE &lt;name&gt;</a:t>
            </a:r>
            <a:endParaRPr lang="en-US" sz="1400" dirty="0"/>
          </a:p>
          <a:p>
            <a:pPr algn="l" marL="285750" indent="-285750">
              <a:lnSpc>
                <a:spcPct val="100000"/>
              </a:lnSpc>
              <a:spcBef>
                <a:spcPts val="700"/>
              </a:spcBef>
              <a:spcAft>
                <a:spcPts val="0"/>
              </a:spcAft>
              <a:buClr>
                <a:srgbClr val="29B5E8"/>
              </a:buClr>
              <a:buFont typeface="Arial"/>
              <a:buChar char="•"/>
            </a:pPr>
            <a:r>
              <a:rPr lang="en-US" sz="1400" dirty="0">
                <a:solidFill>
                  <a:srgbClr val="1F2937"/>
                </a:solidFill>
              </a:rPr>
              <a:t>Higher roles </a:t>
            </a:r>
            <a:r>
              <a:rPr lang="en-US" sz="1400" dirty="0" b="1">
                <a:solidFill>
                  <a:srgbClr val="1F2937"/>
                </a:solidFill>
              </a:rPr>
              <a:t>inherit</a:t>
            </a:r>
            <a:r>
              <a:rPr lang="en-US" sz="1400" dirty="0">
                <a:solidFill>
                  <a:srgbClr val="1F2937"/>
                </a:solidFill>
              </a:rPr>
              <a:t> everything below them</a:t>
            </a:r>
            <a:endParaRPr lang="en-US" sz="1400" dirty="0"/>
          </a:p>
          <a:p>
            <a:pPr algn="l" marL="285750" indent="-285750">
              <a:lnSpc>
                <a:spcPct val="100000"/>
              </a:lnSpc>
              <a:spcBef>
                <a:spcPts val="700"/>
              </a:spcBef>
              <a:spcAft>
                <a:spcPts val="0"/>
              </a:spcAft>
              <a:buClr>
                <a:srgbClr val="29B5E8"/>
              </a:buClr>
              <a:buFont typeface="Arial"/>
              <a:buChar char="•"/>
            </a:pPr>
            <a:r>
              <a:rPr lang="en-US" sz="1400" dirty="0">
                <a:solidFill>
                  <a:srgbClr val="1F2937"/>
                </a:solidFill>
              </a:rPr>
              <a:t>Do daily work as </a:t>
            </a:r>
            <a:r>
              <a:rPr lang="en-US" sz="1400" dirty="0" b="1">
                <a:solidFill>
                  <a:srgbClr val="1F2937"/>
                </a:solidFill>
              </a:rPr>
              <a:t>SYSADMIN</a:t>
            </a:r>
            <a:r>
              <a:rPr lang="en-US" sz="1400" dirty="0">
                <a:solidFill>
                  <a:srgbClr val="1F2937"/>
                </a:solidFill>
              </a:rPr>
              <a:t> or a custom role</a:t>
            </a:r>
            <a:endParaRPr lang="en-US" sz="1400" dirty="0"/>
          </a:p>
          <a:p>
            <a:pPr algn="l" marL="285750" indent="-285750">
              <a:lnSpc>
                <a:spcPct val="100000"/>
              </a:lnSpc>
              <a:spcBef>
                <a:spcPts val="700"/>
              </a:spcBef>
              <a:spcAft>
                <a:spcPts val="0"/>
              </a:spcAft>
              <a:buClr>
                <a:srgbClr val="29B5E8"/>
              </a:buClr>
              <a:buFont typeface="Arial"/>
              <a:buChar char="•"/>
            </a:pPr>
            <a:r>
              <a:rPr lang="en-US" sz="1400" dirty="0">
                <a:solidFill>
                  <a:srgbClr val="1F2937"/>
                </a:solidFill>
              </a:rPr>
              <a:t>Grant custom roles </a:t>
            </a:r>
            <a:r>
              <a:rPr lang="en-US" sz="1400" dirty="0" b="1">
                <a:solidFill>
                  <a:srgbClr val="1F2937"/>
                </a:solidFill>
              </a:rPr>
              <a:t>to SYSADMIN</a:t>
            </a:r>
            <a:r>
              <a:rPr lang="en-US" sz="1400" dirty="0">
                <a:solidFill>
                  <a:srgbClr val="1F2937"/>
                </a:solidFill>
              </a:rPr>
              <a:t> to keep the hierarchy intact</a:t>
            </a:r>
            <a:endParaRPr lang="en-US" sz="1400" dirty="0"/>
          </a:p>
          <a:p>
            <a:pPr algn="l" marL="285750" indent="-285750">
              <a:lnSpc>
                <a:spcPct val="100000"/>
              </a:lnSpc>
              <a:spcBef>
                <a:spcPts val="700"/>
              </a:spcBef>
              <a:spcAft>
                <a:spcPts val="0"/>
              </a:spcAft>
              <a:buClr>
                <a:srgbClr val="29B5E8"/>
              </a:buClr>
              <a:buFont typeface="Arial"/>
              <a:buChar char="•"/>
            </a:pPr>
            <a:r>
              <a:rPr lang="en-US" sz="1400" dirty="0">
                <a:solidFill>
                  <a:srgbClr val="1F2937"/>
                </a:solidFill>
              </a:rPr>
              <a:t>To read a table a role needs </a:t>
            </a:r>
            <a:r>
              <a:rPr lang="en-US" sz="1400" dirty="0" b="1">
                <a:solidFill>
                  <a:srgbClr val="1F2937"/>
                </a:solidFill>
              </a:rPr>
              <a:t>USAGE</a:t>
            </a:r>
            <a:r>
              <a:rPr lang="en-US" sz="1400" dirty="0">
                <a:solidFill>
                  <a:srgbClr val="1F2937"/>
                </a:solidFill>
              </a:rPr>
              <a:t> on the warehouse, database and schema, plus </a:t>
            </a:r>
            <a:r>
              <a:rPr lang="en-US" sz="1400" dirty="0" b="1">
                <a:solidFill>
                  <a:srgbClr val="1F2937"/>
                </a:solidFill>
              </a:rPr>
              <a:t>SELECT</a:t>
            </a:r>
            <a:r>
              <a:rPr lang="en-US" sz="1400" dirty="0">
                <a:solidFill>
                  <a:srgbClr val="1F2937"/>
                </a:solidFill>
              </a:rPr>
              <a:t> on the table</a:t>
            </a:r>
            <a:endParaRPr lang="en-US" sz="1400" dirty="0"/>
          </a:p>
        </p:txBody>
      </p:sp>
      <p:sp>
        <p:nvSpPr>
          <p:cNvPr id="22" name="Shape 22"/>
          <p:cNvSpPr/>
          <p:nvPr/>
        </p:nvSpPr>
        <p:spPr>
          <a:xfrm>
            <a:off x="6583680" y="4846320"/>
            <a:ext cx="5074920" cy="1097280"/>
          </a:xfrm>
          <a:prstGeom prst="roundRect">
            <a:avLst>
              <a:gd name="adj" fmla="val 10000"/>
            </a:avLst>
          </a:prstGeom>
          <a:solidFill>
            <a:srgbClr val="FFF7E6"/>
          </a:solidFill>
          <a:ln w="15875">
            <a:solidFill>
              <a:srgbClr val="F59E0B"/>
            </a:solidFill>
          </a:ln>
        </p:spPr>
        <p:txBody>
          <a:bodyPr wrap="square" lIns="91440" tIns="91440" rIns="91440" bIns="91440" anchor="t" rtlCol="0">
            <a:noAutofit/>
          </a:bodyPr>
          <a:lstStyle/>
          <a:p>
            <a:endParaRPr lang="en-US" dirty="0"/>
          </a:p>
        </p:txBody>
      </p:sp>
      <p:sp>
        <p:nvSpPr>
          <p:cNvPr id="23" name="Shape 23"/>
          <p:cNvSpPr/>
          <p:nvPr/>
        </p:nvSpPr>
        <p:spPr>
          <a:xfrm>
            <a:off x="6693408" y="4892040"/>
            <a:ext cx="4855464" cy="100584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00" dirty="0" b="1">
                <a:solidFill>
                  <a:srgbClr val="F59E0B"/>
                </a:solidFill>
              </a:rPr>
              <a:t>DEBUG  </a:t>
            </a:r>
            <a:r>
              <a:rPr lang="en-US" sz="1200" dirty="0">
                <a:solidFill>
                  <a:srgbClr val="1F2937"/>
                </a:solidFill>
              </a:rPr>
              <a:t>Error "Object does not exist </a:t>
            </a:r>
            <a:r>
              <a:rPr lang="en-US" sz="1200" dirty="0" b="1">
                <a:solidFill>
                  <a:srgbClr val="1F2937"/>
                </a:solidFill>
              </a:rPr>
              <a:t>or not authorized</a:t>
            </a:r>
            <a:r>
              <a:rPr lang="en-US" sz="1200" dirty="0">
                <a:solidFill>
                  <a:srgbClr val="1F2937"/>
                </a:solidFill>
              </a:rPr>
              <a:t>" usually means your current role lacks a privilege. Try </a:t>
            </a:r>
            <a:r>
              <a:rPr lang="en-US" sz="1139" dirty="0" b="1">
                <a:solidFill>
                  <a:srgbClr val="11567F"/>
                </a:solidFill>
                <a:latin typeface="Courier New"/>
                <a:cs typeface="Courier New"/>
              </a:rPr>
              <a:t>SHOW GRANTS TO ROLE &lt;role&gt;</a:t>
            </a:r>
            <a:r>
              <a:rPr lang="en-US" sz="1200" dirty="0">
                <a:solidFill>
                  <a:srgbClr val="1F2937"/>
                </a:solidFill>
              </a:rPr>
              <a: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Virtual Warehouses (Compute)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Size, billing, suspend/resume, and scaling</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13 / 26</a:t>
            </a:r>
            <a:endParaRPr lang="en-US" sz="1000" dirty="0"/>
          </a:p>
        </p:txBody>
      </p:sp>
      <p:sp>
        <p:nvSpPr>
          <p:cNvPr id="9" name="Shape 9"/>
          <p:cNvSpPr/>
          <p:nvPr/>
        </p:nvSpPr>
        <p:spPr>
          <a:xfrm>
            <a:off x="548640" y="1325880"/>
            <a:ext cx="1737360" cy="429768"/>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b="1">
                <a:solidFill>
                  <a:srgbClr val="FFFFFF"/>
                </a:solidFill>
              </a:rPr>
              <a:t>Size</a:t>
            </a:r>
            <a:endParaRPr lang="en-US" sz="1300" dirty="0"/>
          </a:p>
        </p:txBody>
      </p:sp>
      <p:sp>
        <p:nvSpPr>
          <p:cNvPr id="10" name="Shape 10"/>
          <p:cNvSpPr/>
          <p:nvPr/>
        </p:nvSpPr>
        <p:spPr>
          <a:xfrm>
            <a:off x="2286000" y="1325880"/>
            <a:ext cx="1737360" cy="429768"/>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b="1">
                <a:solidFill>
                  <a:srgbClr val="FFFFFF"/>
                </a:solidFill>
              </a:rPr>
              <a:t>Credits / hour</a:t>
            </a:r>
            <a:endParaRPr lang="en-US" sz="1300" dirty="0"/>
          </a:p>
        </p:txBody>
      </p:sp>
      <p:sp>
        <p:nvSpPr>
          <p:cNvPr id="11" name="Shape 11"/>
          <p:cNvSpPr/>
          <p:nvPr/>
        </p:nvSpPr>
        <p:spPr>
          <a:xfrm>
            <a:off x="548640" y="1755648"/>
            <a:ext cx="173736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b="1">
                <a:solidFill>
                  <a:srgbClr val="1F2937"/>
                </a:solidFill>
              </a:rPr>
              <a:t>X-Small</a:t>
            </a:r>
            <a:endParaRPr lang="en-US" sz="1300" dirty="0"/>
          </a:p>
        </p:txBody>
      </p:sp>
      <p:sp>
        <p:nvSpPr>
          <p:cNvPr id="12" name="Shape 12"/>
          <p:cNvSpPr/>
          <p:nvPr/>
        </p:nvSpPr>
        <p:spPr>
          <a:xfrm>
            <a:off x="2286000" y="1755648"/>
            <a:ext cx="173736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a:solidFill>
                  <a:srgbClr val="1F2937"/>
                </a:solidFill>
              </a:rPr>
              <a:t>1</a:t>
            </a:r>
            <a:endParaRPr lang="en-US" sz="1300" dirty="0"/>
          </a:p>
        </p:txBody>
      </p:sp>
      <p:sp>
        <p:nvSpPr>
          <p:cNvPr id="13" name="Shape 13"/>
          <p:cNvSpPr/>
          <p:nvPr/>
        </p:nvSpPr>
        <p:spPr>
          <a:xfrm>
            <a:off x="548640" y="2185416"/>
            <a:ext cx="1737360" cy="42976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b="1">
                <a:solidFill>
                  <a:srgbClr val="1F2937"/>
                </a:solidFill>
              </a:rPr>
              <a:t>Small</a:t>
            </a:r>
            <a:endParaRPr lang="en-US" sz="1300" dirty="0"/>
          </a:p>
        </p:txBody>
      </p:sp>
      <p:sp>
        <p:nvSpPr>
          <p:cNvPr id="14" name="Shape 14"/>
          <p:cNvSpPr/>
          <p:nvPr/>
        </p:nvSpPr>
        <p:spPr>
          <a:xfrm>
            <a:off x="2286000" y="2185416"/>
            <a:ext cx="1737360" cy="42976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a:solidFill>
                  <a:srgbClr val="1F2937"/>
                </a:solidFill>
              </a:rPr>
              <a:t>2</a:t>
            </a:r>
            <a:endParaRPr lang="en-US" sz="1300" dirty="0"/>
          </a:p>
        </p:txBody>
      </p:sp>
      <p:sp>
        <p:nvSpPr>
          <p:cNvPr id="15" name="Shape 15"/>
          <p:cNvSpPr/>
          <p:nvPr/>
        </p:nvSpPr>
        <p:spPr>
          <a:xfrm>
            <a:off x="548640" y="2615184"/>
            <a:ext cx="173736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b="1">
                <a:solidFill>
                  <a:srgbClr val="1F2937"/>
                </a:solidFill>
              </a:rPr>
              <a:t>Medium</a:t>
            </a:r>
            <a:endParaRPr lang="en-US" sz="1300" dirty="0"/>
          </a:p>
        </p:txBody>
      </p:sp>
      <p:sp>
        <p:nvSpPr>
          <p:cNvPr id="16" name="Shape 16"/>
          <p:cNvSpPr/>
          <p:nvPr/>
        </p:nvSpPr>
        <p:spPr>
          <a:xfrm>
            <a:off x="2286000" y="2615184"/>
            <a:ext cx="173736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a:solidFill>
                  <a:srgbClr val="1F2937"/>
                </a:solidFill>
              </a:rPr>
              <a:t>4</a:t>
            </a:r>
            <a:endParaRPr lang="en-US" sz="1300" dirty="0"/>
          </a:p>
        </p:txBody>
      </p:sp>
      <p:sp>
        <p:nvSpPr>
          <p:cNvPr id="17" name="Shape 17"/>
          <p:cNvSpPr/>
          <p:nvPr/>
        </p:nvSpPr>
        <p:spPr>
          <a:xfrm>
            <a:off x="548640" y="3044952"/>
            <a:ext cx="1737360" cy="42976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b="1">
                <a:solidFill>
                  <a:srgbClr val="1F2937"/>
                </a:solidFill>
              </a:rPr>
              <a:t>Large</a:t>
            </a:r>
            <a:endParaRPr lang="en-US" sz="1300" dirty="0"/>
          </a:p>
        </p:txBody>
      </p:sp>
      <p:sp>
        <p:nvSpPr>
          <p:cNvPr id="18" name="Shape 18"/>
          <p:cNvSpPr/>
          <p:nvPr/>
        </p:nvSpPr>
        <p:spPr>
          <a:xfrm>
            <a:off x="2286000" y="3044952"/>
            <a:ext cx="1737360" cy="42976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a:solidFill>
                  <a:srgbClr val="1F2937"/>
                </a:solidFill>
              </a:rPr>
              <a:t>8</a:t>
            </a:r>
            <a:endParaRPr lang="en-US" sz="1300" dirty="0"/>
          </a:p>
        </p:txBody>
      </p:sp>
      <p:sp>
        <p:nvSpPr>
          <p:cNvPr id="19" name="Shape 19"/>
          <p:cNvSpPr/>
          <p:nvPr/>
        </p:nvSpPr>
        <p:spPr>
          <a:xfrm>
            <a:off x="548640" y="3474720"/>
            <a:ext cx="173736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b="1">
                <a:solidFill>
                  <a:srgbClr val="1F2937"/>
                </a:solidFill>
              </a:rPr>
              <a:t>X-Large</a:t>
            </a:r>
            <a:endParaRPr lang="en-US" sz="1300" dirty="0"/>
          </a:p>
        </p:txBody>
      </p:sp>
      <p:sp>
        <p:nvSpPr>
          <p:cNvPr id="20" name="Shape 20"/>
          <p:cNvSpPr/>
          <p:nvPr/>
        </p:nvSpPr>
        <p:spPr>
          <a:xfrm>
            <a:off x="2286000" y="3474720"/>
            <a:ext cx="173736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a:solidFill>
                  <a:srgbClr val="1F2937"/>
                </a:solidFill>
              </a:rPr>
              <a:t>16</a:t>
            </a:r>
            <a:endParaRPr lang="en-US" sz="1300" dirty="0"/>
          </a:p>
        </p:txBody>
      </p:sp>
      <p:sp>
        <p:nvSpPr>
          <p:cNvPr id="21" name="Shape 21"/>
          <p:cNvSpPr/>
          <p:nvPr/>
        </p:nvSpPr>
        <p:spPr>
          <a:xfrm>
            <a:off x="548640" y="3904488"/>
            <a:ext cx="1737360" cy="42976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b="1">
                <a:solidFill>
                  <a:srgbClr val="1F2937"/>
                </a:solidFill>
              </a:rPr>
              <a:t>2X-Large</a:t>
            </a:r>
            <a:endParaRPr lang="en-US" sz="1300" dirty="0"/>
          </a:p>
        </p:txBody>
      </p:sp>
      <p:sp>
        <p:nvSpPr>
          <p:cNvPr id="22" name="Shape 22"/>
          <p:cNvSpPr/>
          <p:nvPr/>
        </p:nvSpPr>
        <p:spPr>
          <a:xfrm>
            <a:off x="2286000" y="3904488"/>
            <a:ext cx="1737360" cy="42976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a:solidFill>
                  <a:srgbClr val="1F2937"/>
                </a:solidFill>
              </a:rPr>
              <a:t>32</a:t>
            </a:r>
            <a:endParaRPr lang="en-US" sz="1300" dirty="0"/>
          </a:p>
        </p:txBody>
      </p:sp>
      <p:sp>
        <p:nvSpPr>
          <p:cNvPr id="23" name="Shape 23"/>
          <p:cNvSpPr/>
          <p:nvPr/>
        </p:nvSpPr>
        <p:spPr>
          <a:xfrm>
            <a:off x="548640" y="4334256"/>
            <a:ext cx="173736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b="1">
                <a:solidFill>
                  <a:srgbClr val="1F2937"/>
                </a:solidFill>
              </a:rPr>
              <a:t>3X-Large</a:t>
            </a:r>
            <a:endParaRPr lang="en-US" sz="1300" dirty="0"/>
          </a:p>
        </p:txBody>
      </p:sp>
      <p:sp>
        <p:nvSpPr>
          <p:cNvPr id="24" name="Shape 24"/>
          <p:cNvSpPr/>
          <p:nvPr/>
        </p:nvSpPr>
        <p:spPr>
          <a:xfrm>
            <a:off x="2286000" y="4334256"/>
            <a:ext cx="173736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a:solidFill>
                  <a:srgbClr val="1F2937"/>
                </a:solidFill>
              </a:rPr>
              <a:t>64</a:t>
            </a:r>
            <a:endParaRPr lang="en-US" sz="1300" dirty="0"/>
          </a:p>
        </p:txBody>
      </p:sp>
      <p:sp>
        <p:nvSpPr>
          <p:cNvPr id="25" name="Shape 25"/>
          <p:cNvSpPr/>
          <p:nvPr/>
        </p:nvSpPr>
        <p:spPr>
          <a:xfrm>
            <a:off x="548640" y="4764024"/>
            <a:ext cx="1737360" cy="42976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b="1">
                <a:solidFill>
                  <a:srgbClr val="1F2937"/>
                </a:solidFill>
              </a:rPr>
              <a:t>4X-Large</a:t>
            </a:r>
            <a:endParaRPr lang="en-US" sz="1300" dirty="0"/>
          </a:p>
        </p:txBody>
      </p:sp>
      <p:sp>
        <p:nvSpPr>
          <p:cNvPr id="26" name="Shape 26"/>
          <p:cNvSpPr/>
          <p:nvPr/>
        </p:nvSpPr>
        <p:spPr>
          <a:xfrm>
            <a:off x="2286000" y="4764024"/>
            <a:ext cx="1737360" cy="42976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300" dirty="0">
                <a:solidFill>
                  <a:srgbClr val="1F2937"/>
                </a:solidFill>
              </a:rPr>
              <a:t>128</a:t>
            </a:r>
            <a:endParaRPr lang="en-US" sz="1300" dirty="0"/>
          </a:p>
        </p:txBody>
      </p:sp>
      <p:sp>
        <p:nvSpPr>
          <p:cNvPr id="27" name="Shape 27"/>
          <p:cNvSpPr/>
          <p:nvPr/>
        </p:nvSpPr>
        <p:spPr>
          <a:xfrm>
            <a:off x="548640" y="5257800"/>
            <a:ext cx="3474720" cy="91440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100" dirty="0">
                <a:solidFill>
                  <a:srgbClr val="6B7280"/>
                </a:solidFill>
              </a:rPr>
              <a:t>Larger 5X / 6X sizes exist in some regions. Each size step doubles compute and cost.</a:t>
            </a:r>
            <a:endParaRPr lang="en-US" sz="1100" dirty="0"/>
          </a:p>
        </p:txBody>
      </p:sp>
      <p:sp>
        <p:nvSpPr>
          <p:cNvPr id="28" name="Shape 28"/>
          <p:cNvSpPr/>
          <p:nvPr/>
        </p:nvSpPr>
        <p:spPr>
          <a:xfrm>
            <a:off x="4343400" y="1325880"/>
            <a:ext cx="3566160" cy="2286000"/>
          </a:xfrm>
          <a:prstGeom prst="roundRect">
            <a:avLst>
              <a:gd name="adj" fmla="val 6000"/>
            </a:avLst>
          </a:prstGeom>
          <a:solidFill>
            <a:srgbClr val="FFFFFF"/>
          </a:solidFill>
          <a:ln w="12700">
            <a:solidFill>
              <a:srgbClr val="D1D5DB"/>
            </a:solidFill>
          </a:ln>
          <a:effectLst>
            <a:outerShdw blurRad="50800" dist="19050" dir="5400000" algn="t" rotWithShape="0">
              <a:srgbClr val="000000">
                <a:alpha val="18000"/>
              </a:srgbClr>
            </a:outerShdw>
          </a:effectLst>
        </p:spPr>
        <p:txBody>
          <a:bodyPr wrap="square" lIns="91440" tIns="91440" rIns="91440" bIns="91440" anchor="t" rtlCol="0">
            <a:noAutofit/>
          </a:bodyPr>
          <a:lstStyle/>
          <a:p>
            <a:endParaRPr lang="en-US" dirty="0"/>
          </a:p>
        </p:txBody>
      </p:sp>
      <p:sp>
        <p:nvSpPr>
          <p:cNvPr id="29" name="Shape 29"/>
          <p:cNvSpPr/>
          <p:nvPr/>
        </p:nvSpPr>
        <p:spPr>
          <a:xfrm>
            <a:off x="4343400" y="1325880"/>
            <a:ext cx="3566160" cy="457200"/>
          </a:xfrm>
          <a:prstGeom prst="roundRect">
            <a:avLst>
              <a:gd name="adj" fmla="val 18000"/>
            </a:avLst>
          </a:prstGeom>
          <a:solidFill>
            <a:srgbClr val="11567F"/>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600" dirty="0" b="1">
                <a:solidFill>
                  <a:srgbClr val="FFFFFF"/>
                </a:solidFill>
              </a:rPr>
              <a:t>Billing</a:t>
            </a:r>
            <a:endParaRPr lang="en-US" sz="1600" dirty="0"/>
          </a:p>
        </p:txBody>
      </p:sp>
      <p:sp>
        <p:nvSpPr>
          <p:cNvPr id="30" name="Shape 30"/>
          <p:cNvSpPr/>
          <p:nvPr/>
        </p:nvSpPr>
        <p:spPr>
          <a:xfrm>
            <a:off x="4434840" y="1856232"/>
            <a:ext cx="3383280" cy="1691640"/>
          </a:xfrm>
          <a:prstGeom prst="rect">
            <a:avLst/>
          </a:prstGeom>
          <a:noFill/>
          <a:ln>
            <a:noFill/>
          </a:ln>
        </p:spPr>
        <p:txBody>
          <a:bodyPr wrap="square" lIns="45720" tIns="45720" rIns="45720" bIns="45720" anchor="t" rtlCol="0">
            <a:noAutofit/>
          </a:bodyPr>
          <a:lstStyle/>
          <a:p>
            <a:pPr algn="l" marL="285750" indent="-285750">
              <a:lnSpc>
                <a:spcPct val="100000"/>
              </a:lnSpc>
              <a:spcBef>
                <a:spcPts val="400"/>
              </a:spcBef>
              <a:spcAft>
                <a:spcPts val="0"/>
              </a:spcAft>
              <a:buClr>
                <a:srgbClr val="29B5E8"/>
              </a:buClr>
              <a:buFont typeface="Arial"/>
              <a:buChar char="•"/>
            </a:pPr>
            <a:r>
              <a:rPr lang="en-US" sz="1250" dirty="0">
                <a:solidFill>
                  <a:srgbClr val="1F2937"/>
                </a:solidFill>
              </a:rPr>
              <a:t>Per-second, </a:t>
            </a:r>
            <a:r>
              <a:rPr lang="en-US" sz="1250" dirty="0" b="1">
                <a:solidFill>
                  <a:srgbClr val="1F2937"/>
                </a:solidFill>
              </a:rPr>
              <a:t>60 s minimum</a:t>
            </a:r>
            <a:r>
              <a:rPr lang="en-US" sz="1250" dirty="0">
                <a:solidFill>
                  <a:srgbClr val="1F2937"/>
                </a:solidFill>
              </a:rPr>
              <a:t> per start/resume</a:t>
            </a:r>
            <a:endParaRPr lang="en-US" sz="1250" dirty="0"/>
          </a:p>
          <a:p>
            <a:pPr algn="l" marL="285750" indent="-285750">
              <a:lnSpc>
                <a:spcPct val="100000"/>
              </a:lnSpc>
              <a:spcBef>
                <a:spcPts val="400"/>
              </a:spcBef>
              <a:spcAft>
                <a:spcPts val="0"/>
              </a:spcAft>
              <a:buClr>
                <a:srgbClr val="29B5E8"/>
              </a:buClr>
              <a:buFont typeface="Arial"/>
              <a:buChar char="•"/>
            </a:pPr>
            <a:r>
              <a:rPr lang="en-US" sz="1250" dirty="0">
                <a:solidFill>
                  <a:srgbClr val="1F2937"/>
                </a:solidFill>
              </a:rPr>
              <a:t>Suspended warehouse = </a:t>
            </a:r>
            <a:r>
              <a:rPr lang="en-US" sz="1250" dirty="0" b="1">
                <a:solidFill>
                  <a:srgbClr val="1F2937"/>
                </a:solidFill>
              </a:rPr>
              <a:t>0 credits</a:t>
            </a:r>
            <a:endParaRPr lang="en-US" sz="1250" dirty="0"/>
          </a:p>
          <a:p>
            <a:pPr algn="l" marL="285750" indent="-285750">
              <a:lnSpc>
                <a:spcPct val="100000"/>
              </a:lnSpc>
              <a:spcBef>
                <a:spcPts val="400"/>
              </a:spcBef>
              <a:spcAft>
                <a:spcPts val="0"/>
              </a:spcAft>
              <a:buClr>
                <a:srgbClr val="29B5E8"/>
              </a:buClr>
              <a:buFont typeface="Arial"/>
              <a:buChar char="•"/>
            </a:pPr>
            <a:r>
              <a:rPr lang="en-US" sz="1250" dirty="0">
                <a:solidFill>
                  <a:srgbClr val="1F2937"/>
                </a:solidFill>
              </a:rPr>
              <a:t>Cloud services free up to 10% of daily compute</a:t>
            </a:r>
            <a:endParaRPr lang="en-US" sz="1250" dirty="0"/>
          </a:p>
        </p:txBody>
      </p:sp>
      <p:sp>
        <p:nvSpPr>
          <p:cNvPr id="31" name="Shape 31"/>
          <p:cNvSpPr/>
          <p:nvPr/>
        </p:nvSpPr>
        <p:spPr>
          <a:xfrm>
            <a:off x="8092440" y="1325880"/>
            <a:ext cx="3566160" cy="2286000"/>
          </a:xfrm>
          <a:prstGeom prst="roundRect">
            <a:avLst>
              <a:gd name="adj" fmla="val 6000"/>
            </a:avLst>
          </a:prstGeom>
          <a:solidFill>
            <a:srgbClr val="FFFFFF"/>
          </a:solidFill>
          <a:ln w="12700">
            <a:solidFill>
              <a:srgbClr val="D1D5DB"/>
            </a:solidFill>
          </a:ln>
          <a:effectLst>
            <a:outerShdw blurRad="50800" dist="19050" dir="5400000" algn="t" rotWithShape="0">
              <a:srgbClr val="000000">
                <a:alpha val="18000"/>
              </a:srgbClr>
            </a:outerShdw>
          </a:effectLst>
        </p:spPr>
        <p:txBody>
          <a:bodyPr wrap="square" lIns="91440" tIns="91440" rIns="91440" bIns="91440" anchor="t" rtlCol="0">
            <a:noAutofit/>
          </a:bodyPr>
          <a:lstStyle/>
          <a:p>
            <a:endParaRPr lang="en-US" dirty="0"/>
          </a:p>
        </p:txBody>
      </p:sp>
      <p:sp>
        <p:nvSpPr>
          <p:cNvPr id="32" name="Shape 32"/>
          <p:cNvSpPr/>
          <p:nvPr/>
        </p:nvSpPr>
        <p:spPr>
          <a:xfrm>
            <a:off x="8092440" y="1325880"/>
            <a:ext cx="3566160" cy="457200"/>
          </a:xfrm>
          <a:prstGeom prst="roundRect">
            <a:avLst>
              <a:gd name="adj" fmla="val 18000"/>
            </a:avLst>
          </a:prstGeom>
          <a:solidFill>
            <a:srgbClr val="1B7FB5"/>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600" dirty="0" b="1">
                <a:solidFill>
                  <a:srgbClr val="FFFFFF"/>
                </a:solidFill>
              </a:rPr>
              <a:t>Suspend / Resume</a:t>
            </a:r>
            <a:endParaRPr lang="en-US" sz="1600" dirty="0"/>
          </a:p>
        </p:txBody>
      </p:sp>
      <p:sp>
        <p:nvSpPr>
          <p:cNvPr id="33" name="Shape 33"/>
          <p:cNvSpPr/>
          <p:nvPr/>
        </p:nvSpPr>
        <p:spPr>
          <a:xfrm>
            <a:off x="8183880" y="1856232"/>
            <a:ext cx="3383280" cy="1691640"/>
          </a:xfrm>
          <a:prstGeom prst="rect">
            <a:avLst/>
          </a:prstGeom>
          <a:noFill/>
          <a:ln>
            <a:noFill/>
          </a:ln>
        </p:spPr>
        <p:txBody>
          <a:bodyPr wrap="square" lIns="45720" tIns="45720" rIns="45720" bIns="45720" anchor="t" rtlCol="0">
            <a:noAutofit/>
          </a:bodyPr>
          <a:lstStyle/>
          <a:p>
            <a:pPr algn="l" marL="285750" indent="-285750">
              <a:lnSpc>
                <a:spcPct val="100000"/>
              </a:lnSpc>
              <a:spcBef>
                <a:spcPts val="400"/>
              </a:spcBef>
              <a:spcAft>
                <a:spcPts val="0"/>
              </a:spcAft>
              <a:buClr>
                <a:srgbClr val="29B5E8"/>
              </a:buClr>
              <a:buFont typeface="Arial"/>
              <a:buChar char="•"/>
            </a:pPr>
            <a:r>
              <a:rPr lang="en-US" sz="1187" dirty="0" b="1">
                <a:solidFill>
                  <a:srgbClr val="11567F"/>
                </a:solidFill>
                <a:latin typeface="Courier New"/>
                <a:cs typeface="Courier New"/>
              </a:rPr>
              <a:t>AUTO_SUSPEND = 60</a:t>
            </a:r>
            <a:r>
              <a:rPr lang="en-US" sz="1250" dirty="0">
                <a:solidFill>
                  <a:srgbClr val="1F2937"/>
                </a:solidFill>
              </a:rPr>
              <a:t>: stop after 60 s idle</a:t>
            </a:r>
            <a:endParaRPr lang="en-US" sz="1250" dirty="0"/>
          </a:p>
          <a:p>
            <a:pPr algn="l" marL="285750" indent="-285750">
              <a:lnSpc>
                <a:spcPct val="100000"/>
              </a:lnSpc>
              <a:spcBef>
                <a:spcPts val="400"/>
              </a:spcBef>
              <a:spcAft>
                <a:spcPts val="0"/>
              </a:spcAft>
              <a:buClr>
                <a:srgbClr val="29B5E8"/>
              </a:buClr>
              <a:buFont typeface="Arial"/>
              <a:buChar char="•"/>
            </a:pPr>
            <a:r>
              <a:rPr lang="en-US" sz="1187" dirty="0" b="1">
                <a:solidFill>
                  <a:srgbClr val="11567F"/>
                </a:solidFill>
                <a:latin typeface="Courier New"/>
                <a:cs typeface="Courier New"/>
              </a:rPr>
              <a:t>AUTO_RESUME = TRUE</a:t>
            </a:r>
            <a:r>
              <a:rPr lang="en-US" sz="1250" dirty="0">
                <a:solidFill>
                  <a:srgbClr val="1F2937"/>
                </a:solidFill>
              </a:rPr>
              <a:t>: start on first query</a:t>
            </a:r>
            <a:endParaRPr lang="en-US" sz="1250" dirty="0"/>
          </a:p>
          <a:p>
            <a:pPr algn="l" marL="285750" indent="-285750">
              <a:lnSpc>
                <a:spcPct val="100000"/>
              </a:lnSpc>
              <a:spcBef>
                <a:spcPts val="400"/>
              </a:spcBef>
              <a:spcAft>
                <a:spcPts val="0"/>
              </a:spcAft>
              <a:buClr>
                <a:srgbClr val="29B5E8"/>
              </a:buClr>
              <a:buFont typeface="Arial"/>
              <a:buChar char="•"/>
            </a:pPr>
            <a:r>
              <a:rPr lang="en-US" sz="1250" dirty="0">
                <a:solidFill>
                  <a:srgbClr val="1F2937"/>
                </a:solidFill>
              </a:rPr>
              <a:t>Manual: </a:t>
            </a:r>
            <a:r>
              <a:rPr lang="en-US" sz="1187" dirty="0" b="1">
                <a:solidFill>
                  <a:srgbClr val="11567F"/>
                </a:solidFill>
                <a:latin typeface="Courier New"/>
                <a:cs typeface="Courier New"/>
              </a:rPr>
              <a:t>ALTER WAREHOUSE … SUSPEND</a:t>
            </a:r>
            <a:endParaRPr lang="en-US" sz="1250" dirty="0"/>
          </a:p>
        </p:txBody>
      </p:sp>
      <p:sp>
        <p:nvSpPr>
          <p:cNvPr id="34" name="Shape 34"/>
          <p:cNvSpPr/>
          <p:nvPr/>
        </p:nvSpPr>
        <p:spPr>
          <a:xfrm>
            <a:off x="4343400" y="3794760"/>
            <a:ext cx="3566160" cy="2377440"/>
          </a:xfrm>
          <a:prstGeom prst="roundRect">
            <a:avLst>
              <a:gd name="adj" fmla="val 6000"/>
            </a:avLst>
          </a:prstGeom>
          <a:solidFill>
            <a:srgbClr val="FFFFFF"/>
          </a:solidFill>
          <a:ln w="12700">
            <a:solidFill>
              <a:srgbClr val="D1D5DB"/>
            </a:solidFill>
          </a:ln>
          <a:effectLst>
            <a:outerShdw blurRad="50800" dist="19050" dir="5400000" algn="t" rotWithShape="0">
              <a:srgbClr val="000000">
                <a:alpha val="18000"/>
              </a:srgbClr>
            </a:outerShdw>
          </a:effectLst>
        </p:spPr>
        <p:txBody>
          <a:bodyPr wrap="square" lIns="91440" tIns="91440" rIns="91440" bIns="91440" anchor="t" rtlCol="0">
            <a:noAutofit/>
          </a:bodyPr>
          <a:lstStyle/>
          <a:p>
            <a:endParaRPr lang="en-US" dirty="0"/>
          </a:p>
        </p:txBody>
      </p:sp>
      <p:sp>
        <p:nvSpPr>
          <p:cNvPr id="35" name="Shape 35"/>
          <p:cNvSpPr/>
          <p:nvPr/>
        </p:nvSpPr>
        <p:spPr>
          <a:xfrm>
            <a:off x="4343400" y="3794760"/>
            <a:ext cx="3566160" cy="457200"/>
          </a:xfrm>
          <a:prstGeom prst="roundRect">
            <a:avLst>
              <a:gd name="adj" fmla="val 18000"/>
            </a:avLst>
          </a:prstGeom>
          <a:solidFill>
            <a:srgbClr val="2E9E6A"/>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600" dirty="0" b="1">
                <a:solidFill>
                  <a:srgbClr val="FFFFFF"/>
                </a:solidFill>
              </a:rPr>
              <a:t>Scale UP ↑ (bigger size)</a:t>
            </a:r>
            <a:endParaRPr lang="en-US" sz="1600" dirty="0"/>
          </a:p>
        </p:txBody>
      </p:sp>
      <p:sp>
        <p:nvSpPr>
          <p:cNvPr id="36" name="Shape 36"/>
          <p:cNvSpPr/>
          <p:nvPr/>
        </p:nvSpPr>
        <p:spPr>
          <a:xfrm>
            <a:off x="4434840" y="4325112"/>
            <a:ext cx="3383280" cy="1783080"/>
          </a:xfrm>
          <a:prstGeom prst="rect">
            <a:avLst/>
          </a:prstGeom>
          <a:noFill/>
          <a:ln>
            <a:noFill/>
          </a:ln>
        </p:spPr>
        <p:txBody>
          <a:bodyPr wrap="square" lIns="45720" tIns="45720" rIns="45720" bIns="45720" anchor="t" rtlCol="0">
            <a:noAutofit/>
          </a:bodyPr>
          <a:lstStyle/>
          <a:p>
            <a:pPr algn="l" marL="285750" indent="-285750">
              <a:lnSpc>
                <a:spcPct val="100000"/>
              </a:lnSpc>
              <a:spcBef>
                <a:spcPts val="400"/>
              </a:spcBef>
              <a:spcAft>
                <a:spcPts val="0"/>
              </a:spcAft>
              <a:buClr>
                <a:srgbClr val="29B5E8"/>
              </a:buClr>
              <a:buFont typeface="Arial"/>
              <a:buChar char="•"/>
            </a:pPr>
            <a:r>
              <a:rPr lang="en-US" sz="1250" dirty="0">
                <a:solidFill>
                  <a:srgbClr val="1F2937"/>
                </a:solidFill>
              </a:rPr>
              <a:t>Faster </a:t>
            </a:r>
            <a:r>
              <a:rPr lang="en-US" sz="1250" dirty="0" b="1">
                <a:solidFill>
                  <a:srgbClr val="1F2937"/>
                </a:solidFill>
              </a:rPr>
              <a:t>complex / large</a:t>
            </a:r>
            <a:r>
              <a:rPr lang="en-US" sz="1250" dirty="0">
                <a:solidFill>
                  <a:srgbClr val="1F2937"/>
                </a:solidFill>
              </a:rPr>
              <a:t> queries</a:t>
            </a:r>
            <a:endParaRPr lang="en-US" sz="1250" dirty="0"/>
          </a:p>
          <a:p>
            <a:pPr algn="l" marL="285750" indent="-285750">
              <a:lnSpc>
                <a:spcPct val="100000"/>
              </a:lnSpc>
              <a:spcBef>
                <a:spcPts val="400"/>
              </a:spcBef>
              <a:spcAft>
                <a:spcPts val="0"/>
              </a:spcAft>
              <a:buClr>
                <a:srgbClr val="29B5E8"/>
              </a:buClr>
              <a:buFont typeface="Arial"/>
              <a:buChar char="•"/>
            </a:pPr>
            <a:r>
              <a:rPr lang="en-US" sz="1250" dirty="0">
                <a:solidFill>
                  <a:srgbClr val="1F2937"/>
                </a:solidFill>
              </a:rPr>
              <a:t>Heavy transformations, big joins</a:t>
            </a:r>
            <a:endParaRPr lang="en-US" sz="1250" dirty="0"/>
          </a:p>
          <a:p>
            <a:pPr algn="l" marL="285750" indent="-285750">
              <a:lnSpc>
                <a:spcPct val="100000"/>
              </a:lnSpc>
              <a:spcBef>
                <a:spcPts val="400"/>
              </a:spcBef>
              <a:spcAft>
                <a:spcPts val="0"/>
              </a:spcAft>
              <a:buClr>
                <a:srgbClr val="29B5E8"/>
              </a:buClr>
              <a:buFont typeface="Arial"/>
              <a:buChar char="•"/>
            </a:pPr>
            <a:r>
              <a:rPr lang="en-US" sz="1187" dirty="0" b="1">
                <a:solidFill>
                  <a:srgbClr val="11567F"/>
                </a:solidFill>
                <a:latin typeface="Courier New"/>
                <a:cs typeface="Courier New"/>
              </a:rPr>
              <a:t>WAREHOUSE_SIZE = 'LARGE'</a:t>
            </a:r>
            <a:endParaRPr lang="en-US" sz="1250" dirty="0"/>
          </a:p>
        </p:txBody>
      </p:sp>
      <p:sp>
        <p:nvSpPr>
          <p:cNvPr id="37" name="Shape 37"/>
          <p:cNvSpPr/>
          <p:nvPr/>
        </p:nvSpPr>
        <p:spPr>
          <a:xfrm>
            <a:off x="8092440" y="3794760"/>
            <a:ext cx="3566160" cy="2377440"/>
          </a:xfrm>
          <a:prstGeom prst="roundRect">
            <a:avLst>
              <a:gd name="adj" fmla="val 6000"/>
            </a:avLst>
          </a:prstGeom>
          <a:solidFill>
            <a:srgbClr val="FFFFFF"/>
          </a:solidFill>
          <a:ln w="12700">
            <a:solidFill>
              <a:srgbClr val="D1D5DB"/>
            </a:solidFill>
          </a:ln>
          <a:effectLst>
            <a:outerShdw blurRad="50800" dist="19050" dir="5400000" algn="t" rotWithShape="0">
              <a:srgbClr val="000000">
                <a:alpha val="18000"/>
              </a:srgbClr>
            </a:outerShdw>
          </a:effectLst>
        </p:spPr>
        <p:txBody>
          <a:bodyPr wrap="square" lIns="91440" tIns="91440" rIns="91440" bIns="91440" anchor="t" rtlCol="0">
            <a:noAutofit/>
          </a:bodyPr>
          <a:lstStyle/>
          <a:p>
            <a:endParaRPr lang="en-US" dirty="0"/>
          </a:p>
        </p:txBody>
      </p:sp>
      <p:sp>
        <p:nvSpPr>
          <p:cNvPr id="38" name="Shape 38"/>
          <p:cNvSpPr/>
          <p:nvPr/>
        </p:nvSpPr>
        <p:spPr>
          <a:xfrm>
            <a:off x="8092440" y="3794760"/>
            <a:ext cx="3566160" cy="457200"/>
          </a:xfrm>
          <a:prstGeom prst="roundRect">
            <a:avLst>
              <a:gd name="adj" fmla="val 18000"/>
            </a:avLst>
          </a:prstGeom>
          <a:solidFill>
            <a:srgbClr val="F59E0B"/>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600" dirty="0" b="1">
                <a:solidFill>
                  <a:srgbClr val="FFFFFF"/>
                </a:solidFill>
              </a:rPr>
              <a:t>Scale OUT → (multi-cluster)</a:t>
            </a:r>
            <a:endParaRPr lang="en-US" sz="1600" dirty="0"/>
          </a:p>
        </p:txBody>
      </p:sp>
      <p:sp>
        <p:nvSpPr>
          <p:cNvPr id="39" name="Shape 39"/>
          <p:cNvSpPr/>
          <p:nvPr/>
        </p:nvSpPr>
        <p:spPr>
          <a:xfrm>
            <a:off x="8183880" y="4325112"/>
            <a:ext cx="3383280" cy="1783080"/>
          </a:xfrm>
          <a:prstGeom prst="rect">
            <a:avLst/>
          </a:prstGeom>
          <a:noFill/>
          <a:ln>
            <a:noFill/>
          </a:ln>
        </p:spPr>
        <p:txBody>
          <a:bodyPr wrap="square" lIns="45720" tIns="45720" rIns="45720" bIns="45720" anchor="t" rtlCol="0">
            <a:noAutofit/>
          </a:bodyPr>
          <a:lstStyle/>
          <a:p>
            <a:pPr algn="l" marL="285750" indent="-285750">
              <a:lnSpc>
                <a:spcPct val="100000"/>
              </a:lnSpc>
              <a:spcBef>
                <a:spcPts val="400"/>
              </a:spcBef>
              <a:spcAft>
                <a:spcPts val="0"/>
              </a:spcAft>
              <a:buClr>
                <a:srgbClr val="29B5E8"/>
              </a:buClr>
              <a:buFont typeface="Arial"/>
              <a:buChar char="•"/>
            </a:pPr>
            <a:r>
              <a:rPr lang="en-US" sz="1250" dirty="0">
                <a:solidFill>
                  <a:srgbClr val="1F2937"/>
                </a:solidFill>
              </a:rPr>
              <a:t>More </a:t>
            </a:r>
            <a:r>
              <a:rPr lang="en-US" sz="1250" dirty="0" b="1">
                <a:solidFill>
                  <a:srgbClr val="1F2937"/>
                </a:solidFill>
              </a:rPr>
              <a:t>concurrent</a:t>
            </a:r>
            <a:r>
              <a:rPr lang="en-US" sz="1250" dirty="0">
                <a:solidFill>
                  <a:srgbClr val="1F2937"/>
                </a:solidFill>
              </a:rPr>
              <a:t> users / queries</a:t>
            </a:r>
            <a:endParaRPr lang="en-US" sz="1250" dirty="0"/>
          </a:p>
          <a:p>
            <a:pPr algn="l" marL="285750" indent="-285750">
              <a:lnSpc>
                <a:spcPct val="100000"/>
              </a:lnSpc>
              <a:spcBef>
                <a:spcPts val="400"/>
              </a:spcBef>
              <a:spcAft>
                <a:spcPts val="0"/>
              </a:spcAft>
              <a:buClr>
                <a:srgbClr val="29B5E8"/>
              </a:buClr>
              <a:buFont typeface="Arial"/>
              <a:buChar char="•"/>
            </a:pPr>
            <a:r>
              <a:rPr lang="en-US" sz="1250" dirty="0">
                <a:solidFill>
                  <a:srgbClr val="1F2937"/>
                </a:solidFill>
              </a:rPr>
              <a:t>Enterprise edition +</a:t>
            </a:r>
            <a:endParaRPr lang="en-US" sz="1250" dirty="0"/>
          </a:p>
          <a:p>
            <a:pPr algn="l" marL="285750" indent="-285750">
              <a:lnSpc>
                <a:spcPct val="100000"/>
              </a:lnSpc>
              <a:spcBef>
                <a:spcPts val="400"/>
              </a:spcBef>
              <a:spcAft>
                <a:spcPts val="0"/>
              </a:spcAft>
              <a:buClr>
                <a:srgbClr val="29B5E8"/>
              </a:buClr>
              <a:buFont typeface="Arial"/>
              <a:buChar char="•"/>
            </a:pPr>
            <a:r>
              <a:rPr lang="en-US" sz="1187" dirty="0" b="1">
                <a:solidFill>
                  <a:srgbClr val="11567F"/>
                </a:solidFill>
                <a:latin typeface="Courier New"/>
                <a:cs typeface="Courier New"/>
              </a:rPr>
              <a:t>MIN_CLUSTER_COUNT</a:t>
            </a:r>
            <a:r>
              <a:rPr lang="en-US" sz="1250" dirty="0">
                <a:solidFill>
                  <a:srgbClr val="1F2937"/>
                </a:solidFill>
              </a:rPr>
              <a:t> / </a:t>
            </a:r>
            <a:r>
              <a:rPr lang="en-US" sz="1187" dirty="0" b="1">
                <a:solidFill>
                  <a:srgbClr val="11567F"/>
                </a:solidFill>
                <a:latin typeface="Courier New"/>
                <a:cs typeface="Courier New"/>
              </a:rPr>
              <a:t>MAX_CLUSTER_COUNT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1 · Create &amp; Use a Warehouse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Get compute ready before running anything</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14 / 26</a:t>
            </a:r>
            <a:endParaRPr lang="en-US" sz="1000" dirty="0"/>
          </a:p>
        </p:txBody>
      </p:sp>
      <p:sp>
        <p:nvSpPr>
          <p:cNvPr id="9" name="Shape 9"/>
          <p:cNvSpPr/>
          <p:nvPr/>
        </p:nvSpPr>
        <p:spPr>
          <a:xfrm>
            <a:off x="548640" y="1325880"/>
            <a:ext cx="640080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SQL · Snowsight worksheet</a:t>
            </a:r>
            <a:endParaRPr lang="en-US" sz="1100" dirty="0"/>
          </a:p>
        </p:txBody>
      </p:sp>
      <p:sp>
        <p:nvSpPr>
          <p:cNvPr id="10" name="Shape 10"/>
          <p:cNvSpPr/>
          <p:nvPr/>
        </p:nvSpPr>
        <p:spPr>
          <a:xfrm>
            <a:off x="548640" y="1618488"/>
            <a:ext cx="6400800" cy="363931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200" dirty="0" b="1">
                <a:solidFill>
                  <a:srgbClr val="569CD6"/>
                </a:solidFill>
                <a:latin typeface="Courier New"/>
                <a:cs typeface="Courier New"/>
              </a:rPr>
              <a:t>USE</a:t>
            </a:r>
            <a:r>
              <a:rPr lang="en-US" sz="1200" dirty="0">
                <a:solidFill>
                  <a:srgbClr val="D4D4D4"/>
                </a:solidFill>
                <a:latin typeface="Courier New"/>
                <a:cs typeface="Courier New"/>
              </a:rPr>
              <a:t> </a:t>
            </a:r>
            <a:r>
              <a:rPr lang="en-US" sz="1200" dirty="0" b="1">
                <a:solidFill>
                  <a:srgbClr val="569CD6"/>
                </a:solidFill>
                <a:latin typeface="Courier New"/>
                <a:cs typeface="Courier New"/>
              </a:rPr>
              <a:t>ROLE</a:t>
            </a:r>
            <a:r>
              <a:rPr lang="en-US" sz="1200" dirty="0">
                <a:solidFill>
                  <a:srgbClr val="D4D4D4"/>
                </a:solidFill>
                <a:latin typeface="Courier New"/>
                <a:cs typeface="Courier New"/>
              </a:rPr>
              <a:t> </a:t>
            </a:r>
            <a:r>
              <a:rPr lang="en-US" sz="1200" dirty="0">
                <a:solidFill>
                  <a:srgbClr val="D4D4D4"/>
                </a:solidFill>
                <a:latin typeface="Courier New"/>
                <a:cs typeface="Courier New"/>
              </a:rPr>
              <a:t>SYSADMIN</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endParaRPr lang="en-US" sz="1200" dirty="0"/>
          </a:p>
          <a:p>
            <a:pPr algn="l">
              <a:lnSpc>
                <a:spcPct val="100000"/>
              </a:lnSpc>
              <a:spcBef>
                <a:spcPts val="0"/>
              </a:spcBef>
              <a:spcAft>
                <a:spcPts val="0"/>
              </a:spcAft>
              <a:buNone/>
            </a:pPr>
            <a:r>
              <a:rPr lang="en-US" sz="1200" dirty="0" b="1">
                <a:solidFill>
                  <a:srgbClr val="569CD6"/>
                </a:solidFill>
                <a:latin typeface="Courier New"/>
                <a:cs typeface="Courier New"/>
              </a:rPr>
              <a:t>CREATE</a:t>
            </a:r>
            <a:r>
              <a:rPr lang="en-US" sz="1200" dirty="0">
                <a:solidFill>
                  <a:srgbClr val="D4D4D4"/>
                </a:solidFill>
                <a:latin typeface="Courier New"/>
                <a:cs typeface="Courier New"/>
              </a:rPr>
              <a:t> </a:t>
            </a:r>
            <a:r>
              <a:rPr lang="en-US" sz="1200" dirty="0" b="1">
                <a:solidFill>
                  <a:srgbClr val="569CD6"/>
                </a:solidFill>
                <a:latin typeface="Courier New"/>
                <a:cs typeface="Courier New"/>
              </a:rPr>
              <a:t>WAREHOUSE</a:t>
            </a:r>
            <a:r>
              <a:rPr lang="en-US" sz="1200" dirty="0">
                <a:solidFill>
                  <a:srgbClr val="D4D4D4"/>
                </a:solidFill>
                <a:latin typeface="Courier New"/>
                <a:cs typeface="Courier New"/>
              </a:rPr>
              <a:t> </a:t>
            </a:r>
            <a:r>
              <a:rPr lang="en-US" sz="1200" dirty="0" b="1">
                <a:solidFill>
                  <a:srgbClr val="569CD6"/>
                </a:solidFill>
                <a:latin typeface="Courier New"/>
                <a:cs typeface="Courier New"/>
              </a:rPr>
              <a:t>IF</a:t>
            </a:r>
            <a:r>
              <a:rPr lang="en-US" sz="1200" dirty="0">
                <a:solidFill>
                  <a:srgbClr val="D4D4D4"/>
                </a:solidFill>
                <a:latin typeface="Courier New"/>
                <a:cs typeface="Courier New"/>
              </a:rPr>
              <a:t> </a:t>
            </a:r>
            <a:r>
              <a:rPr lang="en-US" sz="1200" dirty="0" b="1">
                <a:solidFill>
                  <a:srgbClr val="569CD6"/>
                </a:solidFill>
                <a:latin typeface="Courier New"/>
                <a:cs typeface="Courier New"/>
              </a:rPr>
              <a:t>NOT</a:t>
            </a:r>
            <a:r>
              <a:rPr lang="en-US" sz="1200" dirty="0">
                <a:solidFill>
                  <a:srgbClr val="D4D4D4"/>
                </a:solidFill>
                <a:latin typeface="Courier New"/>
                <a:cs typeface="Courier New"/>
              </a:rPr>
              <a:t> </a:t>
            </a:r>
            <a:r>
              <a:rPr lang="en-US" sz="1200" dirty="0" b="1">
                <a:solidFill>
                  <a:srgbClr val="569CD6"/>
                </a:solidFill>
                <a:latin typeface="Courier New"/>
                <a:cs typeface="Courier New"/>
              </a:rPr>
              <a:t>EXISTS</a:t>
            </a:r>
            <a:r>
              <a:rPr lang="en-US" sz="1200" dirty="0">
                <a:solidFill>
                  <a:srgbClr val="D4D4D4"/>
                </a:solidFill>
                <a:latin typeface="Courier New"/>
                <a:cs typeface="Courier New"/>
              </a:rPr>
              <a:t> </a:t>
            </a:r>
            <a:r>
              <a:rPr lang="en-US" sz="1200" dirty="0">
                <a:solidFill>
                  <a:srgbClr val="D4D4D4"/>
                </a:solidFill>
                <a:latin typeface="Courier New"/>
                <a:cs typeface="Courier New"/>
              </a:rPr>
              <a:t>demo_wh</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r>
              <a:rPr lang="en-US" sz="1200" dirty="0">
                <a:solidFill>
                  <a:srgbClr val="D4D4D4"/>
                </a:solidFill>
                <a:latin typeface="Courier New"/>
                <a:cs typeface="Courier New"/>
              </a:rPr>
              <a:t>WAREHOUSE_SIZE</a:t>
            </a:r>
            <a:r>
              <a:rPr lang="en-US" sz="1200" dirty="0">
                <a:solidFill>
                  <a:srgbClr val="D4D4D4"/>
                </a:solidFill>
                <a:latin typeface="Courier New"/>
                <a:cs typeface="Courier New"/>
              </a:rPr>
              <a:t>      </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a:solidFill>
                  <a:srgbClr val="CE9178"/>
                </a:solidFill>
                <a:latin typeface="Courier New"/>
                <a:cs typeface="Courier New"/>
              </a:rPr>
              <a:t>'XSMALL'</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r>
              <a:rPr lang="en-US" sz="1200" dirty="0">
                <a:solidFill>
                  <a:srgbClr val="D4D4D4"/>
                </a:solidFill>
                <a:latin typeface="Courier New"/>
                <a:cs typeface="Courier New"/>
              </a:rPr>
              <a:t>AUTO_SUSPEND</a:t>
            </a:r>
            <a:r>
              <a:rPr lang="en-US" sz="1200" dirty="0">
                <a:solidFill>
                  <a:srgbClr val="D4D4D4"/>
                </a:solidFill>
                <a:latin typeface="Courier New"/>
                <a:cs typeface="Courier New"/>
              </a:rPr>
              <a:t>        </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a:solidFill>
                  <a:srgbClr val="D4D4D4"/>
                </a:solidFill>
                <a:latin typeface="Courier New"/>
                <a:cs typeface="Courier New"/>
              </a:rPr>
              <a:t>6</a:t>
            </a:r>
            <a:r>
              <a:rPr lang="en-US" sz="1200" dirty="0">
                <a:solidFill>
                  <a:srgbClr val="D4D4D4"/>
                </a:solidFill>
                <a:latin typeface="Courier New"/>
                <a:cs typeface="Courier New"/>
              </a:rPr>
              <a:t>0</a:t>
            </a:r>
            <a:r>
              <a:rPr lang="en-US" sz="1200" dirty="0">
                <a:solidFill>
                  <a:srgbClr val="D4D4D4"/>
                </a:solidFill>
                <a:latin typeface="Courier New"/>
                <a:cs typeface="Courier New"/>
              </a:rPr>
              <a:t>      </a:t>
            </a:r>
            <a:r>
              <a:rPr lang="en-US" sz="1200" dirty="0" i="1">
                <a:solidFill>
                  <a:srgbClr val="6A9955"/>
                </a:solidFill>
                <a:latin typeface="Courier New"/>
                <a:cs typeface="Courier New"/>
              </a:rPr>
              <a:t>-- seconds idle</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r>
              <a:rPr lang="en-US" sz="1200" dirty="0">
                <a:solidFill>
                  <a:srgbClr val="D4D4D4"/>
                </a:solidFill>
                <a:latin typeface="Courier New"/>
                <a:cs typeface="Courier New"/>
              </a:rPr>
              <a:t>AUTO_RESUME</a:t>
            </a:r>
            <a:r>
              <a:rPr lang="en-US" sz="1200" dirty="0">
                <a:solidFill>
                  <a:srgbClr val="D4D4D4"/>
                </a:solidFill>
                <a:latin typeface="Courier New"/>
                <a:cs typeface="Courier New"/>
              </a:rPr>
              <a:t>         </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b="1">
                <a:solidFill>
                  <a:srgbClr val="569CD6"/>
                </a:solidFill>
                <a:latin typeface="Courier New"/>
                <a:cs typeface="Courier New"/>
              </a:rPr>
              <a:t>TRUE</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r>
              <a:rPr lang="en-US" sz="1200" dirty="0">
                <a:solidFill>
                  <a:srgbClr val="D4D4D4"/>
                </a:solidFill>
                <a:latin typeface="Courier New"/>
                <a:cs typeface="Courier New"/>
              </a:rPr>
              <a:t>INITIALLY_SUSPENDED</a:t>
            </a:r>
            <a:r>
              <a:rPr lang="en-US" sz="1200" dirty="0">
                <a:solidFill>
                  <a:srgbClr val="D4D4D4"/>
                </a:solidFill>
                <a:latin typeface="Courier New"/>
                <a:cs typeface="Courier New"/>
              </a:rPr>
              <a:t> </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b="1">
                <a:solidFill>
                  <a:srgbClr val="569CD6"/>
                </a:solidFill>
                <a:latin typeface="Courier New"/>
                <a:cs typeface="Courier New"/>
              </a:rPr>
              <a:t>TRUE</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r>
              <a:rPr lang="en-US" sz="1200" dirty="0">
                <a:solidFill>
                  <a:srgbClr val="D4D4D4"/>
                </a:solidFill>
                <a:latin typeface="Courier New"/>
                <a:cs typeface="Courier New"/>
              </a:rPr>
              <a:t>COMMENT</a:t>
            </a:r>
            <a:r>
              <a:rPr lang="en-US" sz="1200" dirty="0">
                <a:solidFill>
                  <a:srgbClr val="D4D4D4"/>
                </a:solidFill>
                <a:latin typeface="Courier New"/>
                <a:cs typeface="Courier New"/>
              </a:rPr>
              <a:t> </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a:solidFill>
                  <a:srgbClr val="CE9178"/>
                </a:solidFill>
                <a:latin typeface="Courier New"/>
                <a:cs typeface="Courier New"/>
              </a:rPr>
              <a:t>'Getting-started warehouse'</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endParaRPr lang="en-US" sz="1200" dirty="0"/>
          </a:p>
          <a:p>
            <a:pPr algn="l">
              <a:lnSpc>
                <a:spcPct val="100000"/>
              </a:lnSpc>
              <a:spcBef>
                <a:spcPts val="0"/>
              </a:spcBef>
              <a:spcAft>
                <a:spcPts val="0"/>
              </a:spcAft>
              <a:buNone/>
            </a:pPr>
            <a:r>
              <a:rPr lang="en-US" sz="1200" dirty="0" b="1">
                <a:solidFill>
                  <a:srgbClr val="569CD6"/>
                </a:solidFill>
                <a:latin typeface="Courier New"/>
                <a:cs typeface="Courier New"/>
              </a:rPr>
              <a:t>USE</a:t>
            </a:r>
            <a:r>
              <a:rPr lang="en-US" sz="1200" dirty="0">
                <a:solidFill>
                  <a:srgbClr val="D4D4D4"/>
                </a:solidFill>
                <a:latin typeface="Courier New"/>
                <a:cs typeface="Courier New"/>
              </a:rPr>
              <a:t> </a:t>
            </a:r>
            <a:r>
              <a:rPr lang="en-US" sz="1200" dirty="0" b="1">
                <a:solidFill>
                  <a:srgbClr val="569CD6"/>
                </a:solidFill>
                <a:latin typeface="Courier New"/>
                <a:cs typeface="Courier New"/>
              </a:rPr>
              <a:t>WAREHOUSE</a:t>
            </a:r>
            <a:r>
              <a:rPr lang="en-US" sz="1200" dirty="0">
                <a:solidFill>
                  <a:srgbClr val="D4D4D4"/>
                </a:solidFill>
                <a:latin typeface="Courier New"/>
                <a:cs typeface="Courier New"/>
              </a:rPr>
              <a:t> </a:t>
            </a:r>
            <a:r>
              <a:rPr lang="en-US" sz="1200" dirty="0">
                <a:solidFill>
                  <a:srgbClr val="D4D4D4"/>
                </a:solidFill>
                <a:latin typeface="Courier New"/>
                <a:cs typeface="Courier New"/>
              </a:rPr>
              <a:t>demo_wh</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endParaRPr lang="en-US" sz="1200" dirty="0"/>
          </a:p>
          <a:p>
            <a:pPr algn="l">
              <a:lnSpc>
                <a:spcPct val="100000"/>
              </a:lnSpc>
              <a:spcBef>
                <a:spcPts val="0"/>
              </a:spcBef>
              <a:spcAft>
                <a:spcPts val="0"/>
              </a:spcAft>
              <a:buNone/>
            </a:pPr>
            <a:r>
              <a:rPr lang="en-US" sz="1200" dirty="0" i="1">
                <a:solidFill>
                  <a:srgbClr val="6A9955"/>
                </a:solidFill>
                <a:latin typeface="Courier New"/>
                <a:cs typeface="Courier New"/>
              </a:rPr>
              <a:t>-- Confirm the session context</a:t>
            </a:r>
            <a:endParaRPr lang="en-US" sz="1200" dirty="0"/>
          </a:p>
          <a:p>
            <a:pPr algn="l">
              <a:lnSpc>
                <a:spcPct val="100000"/>
              </a:lnSpc>
              <a:spcBef>
                <a:spcPts val="0"/>
              </a:spcBef>
              <a:spcAft>
                <a:spcPts val="0"/>
              </a:spcAft>
              <a:buNone/>
            </a:pPr>
            <a:r>
              <a:rPr lang="en-US" sz="1200" dirty="0" b="1">
                <a:solidFill>
                  <a:srgbClr val="569CD6"/>
                </a:solidFill>
                <a:latin typeface="Courier New"/>
                <a:cs typeface="Courier New"/>
              </a:rPr>
              <a:t>SELECT</a:t>
            </a:r>
            <a:r>
              <a:rPr lang="en-US" sz="1200" dirty="0">
                <a:solidFill>
                  <a:srgbClr val="D4D4D4"/>
                </a:solidFill>
                <a:latin typeface="Courier New"/>
                <a:cs typeface="Courier New"/>
              </a:rPr>
              <a:t> </a:t>
            </a:r>
            <a:r>
              <a:rPr lang="en-US" sz="1200" dirty="0">
                <a:solidFill>
                  <a:srgbClr val="D4D4D4"/>
                </a:solidFill>
                <a:latin typeface="Courier New"/>
                <a:cs typeface="Courier New"/>
              </a:rPr>
              <a:t>CURRENT_ROLE</a:t>
            </a:r>
            <a:r>
              <a:rPr lang="en-US" sz="1200" dirty="0">
                <a:solidFill>
                  <a:srgbClr val="D4D4D4"/>
                </a:solidFill>
                <a:latin typeface="Courier New"/>
                <a:cs typeface="Courier New"/>
              </a:rPr>
              <a:t>(</a:t>
            </a:r>
            <a:r>
              <a:rPr lang="en-US" sz="1200" dirty="0">
                <a:solidFill>
                  <a:srgbClr val="D4D4D4"/>
                </a:solidFill>
                <a:latin typeface="Courier New"/>
                <a:cs typeface="Courier New"/>
              </a:rPr>
              <a:t>)</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a:solidFill>
                  <a:srgbClr val="D4D4D4"/>
                </a:solidFill>
                <a:latin typeface="Courier New"/>
                <a:cs typeface="Courier New"/>
              </a:rPr>
              <a:t>CURRENT_WAREHOUSE</a:t>
            </a:r>
            <a:r>
              <a:rPr lang="en-US" sz="1200" dirty="0">
                <a:solidFill>
                  <a:srgbClr val="D4D4D4"/>
                </a:solidFill>
                <a:latin typeface="Courier New"/>
                <a:cs typeface="Courier New"/>
              </a:rPr>
              <a:t>(</a:t>
            </a:r>
            <a:r>
              <a:rPr lang="en-US" sz="1200" dirty="0">
                <a:solidFill>
                  <a:srgbClr val="D4D4D4"/>
                </a:solidFill>
                <a:latin typeface="Courier New"/>
                <a:cs typeface="Courier New"/>
              </a:rPr>
              <a:t>)</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endParaRPr lang="en-US" sz="1200" dirty="0"/>
          </a:p>
          <a:p>
            <a:pPr algn="l">
              <a:lnSpc>
                <a:spcPct val="100000"/>
              </a:lnSpc>
              <a:spcBef>
                <a:spcPts val="0"/>
              </a:spcBef>
              <a:spcAft>
                <a:spcPts val="0"/>
              </a:spcAft>
              <a:buNone/>
            </a:pPr>
            <a:r>
              <a:rPr lang="en-US" sz="1200" dirty="0" i="1">
                <a:solidFill>
                  <a:srgbClr val="6A9955"/>
                </a:solidFill>
                <a:latin typeface="Courier New"/>
                <a:cs typeface="Courier New"/>
              </a:rPr>
              <a:t>-- Inspect / change it later</a:t>
            </a:r>
            <a:endParaRPr lang="en-US" sz="1200" dirty="0"/>
          </a:p>
          <a:p>
            <a:pPr algn="l">
              <a:lnSpc>
                <a:spcPct val="100000"/>
              </a:lnSpc>
              <a:spcBef>
                <a:spcPts val="0"/>
              </a:spcBef>
              <a:spcAft>
                <a:spcPts val="0"/>
              </a:spcAft>
              <a:buNone/>
            </a:pPr>
            <a:r>
              <a:rPr lang="en-US" sz="1200" dirty="0" b="1">
                <a:solidFill>
                  <a:srgbClr val="569CD6"/>
                </a:solidFill>
                <a:latin typeface="Courier New"/>
                <a:cs typeface="Courier New"/>
              </a:rPr>
              <a:t>SHOW</a:t>
            </a:r>
            <a:r>
              <a:rPr lang="en-US" sz="1200" dirty="0">
                <a:solidFill>
                  <a:srgbClr val="D4D4D4"/>
                </a:solidFill>
                <a:latin typeface="Courier New"/>
                <a:cs typeface="Courier New"/>
              </a:rPr>
              <a:t> </a:t>
            </a:r>
            <a:r>
              <a:rPr lang="en-US" sz="1200" dirty="0">
                <a:solidFill>
                  <a:srgbClr val="D4D4D4"/>
                </a:solidFill>
                <a:latin typeface="Courier New"/>
                <a:cs typeface="Courier New"/>
              </a:rPr>
              <a:t>WAREHOUSES</a:t>
            </a:r>
            <a:r>
              <a:rPr lang="en-US" sz="1200" dirty="0">
                <a:solidFill>
                  <a:srgbClr val="D4D4D4"/>
                </a:solidFill>
                <a:latin typeface="Courier New"/>
                <a:cs typeface="Courier New"/>
              </a:rPr>
              <a:t> </a:t>
            </a:r>
            <a:r>
              <a:rPr lang="en-US" sz="1200" dirty="0">
                <a:solidFill>
                  <a:srgbClr val="D4D4D4"/>
                </a:solidFill>
                <a:latin typeface="Courier New"/>
                <a:cs typeface="Courier New"/>
              </a:rPr>
              <a:t>LIKE</a:t>
            </a:r>
            <a:r>
              <a:rPr lang="en-US" sz="1200" dirty="0">
                <a:solidFill>
                  <a:srgbClr val="D4D4D4"/>
                </a:solidFill>
                <a:latin typeface="Courier New"/>
                <a:cs typeface="Courier New"/>
              </a:rPr>
              <a:t> </a:t>
            </a:r>
            <a:r>
              <a:rPr lang="en-US" sz="1200" dirty="0">
                <a:solidFill>
                  <a:srgbClr val="CE9178"/>
                </a:solidFill>
                <a:latin typeface="Courier New"/>
                <a:cs typeface="Courier New"/>
              </a:rPr>
              <a:t>'DEMO_WH'</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b="1">
                <a:solidFill>
                  <a:srgbClr val="569CD6"/>
                </a:solidFill>
                <a:latin typeface="Courier New"/>
                <a:cs typeface="Courier New"/>
              </a:rPr>
              <a:t>ALTER</a:t>
            </a:r>
            <a:r>
              <a:rPr lang="en-US" sz="1200" dirty="0">
                <a:solidFill>
                  <a:srgbClr val="D4D4D4"/>
                </a:solidFill>
                <a:latin typeface="Courier New"/>
                <a:cs typeface="Courier New"/>
              </a:rPr>
              <a:t> </a:t>
            </a:r>
            <a:r>
              <a:rPr lang="en-US" sz="1200" dirty="0" b="1">
                <a:solidFill>
                  <a:srgbClr val="569CD6"/>
                </a:solidFill>
                <a:latin typeface="Courier New"/>
                <a:cs typeface="Courier New"/>
              </a:rPr>
              <a:t>WAREHOUSE</a:t>
            </a:r>
            <a:r>
              <a:rPr lang="en-US" sz="1200" dirty="0">
                <a:solidFill>
                  <a:srgbClr val="D4D4D4"/>
                </a:solidFill>
                <a:latin typeface="Courier New"/>
                <a:cs typeface="Courier New"/>
              </a:rPr>
              <a:t> </a:t>
            </a:r>
            <a:r>
              <a:rPr lang="en-US" sz="1200" dirty="0">
                <a:solidFill>
                  <a:srgbClr val="D4D4D4"/>
                </a:solidFill>
                <a:latin typeface="Courier New"/>
                <a:cs typeface="Courier New"/>
              </a:rPr>
              <a:t>demo_wh</a:t>
            </a:r>
            <a:r>
              <a:rPr lang="en-US" sz="1200" dirty="0">
                <a:solidFill>
                  <a:srgbClr val="D4D4D4"/>
                </a:solidFill>
                <a:latin typeface="Courier New"/>
                <a:cs typeface="Courier New"/>
              </a:rPr>
              <a:t> </a:t>
            </a:r>
            <a:r>
              <a:rPr lang="en-US" sz="1200" dirty="0" b="1">
                <a:solidFill>
                  <a:srgbClr val="569CD6"/>
                </a:solidFill>
                <a:latin typeface="Courier New"/>
                <a:cs typeface="Courier New"/>
              </a:rPr>
              <a:t>SET</a:t>
            </a:r>
            <a:r>
              <a:rPr lang="en-US" sz="1200" dirty="0">
                <a:solidFill>
                  <a:srgbClr val="D4D4D4"/>
                </a:solidFill>
                <a:latin typeface="Courier New"/>
                <a:cs typeface="Courier New"/>
              </a:rPr>
              <a:t> </a:t>
            </a:r>
            <a:r>
              <a:rPr lang="en-US" sz="1200" dirty="0">
                <a:solidFill>
                  <a:srgbClr val="D4D4D4"/>
                </a:solidFill>
                <a:latin typeface="Courier New"/>
                <a:cs typeface="Courier New"/>
              </a:rPr>
              <a:t>WAREHOUSE_SIZE</a:t>
            </a:r>
            <a:r>
              <a:rPr lang="en-US" sz="1200" dirty="0">
                <a:solidFill>
                  <a:srgbClr val="D4D4D4"/>
                </a:solidFill>
                <a:latin typeface="Courier New"/>
                <a:cs typeface="Courier New"/>
              </a:rPr>
              <a:t> </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a:solidFill>
                  <a:srgbClr val="CE9178"/>
                </a:solidFill>
                <a:latin typeface="Courier New"/>
                <a:cs typeface="Courier New"/>
              </a:rPr>
              <a:t>'SMALL'</a:t>
            </a:r>
            <a:r>
              <a:rPr lang="en-US" sz="1200" dirty="0">
                <a:solidFill>
                  <a:srgbClr val="D4D4D4"/>
                </a:solidFill>
                <a:latin typeface="Courier New"/>
                <a:cs typeface="Courier New"/>
              </a:rPr>
              <a:t>;</a:t>
            </a:r>
            <a:endParaRPr lang="en-US" sz="1200" dirty="0"/>
          </a:p>
        </p:txBody>
      </p:sp>
      <p:sp>
        <p:nvSpPr>
          <p:cNvPr id="11" name="Shape 11"/>
          <p:cNvSpPr/>
          <p:nvPr/>
        </p:nvSpPr>
        <p:spPr>
          <a:xfrm>
            <a:off x="7223760" y="1325880"/>
            <a:ext cx="4480560" cy="36576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500" dirty="0" b="1">
                <a:solidFill>
                  <a:srgbClr val="11567F"/>
                </a:solidFill>
              </a:rPr>
              <a:t>Expected result</a:t>
            </a:r>
            <a:endParaRPr lang="en-US" sz="1500" dirty="0"/>
          </a:p>
        </p:txBody>
      </p:sp>
      <p:sp>
        <p:nvSpPr>
          <p:cNvPr id="12" name="Shape 12"/>
          <p:cNvSpPr/>
          <p:nvPr/>
        </p:nvSpPr>
        <p:spPr>
          <a:xfrm>
            <a:off x="7223760" y="1737360"/>
            <a:ext cx="2240280" cy="411480"/>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00" dirty="0" b="1">
                <a:solidFill>
                  <a:srgbClr val="FFFFFF"/>
                </a:solidFill>
              </a:rPr>
              <a:t>CURRENT_ROLE()</a:t>
            </a:r>
            <a:endParaRPr lang="en-US" sz="1200" dirty="0"/>
          </a:p>
        </p:txBody>
      </p:sp>
      <p:sp>
        <p:nvSpPr>
          <p:cNvPr id="13" name="Shape 13"/>
          <p:cNvSpPr/>
          <p:nvPr/>
        </p:nvSpPr>
        <p:spPr>
          <a:xfrm>
            <a:off x="9464040" y="1737360"/>
            <a:ext cx="2194560" cy="411480"/>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00" dirty="0" b="1">
                <a:solidFill>
                  <a:srgbClr val="FFFFFF"/>
                </a:solidFill>
              </a:rPr>
              <a:t>CURRENT_WAREHOUSE()</a:t>
            </a:r>
            <a:endParaRPr lang="en-US" sz="1200" dirty="0"/>
          </a:p>
        </p:txBody>
      </p:sp>
      <p:sp>
        <p:nvSpPr>
          <p:cNvPr id="14" name="Shape 14"/>
          <p:cNvSpPr/>
          <p:nvPr/>
        </p:nvSpPr>
        <p:spPr>
          <a:xfrm>
            <a:off x="7223760" y="2148840"/>
            <a:ext cx="2240280" cy="411480"/>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00" dirty="0">
                <a:solidFill>
                  <a:srgbClr val="1F2937"/>
                </a:solidFill>
              </a:rPr>
              <a:t>SYSADMIN</a:t>
            </a:r>
            <a:endParaRPr lang="en-US" sz="1200" dirty="0"/>
          </a:p>
        </p:txBody>
      </p:sp>
      <p:sp>
        <p:nvSpPr>
          <p:cNvPr id="15" name="Shape 15"/>
          <p:cNvSpPr/>
          <p:nvPr/>
        </p:nvSpPr>
        <p:spPr>
          <a:xfrm>
            <a:off x="9464040" y="2148840"/>
            <a:ext cx="2194560" cy="411480"/>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00" dirty="0">
                <a:solidFill>
                  <a:srgbClr val="1F2937"/>
                </a:solidFill>
              </a:rPr>
              <a:t>DEMO_WH</a:t>
            </a:r>
            <a:endParaRPr lang="en-US" sz="1200" dirty="0"/>
          </a:p>
        </p:txBody>
      </p:sp>
      <p:sp>
        <p:nvSpPr>
          <p:cNvPr id="16" name="Shape 16"/>
          <p:cNvSpPr/>
          <p:nvPr/>
        </p:nvSpPr>
        <p:spPr>
          <a:xfrm>
            <a:off x="7223760" y="2743200"/>
            <a:ext cx="4480560" cy="36576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500" dirty="0" b="1">
                <a:solidFill>
                  <a:srgbClr val="11567F"/>
                </a:solidFill>
              </a:rPr>
              <a:t>What each option does</a:t>
            </a:r>
            <a:endParaRPr lang="en-US" sz="1500" dirty="0"/>
          </a:p>
        </p:txBody>
      </p:sp>
      <p:sp>
        <p:nvSpPr>
          <p:cNvPr id="17" name="Shape 17"/>
          <p:cNvSpPr/>
          <p:nvPr/>
        </p:nvSpPr>
        <p:spPr>
          <a:xfrm>
            <a:off x="7223760" y="3063240"/>
            <a:ext cx="4480560" cy="2377440"/>
          </a:xfrm>
          <a:prstGeom prst="rect">
            <a:avLst/>
          </a:prstGeom>
          <a:noFill/>
          <a:ln>
            <a:noFill/>
          </a:ln>
        </p:spPr>
        <p:txBody>
          <a:bodyPr wrap="square" lIns="45720" tIns="45720" rIns="45720" bIns="45720" anchor="t" rtlCol="0">
            <a:noAutofit/>
          </a:bodyPr>
          <a:lstStyle/>
          <a:p>
            <a:pPr algn="l" marL="285750" indent="-285750">
              <a:lnSpc>
                <a:spcPct val="100000"/>
              </a:lnSpc>
              <a:spcBef>
                <a:spcPts val="500"/>
              </a:spcBef>
              <a:spcAft>
                <a:spcPts val="0"/>
              </a:spcAft>
              <a:buClr>
                <a:srgbClr val="29B5E8"/>
              </a:buClr>
              <a:buFont typeface="Arial"/>
              <a:buChar char="•"/>
            </a:pPr>
            <a:r>
              <a:rPr lang="en-US" sz="1300" dirty="0" b="1">
                <a:solidFill>
                  <a:srgbClr val="1F2937"/>
                </a:solidFill>
              </a:rPr>
              <a:t>IF NOT EXISTS</a:t>
            </a:r>
            <a:r>
              <a:rPr lang="en-US" sz="1300" dirty="0">
                <a:solidFill>
                  <a:srgbClr val="1F2937"/>
                </a:solidFill>
              </a:rPr>
              <a:t>: safe to re-run</a:t>
            </a:r>
            <a:endParaRPr lang="en-US" sz="1300" dirty="0"/>
          </a:p>
          <a:p>
            <a:pPr algn="l" marL="285750" indent="-285750">
              <a:lnSpc>
                <a:spcPct val="100000"/>
              </a:lnSpc>
              <a:spcBef>
                <a:spcPts val="500"/>
              </a:spcBef>
              <a:spcAft>
                <a:spcPts val="0"/>
              </a:spcAft>
              <a:buClr>
                <a:srgbClr val="29B5E8"/>
              </a:buClr>
              <a:buFont typeface="Arial"/>
              <a:buChar char="•"/>
            </a:pPr>
            <a:r>
              <a:rPr lang="en-US" sz="1300" dirty="0" b="1">
                <a:solidFill>
                  <a:srgbClr val="1F2937"/>
                </a:solidFill>
              </a:rPr>
              <a:t>XSMALL</a:t>
            </a:r>
            <a:r>
              <a:rPr lang="en-US" sz="1300" dirty="0">
                <a:solidFill>
                  <a:srgbClr val="1F2937"/>
                </a:solidFill>
              </a:rPr>
              <a:t>: 1 credit/hour, enough for learning</a:t>
            </a:r>
            <a:endParaRPr lang="en-US" sz="1300" dirty="0"/>
          </a:p>
          <a:p>
            <a:pPr algn="l" marL="285750" indent="-285750">
              <a:lnSpc>
                <a:spcPct val="100000"/>
              </a:lnSpc>
              <a:spcBef>
                <a:spcPts val="500"/>
              </a:spcBef>
              <a:spcAft>
                <a:spcPts val="0"/>
              </a:spcAft>
              <a:buClr>
                <a:srgbClr val="29B5E8"/>
              </a:buClr>
              <a:buFont typeface="Arial"/>
              <a:buChar char="•"/>
            </a:pPr>
            <a:r>
              <a:rPr lang="en-US" sz="1300" dirty="0" b="1">
                <a:solidFill>
                  <a:srgbClr val="1F2937"/>
                </a:solidFill>
              </a:rPr>
              <a:t>AUTO_SUSPEND 60</a:t>
            </a:r>
            <a:r>
              <a:rPr lang="en-US" sz="1300" dirty="0">
                <a:solidFill>
                  <a:srgbClr val="1F2937"/>
                </a:solidFill>
              </a:rPr>
              <a:t>: stop paying after 1 idle minute</a:t>
            </a:r>
            <a:endParaRPr lang="en-US" sz="1300" dirty="0"/>
          </a:p>
          <a:p>
            <a:pPr algn="l" marL="285750" indent="-285750">
              <a:lnSpc>
                <a:spcPct val="100000"/>
              </a:lnSpc>
              <a:spcBef>
                <a:spcPts val="500"/>
              </a:spcBef>
              <a:spcAft>
                <a:spcPts val="0"/>
              </a:spcAft>
              <a:buClr>
                <a:srgbClr val="29B5E8"/>
              </a:buClr>
              <a:buFont typeface="Arial"/>
              <a:buChar char="•"/>
            </a:pPr>
            <a:r>
              <a:rPr lang="en-US" sz="1300" dirty="0" b="1">
                <a:solidFill>
                  <a:srgbClr val="1F2937"/>
                </a:solidFill>
              </a:rPr>
              <a:t>AUTO_RESUME</a:t>
            </a:r>
            <a:r>
              <a:rPr lang="en-US" sz="1300" dirty="0">
                <a:solidFill>
                  <a:srgbClr val="1F2937"/>
                </a:solidFill>
              </a:rPr>
              <a:t>: starts on the next query</a:t>
            </a:r>
            <a:endParaRPr lang="en-US" sz="1300" dirty="0"/>
          </a:p>
          <a:p>
            <a:pPr algn="l" marL="285750" indent="-285750">
              <a:lnSpc>
                <a:spcPct val="100000"/>
              </a:lnSpc>
              <a:spcBef>
                <a:spcPts val="500"/>
              </a:spcBef>
              <a:spcAft>
                <a:spcPts val="0"/>
              </a:spcAft>
              <a:buClr>
                <a:srgbClr val="29B5E8"/>
              </a:buClr>
              <a:buFont typeface="Arial"/>
              <a:buChar char="•"/>
            </a:pPr>
            <a:r>
              <a:rPr lang="en-US" sz="1300" dirty="0" b="1">
                <a:solidFill>
                  <a:srgbClr val="1F2937"/>
                </a:solidFill>
              </a:rPr>
              <a:t>INITIALLY_SUSPENDED</a:t>
            </a:r>
            <a:r>
              <a:rPr lang="en-US" sz="1300" dirty="0">
                <a:solidFill>
                  <a:srgbClr val="1F2937"/>
                </a:solidFill>
              </a:rPr>
              <a:t>: no cost until used</a:t>
            </a:r>
            <a:endParaRPr lang="en-US" sz="1300" dirty="0"/>
          </a:p>
        </p:txBody>
      </p:sp>
      <p:sp>
        <p:nvSpPr>
          <p:cNvPr id="18" name="Shape 18"/>
          <p:cNvSpPr/>
          <p:nvPr/>
        </p:nvSpPr>
        <p:spPr>
          <a:xfrm>
            <a:off x="548640" y="5440680"/>
            <a:ext cx="11109960" cy="731520"/>
          </a:xfrm>
          <a:prstGeom prst="roundRect">
            <a:avLst>
              <a:gd name="adj" fmla="val 10000"/>
            </a:avLst>
          </a:prstGeom>
          <a:solidFill>
            <a:srgbClr val="FFF7E6"/>
          </a:solidFill>
          <a:ln w="15875">
            <a:solidFill>
              <a:srgbClr val="F59E0B"/>
            </a:solidFill>
          </a:ln>
        </p:spPr>
        <p:txBody>
          <a:bodyPr wrap="square" lIns="91440" tIns="91440" rIns="91440" bIns="91440" anchor="t" rtlCol="0">
            <a:noAutofit/>
          </a:bodyPr>
          <a:lstStyle/>
          <a:p>
            <a:endParaRPr lang="en-US" dirty="0"/>
          </a:p>
        </p:txBody>
      </p:sp>
      <p:sp>
        <p:nvSpPr>
          <p:cNvPr id="19" name="Shape 19"/>
          <p:cNvSpPr/>
          <p:nvPr/>
        </p:nvSpPr>
        <p:spPr>
          <a:xfrm>
            <a:off x="658368" y="5486400"/>
            <a:ext cx="10890504" cy="64008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00" dirty="0" b="1">
                <a:solidFill>
                  <a:srgbClr val="F59E0B"/>
                </a:solidFill>
              </a:rPr>
              <a:t>FIX  </a:t>
            </a:r>
            <a:r>
              <a:rPr lang="en-US" sz="1200" dirty="0">
                <a:solidFill>
                  <a:srgbClr val="1F2937"/>
                </a:solidFill>
              </a:rPr>
              <a:t>Error </a:t>
            </a:r>
            <a:r>
              <a:rPr lang="en-US" sz="1200" dirty="0" b="1">
                <a:solidFill>
                  <a:srgbClr val="1F2937"/>
                </a:solidFill>
              </a:rPr>
              <a:t>"No active warehouse selected in the current session"</a:t>
            </a:r>
            <a:r>
              <a:rPr lang="en-US" sz="1200" dirty="0">
                <a:solidFill>
                  <a:srgbClr val="1F2937"/>
                </a:solidFill>
              </a:rPr>
              <a:t> means run </a:t>
            </a:r>
            <a:r>
              <a:rPr lang="en-US" sz="1139" dirty="0" b="1">
                <a:solidFill>
                  <a:srgbClr val="11567F"/>
                </a:solidFill>
                <a:latin typeface="Courier New"/>
                <a:cs typeface="Courier New"/>
              </a:rPr>
              <a:t>USE WAREHOUSE demo_wh;</a:t>
            </a:r>
            <a:r>
              <a:rPr lang="en-US" sz="1200" dirty="0">
                <a:solidFill>
                  <a:srgbClr val="1F2937"/>
                </a:solidFill>
              </a:rPr>
              <a:t> or set a DEFAULT_WAREHOUSE on your user.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2 · Database, Schema &amp; Table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Create a home for your data and add rows</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15 / 26</a:t>
            </a:r>
            <a:endParaRPr lang="en-US" sz="1000" dirty="0"/>
          </a:p>
        </p:txBody>
      </p:sp>
      <p:sp>
        <p:nvSpPr>
          <p:cNvPr id="9" name="Shape 9"/>
          <p:cNvSpPr/>
          <p:nvPr/>
        </p:nvSpPr>
        <p:spPr>
          <a:xfrm>
            <a:off x="548640" y="1325880"/>
            <a:ext cx="640080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SQL</a:t>
            </a:r>
            <a:endParaRPr lang="en-US" sz="1100" dirty="0"/>
          </a:p>
        </p:txBody>
      </p:sp>
      <p:sp>
        <p:nvSpPr>
          <p:cNvPr id="10" name="Shape 10"/>
          <p:cNvSpPr/>
          <p:nvPr/>
        </p:nvSpPr>
        <p:spPr>
          <a:xfrm>
            <a:off x="548640" y="1618488"/>
            <a:ext cx="6400800" cy="455371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200" dirty="0" b="1">
                <a:solidFill>
                  <a:srgbClr val="569CD6"/>
                </a:solidFill>
                <a:latin typeface="Courier New"/>
                <a:cs typeface="Courier New"/>
              </a:rPr>
              <a:t>CREATE</a:t>
            </a:r>
            <a:r>
              <a:rPr lang="en-US" sz="1200" dirty="0">
                <a:solidFill>
                  <a:srgbClr val="D4D4D4"/>
                </a:solidFill>
                <a:latin typeface="Courier New"/>
                <a:cs typeface="Courier New"/>
              </a:rPr>
              <a:t> </a:t>
            </a:r>
            <a:r>
              <a:rPr lang="en-US" sz="1200" dirty="0" b="1">
                <a:solidFill>
                  <a:srgbClr val="569CD6"/>
                </a:solidFill>
                <a:latin typeface="Courier New"/>
                <a:cs typeface="Courier New"/>
              </a:rPr>
              <a:t>DATABASE</a:t>
            </a:r>
            <a:r>
              <a:rPr lang="en-US" sz="1200" dirty="0">
                <a:solidFill>
                  <a:srgbClr val="D4D4D4"/>
                </a:solidFill>
                <a:latin typeface="Courier New"/>
                <a:cs typeface="Courier New"/>
              </a:rPr>
              <a:t> </a:t>
            </a:r>
            <a:r>
              <a:rPr lang="en-US" sz="1200" dirty="0" b="1">
                <a:solidFill>
                  <a:srgbClr val="569CD6"/>
                </a:solidFill>
                <a:latin typeface="Courier New"/>
                <a:cs typeface="Courier New"/>
              </a:rPr>
              <a:t>IF</a:t>
            </a:r>
            <a:r>
              <a:rPr lang="en-US" sz="1200" dirty="0">
                <a:solidFill>
                  <a:srgbClr val="D4D4D4"/>
                </a:solidFill>
                <a:latin typeface="Courier New"/>
                <a:cs typeface="Courier New"/>
              </a:rPr>
              <a:t> </a:t>
            </a:r>
            <a:r>
              <a:rPr lang="en-US" sz="1200" dirty="0" b="1">
                <a:solidFill>
                  <a:srgbClr val="569CD6"/>
                </a:solidFill>
                <a:latin typeface="Courier New"/>
                <a:cs typeface="Courier New"/>
              </a:rPr>
              <a:t>NOT</a:t>
            </a:r>
            <a:r>
              <a:rPr lang="en-US" sz="1200" dirty="0">
                <a:solidFill>
                  <a:srgbClr val="D4D4D4"/>
                </a:solidFill>
                <a:latin typeface="Courier New"/>
                <a:cs typeface="Courier New"/>
              </a:rPr>
              <a:t> </a:t>
            </a:r>
            <a:r>
              <a:rPr lang="en-US" sz="1200" dirty="0" b="1">
                <a:solidFill>
                  <a:srgbClr val="569CD6"/>
                </a:solidFill>
                <a:latin typeface="Courier New"/>
                <a:cs typeface="Courier New"/>
              </a:rPr>
              <a:t>EXISTS</a:t>
            </a:r>
            <a:r>
              <a:rPr lang="en-US" sz="1200" dirty="0">
                <a:solidFill>
                  <a:srgbClr val="D4D4D4"/>
                </a:solidFill>
                <a:latin typeface="Courier New"/>
                <a:cs typeface="Courier New"/>
              </a:rPr>
              <a:t> </a:t>
            </a:r>
            <a:r>
              <a:rPr lang="en-US" sz="1200" dirty="0">
                <a:solidFill>
                  <a:srgbClr val="D4D4D4"/>
                </a:solidFill>
                <a:latin typeface="Courier New"/>
                <a:cs typeface="Courier New"/>
              </a:rPr>
              <a:t>sales_db</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b="1">
                <a:solidFill>
                  <a:srgbClr val="569CD6"/>
                </a:solidFill>
                <a:latin typeface="Courier New"/>
                <a:cs typeface="Courier New"/>
              </a:rPr>
              <a:t>CREATE</a:t>
            </a:r>
            <a:r>
              <a:rPr lang="en-US" sz="1200" dirty="0">
                <a:solidFill>
                  <a:srgbClr val="D4D4D4"/>
                </a:solidFill>
                <a:latin typeface="Courier New"/>
                <a:cs typeface="Courier New"/>
              </a:rPr>
              <a:t> </a:t>
            </a:r>
            <a:r>
              <a:rPr lang="en-US" sz="1200" dirty="0" b="1">
                <a:solidFill>
                  <a:srgbClr val="569CD6"/>
                </a:solidFill>
                <a:latin typeface="Courier New"/>
                <a:cs typeface="Courier New"/>
              </a:rPr>
              <a:t>SCHEMA</a:t>
            </a:r>
            <a:r>
              <a:rPr lang="en-US" sz="1200" dirty="0">
                <a:solidFill>
                  <a:srgbClr val="D4D4D4"/>
                </a:solidFill>
                <a:latin typeface="Courier New"/>
                <a:cs typeface="Courier New"/>
              </a:rPr>
              <a:t>   </a:t>
            </a:r>
            <a:r>
              <a:rPr lang="en-US" sz="1200" dirty="0" b="1">
                <a:solidFill>
                  <a:srgbClr val="569CD6"/>
                </a:solidFill>
                <a:latin typeface="Courier New"/>
                <a:cs typeface="Courier New"/>
              </a:rPr>
              <a:t>IF</a:t>
            </a:r>
            <a:r>
              <a:rPr lang="en-US" sz="1200" dirty="0">
                <a:solidFill>
                  <a:srgbClr val="D4D4D4"/>
                </a:solidFill>
                <a:latin typeface="Courier New"/>
                <a:cs typeface="Courier New"/>
              </a:rPr>
              <a:t> </a:t>
            </a:r>
            <a:r>
              <a:rPr lang="en-US" sz="1200" dirty="0" b="1">
                <a:solidFill>
                  <a:srgbClr val="569CD6"/>
                </a:solidFill>
                <a:latin typeface="Courier New"/>
                <a:cs typeface="Courier New"/>
              </a:rPr>
              <a:t>NOT</a:t>
            </a:r>
            <a:r>
              <a:rPr lang="en-US" sz="1200" dirty="0">
                <a:solidFill>
                  <a:srgbClr val="D4D4D4"/>
                </a:solidFill>
                <a:latin typeface="Courier New"/>
                <a:cs typeface="Courier New"/>
              </a:rPr>
              <a:t> </a:t>
            </a:r>
            <a:r>
              <a:rPr lang="en-US" sz="1200" dirty="0" b="1">
                <a:solidFill>
                  <a:srgbClr val="569CD6"/>
                </a:solidFill>
                <a:latin typeface="Courier New"/>
                <a:cs typeface="Courier New"/>
              </a:rPr>
              <a:t>EXISTS</a:t>
            </a:r>
            <a:r>
              <a:rPr lang="en-US" sz="1200" dirty="0">
                <a:solidFill>
                  <a:srgbClr val="D4D4D4"/>
                </a:solidFill>
                <a:latin typeface="Courier New"/>
                <a:cs typeface="Courier New"/>
              </a:rPr>
              <a:t> </a:t>
            </a:r>
            <a:r>
              <a:rPr lang="en-US" sz="1200" dirty="0">
                <a:solidFill>
                  <a:srgbClr val="D4D4D4"/>
                </a:solidFill>
                <a:latin typeface="Courier New"/>
                <a:cs typeface="Courier New"/>
              </a:rPr>
              <a:t>sales_db</a:t>
            </a:r>
            <a:r>
              <a:rPr lang="en-US" sz="1200" dirty="0">
                <a:solidFill>
                  <a:srgbClr val="D4D4D4"/>
                </a:solidFill>
                <a:latin typeface="Courier New"/>
                <a:cs typeface="Courier New"/>
              </a:rPr>
              <a:t>.</a:t>
            </a:r>
            <a:r>
              <a:rPr lang="en-US" sz="1200" dirty="0">
                <a:solidFill>
                  <a:srgbClr val="D4D4D4"/>
                </a:solidFill>
                <a:latin typeface="Courier New"/>
                <a:cs typeface="Courier New"/>
              </a:rPr>
              <a:t>raw</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b="1">
                <a:solidFill>
                  <a:srgbClr val="569CD6"/>
                </a:solidFill>
                <a:latin typeface="Courier New"/>
                <a:cs typeface="Courier New"/>
              </a:rPr>
              <a:t>USE</a:t>
            </a:r>
            <a:r>
              <a:rPr lang="en-US" sz="1200" dirty="0">
                <a:solidFill>
                  <a:srgbClr val="D4D4D4"/>
                </a:solidFill>
                <a:latin typeface="Courier New"/>
                <a:cs typeface="Courier New"/>
              </a:rPr>
              <a:t> </a:t>
            </a:r>
            <a:r>
              <a:rPr lang="en-US" sz="1200" dirty="0" b="1">
                <a:solidFill>
                  <a:srgbClr val="569CD6"/>
                </a:solidFill>
                <a:latin typeface="Courier New"/>
                <a:cs typeface="Courier New"/>
              </a:rPr>
              <a:t>SCHEMA</a:t>
            </a:r>
            <a:r>
              <a:rPr lang="en-US" sz="1200" dirty="0">
                <a:solidFill>
                  <a:srgbClr val="D4D4D4"/>
                </a:solidFill>
                <a:latin typeface="Courier New"/>
                <a:cs typeface="Courier New"/>
              </a:rPr>
              <a:t> </a:t>
            </a:r>
            <a:r>
              <a:rPr lang="en-US" sz="1200" dirty="0">
                <a:solidFill>
                  <a:srgbClr val="D4D4D4"/>
                </a:solidFill>
                <a:latin typeface="Courier New"/>
                <a:cs typeface="Courier New"/>
              </a:rPr>
              <a:t>sales_db</a:t>
            </a:r>
            <a:r>
              <a:rPr lang="en-US" sz="1200" dirty="0">
                <a:solidFill>
                  <a:srgbClr val="D4D4D4"/>
                </a:solidFill>
                <a:latin typeface="Courier New"/>
                <a:cs typeface="Courier New"/>
              </a:rPr>
              <a:t>.</a:t>
            </a:r>
            <a:r>
              <a:rPr lang="en-US" sz="1200" dirty="0">
                <a:solidFill>
                  <a:srgbClr val="D4D4D4"/>
                </a:solidFill>
                <a:latin typeface="Courier New"/>
                <a:cs typeface="Courier New"/>
              </a:rPr>
              <a:t>raw</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endParaRPr lang="en-US" sz="1200" dirty="0"/>
          </a:p>
          <a:p>
            <a:pPr algn="l">
              <a:lnSpc>
                <a:spcPct val="100000"/>
              </a:lnSpc>
              <a:spcBef>
                <a:spcPts val="0"/>
              </a:spcBef>
              <a:spcAft>
                <a:spcPts val="0"/>
              </a:spcAft>
              <a:buNone/>
            </a:pPr>
            <a:r>
              <a:rPr lang="en-US" sz="1200" dirty="0" b="1">
                <a:solidFill>
                  <a:srgbClr val="569CD6"/>
                </a:solidFill>
                <a:latin typeface="Courier New"/>
                <a:cs typeface="Courier New"/>
              </a:rPr>
              <a:t>CREATE</a:t>
            </a:r>
            <a:r>
              <a:rPr lang="en-US" sz="1200" dirty="0">
                <a:solidFill>
                  <a:srgbClr val="D4D4D4"/>
                </a:solidFill>
                <a:latin typeface="Courier New"/>
                <a:cs typeface="Courier New"/>
              </a:rPr>
              <a:t> </a:t>
            </a:r>
            <a:r>
              <a:rPr lang="en-US" sz="1200" dirty="0" b="1">
                <a:solidFill>
                  <a:srgbClr val="569CD6"/>
                </a:solidFill>
                <a:latin typeface="Courier New"/>
                <a:cs typeface="Courier New"/>
              </a:rPr>
              <a:t>OR</a:t>
            </a:r>
            <a:r>
              <a:rPr lang="en-US" sz="1200" dirty="0">
                <a:solidFill>
                  <a:srgbClr val="D4D4D4"/>
                </a:solidFill>
                <a:latin typeface="Courier New"/>
                <a:cs typeface="Courier New"/>
              </a:rPr>
              <a:t> </a:t>
            </a:r>
            <a:r>
              <a:rPr lang="en-US" sz="1200" dirty="0" b="1">
                <a:solidFill>
                  <a:srgbClr val="569CD6"/>
                </a:solidFill>
                <a:latin typeface="Courier New"/>
                <a:cs typeface="Courier New"/>
              </a:rPr>
              <a:t>REPLACE</a:t>
            </a:r>
            <a:r>
              <a:rPr lang="en-US" sz="1200" dirty="0">
                <a:solidFill>
                  <a:srgbClr val="D4D4D4"/>
                </a:solidFill>
                <a:latin typeface="Courier New"/>
                <a:cs typeface="Courier New"/>
              </a:rPr>
              <a:t> </a:t>
            </a:r>
            <a:r>
              <a:rPr lang="en-US" sz="1200" dirty="0" b="1">
                <a:solidFill>
                  <a:srgbClr val="569CD6"/>
                </a:solidFill>
                <a:latin typeface="Courier New"/>
                <a:cs typeface="Courier New"/>
              </a:rPr>
              <a:t>TABLE</a:t>
            </a:r>
            <a:r>
              <a:rPr lang="en-US" sz="1200" dirty="0">
                <a:solidFill>
                  <a:srgbClr val="D4D4D4"/>
                </a:solidFill>
                <a:latin typeface="Courier New"/>
                <a:cs typeface="Courier New"/>
              </a:rPr>
              <a:t> </a:t>
            </a:r>
            <a:r>
              <a:rPr lang="en-US" sz="1200" dirty="0">
                <a:solidFill>
                  <a:srgbClr val="D4D4D4"/>
                </a:solidFill>
                <a:latin typeface="Courier New"/>
                <a:cs typeface="Courier New"/>
              </a:rPr>
              <a:t>orders</a:t>
            </a:r>
            <a:r>
              <a:rPr lang="en-US" sz="1200" dirty="0">
                <a:solidFill>
                  <a:srgbClr val="D4D4D4"/>
                </a:solidFill>
                <a:latin typeface="Courier New"/>
                <a:cs typeface="Courier New"/>
              </a:rPr>
              <a:t> </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r>
              <a:rPr lang="en-US" sz="1200" dirty="0">
                <a:solidFill>
                  <a:srgbClr val="D4D4D4"/>
                </a:solidFill>
                <a:latin typeface="Courier New"/>
                <a:cs typeface="Courier New"/>
              </a:rPr>
              <a:t>order_id</a:t>
            </a:r>
            <a:r>
              <a:rPr lang="en-US" sz="1200" dirty="0">
                <a:solidFill>
                  <a:srgbClr val="D4D4D4"/>
                </a:solidFill>
                <a:latin typeface="Courier New"/>
                <a:cs typeface="Courier New"/>
              </a:rPr>
              <a:t>    </a:t>
            </a:r>
            <a:r>
              <a:rPr lang="en-US" sz="1200" dirty="0" b="1">
                <a:solidFill>
                  <a:srgbClr val="569CD6"/>
                </a:solidFill>
                <a:latin typeface="Courier New"/>
                <a:cs typeface="Courier New"/>
              </a:rPr>
              <a:t>NUMBER</a:t>
            </a:r>
            <a:r>
              <a:rPr lang="en-US" sz="1200" dirty="0">
                <a:solidFill>
                  <a:srgbClr val="D4D4D4"/>
                </a:solidFill>
                <a:latin typeface="Courier New"/>
                <a:cs typeface="Courier New"/>
              </a:rPr>
              <a:t>        </a:t>
            </a:r>
            <a:r>
              <a:rPr lang="en-US" sz="1200" dirty="0" b="1">
                <a:solidFill>
                  <a:srgbClr val="569CD6"/>
                </a:solidFill>
                <a:latin typeface="Courier New"/>
                <a:cs typeface="Courier New"/>
              </a:rPr>
              <a:t>NOT</a:t>
            </a:r>
            <a:r>
              <a:rPr lang="en-US" sz="1200" dirty="0">
                <a:solidFill>
                  <a:srgbClr val="D4D4D4"/>
                </a:solidFill>
                <a:latin typeface="Courier New"/>
                <a:cs typeface="Courier New"/>
              </a:rPr>
              <a:t> </a:t>
            </a:r>
            <a:r>
              <a:rPr lang="en-US" sz="1200" dirty="0" b="1">
                <a:solidFill>
                  <a:srgbClr val="569CD6"/>
                </a:solidFill>
                <a:latin typeface="Courier New"/>
                <a:cs typeface="Courier New"/>
              </a:rPr>
              <a:t>NULL</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r>
              <a:rPr lang="en-US" sz="1200" dirty="0">
                <a:solidFill>
                  <a:srgbClr val="D4D4D4"/>
                </a:solidFill>
                <a:latin typeface="Courier New"/>
                <a:cs typeface="Courier New"/>
              </a:rPr>
              <a:t>customer</a:t>
            </a:r>
            <a:r>
              <a:rPr lang="en-US" sz="1200" dirty="0">
                <a:solidFill>
                  <a:srgbClr val="D4D4D4"/>
                </a:solidFill>
                <a:latin typeface="Courier New"/>
                <a:cs typeface="Courier New"/>
              </a:rPr>
              <a:t>    </a:t>
            </a:r>
            <a:r>
              <a:rPr lang="en-US" sz="1200" dirty="0" b="1">
                <a:solidFill>
                  <a:srgbClr val="569CD6"/>
                </a:solidFill>
                <a:latin typeface="Courier New"/>
                <a:cs typeface="Courier New"/>
              </a:rPr>
              <a:t>VARCHAR</a:t>
            </a:r>
            <a:r>
              <a:rPr lang="en-US" sz="1200" dirty="0">
                <a:solidFill>
                  <a:srgbClr val="D4D4D4"/>
                </a:solidFill>
                <a:latin typeface="Courier New"/>
                <a:cs typeface="Courier New"/>
              </a:rPr>
              <a:t>(</a:t>
            </a:r>
            <a:r>
              <a:rPr lang="en-US" sz="1200" dirty="0">
                <a:solidFill>
                  <a:srgbClr val="D4D4D4"/>
                </a:solidFill>
                <a:latin typeface="Courier New"/>
                <a:cs typeface="Courier New"/>
              </a:rPr>
              <a:t>1</a:t>
            </a:r>
            <a:r>
              <a:rPr lang="en-US" sz="1200" dirty="0">
                <a:solidFill>
                  <a:srgbClr val="D4D4D4"/>
                </a:solidFill>
                <a:latin typeface="Courier New"/>
                <a:cs typeface="Courier New"/>
              </a:rPr>
              <a:t>0</a:t>
            </a:r>
            <a:r>
              <a:rPr lang="en-US" sz="1200" dirty="0">
                <a:solidFill>
                  <a:srgbClr val="D4D4D4"/>
                </a:solidFill>
                <a:latin typeface="Courier New"/>
                <a:cs typeface="Courier New"/>
              </a:rPr>
              <a:t>0</a:t>
            </a:r>
            <a:r>
              <a:rPr lang="en-US" sz="1200" dirty="0">
                <a:solidFill>
                  <a:srgbClr val="D4D4D4"/>
                </a:solidFill>
                <a:latin typeface="Courier New"/>
                <a:cs typeface="Courier New"/>
              </a:rPr>
              <a:t>)</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r>
              <a:rPr lang="en-US" sz="1200" dirty="0">
                <a:solidFill>
                  <a:srgbClr val="D4D4D4"/>
                </a:solidFill>
                <a:latin typeface="Courier New"/>
                <a:cs typeface="Courier New"/>
              </a:rPr>
              <a:t>order_date</a:t>
            </a:r>
            <a:r>
              <a:rPr lang="en-US" sz="1200" dirty="0">
                <a:solidFill>
                  <a:srgbClr val="D4D4D4"/>
                </a:solidFill>
                <a:latin typeface="Courier New"/>
                <a:cs typeface="Courier New"/>
              </a:rPr>
              <a:t>  </a:t>
            </a:r>
            <a:r>
              <a:rPr lang="en-US" sz="1200" dirty="0" b="1">
                <a:solidFill>
                  <a:srgbClr val="569CD6"/>
                </a:solidFill>
                <a:latin typeface="Courier New"/>
                <a:cs typeface="Courier New"/>
              </a:rPr>
              <a:t>DATE</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r>
              <a:rPr lang="en-US" sz="1200" dirty="0">
                <a:solidFill>
                  <a:srgbClr val="D4D4D4"/>
                </a:solidFill>
                <a:latin typeface="Courier New"/>
                <a:cs typeface="Courier New"/>
              </a:rPr>
              <a:t>amount</a:t>
            </a:r>
            <a:r>
              <a:rPr lang="en-US" sz="1200" dirty="0">
                <a:solidFill>
                  <a:srgbClr val="D4D4D4"/>
                </a:solidFill>
                <a:latin typeface="Courier New"/>
                <a:cs typeface="Courier New"/>
              </a:rPr>
              <a:t>      </a:t>
            </a:r>
            <a:r>
              <a:rPr lang="en-US" sz="1200" dirty="0" b="1">
                <a:solidFill>
                  <a:srgbClr val="569CD6"/>
                </a:solidFill>
                <a:latin typeface="Courier New"/>
                <a:cs typeface="Courier New"/>
              </a:rPr>
              <a:t>NUMBER</a:t>
            </a:r>
            <a:r>
              <a:rPr lang="en-US" sz="1200" dirty="0">
                <a:solidFill>
                  <a:srgbClr val="D4D4D4"/>
                </a:solidFill>
                <a:latin typeface="Courier New"/>
                <a:cs typeface="Courier New"/>
              </a:rPr>
              <a:t>(</a:t>
            </a:r>
            <a:r>
              <a:rPr lang="en-US" sz="1200" dirty="0">
                <a:solidFill>
                  <a:srgbClr val="D4D4D4"/>
                </a:solidFill>
                <a:latin typeface="Courier New"/>
                <a:cs typeface="Courier New"/>
              </a:rPr>
              <a:t>1</a:t>
            </a:r>
            <a:r>
              <a:rPr lang="en-US" sz="1200" dirty="0">
                <a:solidFill>
                  <a:srgbClr val="D4D4D4"/>
                </a:solidFill>
                <a:latin typeface="Courier New"/>
                <a:cs typeface="Courier New"/>
              </a:rPr>
              <a:t>0</a:t>
            </a:r>
            <a:r>
              <a:rPr lang="en-US" sz="1200" dirty="0">
                <a:solidFill>
                  <a:srgbClr val="D4D4D4"/>
                </a:solidFill>
                <a:latin typeface="Courier New"/>
                <a:cs typeface="Courier New"/>
              </a:rPr>
              <a:t>,</a:t>
            </a:r>
            <a:r>
              <a:rPr lang="en-US" sz="1200" dirty="0">
                <a:solidFill>
                  <a:srgbClr val="D4D4D4"/>
                </a:solidFill>
                <a:latin typeface="Courier New"/>
                <a:cs typeface="Courier New"/>
              </a:rPr>
              <a:t>2</a:t>
            </a:r>
            <a:r>
              <a:rPr lang="en-US" sz="1200" dirty="0">
                <a:solidFill>
                  <a:srgbClr val="D4D4D4"/>
                </a:solidFill>
                <a:latin typeface="Courier New"/>
                <a:cs typeface="Courier New"/>
              </a:rPr>
              <a:t>)</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r>
              <a:rPr lang="en-US" sz="1200" dirty="0">
                <a:solidFill>
                  <a:srgbClr val="D4D4D4"/>
                </a:solidFill>
                <a:latin typeface="Courier New"/>
                <a:cs typeface="Courier New"/>
              </a:rPr>
              <a:t>loaded_at</a:t>
            </a:r>
            <a:r>
              <a:rPr lang="en-US" sz="1200" dirty="0">
                <a:solidFill>
                  <a:srgbClr val="D4D4D4"/>
                </a:solidFill>
                <a:latin typeface="Courier New"/>
                <a:cs typeface="Courier New"/>
              </a:rPr>
              <a:t>   </a:t>
            </a:r>
            <a:r>
              <a:rPr lang="en-US" sz="1200" dirty="0" b="1">
                <a:solidFill>
                  <a:srgbClr val="569CD6"/>
                </a:solidFill>
                <a:latin typeface="Courier New"/>
                <a:cs typeface="Courier New"/>
              </a:rPr>
              <a:t>TIMESTAMP_LTZ</a:t>
            </a:r>
            <a:r>
              <a:rPr lang="en-US" sz="1200" dirty="0">
                <a:solidFill>
                  <a:srgbClr val="D4D4D4"/>
                </a:solidFill>
                <a:latin typeface="Courier New"/>
                <a:cs typeface="Courier New"/>
              </a:rPr>
              <a:t> </a:t>
            </a:r>
            <a:r>
              <a:rPr lang="en-US" sz="1200" dirty="0" b="1">
                <a:solidFill>
                  <a:srgbClr val="569CD6"/>
                </a:solidFill>
                <a:latin typeface="Courier New"/>
                <a:cs typeface="Courier New"/>
              </a:rPr>
              <a:t>DEFAULT</a:t>
            </a:r>
            <a:r>
              <a:rPr lang="en-US" sz="1200" dirty="0">
                <a:solidFill>
                  <a:srgbClr val="D4D4D4"/>
                </a:solidFill>
                <a:latin typeface="Courier New"/>
                <a:cs typeface="Courier New"/>
              </a:rPr>
              <a:t> </a:t>
            </a:r>
            <a:r>
              <a:rPr lang="en-US" sz="1200" dirty="0">
                <a:solidFill>
                  <a:srgbClr val="D4D4D4"/>
                </a:solidFill>
                <a:latin typeface="Courier New"/>
                <a:cs typeface="Courier New"/>
              </a:rPr>
              <a:t>CURRENT_TIMESTAMP</a:t>
            </a:r>
            <a:r>
              <a:rPr lang="en-US" sz="1200" dirty="0">
                <a:solidFill>
                  <a:srgbClr val="D4D4D4"/>
                </a:solidFill>
                <a:latin typeface="Courier New"/>
                <a:cs typeface="Courier New"/>
              </a:rPr>
              <a:t>(</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endParaRPr lang="en-US" sz="1200" dirty="0"/>
          </a:p>
          <a:p>
            <a:pPr algn="l">
              <a:lnSpc>
                <a:spcPct val="100000"/>
              </a:lnSpc>
              <a:spcBef>
                <a:spcPts val="0"/>
              </a:spcBef>
              <a:spcAft>
                <a:spcPts val="0"/>
              </a:spcAft>
              <a:buNone/>
            </a:pPr>
            <a:r>
              <a:rPr lang="en-US" sz="1200" dirty="0" b="1">
                <a:solidFill>
                  <a:srgbClr val="569CD6"/>
                </a:solidFill>
                <a:latin typeface="Courier New"/>
                <a:cs typeface="Courier New"/>
              </a:rPr>
              <a:t>INSERT</a:t>
            </a:r>
            <a:r>
              <a:rPr lang="en-US" sz="1200" dirty="0">
                <a:solidFill>
                  <a:srgbClr val="D4D4D4"/>
                </a:solidFill>
                <a:latin typeface="Courier New"/>
                <a:cs typeface="Courier New"/>
              </a:rPr>
              <a:t> </a:t>
            </a:r>
            <a:r>
              <a:rPr lang="en-US" sz="1200" dirty="0" b="1">
                <a:solidFill>
                  <a:srgbClr val="569CD6"/>
                </a:solidFill>
                <a:latin typeface="Courier New"/>
                <a:cs typeface="Courier New"/>
              </a:rPr>
              <a:t>INTO</a:t>
            </a:r>
            <a:r>
              <a:rPr lang="en-US" sz="1200" dirty="0">
                <a:solidFill>
                  <a:srgbClr val="D4D4D4"/>
                </a:solidFill>
                <a:latin typeface="Courier New"/>
                <a:cs typeface="Courier New"/>
              </a:rPr>
              <a:t> </a:t>
            </a:r>
            <a:r>
              <a:rPr lang="en-US" sz="1200" dirty="0">
                <a:solidFill>
                  <a:srgbClr val="D4D4D4"/>
                </a:solidFill>
                <a:latin typeface="Courier New"/>
                <a:cs typeface="Courier New"/>
              </a:rPr>
              <a:t>orders</a:t>
            </a:r>
            <a:r>
              <a:rPr lang="en-US" sz="1200" dirty="0">
                <a:solidFill>
                  <a:srgbClr val="D4D4D4"/>
                </a:solidFill>
                <a:latin typeface="Courier New"/>
                <a:cs typeface="Courier New"/>
              </a:rPr>
              <a:t> </a:t>
            </a:r>
            <a:r>
              <a:rPr lang="en-US" sz="1200" dirty="0">
                <a:solidFill>
                  <a:srgbClr val="D4D4D4"/>
                </a:solidFill>
                <a:latin typeface="Courier New"/>
                <a:cs typeface="Courier New"/>
              </a:rPr>
              <a:t>(</a:t>
            </a:r>
            <a:r>
              <a:rPr lang="en-US" sz="1200" dirty="0">
                <a:solidFill>
                  <a:srgbClr val="D4D4D4"/>
                </a:solidFill>
                <a:latin typeface="Courier New"/>
                <a:cs typeface="Courier New"/>
              </a:rPr>
              <a:t>order_id</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a:solidFill>
                  <a:srgbClr val="D4D4D4"/>
                </a:solidFill>
                <a:latin typeface="Courier New"/>
                <a:cs typeface="Courier New"/>
              </a:rPr>
              <a:t>customer</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a:solidFill>
                  <a:srgbClr val="D4D4D4"/>
                </a:solidFill>
                <a:latin typeface="Courier New"/>
                <a:cs typeface="Courier New"/>
              </a:rPr>
              <a:t>order_date</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a:solidFill>
                  <a:srgbClr val="D4D4D4"/>
                </a:solidFill>
                <a:latin typeface="Courier New"/>
                <a:cs typeface="Courier New"/>
              </a:rPr>
              <a:t>amount</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b="1">
                <a:solidFill>
                  <a:srgbClr val="569CD6"/>
                </a:solidFill>
                <a:latin typeface="Courier New"/>
                <a:cs typeface="Courier New"/>
              </a:rPr>
              <a:t>VALUES</a:t>
            </a:r>
            <a:r>
              <a:rPr lang="en-US" sz="1200" dirty="0">
                <a:solidFill>
                  <a:srgbClr val="D4D4D4"/>
                </a:solidFill>
                <a:latin typeface="Courier New"/>
                <a:cs typeface="Courier New"/>
              </a:rPr>
              <a:t> </a:t>
            </a:r>
            <a:r>
              <a:rPr lang="en-US" sz="1200" dirty="0">
                <a:solidFill>
                  <a:srgbClr val="D4D4D4"/>
                </a:solidFill>
                <a:latin typeface="Courier New"/>
                <a:cs typeface="Courier New"/>
              </a:rPr>
              <a:t>(</a:t>
            </a:r>
            <a:r>
              <a:rPr lang="en-US" sz="1200" dirty="0">
                <a:solidFill>
                  <a:srgbClr val="D4D4D4"/>
                </a:solidFill>
                <a:latin typeface="Courier New"/>
                <a:cs typeface="Courier New"/>
              </a:rPr>
              <a:t>1</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a:solidFill>
                  <a:srgbClr val="CE9178"/>
                </a:solidFill>
                <a:latin typeface="Courier New"/>
                <a:cs typeface="Courier New"/>
              </a:rPr>
              <a:t>'Acme Corp'</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a:solidFill>
                  <a:srgbClr val="CE9178"/>
                </a:solidFill>
                <a:latin typeface="Courier New"/>
                <a:cs typeface="Courier New"/>
              </a:rPr>
              <a:t>'2026-09-01'</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a:solidFill>
                  <a:srgbClr val="D4D4D4"/>
                </a:solidFill>
                <a:latin typeface="Courier New"/>
                <a:cs typeface="Courier New"/>
              </a:rPr>
              <a:t>1</a:t>
            </a:r>
            <a:r>
              <a:rPr lang="en-US" sz="1200" dirty="0">
                <a:solidFill>
                  <a:srgbClr val="D4D4D4"/>
                </a:solidFill>
                <a:latin typeface="Courier New"/>
                <a:cs typeface="Courier New"/>
              </a:rPr>
              <a:t>2</a:t>
            </a:r>
            <a:r>
              <a:rPr lang="en-US" sz="1200" dirty="0">
                <a:solidFill>
                  <a:srgbClr val="D4D4D4"/>
                </a:solidFill>
                <a:latin typeface="Courier New"/>
                <a:cs typeface="Courier New"/>
              </a:rPr>
              <a:t>5</a:t>
            </a:r>
            <a:r>
              <a:rPr lang="en-US" sz="1200" dirty="0">
                <a:solidFill>
                  <a:srgbClr val="D4D4D4"/>
                </a:solidFill>
                <a:latin typeface="Courier New"/>
                <a:cs typeface="Courier New"/>
              </a:rPr>
              <a:t>0</a:t>
            </a:r>
            <a:r>
              <a:rPr lang="en-US" sz="1200" dirty="0">
                <a:solidFill>
                  <a:srgbClr val="D4D4D4"/>
                </a:solidFill>
                <a:latin typeface="Courier New"/>
                <a:cs typeface="Courier New"/>
              </a:rPr>
              <a:t>.</a:t>
            </a:r>
            <a:r>
              <a:rPr lang="en-US" sz="1200" dirty="0">
                <a:solidFill>
                  <a:srgbClr val="D4D4D4"/>
                </a:solidFill>
                <a:latin typeface="Courier New"/>
                <a:cs typeface="Courier New"/>
              </a:rPr>
              <a:t>0</a:t>
            </a:r>
            <a:r>
              <a:rPr lang="en-US" sz="1200" dirty="0">
                <a:solidFill>
                  <a:srgbClr val="D4D4D4"/>
                </a:solidFill>
                <a:latin typeface="Courier New"/>
                <a:cs typeface="Courier New"/>
              </a:rPr>
              <a:t>0</a:t>
            </a:r>
            <a:r>
              <a:rPr lang="en-US" sz="1200" dirty="0">
                <a:solidFill>
                  <a:srgbClr val="D4D4D4"/>
                </a:solidFill>
                <a:latin typeface="Courier New"/>
                <a:cs typeface="Courier New"/>
              </a:rPr>
              <a:t>)</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r>
              <a:rPr lang="en-US" sz="1200" dirty="0">
                <a:solidFill>
                  <a:srgbClr val="D4D4D4"/>
                </a:solidFill>
                <a:latin typeface="Courier New"/>
                <a:cs typeface="Courier New"/>
              </a:rPr>
              <a:t>(</a:t>
            </a:r>
            <a:r>
              <a:rPr lang="en-US" sz="1200" dirty="0">
                <a:solidFill>
                  <a:srgbClr val="D4D4D4"/>
                </a:solidFill>
                <a:latin typeface="Courier New"/>
                <a:cs typeface="Courier New"/>
              </a:rPr>
              <a:t>2</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a:solidFill>
                  <a:srgbClr val="CE9178"/>
                </a:solidFill>
                <a:latin typeface="Courier New"/>
                <a:cs typeface="Courier New"/>
              </a:rPr>
              <a:t>'Globex'</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a:solidFill>
                  <a:srgbClr val="CE9178"/>
                </a:solidFill>
                <a:latin typeface="Courier New"/>
                <a:cs typeface="Courier New"/>
              </a:rPr>
              <a:t>'2026-09-02'</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a:solidFill>
                  <a:srgbClr val="D4D4D4"/>
                </a:solidFill>
                <a:latin typeface="Courier New"/>
                <a:cs typeface="Courier New"/>
              </a:rPr>
              <a:t>3</a:t>
            </a:r>
            <a:r>
              <a:rPr lang="en-US" sz="1200" dirty="0">
                <a:solidFill>
                  <a:srgbClr val="D4D4D4"/>
                </a:solidFill>
                <a:latin typeface="Courier New"/>
                <a:cs typeface="Courier New"/>
              </a:rPr>
              <a:t>1</a:t>
            </a:r>
            <a:r>
              <a:rPr lang="en-US" sz="1200" dirty="0">
                <a:solidFill>
                  <a:srgbClr val="D4D4D4"/>
                </a:solidFill>
                <a:latin typeface="Courier New"/>
                <a:cs typeface="Courier New"/>
              </a:rPr>
              <a:t>0</a:t>
            </a:r>
            <a:r>
              <a:rPr lang="en-US" sz="1200" dirty="0">
                <a:solidFill>
                  <a:srgbClr val="D4D4D4"/>
                </a:solidFill>
                <a:latin typeface="Courier New"/>
                <a:cs typeface="Courier New"/>
              </a:rPr>
              <a:t>.</a:t>
            </a:r>
            <a:r>
              <a:rPr lang="en-US" sz="1200" dirty="0">
                <a:solidFill>
                  <a:srgbClr val="D4D4D4"/>
                </a:solidFill>
                <a:latin typeface="Courier New"/>
                <a:cs typeface="Courier New"/>
              </a:rPr>
              <a:t>5</a:t>
            </a:r>
            <a:r>
              <a:rPr lang="en-US" sz="1200" dirty="0">
                <a:solidFill>
                  <a:srgbClr val="D4D4D4"/>
                </a:solidFill>
                <a:latin typeface="Courier New"/>
                <a:cs typeface="Courier New"/>
              </a:rPr>
              <a:t>0</a:t>
            </a:r>
            <a:r>
              <a:rPr lang="en-US" sz="1200" dirty="0">
                <a:solidFill>
                  <a:srgbClr val="D4D4D4"/>
                </a:solidFill>
                <a:latin typeface="Courier New"/>
                <a:cs typeface="Courier New"/>
              </a:rPr>
              <a:t>)</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a:solidFill>
                  <a:srgbClr val="D4D4D4"/>
                </a:solidFill>
                <a:latin typeface="Courier New"/>
                <a:cs typeface="Courier New"/>
              </a:rPr>
              <a:t> </a:t>
            </a:r>
            <a:endParaRPr lang="en-US" sz="1200" dirty="0"/>
          </a:p>
          <a:p>
            <a:pPr algn="l">
              <a:lnSpc>
                <a:spcPct val="100000"/>
              </a:lnSpc>
              <a:spcBef>
                <a:spcPts val="0"/>
              </a:spcBef>
              <a:spcAft>
                <a:spcPts val="0"/>
              </a:spcAft>
              <a:buNone/>
            </a:pPr>
            <a:r>
              <a:rPr lang="en-US" sz="1200" dirty="0" b="1">
                <a:solidFill>
                  <a:srgbClr val="569CD6"/>
                </a:solidFill>
                <a:latin typeface="Courier New"/>
                <a:cs typeface="Courier New"/>
              </a:rPr>
              <a:t>SELECT</a:t>
            </a:r>
            <a:r>
              <a:rPr lang="en-US" sz="1200" dirty="0">
                <a:solidFill>
                  <a:srgbClr val="D4D4D4"/>
                </a:solidFill>
                <a:latin typeface="Courier New"/>
                <a:cs typeface="Courier New"/>
              </a:rPr>
              <a:t> </a:t>
            </a:r>
            <a:r>
              <a:rPr lang="en-US" sz="1200" dirty="0">
                <a:solidFill>
                  <a:srgbClr val="D4D4D4"/>
                </a:solidFill>
                <a:latin typeface="Courier New"/>
                <a:cs typeface="Courier New"/>
              </a:rPr>
              <a:t>*</a:t>
            </a:r>
            <a:r>
              <a:rPr lang="en-US" sz="1200" dirty="0">
                <a:solidFill>
                  <a:srgbClr val="D4D4D4"/>
                </a:solidFill>
                <a:latin typeface="Courier New"/>
                <a:cs typeface="Courier New"/>
              </a:rPr>
              <a:t> </a:t>
            </a:r>
            <a:r>
              <a:rPr lang="en-US" sz="1200" dirty="0" b="1">
                <a:solidFill>
                  <a:srgbClr val="569CD6"/>
                </a:solidFill>
                <a:latin typeface="Courier New"/>
                <a:cs typeface="Courier New"/>
              </a:rPr>
              <a:t>FROM</a:t>
            </a:r>
            <a:r>
              <a:rPr lang="en-US" sz="1200" dirty="0">
                <a:solidFill>
                  <a:srgbClr val="D4D4D4"/>
                </a:solidFill>
                <a:latin typeface="Courier New"/>
                <a:cs typeface="Courier New"/>
              </a:rPr>
              <a:t> </a:t>
            </a:r>
            <a:r>
              <a:rPr lang="en-US" sz="1200" dirty="0">
                <a:solidFill>
                  <a:srgbClr val="D4D4D4"/>
                </a:solidFill>
                <a:latin typeface="Courier New"/>
                <a:cs typeface="Courier New"/>
              </a:rPr>
              <a:t>orders</a:t>
            </a:r>
            <a:r>
              <a:rPr lang="en-US" sz="1200" dirty="0">
                <a:solidFill>
                  <a:srgbClr val="D4D4D4"/>
                </a:solidFill>
                <a:latin typeface="Courier New"/>
                <a:cs typeface="Courier New"/>
              </a:rPr>
              <a:t>;</a:t>
            </a:r>
            <a:endParaRPr lang="en-US" sz="1200" dirty="0"/>
          </a:p>
          <a:p>
            <a:pPr algn="l">
              <a:lnSpc>
                <a:spcPct val="100000"/>
              </a:lnSpc>
              <a:spcBef>
                <a:spcPts val="0"/>
              </a:spcBef>
              <a:spcAft>
                <a:spcPts val="0"/>
              </a:spcAft>
              <a:buNone/>
            </a:pPr>
            <a:r>
              <a:rPr lang="en-US" sz="1200" dirty="0" b="1">
                <a:solidFill>
                  <a:srgbClr val="569CD6"/>
                </a:solidFill>
                <a:latin typeface="Courier New"/>
                <a:cs typeface="Courier New"/>
              </a:rPr>
              <a:t>DESC</a:t>
            </a:r>
            <a:r>
              <a:rPr lang="en-US" sz="1200" dirty="0">
                <a:solidFill>
                  <a:srgbClr val="D4D4D4"/>
                </a:solidFill>
                <a:latin typeface="Courier New"/>
                <a:cs typeface="Courier New"/>
              </a:rPr>
              <a:t> </a:t>
            </a:r>
            <a:r>
              <a:rPr lang="en-US" sz="1200" dirty="0" b="1">
                <a:solidFill>
                  <a:srgbClr val="569CD6"/>
                </a:solidFill>
                <a:latin typeface="Courier New"/>
                <a:cs typeface="Courier New"/>
              </a:rPr>
              <a:t>TABLE</a:t>
            </a:r>
            <a:r>
              <a:rPr lang="en-US" sz="1200" dirty="0">
                <a:solidFill>
                  <a:srgbClr val="D4D4D4"/>
                </a:solidFill>
                <a:latin typeface="Courier New"/>
                <a:cs typeface="Courier New"/>
              </a:rPr>
              <a:t> </a:t>
            </a:r>
            <a:r>
              <a:rPr lang="en-US" sz="1200" dirty="0">
                <a:solidFill>
                  <a:srgbClr val="D4D4D4"/>
                </a:solidFill>
                <a:latin typeface="Courier New"/>
                <a:cs typeface="Courier New"/>
              </a:rPr>
              <a:t>orders</a:t>
            </a:r>
            <a:r>
              <a:rPr lang="en-US" sz="1200" dirty="0">
                <a:solidFill>
                  <a:srgbClr val="D4D4D4"/>
                </a:solidFill>
                <a:latin typeface="Courier New"/>
                <a:cs typeface="Courier New"/>
              </a:rPr>
              <a:t>;</a:t>
            </a:r>
            <a:endParaRPr lang="en-US" sz="1200" dirty="0"/>
          </a:p>
        </p:txBody>
      </p:sp>
      <p:sp>
        <p:nvSpPr>
          <p:cNvPr id="11" name="Shape 11"/>
          <p:cNvSpPr/>
          <p:nvPr/>
        </p:nvSpPr>
        <p:spPr>
          <a:xfrm>
            <a:off x="7223760" y="1325880"/>
            <a:ext cx="4480560" cy="36576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500" dirty="0" b="1">
                <a:solidFill>
                  <a:srgbClr val="11567F"/>
                </a:solidFill>
              </a:rPr>
              <a:t>Result of SELECT *</a:t>
            </a:r>
            <a:endParaRPr lang="en-US" sz="1500" dirty="0"/>
          </a:p>
        </p:txBody>
      </p:sp>
      <p:sp>
        <p:nvSpPr>
          <p:cNvPr id="12" name="Shape 12"/>
          <p:cNvSpPr/>
          <p:nvPr/>
        </p:nvSpPr>
        <p:spPr>
          <a:xfrm>
            <a:off x="7223760" y="1737360"/>
            <a:ext cx="731520" cy="384048"/>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b="1">
                <a:solidFill>
                  <a:srgbClr val="FFFFFF"/>
                </a:solidFill>
              </a:rPr>
              <a:t>ID</a:t>
            </a:r>
            <a:endParaRPr lang="en-US" sz="1050" dirty="0"/>
          </a:p>
        </p:txBody>
      </p:sp>
      <p:sp>
        <p:nvSpPr>
          <p:cNvPr id="13" name="Shape 13"/>
          <p:cNvSpPr/>
          <p:nvPr/>
        </p:nvSpPr>
        <p:spPr>
          <a:xfrm>
            <a:off x="7955280" y="1737360"/>
            <a:ext cx="1051560" cy="384048"/>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b="1">
                <a:solidFill>
                  <a:srgbClr val="FFFFFF"/>
                </a:solidFill>
              </a:rPr>
              <a:t>CUSTOMER</a:t>
            </a:r>
            <a:endParaRPr lang="en-US" sz="1050" dirty="0"/>
          </a:p>
        </p:txBody>
      </p:sp>
      <p:sp>
        <p:nvSpPr>
          <p:cNvPr id="14" name="Shape 14"/>
          <p:cNvSpPr/>
          <p:nvPr/>
        </p:nvSpPr>
        <p:spPr>
          <a:xfrm>
            <a:off x="9006840" y="1737360"/>
            <a:ext cx="1097280" cy="384048"/>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b="1">
                <a:solidFill>
                  <a:srgbClr val="FFFFFF"/>
                </a:solidFill>
              </a:rPr>
              <a:t>DATE</a:t>
            </a:r>
            <a:endParaRPr lang="en-US" sz="1050" dirty="0"/>
          </a:p>
        </p:txBody>
      </p:sp>
      <p:sp>
        <p:nvSpPr>
          <p:cNvPr id="15" name="Shape 15"/>
          <p:cNvSpPr/>
          <p:nvPr/>
        </p:nvSpPr>
        <p:spPr>
          <a:xfrm>
            <a:off x="10104120" y="1737360"/>
            <a:ext cx="822960" cy="384048"/>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b="1">
                <a:solidFill>
                  <a:srgbClr val="FFFFFF"/>
                </a:solidFill>
              </a:rPr>
              <a:t>AMT</a:t>
            </a:r>
            <a:endParaRPr lang="en-US" sz="1050" dirty="0"/>
          </a:p>
        </p:txBody>
      </p:sp>
      <p:sp>
        <p:nvSpPr>
          <p:cNvPr id="16" name="Shape 16"/>
          <p:cNvSpPr/>
          <p:nvPr/>
        </p:nvSpPr>
        <p:spPr>
          <a:xfrm>
            <a:off x="10927080" y="1737360"/>
            <a:ext cx="777240" cy="384048"/>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b="1">
                <a:solidFill>
                  <a:srgbClr val="FFFFFF"/>
                </a:solidFill>
              </a:rPr>
              <a:t>LOADED</a:t>
            </a:r>
            <a:endParaRPr lang="en-US" sz="1050" dirty="0"/>
          </a:p>
        </p:txBody>
      </p:sp>
      <p:sp>
        <p:nvSpPr>
          <p:cNvPr id="17" name="Shape 17"/>
          <p:cNvSpPr/>
          <p:nvPr/>
        </p:nvSpPr>
        <p:spPr>
          <a:xfrm>
            <a:off x="7223760" y="2121408"/>
            <a:ext cx="731520" cy="38404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a:solidFill>
                  <a:srgbClr val="1F2937"/>
                </a:solidFill>
              </a:rPr>
              <a:t>1</a:t>
            </a:r>
            <a:endParaRPr lang="en-US" sz="1050" dirty="0"/>
          </a:p>
        </p:txBody>
      </p:sp>
      <p:sp>
        <p:nvSpPr>
          <p:cNvPr id="18" name="Shape 18"/>
          <p:cNvSpPr/>
          <p:nvPr/>
        </p:nvSpPr>
        <p:spPr>
          <a:xfrm>
            <a:off x="7955280" y="2121408"/>
            <a:ext cx="1051560" cy="38404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a:solidFill>
                  <a:srgbClr val="1F2937"/>
                </a:solidFill>
              </a:rPr>
              <a:t>Acme Corp</a:t>
            </a:r>
            <a:endParaRPr lang="en-US" sz="1050" dirty="0"/>
          </a:p>
        </p:txBody>
      </p:sp>
      <p:sp>
        <p:nvSpPr>
          <p:cNvPr id="19" name="Shape 19"/>
          <p:cNvSpPr/>
          <p:nvPr/>
        </p:nvSpPr>
        <p:spPr>
          <a:xfrm>
            <a:off x="9006840" y="2121408"/>
            <a:ext cx="1097280" cy="38404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a:solidFill>
                  <a:srgbClr val="1F2937"/>
                </a:solidFill>
              </a:rPr>
              <a:t>2026-09-01</a:t>
            </a:r>
            <a:endParaRPr lang="en-US" sz="1050" dirty="0"/>
          </a:p>
        </p:txBody>
      </p:sp>
      <p:sp>
        <p:nvSpPr>
          <p:cNvPr id="20" name="Shape 20"/>
          <p:cNvSpPr/>
          <p:nvPr/>
        </p:nvSpPr>
        <p:spPr>
          <a:xfrm>
            <a:off x="10104120" y="2121408"/>
            <a:ext cx="822960" cy="38404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a:solidFill>
                  <a:srgbClr val="1F2937"/>
                </a:solidFill>
              </a:rPr>
              <a:t>1250.00</a:t>
            </a:r>
            <a:endParaRPr lang="en-US" sz="1050" dirty="0"/>
          </a:p>
        </p:txBody>
      </p:sp>
      <p:sp>
        <p:nvSpPr>
          <p:cNvPr id="21" name="Shape 21"/>
          <p:cNvSpPr/>
          <p:nvPr/>
        </p:nvSpPr>
        <p:spPr>
          <a:xfrm>
            <a:off x="10927080" y="2121408"/>
            <a:ext cx="777240" cy="38404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a:solidFill>
                  <a:srgbClr val="1F2937"/>
                </a:solidFill>
              </a:rPr>
              <a:t>now</a:t>
            </a:r>
            <a:endParaRPr lang="en-US" sz="1050" dirty="0"/>
          </a:p>
        </p:txBody>
      </p:sp>
      <p:sp>
        <p:nvSpPr>
          <p:cNvPr id="22" name="Shape 22"/>
          <p:cNvSpPr/>
          <p:nvPr/>
        </p:nvSpPr>
        <p:spPr>
          <a:xfrm>
            <a:off x="7223760" y="2505456"/>
            <a:ext cx="731520" cy="38404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a:solidFill>
                  <a:srgbClr val="1F2937"/>
                </a:solidFill>
              </a:rPr>
              <a:t>2</a:t>
            </a:r>
            <a:endParaRPr lang="en-US" sz="1050" dirty="0"/>
          </a:p>
        </p:txBody>
      </p:sp>
      <p:sp>
        <p:nvSpPr>
          <p:cNvPr id="23" name="Shape 23"/>
          <p:cNvSpPr/>
          <p:nvPr/>
        </p:nvSpPr>
        <p:spPr>
          <a:xfrm>
            <a:off x="7955280" y="2505456"/>
            <a:ext cx="1051560" cy="38404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a:solidFill>
                  <a:srgbClr val="1F2937"/>
                </a:solidFill>
              </a:rPr>
              <a:t>Globex</a:t>
            </a:r>
            <a:endParaRPr lang="en-US" sz="1050" dirty="0"/>
          </a:p>
        </p:txBody>
      </p:sp>
      <p:sp>
        <p:nvSpPr>
          <p:cNvPr id="24" name="Shape 24"/>
          <p:cNvSpPr/>
          <p:nvPr/>
        </p:nvSpPr>
        <p:spPr>
          <a:xfrm>
            <a:off x="9006840" y="2505456"/>
            <a:ext cx="1097280" cy="38404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a:solidFill>
                  <a:srgbClr val="1F2937"/>
                </a:solidFill>
              </a:rPr>
              <a:t>2026-09-02</a:t>
            </a:r>
            <a:endParaRPr lang="en-US" sz="1050" dirty="0"/>
          </a:p>
        </p:txBody>
      </p:sp>
      <p:sp>
        <p:nvSpPr>
          <p:cNvPr id="25" name="Shape 25"/>
          <p:cNvSpPr/>
          <p:nvPr/>
        </p:nvSpPr>
        <p:spPr>
          <a:xfrm>
            <a:off x="10104120" y="2505456"/>
            <a:ext cx="822960" cy="38404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a:solidFill>
                  <a:srgbClr val="1F2937"/>
                </a:solidFill>
              </a:rPr>
              <a:t>310.50</a:t>
            </a:r>
            <a:endParaRPr lang="en-US" sz="1050" dirty="0"/>
          </a:p>
        </p:txBody>
      </p:sp>
      <p:sp>
        <p:nvSpPr>
          <p:cNvPr id="26" name="Shape 26"/>
          <p:cNvSpPr/>
          <p:nvPr/>
        </p:nvSpPr>
        <p:spPr>
          <a:xfrm>
            <a:off x="10927080" y="2505456"/>
            <a:ext cx="777240" cy="38404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a:solidFill>
                  <a:srgbClr val="1F2937"/>
                </a:solidFill>
              </a:rPr>
              <a:t>now</a:t>
            </a:r>
            <a:endParaRPr lang="en-US" sz="1050" dirty="0"/>
          </a:p>
        </p:txBody>
      </p:sp>
      <p:sp>
        <p:nvSpPr>
          <p:cNvPr id="27" name="Shape 27"/>
          <p:cNvSpPr/>
          <p:nvPr/>
        </p:nvSpPr>
        <p:spPr>
          <a:xfrm>
            <a:off x="7223760" y="3017520"/>
            <a:ext cx="4480560" cy="2011680"/>
          </a:xfrm>
          <a:prstGeom prst="rect">
            <a:avLst/>
          </a:prstGeom>
          <a:noFill/>
          <a:ln>
            <a:noFill/>
          </a:ln>
        </p:spPr>
        <p:txBody>
          <a:bodyPr wrap="square" lIns="45720" tIns="45720" rIns="45720" bIns="45720" anchor="t" rtlCol="0">
            <a:noAutofit/>
          </a:bodyPr>
          <a:lstStyle/>
          <a:p>
            <a:pPr algn="l" marL="285750" indent="-285750">
              <a:lnSpc>
                <a:spcPct val="100000"/>
              </a:lnSpc>
              <a:spcBef>
                <a:spcPts val="600"/>
              </a:spcBef>
              <a:spcAft>
                <a:spcPts val="0"/>
              </a:spcAft>
              <a:buClr>
                <a:srgbClr val="29B5E8"/>
              </a:buClr>
              <a:buFont typeface="Arial"/>
              <a:buChar char="•"/>
            </a:pPr>
            <a:r>
              <a:rPr lang="en-US" sz="1300" dirty="0">
                <a:solidFill>
                  <a:srgbClr val="1F2937"/>
                </a:solidFill>
              </a:rPr>
              <a:t>New DBs get </a:t>
            </a:r>
            <a:r>
              <a:rPr lang="en-US" sz="1300" dirty="0" b="1">
                <a:solidFill>
                  <a:srgbClr val="1F2937"/>
                </a:solidFill>
              </a:rPr>
              <a:t>PUBLIC</a:t>
            </a:r>
            <a:r>
              <a:rPr lang="en-US" sz="1300" dirty="0">
                <a:solidFill>
                  <a:srgbClr val="1F2937"/>
                </a:solidFill>
              </a:rPr>
              <a:t> + </a:t>
            </a:r>
            <a:r>
              <a:rPr lang="en-US" sz="1300" dirty="0" b="1">
                <a:solidFill>
                  <a:srgbClr val="1F2937"/>
                </a:solidFill>
              </a:rPr>
              <a:t>INFORMATION_SCHEMA</a:t>
            </a:r>
            <a:r>
              <a:rPr lang="en-US" sz="1300" dirty="0">
                <a:solidFill>
                  <a:srgbClr val="1F2937"/>
                </a:solidFill>
              </a:rPr>
              <a:t> schemas</a:t>
            </a:r>
            <a:endParaRPr lang="en-US" sz="1300" dirty="0"/>
          </a:p>
          <a:p>
            <a:pPr algn="l" marL="285750" indent="-285750">
              <a:lnSpc>
                <a:spcPct val="100000"/>
              </a:lnSpc>
              <a:spcBef>
                <a:spcPts val="600"/>
              </a:spcBef>
              <a:spcAft>
                <a:spcPts val="0"/>
              </a:spcAft>
              <a:buClr>
                <a:srgbClr val="29B5E8"/>
              </a:buClr>
              <a:buFont typeface="Arial"/>
              <a:buChar char="•"/>
            </a:pPr>
            <a:r>
              <a:rPr lang="en-US" sz="1235" dirty="0" b="1">
                <a:solidFill>
                  <a:srgbClr val="11567F"/>
                </a:solidFill>
                <a:latin typeface="Courier New"/>
                <a:cs typeface="Courier New"/>
              </a:rPr>
              <a:t>NUMBER(10,2)</a:t>
            </a:r>
            <a:r>
              <a:rPr lang="en-US" sz="1300" dirty="0">
                <a:solidFill>
                  <a:srgbClr val="1F2937"/>
                </a:solidFill>
              </a:rPr>
              <a:t> for money; avoid FLOAT</a:t>
            </a:r>
            <a:endParaRPr lang="en-US" sz="1300" dirty="0"/>
          </a:p>
          <a:p>
            <a:pPr algn="l" marL="285750" indent="-285750">
              <a:lnSpc>
                <a:spcPct val="100000"/>
              </a:lnSpc>
              <a:spcBef>
                <a:spcPts val="600"/>
              </a:spcBef>
              <a:spcAft>
                <a:spcPts val="0"/>
              </a:spcAft>
              <a:buClr>
                <a:srgbClr val="29B5E8"/>
              </a:buClr>
              <a:buFont typeface="Arial"/>
              <a:buChar char="•"/>
            </a:pPr>
            <a:r>
              <a:rPr lang="en-US" sz="1300" dirty="0">
                <a:solidFill>
                  <a:srgbClr val="1F2937"/>
                </a:solidFill>
              </a:rPr>
              <a:t>PK / UNIQUE are </a:t>
            </a:r>
            <a:r>
              <a:rPr lang="en-US" sz="1300" dirty="0" b="1">
                <a:solidFill>
                  <a:srgbClr val="1F2937"/>
                </a:solidFill>
              </a:rPr>
              <a:t>not enforced</a:t>
            </a:r>
            <a:r>
              <a:rPr lang="en-US" sz="1300" dirty="0">
                <a:solidFill>
                  <a:srgbClr val="1F2937"/>
                </a:solidFill>
              </a:rPr>
              <a:t>; only NOT NULL is</a:t>
            </a:r>
            <a:endParaRPr lang="en-US" sz="1300" dirty="0"/>
          </a:p>
        </p:txBody>
      </p:sp>
      <p:sp>
        <p:nvSpPr>
          <p:cNvPr id="28" name="Shape 28"/>
          <p:cNvSpPr/>
          <p:nvPr/>
        </p:nvSpPr>
        <p:spPr>
          <a:xfrm>
            <a:off x="7223760" y="5074920"/>
            <a:ext cx="4434840" cy="1097280"/>
          </a:xfrm>
          <a:prstGeom prst="roundRect">
            <a:avLst>
              <a:gd name="adj" fmla="val 10000"/>
            </a:avLst>
          </a:prstGeom>
          <a:solidFill>
            <a:srgbClr val="FFF7E6"/>
          </a:solidFill>
          <a:ln w="15875">
            <a:solidFill>
              <a:srgbClr val="DC2626"/>
            </a:solidFill>
          </a:ln>
        </p:spPr>
        <p:txBody>
          <a:bodyPr wrap="square" lIns="91440" tIns="91440" rIns="91440" bIns="91440" anchor="t" rtlCol="0">
            <a:noAutofit/>
          </a:bodyPr>
          <a:lstStyle/>
          <a:p>
            <a:endParaRPr lang="en-US" dirty="0"/>
          </a:p>
        </p:txBody>
      </p:sp>
      <p:sp>
        <p:nvSpPr>
          <p:cNvPr id="29" name="Shape 29"/>
          <p:cNvSpPr/>
          <p:nvPr/>
        </p:nvSpPr>
        <p:spPr>
          <a:xfrm>
            <a:off x="7333488" y="5120640"/>
            <a:ext cx="4215384" cy="100584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00" dirty="0" b="1">
                <a:solidFill>
                  <a:srgbClr val="DC2626"/>
                </a:solidFill>
              </a:rPr>
              <a:t>CAUTION  </a:t>
            </a:r>
            <a:r>
              <a:rPr lang="en-US" sz="1139" dirty="0" b="1">
                <a:solidFill>
                  <a:srgbClr val="11567F"/>
                </a:solidFill>
                <a:latin typeface="Courier New"/>
                <a:cs typeface="Courier New"/>
              </a:rPr>
              <a:t>CREATE OR REPLACE</a:t>
            </a:r>
            <a:r>
              <a:rPr lang="en-US" sz="1200" dirty="0">
                <a:solidFill>
                  <a:srgbClr val="1F2937"/>
                </a:solidFill>
              </a:rPr>
              <a:t> </a:t>
            </a:r>
            <a:r>
              <a:rPr lang="en-US" sz="1200" dirty="0" b="1">
                <a:solidFill>
                  <a:srgbClr val="1F2937"/>
                </a:solidFill>
              </a:rPr>
              <a:t>drops existing data</a:t>
            </a:r>
            <a:r>
              <a:rPr lang="en-US" sz="1200" dirty="0">
                <a:solidFill>
                  <a:srgbClr val="1F2937"/>
                </a:solidFill>
              </a:rPr>
              <a:t>. In real environments use </a:t>
            </a:r>
            <a:r>
              <a:rPr lang="en-US" sz="1139" dirty="0" b="1">
                <a:solidFill>
                  <a:srgbClr val="11567F"/>
                </a:solidFill>
                <a:latin typeface="Courier New"/>
                <a:cs typeface="Courier New"/>
              </a:rPr>
              <a:t>IF NOT EXISTS</a:t>
            </a:r>
            <a:r>
              <a:rPr lang="en-US" sz="1200" dirty="0">
                <a:solidFill>
                  <a:srgbClr val="1F2937"/>
                </a:solidFill>
              </a:rPr>
              <a:t> or </a:t>
            </a:r>
            <a:r>
              <a:rPr lang="en-US" sz="1139" dirty="0" b="1">
                <a:solidFill>
                  <a:srgbClr val="11567F"/>
                </a:solidFill>
                <a:latin typeface="Courier New"/>
                <a:cs typeface="Courier New"/>
              </a:rPr>
              <a:t>ALTER TABLE</a:t>
            </a:r>
            <a:r>
              <a:rPr lang="en-US" sz="1200" dirty="0">
                <a:solidFill>
                  <a:srgbClr val="1F2937"/>
                </a:solidFill>
              </a:rPr>
              <a: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Data Loading: How It Works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Files → Stage → COPY INTO → Table</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16 / 26</a:t>
            </a:r>
            <a:endParaRPr lang="en-US" sz="1000" dirty="0"/>
          </a:p>
        </p:txBody>
      </p:sp>
      <p:sp>
        <p:nvSpPr>
          <p:cNvPr id="9" name="Shape 9"/>
          <p:cNvSpPr/>
          <p:nvPr/>
        </p:nvSpPr>
        <p:spPr>
          <a:xfrm>
            <a:off x="548640" y="1417320"/>
            <a:ext cx="2468880" cy="1600200"/>
          </a:xfrm>
          <a:prstGeom prst="roundRect">
            <a:avLst>
              <a:gd name="adj" fmla="val 10000"/>
            </a:avLst>
          </a:prstGeom>
          <a:solidFill>
            <a:srgbClr val="6B8EAD"/>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700" dirty="0" b="1">
                <a:solidFill>
                  <a:srgbClr val="FFFFFF"/>
                </a:solidFill>
              </a:rPr>
              <a:t>Source files</a:t>
            </a:r>
            <a:endParaRPr lang="en-US" sz="1700" dirty="0"/>
          </a:p>
          <a:p>
            <a:pPr algn="ctr">
              <a:lnSpc>
                <a:spcPct val="100000"/>
              </a:lnSpc>
              <a:spcBef>
                <a:spcPts val="600"/>
              </a:spcBef>
              <a:spcAft>
                <a:spcPts val="0"/>
              </a:spcAft>
              <a:buNone/>
            </a:pPr>
            <a:r>
              <a:rPr lang="en-US" sz="1150" dirty="0">
                <a:solidFill>
                  <a:srgbClr val="E0F2FE"/>
                </a:solidFill>
              </a:rPr>
              <a:t>CSV · JSON · Parquet</a:t>
            </a:r>
            <a:endParaRPr lang="en-US" sz="1150" dirty="0"/>
          </a:p>
          <a:p>
            <a:pPr algn="ctr">
              <a:lnSpc>
                <a:spcPct val="100000"/>
              </a:lnSpc>
              <a:spcBef>
                <a:spcPts val="0"/>
              </a:spcBef>
              <a:spcAft>
                <a:spcPts val="0"/>
              </a:spcAft>
              <a:buNone/>
            </a:pPr>
            <a:r>
              <a:rPr lang="en-US" sz="1150" dirty="0">
                <a:solidFill>
                  <a:srgbClr val="E0F2FE"/>
                </a:solidFill>
              </a:rPr>
              <a:t>Avro · ORC · XML</a:t>
            </a:r>
            <a:endParaRPr lang="en-US" sz="1150" dirty="0"/>
          </a:p>
        </p:txBody>
      </p:sp>
      <p:sp>
        <p:nvSpPr>
          <p:cNvPr id="10" name="Shape 10"/>
          <p:cNvSpPr/>
          <p:nvPr/>
        </p:nvSpPr>
        <p:spPr>
          <a:xfrm>
            <a:off x="3090672" y="2039112"/>
            <a:ext cx="329184" cy="365760"/>
          </a:xfrm>
          <a:prstGeom prst="rightArrow">
            <a:avLst/>
          </a:prstGeom>
          <a:solidFill>
            <a:srgbClr val="29B5E8"/>
          </a:solidFill>
          <a:ln>
            <a:noFill/>
          </a:ln>
        </p:spPr>
        <p:txBody>
          <a:bodyPr wrap="square" lIns="91440" tIns="91440" rIns="91440" bIns="91440" anchor="t" rtlCol="0">
            <a:noAutofit/>
          </a:bodyPr>
          <a:lstStyle/>
          <a:p>
            <a:endParaRPr lang="en-US" dirty="0"/>
          </a:p>
        </p:txBody>
      </p:sp>
      <p:sp>
        <p:nvSpPr>
          <p:cNvPr id="11" name="Shape 11"/>
          <p:cNvSpPr/>
          <p:nvPr/>
        </p:nvSpPr>
        <p:spPr>
          <a:xfrm>
            <a:off x="3474720" y="1417320"/>
            <a:ext cx="2468880" cy="1600200"/>
          </a:xfrm>
          <a:prstGeom prst="roundRect">
            <a:avLst>
              <a:gd name="adj" fmla="val 10000"/>
            </a:avLst>
          </a:prstGeom>
          <a:solidFill>
            <a:srgbClr val="11567F"/>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700" dirty="0" b="1">
                <a:solidFill>
                  <a:srgbClr val="FFFFFF"/>
                </a:solidFill>
              </a:rPr>
              <a:t>Stage</a:t>
            </a:r>
            <a:endParaRPr lang="en-US" sz="1700" dirty="0"/>
          </a:p>
          <a:p>
            <a:pPr algn="ctr">
              <a:lnSpc>
                <a:spcPct val="100000"/>
              </a:lnSpc>
              <a:spcBef>
                <a:spcPts val="600"/>
              </a:spcBef>
              <a:spcAft>
                <a:spcPts val="0"/>
              </a:spcAft>
              <a:buNone/>
            </a:pPr>
            <a:r>
              <a:rPr lang="en-US" sz="1150" dirty="0">
                <a:solidFill>
                  <a:srgbClr val="E0F2FE"/>
                </a:solidFill>
              </a:rPr>
              <a:t>Internal: @~  @%tbl  @stage</a:t>
            </a:r>
            <a:endParaRPr lang="en-US" sz="1150" dirty="0"/>
          </a:p>
          <a:p>
            <a:pPr algn="ctr">
              <a:lnSpc>
                <a:spcPct val="100000"/>
              </a:lnSpc>
              <a:spcBef>
                <a:spcPts val="0"/>
              </a:spcBef>
              <a:spcAft>
                <a:spcPts val="0"/>
              </a:spcAft>
              <a:buNone/>
            </a:pPr>
            <a:r>
              <a:rPr lang="en-US" sz="1150" dirty="0">
                <a:solidFill>
                  <a:srgbClr val="E0F2FE"/>
                </a:solidFill>
              </a:rPr>
              <a:t>External: S3 · Azure · GCS</a:t>
            </a:r>
            <a:endParaRPr lang="en-US" sz="1150" dirty="0"/>
          </a:p>
        </p:txBody>
      </p:sp>
      <p:sp>
        <p:nvSpPr>
          <p:cNvPr id="12" name="Shape 12"/>
          <p:cNvSpPr/>
          <p:nvPr/>
        </p:nvSpPr>
        <p:spPr>
          <a:xfrm>
            <a:off x="6016752" y="2039112"/>
            <a:ext cx="329184" cy="365760"/>
          </a:xfrm>
          <a:prstGeom prst="rightArrow">
            <a:avLst/>
          </a:prstGeom>
          <a:solidFill>
            <a:srgbClr val="29B5E8"/>
          </a:solidFill>
          <a:ln>
            <a:noFill/>
          </a:ln>
        </p:spPr>
        <p:txBody>
          <a:bodyPr wrap="square" lIns="91440" tIns="91440" rIns="91440" bIns="91440" anchor="t" rtlCol="0">
            <a:noAutofit/>
          </a:bodyPr>
          <a:lstStyle/>
          <a:p>
            <a:endParaRPr lang="en-US" dirty="0"/>
          </a:p>
        </p:txBody>
      </p:sp>
      <p:sp>
        <p:nvSpPr>
          <p:cNvPr id="13" name="Shape 13"/>
          <p:cNvSpPr/>
          <p:nvPr/>
        </p:nvSpPr>
        <p:spPr>
          <a:xfrm>
            <a:off x="6400800" y="1417320"/>
            <a:ext cx="2468880" cy="1600200"/>
          </a:xfrm>
          <a:prstGeom prst="roundRect">
            <a:avLst>
              <a:gd name="adj" fmla="val 10000"/>
            </a:avLst>
          </a:prstGeom>
          <a:solidFill>
            <a:srgbClr val="1B7FB5"/>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700" dirty="0" b="1">
                <a:solidFill>
                  <a:srgbClr val="FFFFFF"/>
                </a:solidFill>
              </a:rPr>
              <a:t>COPY INTO</a:t>
            </a:r>
            <a:endParaRPr lang="en-US" sz="1700" dirty="0"/>
          </a:p>
          <a:p>
            <a:pPr algn="ctr">
              <a:lnSpc>
                <a:spcPct val="100000"/>
              </a:lnSpc>
              <a:spcBef>
                <a:spcPts val="600"/>
              </a:spcBef>
              <a:spcAft>
                <a:spcPts val="0"/>
              </a:spcAft>
              <a:buNone/>
            </a:pPr>
            <a:r>
              <a:rPr lang="en-US" sz="1150" dirty="0">
                <a:solidFill>
                  <a:srgbClr val="E0F2FE"/>
                </a:solidFill>
              </a:rPr>
              <a:t>Uses a FILE FORMAT</a:t>
            </a:r>
            <a:endParaRPr lang="en-US" sz="1150" dirty="0"/>
          </a:p>
          <a:p>
            <a:pPr algn="ctr">
              <a:lnSpc>
                <a:spcPct val="100000"/>
              </a:lnSpc>
              <a:spcBef>
                <a:spcPts val="0"/>
              </a:spcBef>
              <a:spcAft>
                <a:spcPts val="0"/>
              </a:spcAft>
              <a:buNone/>
            </a:pPr>
            <a:r>
              <a:rPr lang="en-US" sz="1150" dirty="0">
                <a:solidFill>
                  <a:srgbClr val="E0F2FE"/>
                </a:solidFill>
              </a:rPr>
              <a:t>runs on a warehouse</a:t>
            </a:r>
            <a:endParaRPr lang="en-US" sz="1150" dirty="0"/>
          </a:p>
        </p:txBody>
      </p:sp>
      <p:sp>
        <p:nvSpPr>
          <p:cNvPr id="14" name="Shape 14"/>
          <p:cNvSpPr/>
          <p:nvPr/>
        </p:nvSpPr>
        <p:spPr>
          <a:xfrm>
            <a:off x="8942832" y="2039112"/>
            <a:ext cx="329184" cy="365760"/>
          </a:xfrm>
          <a:prstGeom prst="rightArrow">
            <a:avLst/>
          </a:prstGeom>
          <a:solidFill>
            <a:srgbClr val="29B5E8"/>
          </a:solidFill>
          <a:ln>
            <a:noFill/>
          </a:ln>
        </p:spPr>
        <p:txBody>
          <a:bodyPr wrap="square" lIns="91440" tIns="91440" rIns="91440" bIns="91440" anchor="t" rtlCol="0">
            <a:noAutofit/>
          </a:bodyPr>
          <a:lstStyle/>
          <a:p>
            <a:endParaRPr lang="en-US" dirty="0"/>
          </a:p>
        </p:txBody>
      </p:sp>
      <p:sp>
        <p:nvSpPr>
          <p:cNvPr id="15" name="Shape 15"/>
          <p:cNvSpPr/>
          <p:nvPr/>
        </p:nvSpPr>
        <p:spPr>
          <a:xfrm>
            <a:off x="9326880" y="1417320"/>
            <a:ext cx="2468880" cy="1600200"/>
          </a:xfrm>
          <a:prstGeom prst="roundRect">
            <a:avLst>
              <a:gd name="adj" fmla="val 10000"/>
            </a:avLst>
          </a:prstGeom>
          <a:solidFill>
            <a:srgbClr val="2E9E6A"/>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700" dirty="0" b="1">
                <a:solidFill>
                  <a:srgbClr val="FFFFFF"/>
                </a:solidFill>
              </a:rPr>
              <a:t>Table</a:t>
            </a:r>
            <a:endParaRPr lang="en-US" sz="1700" dirty="0"/>
          </a:p>
          <a:p>
            <a:pPr algn="ctr">
              <a:lnSpc>
                <a:spcPct val="100000"/>
              </a:lnSpc>
              <a:spcBef>
                <a:spcPts val="600"/>
              </a:spcBef>
              <a:spcAft>
                <a:spcPts val="0"/>
              </a:spcAft>
              <a:buNone/>
            </a:pPr>
            <a:r>
              <a:rPr lang="en-US" sz="1150" dirty="0">
                <a:solidFill>
                  <a:srgbClr val="E0F2FE"/>
                </a:solidFill>
              </a:rPr>
              <a:t>Queryable data</a:t>
            </a:r>
            <a:endParaRPr lang="en-US" sz="1150" dirty="0"/>
          </a:p>
          <a:p>
            <a:pPr algn="ctr">
              <a:lnSpc>
                <a:spcPct val="100000"/>
              </a:lnSpc>
              <a:spcBef>
                <a:spcPts val="0"/>
              </a:spcBef>
              <a:spcAft>
                <a:spcPts val="0"/>
              </a:spcAft>
              <a:buNone/>
            </a:pPr>
            <a:r>
              <a:rPr lang="en-US" sz="1150" dirty="0">
                <a:solidFill>
                  <a:srgbClr val="E0F2FE"/>
                </a:solidFill>
              </a:rPr>
              <a:t>sales_db.raw.orders</a:t>
            </a:r>
            <a:endParaRPr lang="en-US" sz="1150" dirty="0"/>
          </a:p>
        </p:txBody>
      </p:sp>
      <p:sp>
        <p:nvSpPr>
          <p:cNvPr id="16" name="Shape 16"/>
          <p:cNvSpPr/>
          <p:nvPr/>
        </p:nvSpPr>
        <p:spPr>
          <a:xfrm>
            <a:off x="548640" y="3337560"/>
            <a:ext cx="2377440" cy="429768"/>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FFFFFF"/>
                </a:solidFill>
              </a:rPr>
              <a:t>Method</a:t>
            </a:r>
            <a:endParaRPr lang="en-US" sz="1250" dirty="0"/>
          </a:p>
        </p:txBody>
      </p:sp>
      <p:sp>
        <p:nvSpPr>
          <p:cNvPr id="17" name="Shape 17"/>
          <p:cNvSpPr/>
          <p:nvPr/>
        </p:nvSpPr>
        <p:spPr>
          <a:xfrm>
            <a:off x="2926080" y="3337560"/>
            <a:ext cx="4937760" cy="429768"/>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FFFFFF"/>
                </a:solidFill>
              </a:rPr>
              <a:t>When to use</a:t>
            </a:r>
            <a:endParaRPr lang="en-US" sz="1250" dirty="0"/>
          </a:p>
        </p:txBody>
      </p:sp>
      <p:sp>
        <p:nvSpPr>
          <p:cNvPr id="18" name="Shape 18"/>
          <p:cNvSpPr/>
          <p:nvPr/>
        </p:nvSpPr>
        <p:spPr>
          <a:xfrm>
            <a:off x="7863840" y="3337560"/>
            <a:ext cx="1463040" cy="429768"/>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FFFFFF"/>
                </a:solidFill>
              </a:rPr>
              <a:t>Latency</a:t>
            </a:r>
            <a:endParaRPr lang="en-US" sz="1250" dirty="0"/>
          </a:p>
        </p:txBody>
      </p:sp>
      <p:sp>
        <p:nvSpPr>
          <p:cNvPr id="19" name="Shape 19"/>
          <p:cNvSpPr/>
          <p:nvPr/>
        </p:nvSpPr>
        <p:spPr>
          <a:xfrm>
            <a:off x="548640" y="3767328"/>
            <a:ext cx="237744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COPY INTO (bulk)</a:t>
            </a:r>
            <a:endParaRPr lang="en-US" sz="1250" dirty="0"/>
          </a:p>
        </p:txBody>
      </p:sp>
      <p:sp>
        <p:nvSpPr>
          <p:cNvPr id="20" name="Shape 20"/>
          <p:cNvSpPr/>
          <p:nvPr/>
        </p:nvSpPr>
        <p:spPr>
          <a:xfrm>
            <a:off x="2926080" y="3767328"/>
            <a:ext cx="493776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Scheduled batch loads of files</a:t>
            </a:r>
            <a:endParaRPr lang="en-US" sz="1250" dirty="0"/>
          </a:p>
        </p:txBody>
      </p:sp>
      <p:sp>
        <p:nvSpPr>
          <p:cNvPr id="21" name="Shape 21"/>
          <p:cNvSpPr/>
          <p:nvPr/>
        </p:nvSpPr>
        <p:spPr>
          <a:xfrm>
            <a:off x="7863840" y="3767328"/>
            <a:ext cx="146304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Minutes</a:t>
            </a:r>
            <a:endParaRPr lang="en-US" sz="1250" dirty="0"/>
          </a:p>
        </p:txBody>
      </p:sp>
      <p:sp>
        <p:nvSpPr>
          <p:cNvPr id="22" name="Shape 22"/>
          <p:cNvSpPr/>
          <p:nvPr/>
        </p:nvSpPr>
        <p:spPr>
          <a:xfrm>
            <a:off x="548640" y="4197096"/>
            <a:ext cx="2377440" cy="42976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Snowpipe</a:t>
            </a:r>
            <a:endParaRPr lang="en-US" sz="1250" dirty="0"/>
          </a:p>
        </p:txBody>
      </p:sp>
      <p:sp>
        <p:nvSpPr>
          <p:cNvPr id="23" name="Shape 23"/>
          <p:cNvSpPr/>
          <p:nvPr/>
        </p:nvSpPr>
        <p:spPr>
          <a:xfrm>
            <a:off x="2926080" y="4197096"/>
            <a:ext cx="4937760" cy="42976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Continuous auto-ingest when files land in cloud storage</a:t>
            </a:r>
            <a:endParaRPr lang="en-US" sz="1250" dirty="0"/>
          </a:p>
        </p:txBody>
      </p:sp>
      <p:sp>
        <p:nvSpPr>
          <p:cNvPr id="24" name="Shape 24"/>
          <p:cNvSpPr/>
          <p:nvPr/>
        </p:nvSpPr>
        <p:spPr>
          <a:xfrm>
            <a:off x="7863840" y="4197096"/>
            <a:ext cx="1463040" cy="42976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~1 minute</a:t>
            </a:r>
            <a:endParaRPr lang="en-US" sz="1250" dirty="0"/>
          </a:p>
        </p:txBody>
      </p:sp>
      <p:sp>
        <p:nvSpPr>
          <p:cNvPr id="25" name="Shape 25"/>
          <p:cNvSpPr/>
          <p:nvPr/>
        </p:nvSpPr>
        <p:spPr>
          <a:xfrm>
            <a:off x="548640" y="4626864"/>
            <a:ext cx="237744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Snowpipe Streaming</a:t>
            </a:r>
            <a:endParaRPr lang="en-US" sz="1250" dirty="0"/>
          </a:p>
        </p:txBody>
      </p:sp>
      <p:sp>
        <p:nvSpPr>
          <p:cNvPr id="26" name="Shape 26"/>
          <p:cNvSpPr/>
          <p:nvPr/>
        </p:nvSpPr>
        <p:spPr>
          <a:xfrm>
            <a:off x="2926080" y="4626864"/>
            <a:ext cx="493776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Row-level streams (e.g. Kafka), no files</a:t>
            </a:r>
            <a:endParaRPr lang="en-US" sz="1250" dirty="0"/>
          </a:p>
        </p:txBody>
      </p:sp>
      <p:sp>
        <p:nvSpPr>
          <p:cNvPr id="27" name="Shape 27"/>
          <p:cNvSpPr/>
          <p:nvPr/>
        </p:nvSpPr>
        <p:spPr>
          <a:xfrm>
            <a:off x="7863840" y="4626864"/>
            <a:ext cx="146304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Seconds</a:t>
            </a:r>
            <a:endParaRPr lang="en-US" sz="1250" dirty="0"/>
          </a:p>
        </p:txBody>
      </p:sp>
      <p:sp>
        <p:nvSpPr>
          <p:cNvPr id="28" name="Shape 28"/>
          <p:cNvSpPr/>
          <p:nvPr/>
        </p:nvSpPr>
        <p:spPr>
          <a:xfrm>
            <a:off x="548640" y="5056632"/>
            <a:ext cx="2377440" cy="42976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Snowsight Load Data</a:t>
            </a:r>
            <a:endParaRPr lang="en-US" sz="1250" dirty="0"/>
          </a:p>
        </p:txBody>
      </p:sp>
      <p:sp>
        <p:nvSpPr>
          <p:cNvPr id="29" name="Shape 29"/>
          <p:cNvSpPr/>
          <p:nvPr/>
        </p:nvSpPr>
        <p:spPr>
          <a:xfrm>
            <a:off x="2926080" y="5056632"/>
            <a:ext cx="4937760" cy="42976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One-off small files through the UI</a:t>
            </a:r>
            <a:endParaRPr lang="en-US" sz="1250" dirty="0"/>
          </a:p>
        </p:txBody>
      </p:sp>
      <p:sp>
        <p:nvSpPr>
          <p:cNvPr id="30" name="Shape 30"/>
          <p:cNvSpPr/>
          <p:nvPr/>
        </p:nvSpPr>
        <p:spPr>
          <a:xfrm>
            <a:off x="7863840" y="5056632"/>
            <a:ext cx="1463040" cy="429768"/>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Interactive</a:t>
            </a:r>
            <a:endParaRPr lang="en-US" sz="1250" dirty="0"/>
          </a:p>
        </p:txBody>
      </p:sp>
      <p:sp>
        <p:nvSpPr>
          <p:cNvPr id="31" name="Shape 31"/>
          <p:cNvSpPr/>
          <p:nvPr/>
        </p:nvSpPr>
        <p:spPr>
          <a:xfrm>
            <a:off x="548640" y="5486400"/>
            <a:ext cx="237744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INSERT … VALUES</a:t>
            </a:r>
            <a:endParaRPr lang="en-US" sz="1250" dirty="0"/>
          </a:p>
        </p:txBody>
      </p:sp>
      <p:sp>
        <p:nvSpPr>
          <p:cNvPr id="32" name="Shape 32"/>
          <p:cNvSpPr/>
          <p:nvPr/>
        </p:nvSpPr>
        <p:spPr>
          <a:xfrm>
            <a:off x="2926080" y="5486400"/>
            <a:ext cx="493776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Tiny test data only</a:t>
            </a:r>
            <a:endParaRPr lang="en-US" sz="1250" dirty="0"/>
          </a:p>
        </p:txBody>
      </p:sp>
      <p:sp>
        <p:nvSpPr>
          <p:cNvPr id="33" name="Shape 33"/>
          <p:cNvSpPr/>
          <p:nvPr/>
        </p:nvSpPr>
        <p:spPr>
          <a:xfrm>
            <a:off x="7863840" y="5486400"/>
            <a:ext cx="1463040" cy="42976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n/a</a:t>
            </a:r>
            <a:endParaRPr lang="en-US" sz="1250" dirty="0"/>
          </a:p>
        </p:txBody>
      </p:sp>
      <p:sp>
        <p:nvSpPr>
          <p:cNvPr id="34" name="Shape 34"/>
          <p:cNvSpPr/>
          <p:nvPr/>
        </p:nvSpPr>
        <p:spPr>
          <a:xfrm>
            <a:off x="9555480" y="3337560"/>
            <a:ext cx="2103120" cy="2578608"/>
          </a:xfrm>
          <a:prstGeom prst="roundRect">
            <a:avLst>
              <a:gd name="adj" fmla="val 10000"/>
            </a:avLst>
          </a:prstGeom>
          <a:solidFill>
            <a:srgbClr val="FFF7E6"/>
          </a:solidFill>
          <a:ln w="15875">
            <a:solidFill>
              <a:srgbClr val="F59E0B"/>
            </a:solidFill>
          </a:ln>
        </p:spPr>
        <p:txBody>
          <a:bodyPr wrap="square" lIns="91440" tIns="91440" rIns="91440" bIns="91440" anchor="t" rtlCol="0">
            <a:noAutofit/>
          </a:bodyPr>
          <a:lstStyle/>
          <a:p>
            <a:endParaRPr lang="en-US" dirty="0"/>
          </a:p>
        </p:txBody>
      </p:sp>
      <p:sp>
        <p:nvSpPr>
          <p:cNvPr id="35" name="Shape 35"/>
          <p:cNvSpPr/>
          <p:nvPr/>
        </p:nvSpPr>
        <p:spPr>
          <a:xfrm>
            <a:off x="9665208" y="3383280"/>
            <a:ext cx="1883664" cy="248716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00" dirty="0" b="1">
                <a:solidFill>
                  <a:srgbClr val="F59E0B"/>
                </a:solidFill>
              </a:rPr>
              <a:t>SIZE  </a:t>
            </a:r>
            <a:r>
              <a:rPr lang="en-US" sz="1200" dirty="0">
                <a:solidFill>
                  <a:srgbClr val="1F2937"/>
                </a:solidFill>
              </a:rPr>
              <a:t>Aim for </a:t>
            </a:r>
            <a:r>
              <a:rPr lang="en-US" sz="1200" dirty="0" b="1">
                <a:solidFill>
                  <a:srgbClr val="1F2937"/>
                </a:solidFill>
              </a:rPr>
              <a:t>100–250 MB</a:t>
            </a:r>
            <a:r>
              <a:rPr lang="en-US" sz="1200" dirty="0">
                <a:solidFill>
                  <a:srgbClr val="1F2937"/>
                </a:solidFill>
              </a:rPr>
              <a:t> compressed files. Split huge files; combine tiny ones.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3 · Load a Local CSV File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File format → internal stage → PUT → COPY INTO</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17 / 26</a:t>
            </a:r>
            <a:endParaRPr lang="en-US" sz="1000" dirty="0"/>
          </a:p>
        </p:txBody>
      </p:sp>
      <p:sp>
        <p:nvSpPr>
          <p:cNvPr id="9" name="Shape 9"/>
          <p:cNvSpPr/>
          <p:nvPr/>
        </p:nvSpPr>
        <p:spPr>
          <a:xfrm>
            <a:off x="548640" y="1325880"/>
            <a:ext cx="672084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SQL</a:t>
            </a:r>
            <a:endParaRPr lang="en-US" sz="1100" dirty="0"/>
          </a:p>
        </p:txBody>
      </p:sp>
      <p:sp>
        <p:nvSpPr>
          <p:cNvPr id="10" name="Shape 10"/>
          <p:cNvSpPr/>
          <p:nvPr/>
        </p:nvSpPr>
        <p:spPr>
          <a:xfrm>
            <a:off x="548640" y="1618488"/>
            <a:ext cx="6720840" cy="455371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050" dirty="0" i="1">
                <a:solidFill>
                  <a:srgbClr val="6A9955"/>
                </a:solidFill>
                <a:latin typeface="Courier New"/>
                <a:cs typeface="Courier New"/>
              </a:rPr>
              <a:t>-- 1. Describe the file</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CREATE</a:t>
            </a:r>
            <a:r>
              <a:rPr lang="en-US" sz="1050" dirty="0">
                <a:solidFill>
                  <a:srgbClr val="D4D4D4"/>
                </a:solidFill>
                <a:latin typeface="Courier New"/>
                <a:cs typeface="Courier New"/>
              </a:rPr>
              <a:t> </a:t>
            </a:r>
            <a:r>
              <a:rPr lang="en-US" sz="1050" dirty="0" b="1">
                <a:solidFill>
                  <a:srgbClr val="569CD6"/>
                </a:solidFill>
                <a:latin typeface="Courier New"/>
                <a:cs typeface="Courier New"/>
              </a:rPr>
              <a:t>OR</a:t>
            </a:r>
            <a:r>
              <a:rPr lang="en-US" sz="1050" dirty="0">
                <a:solidFill>
                  <a:srgbClr val="D4D4D4"/>
                </a:solidFill>
                <a:latin typeface="Courier New"/>
                <a:cs typeface="Courier New"/>
              </a:rPr>
              <a:t> </a:t>
            </a:r>
            <a:r>
              <a:rPr lang="en-US" sz="1050" dirty="0" b="1">
                <a:solidFill>
                  <a:srgbClr val="569CD6"/>
                </a:solidFill>
                <a:latin typeface="Courier New"/>
                <a:cs typeface="Courier New"/>
              </a:rPr>
              <a:t>REPLACE</a:t>
            </a:r>
            <a:r>
              <a:rPr lang="en-US" sz="1050" dirty="0">
                <a:solidFill>
                  <a:srgbClr val="D4D4D4"/>
                </a:solidFill>
                <a:latin typeface="Courier New"/>
                <a:cs typeface="Courier New"/>
              </a:rPr>
              <a:t> </a:t>
            </a:r>
            <a:r>
              <a:rPr lang="en-US" sz="1050" dirty="0" b="1">
                <a:solidFill>
                  <a:srgbClr val="569CD6"/>
                </a:solidFill>
                <a:latin typeface="Courier New"/>
                <a:cs typeface="Courier New"/>
              </a:rPr>
              <a:t>FILE</a:t>
            </a:r>
            <a:r>
              <a:rPr lang="en-US" sz="1050" dirty="0">
                <a:solidFill>
                  <a:srgbClr val="D4D4D4"/>
                </a:solidFill>
                <a:latin typeface="Courier New"/>
                <a:cs typeface="Courier New"/>
              </a:rPr>
              <a:t> </a:t>
            </a:r>
            <a:r>
              <a:rPr lang="en-US" sz="1050" dirty="0" b="1">
                <a:solidFill>
                  <a:srgbClr val="569CD6"/>
                </a:solidFill>
                <a:latin typeface="Courier New"/>
                <a:cs typeface="Courier New"/>
              </a:rPr>
              <a:t>FORMAT</a:t>
            </a:r>
            <a:r>
              <a:rPr lang="en-US" sz="1050" dirty="0">
                <a:solidFill>
                  <a:srgbClr val="D4D4D4"/>
                </a:solidFill>
                <a:latin typeface="Courier New"/>
                <a:cs typeface="Courier New"/>
              </a:rPr>
              <a:t> </a:t>
            </a:r>
            <a:r>
              <a:rPr lang="en-US" sz="1050" dirty="0">
                <a:solidFill>
                  <a:srgbClr val="D4D4D4"/>
                </a:solidFill>
                <a:latin typeface="Courier New"/>
                <a:cs typeface="Courier New"/>
              </a:rPr>
              <a:t>my_csv_fmt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b="1">
                <a:solidFill>
                  <a:srgbClr val="569CD6"/>
                </a:solidFill>
                <a:latin typeface="Courier New"/>
                <a:cs typeface="Courier New"/>
              </a:rPr>
              <a:t>TYPE</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CSV</a:t>
            </a:r>
            <a:r>
              <a:rPr lang="en-US" sz="1050" dirty="0">
                <a:solidFill>
                  <a:srgbClr val="D4D4D4"/>
                </a:solidFill>
                <a:latin typeface="Courier New"/>
                <a:cs typeface="Courier New"/>
              </a:rPr>
              <a:t>  </a:t>
            </a:r>
            <a:r>
              <a:rPr lang="en-US" sz="1050" dirty="0">
                <a:solidFill>
                  <a:srgbClr val="D4D4D4"/>
                </a:solidFill>
                <a:latin typeface="Courier New"/>
                <a:cs typeface="Courier New"/>
              </a:rPr>
              <a:t>FIELD_DELIMITER</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CE9178"/>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SKIP_HEADER</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1</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FIELD_OPTIONALLY_ENCLOSED_BY</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CE9178"/>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NULL_IF</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CE9178"/>
                </a:solidFill>
                <a:latin typeface="Courier New"/>
                <a:cs typeface="Courier New"/>
              </a:rPr>
              <a:t>''</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CE9178"/>
                </a:solidFill>
                <a:latin typeface="Courier New"/>
                <a:cs typeface="Courier New"/>
              </a:rPr>
              <a:t>'NULL'</a:t>
            </a:r>
            <a:r>
              <a:rPr lang="en-US" sz="1050" dirty="0">
                <a:solidFill>
                  <a:srgbClr val="D4D4D4"/>
                </a:solidFill>
                <a:latin typeface="Courier New"/>
                <a:cs typeface="Courier New"/>
              </a:rPr>
              <a: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endParaRPr lang="en-US" sz="1050" dirty="0"/>
          </a:p>
          <a:p>
            <a:pPr algn="l">
              <a:lnSpc>
                <a:spcPct val="100000"/>
              </a:lnSpc>
              <a:spcBef>
                <a:spcPts val="0"/>
              </a:spcBef>
              <a:spcAft>
                <a:spcPts val="0"/>
              </a:spcAft>
              <a:buNone/>
            </a:pPr>
            <a:r>
              <a:rPr lang="en-US" sz="1050" dirty="0" i="1">
                <a:solidFill>
                  <a:srgbClr val="6A9955"/>
                </a:solidFill>
                <a:latin typeface="Courier New"/>
                <a:cs typeface="Courier New"/>
              </a:rPr>
              <a:t>-- 2. Named internal stage</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CREATE</a:t>
            </a:r>
            <a:r>
              <a:rPr lang="en-US" sz="1050" dirty="0">
                <a:solidFill>
                  <a:srgbClr val="D4D4D4"/>
                </a:solidFill>
                <a:latin typeface="Courier New"/>
                <a:cs typeface="Courier New"/>
              </a:rPr>
              <a:t> </a:t>
            </a:r>
            <a:r>
              <a:rPr lang="en-US" sz="1050" dirty="0" b="1">
                <a:solidFill>
                  <a:srgbClr val="569CD6"/>
                </a:solidFill>
                <a:latin typeface="Courier New"/>
                <a:cs typeface="Courier New"/>
              </a:rPr>
              <a:t>OR</a:t>
            </a:r>
            <a:r>
              <a:rPr lang="en-US" sz="1050" dirty="0">
                <a:solidFill>
                  <a:srgbClr val="D4D4D4"/>
                </a:solidFill>
                <a:latin typeface="Courier New"/>
                <a:cs typeface="Courier New"/>
              </a:rPr>
              <a:t> </a:t>
            </a:r>
            <a:r>
              <a:rPr lang="en-US" sz="1050" dirty="0" b="1">
                <a:solidFill>
                  <a:srgbClr val="569CD6"/>
                </a:solidFill>
                <a:latin typeface="Courier New"/>
                <a:cs typeface="Courier New"/>
              </a:rPr>
              <a:t>REPLACE</a:t>
            </a:r>
            <a:r>
              <a:rPr lang="en-US" sz="1050" dirty="0">
                <a:solidFill>
                  <a:srgbClr val="D4D4D4"/>
                </a:solidFill>
                <a:latin typeface="Courier New"/>
                <a:cs typeface="Courier New"/>
              </a:rPr>
              <a:t> </a:t>
            </a:r>
            <a:r>
              <a:rPr lang="en-US" sz="1050" dirty="0" b="1">
                <a:solidFill>
                  <a:srgbClr val="569CD6"/>
                </a:solidFill>
                <a:latin typeface="Courier New"/>
                <a:cs typeface="Courier New"/>
              </a:rPr>
              <a:t>STAGE</a:t>
            </a:r>
            <a:r>
              <a:rPr lang="en-US" sz="1050" dirty="0">
                <a:solidFill>
                  <a:srgbClr val="D4D4D4"/>
                </a:solidFill>
                <a:latin typeface="Courier New"/>
                <a:cs typeface="Courier New"/>
              </a:rPr>
              <a:t> </a:t>
            </a:r>
            <a:r>
              <a:rPr lang="en-US" sz="1050" dirty="0">
                <a:solidFill>
                  <a:srgbClr val="D4D4D4"/>
                </a:solidFill>
                <a:latin typeface="Courier New"/>
                <a:cs typeface="Courier New"/>
              </a:rPr>
              <a:t>my_int_stage</a:t>
            </a:r>
            <a:r>
              <a:rPr lang="en-US" sz="1050" dirty="0">
                <a:solidFill>
                  <a:srgbClr val="D4D4D4"/>
                </a:solidFill>
                <a:latin typeface="Courier New"/>
                <a:cs typeface="Courier New"/>
              </a:rPr>
              <a:t> </a:t>
            </a:r>
            <a:r>
              <a:rPr lang="en-US" sz="1050" dirty="0">
                <a:solidFill>
                  <a:srgbClr val="D4D4D4"/>
                </a:solidFill>
                <a:latin typeface="Courier New"/>
                <a:cs typeface="Courier New"/>
              </a:rPr>
              <a:t>FILE_FORMAT</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my_csv_fmt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endParaRPr lang="en-US" sz="1050" dirty="0"/>
          </a:p>
          <a:p>
            <a:pPr algn="l">
              <a:lnSpc>
                <a:spcPct val="100000"/>
              </a:lnSpc>
              <a:spcBef>
                <a:spcPts val="0"/>
              </a:spcBef>
              <a:spcAft>
                <a:spcPts val="0"/>
              </a:spcAft>
              <a:buNone/>
            </a:pPr>
            <a:r>
              <a:rPr lang="en-US" sz="1050" dirty="0" i="1">
                <a:solidFill>
                  <a:srgbClr val="6A9955"/>
                </a:solidFill>
                <a:latin typeface="Courier New"/>
                <a:cs typeface="Courier New"/>
              </a:rPr>
              <a:t>-- 3. Upload (Snowflake CLI / SnowSQL only)</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PUT</a:t>
            </a:r>
            <a:r>
              <a:rPr lang="en-US" sz="1050" dirty="0">
                <a:solidFill>
                  <a:srgbClr val="D4D4D4"/>
                </a:solidFill>
                <a:latin typeface="Courier New"/>
                <a:cs typeface="Courier New"/>
              </a:rPr>
              <a:t> </a:t>
            </a:r>
            <a:r>
              <a:rPr lang="en-US" sz="1050" dirty="0">
                <a:solidFill>
                  <a:srgbClr val="D4D4D4"/>
                </a:solidFill>
                <a:latin typeface="Courier New"/>
                <a:cs typeface="Courier New"/>
              </a:rPr>
              <a:t>file</a:t>
            </a:r>
            <a:r>
              <a:rPr lang="en-US" sz="1050" dirty="0">
                <a:solidFill>
                  <a:srgbClr val="D4D4D4"/>
                </a:solidFill>
                <a:latin typeface="Courier New"/>
                <a:cs typeface="Courier New"/>
              </a:rPr>
              <a:t>:</a:t>
            </a:r>
            <a:r>
              <a:rPr lang="en-US" sz="1050" dirty="0">
                <a:solidFill>
                  <a:srgbClr val="D4D4D4"/>
                </a:solidFill>
                <a:latin typeface="Courier New"/>
                <a:cs typeface="Courier New"/>
              </a:rPr>
              <a:t>/</a:t>
            </a:r>
            <a:r>
              <a:rPr lang="en-US" sz="1050" dirty="0">
                <a:solidFill>
                  <a:srgbClr val="D4D4D4"/>
                </a:solidFill>
                <a:latin typeface="Courier New"/>
                <a:cs typeface="Courier New"/>
              </a:rPr>
              <a:t>/</a:t>
            </a:r>
            <a:r>
              <a:rPr lang="en-US" sz="1050" dirty="0">
                <a:solidFill>
                  <a:srgbClr val="D4D4D4"/>
                </a:solidFill>
                <a:latin typeface="Courier New"/>
                <a:cs typeface="Courier New"/>
              </a:rPr>
              <a:t>/</a:t>
            </a:r>
            <a:r>
              <a:rPr lang="en-US" sz="1050" dirty="0">
                <a:solidFill>
                  <a:srgbClr val="D4D4D4"/>
                </a:solidFill>
                <a:latin typeface="Courier New"/>
                <a:cs typeface="Courier New"/>
              </a:rPr>
              <a:t>tmp</a:t>
            </a:r>
            <a:r>
              <a:rPr lang="en-US" sz="1050" dirty="0">
                <a:solidFill>
                  <a:srgbClr val="D4D4D4"/>
                </a:solidFill>
                <a:latin typeface="Courier New"/>
                <a:cs typeface="Courier New"/>
              </a:rPr>
              <a:t>/</a:t>
            </a:r>
            <a:r>
              <a:rPr lang="en-US" sz="1050" dirty="0">
                <a:solidFill>
                  <a:srgbClr val="D4D4D4"/>
                </a:solidFill>
                <a:latin typeface="Courier New"/>
                <a:cs typeface="Courier New"/>
              </a:rPr>
              <a:t>orders</a:t>
            </a:r>
            <a:r>
              <a:rPr lang="en-US" sz="1050" dirty="0">
                <a:solidFill>
                  <a:srgbClr val="D4D4D4"/>
                </a:solidFill>
                <a:latin typeface="Courier New"/>
                <a:cs typeface="Courier New"/>
              </a:rPr>
              <a:t>.</a:t>
            </a:r>
            <a:r>
              <a:rPr lang="en-US" sz="1050" dirty="0">
                <a:solidFill>
                  <a:srgbClr val="D4D4D4"/>
                </a:solidFill>
                <a:latin typeface="Courier New"/>
                <a:cs typeface="Courier New"/>
              </a:rPr>
              <a:t>csv</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my_int_stage</a:t>
            </a:r>
            <a:r>
              <a:rPr lang="en-US" sz="1050" dirty="0">
                <a:solidFill>
                  <a:srgbClr val="D4D4D4"/>
                </a:solidFill>
                <a:latin typeface="Courier New"/>
                <a:cs typeface="Courier New"/>
              </a:rPr>
              <a:t> </a:t>
            </a:r>
            <a:r>
              <a:rPr lang="en-US" sz="1050" dirty="0">
                <a:solidFill>
                  <a:srgbClr val="D4D4D4"/>
                </a:solidFill>
                <a:latin typeface="Courier New"/>
                <a:cs typeface="Courier New"/>
              </a:rPr>
              <a:t>AUTO_COMPRESS</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b="1">
                <a:solidFill>
                  <a:srgbClr val="569CD6"/>
                </a:solidFill>
                <a:latin typeface="Courier New"/>
                <a:cs typeface="Courier New"/>
              </a:rPr>
              <a:t>TRUE</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endParaRPr lang="en-US" sz="1050" dirty="0"/>
          </a:p>
          <a:p>
            <a:pPr algn="l">
              <a:lnSpc>
                <a:spcPct val="100000"/>
              </a:lnSpc>
              <a:spcBef>
                <a:spcPts val="0"/>
              </a:spcBef>
              <a:spcAft>
                <a:spcPts val="0"/>
              </a:spcAft>
              <a:buNone/>
            </a:pPr>
            <a:r>
              <a:rPr lang="en-US" sz="1050" dirty="0" i="1">
                <a:solidFill>
                  <a:srgbClr val="6A9955"/>
                </a:solidFill>
                <a:latin typeface="Courier New"/>
                <a:cs typeface="Courier New"/>
              </a:rPr>
              <a:t>-- 4. See what is staged</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LIST</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my_int_stage</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endParaRPr lang="en-US" sz="1050" dirty="0"/>
          </a:p>
          <a:p>
            <a:pPr algn="l">
              <a:lnSpc>
                <a:spcPct val="100000"/>
              </a:lnSpc>
              <a:spcBef>
                <a:spcPts val="0"/>
              </a:spcBef>
              <a:spcAft>
                <a:spcPts val="0"/>
              </a:spcAft>
              <a:buNone/>
            </a:pPr>
            <a:r>
              <a:rPr lang="en-US" sz="1050" dirty="0" i="1">
                <a:solidFill>
                  <a:srgbClr val="6A9955"/>
                </a:solidFill>
                <a:latin typeface="Courier New"/>
                <a:cs typeface="Courier New"/>
              </a:rPr>
              <a:t>-- 5. Load</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COPY</a:t>
            </a:r>
            <a:r>
              <a:rPr lang="en-US" sz="1050" dirty="0">
                <a:solidFill>
                  <a:srgbClr val="D4D4D4"/>
                </a:solidFill>
                <a:latin typeface="Courier New"/>
                <a:cs typeface="Courier New"/>
              </a:rPr>
              <a:t> </a:t>
            </a:r>
            <a:r>
              <a:rPr lang="en-US" sz="1050" dirty="0" b="1">
                <a:solidFill>
                  <a:srgbClr val="569CD6"/>
                </a:solidFill>
                <a:latin typeface="Courier New"/>
                <a:cs typeface="Courier New"/>
              </a:rPr>
              <a:t>INTO</a:t>
            </a:r>
            <a:r>
              <a:rPr lang="en-US" sz="1050" dirty="0">
                <a:solidFill>
                  <a:srgbClr val="D4D4D4"/>
                </a:solidFill>
                <a:latin typeface="Courier New"/>
                <a:cs typeface="Courier New"/>
              </a:rPr>
              <a:t> </a:t>
            </a:r>
            <a:r>
              <a:rPr lang="en-US" sz="1050" dirty="0">
                <a:solidFill>
                  <a:srgbClr val="D4D4D4"/>
                </a:solidFill>
                <a:latin typeface="Courier New"/>
                <a:cs typeface="Courier New"/>
              </a:rPr>
              <a:t>orders</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order_id</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customer</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order_date</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amount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b="1">
                <a:solidFill>
                  <a:srgbClr val="569CD6"/>
                </a:solidFill>
                <a:latin typeface="Courier New"/>
                <a:cs typeface="Courier New"/>
              </a:rPr>
              <a:t>FROM</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my_int_stage</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ON_ERROR</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CE9178"/>
                </a:solidFill>
                <a:latin typeface="Courier New"/>
                <a:cs typeface="Courier New"/>
              </a:rPr>
              <a:t>'CONTINUE'</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endParaRPr lang="en-US" sz="1050" dirty="0"/>
          </a:p>
          <a:p>
            <a:pPr algn="l">
              <a:lnSpc>
                <a:spcPct val="100000"/>
              </a:lnSpc>
              <a:spcBef>
                <a:spcPts val="0"/>
              </a:spcBef>
              <a:spcAft>
                <a:spcPts val="0"/>
              </a:spcAft>
              <a:buNone/>
            </a:pPr>
            <a:r>
              <a:rPr lang="en-US" sz="1050" dirty="0" i="1">
                <a:solidFill>
                  <a:srgbClr val="6A9955"/>
                </a:solidFill>
                <a:latin typeface="Courier New"/>
                <a:cs typeface="Courier New"/>
              </a:rPr>
              <a:t>-- 6. Rows rejected by the last COPY</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SELECT</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b="1">
                <a:solidFill>
                  <a:srgbClr val="569CD6"/>
                </a:solidFill>
                <a:latin typeface="Courier New"/>
                <a:cs typeface="Courier New"/>
              </a:rPr>
              <a:t>FROM</a:t>
            </a:r>
            <a:r>
              <a:rPr lang="en-US" sz="1050" dirty="0">
                <a:solidFill>
                  <a:srgbClr val="D4D4D4"/>
                </a:solidFill>
                <a:latin typeface="Courier New"/>
                <a:cs typeface="Courier New"/>
              </a:rPr>
              <a:t> </a:t>
            </a:r>
            <a:r>
              <a:rPr lang="en-US" sz="1050" dirty="0" b="1">
                <a:solidFill>
                  <a:srgbClr val="569CD6"/>
                </a:solidFill>
                <a:latin typeface="Courier New"/>
                <a:cs typeface="Courier New"/>
              </a:rPr>
              <a:t>TABLE</a:t>
            </a:r>
            <a:r>
              <a:rPr lang="en-US" sz="1050" dirty="0">
                <a:solidFill>
                  <a:srgbClr val="D4D4D4"/>
                </a:solidFill>
                <a:latin typeface="Courier New"/>
                <a:cs typeface="Courier New"/>
              </a:rPr>
              <a:t>(</a:t>
            </a:r>
            <a:r>
              <a:rPr lang="en-US" sz="1050" dirty="0">
                <a:solidFill>
                  <a:srgbClr val="D4D4D4"/>
                </a:solidFill>
                <a:latin typeface="Courier New"/>
                <a:cs typeface="Courier New"/>
              </a:rPr>
              <a:t>VALIDATE</a:t>
            </a:r>
            <a:r>
              <a:rPr lang="en-US" sz="1050" dirty="0">
                <a:solidFill>
                  <a:srgbClr val="D4D4D4"/>
                </a:solidFill>
                <a:latin typeface="Courier New"/>
                <a:cs typeface="Courier New"/>
              </a:rPr>
              <a:t>(</a:t>
            </a:r>
            <a:r>
              <a:rPr lang="en-US" sz="1050" dirty="0">
                <a:solidFill>
                  <a:srgbClr val="D4D4D4"/>
                </a:solidFill>
                <a:latin typeface="Courier New"/>
                <a:cs typeface="Courier New"/>
              </a:rPr>
              <a:t>orders</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JOB_ID</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&gt;</a:t>
            </a:r>
            <a:r>
              <a:rPr lang="en-US" sz="1050" dirty="0">
                <a:solidFill>
                  <a:srgbClr val="D4D4D4"/>
                </a:solidFill>
                <a:latin typeface="Courier New"/>
                <a:cs typeface="Courier New"/>
              </a:rPr>
              <a:t> </a:t>
            </a:r>
            <a:r>
              <a:rPr lang="en-US" sz="1050" dirty="0">
                <a:solidFill>
                  <a:srgbClr val="CE9178"/>
                </a:solidFill>
                <a:latin typeface="Courier New"/>
                <a:cs typeface="Courier New"/>
              </a:rPr>
              <a:t>'_last'</a:t>
            </a:r>
            <a:r>
              <a:rPr lang="en-US" sz="1050" dirty="0">
                <a:solidFill>
                  <a:srgbClr val="D4D4D4"/>
                </a:solidFill>
                <a:latin typeface="Courier New"/>
                <a:cs typeface="Courier New"/>
              </a:rPr>
              <a:t>)</a:t>
            </a:r>
            <a:r>
              <a:rPr lang="en-US" sz="1050" dirty="0">
                <a:solidFill>
                  <a:srgbClr val="D4D4D4"/>
                </a:solidFill>
                <a:latin typeface="Courier New"/>
                <a:cs typeface="Courier New"/>
              </a:rPr>
              <a:t>)</a:t>
            </a:r>
            <a:r>
              <a:rPr lang="en-US" sz="1050" dirty="0">
                <a:solidFill>
                  <a:srgbClr val="D4D4D4"/>
                </a:solidFill>
                <a:latin typeface="Courier New"/>
                <a:cs typeface="Courier New"/>
              </a:rPr>
              <a:t>;</a:t>
            </a:r>
            <a:endParaRPr lang="en-US" sz="1050" dirty="0"/>
          </a:p>
        </p:txBody>
      </p:sp>
      <p:sp>
        <p:nvSpPr>
          <p:cNvPr id="11" name="Shape 11"/>
          <p:cNvSpPr/>
          <p:nvPr/>
        </p:nvSpPr>
        <p:spPr>
          <a:xfrm>
            <a:off x="7498080" y="1325880"/>
            <a:ext cx="416052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/tmp/orders.csv</a:t>
            </a:r>
            <a:endParaRPr lang="en-US" sz="1100" dirty="0"/>
          </a:p>
        </p:txBody>
      </p:sp>
      <p:sp>
        <p:nvSpPr>
          <p:cNvPr id="12" name="Shape 12"/>
          <p:cNvSpPr/>
          <p:nvPr/>
        </p:nvSpPr>
        <p:spPr>
          <a:xfrm>
            <a:off x="7498080" y="1618488"/>
            <a:ext cx="4160520" cy="112471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050" dirty="0">
                <a:solidFill>
                  <a:srgbClr val="D4D4D4"/>
                </a:solidFill>
                <a:latin typeface="Courier New"/>
                <a:cs typeface="Courier New"/>
              </a:rPr>
              <a:t>order_id</a:t>
            </a:r>
            <a:r>
              <a:rPr lang="en-US" sz="1050" dirty="0">
                <a:solidFill>
                  <a:srgbClr val="D4D4D4"/>
                </a:solidFill>
                <a:latin typeface="Courier New"/>
                <a:cs typeface="Courier New"/>
              </a:rPr>
              <a:t>,</a:t>
            </a:r>
            <a:r>
              <a:rPr lang="en-US" sz="1050" dirty="0">
                <a:solidFill>
                  <a:srgbClr val="D4D4D4"/>
                </a:solidFill>
                <a:latin typeface="Courier New"/>
                <a:cs typeface="Courier New"/>
              </a:rPr>
              <a:t>customer</a:t>
            </a:r>
            <a:r>
              <a:rPr lang="en-US" sz="1050" dirty="0">
                <a:solidFill>
                  <a:srgbClr val="D4D4D4"/>
                </a:solidFill>
                <a:latin typeface="Courier New"/>
                <a:cs typeface="Courier New"/>
              </a:rPr>
              <a:t>,</a:t>
            </a:r>
            <a:r>
              <a:rPr lang="en-US" sz="1050" dirty="0">
                <a:solidFill>
                  <a:srgbClr val="D4D4D4"/>
                </a:solidFill>
                <a:latin typeface="Courier New"/>
                <a:cs typeface="Courier New"/>
              </a:rPr>
              <a:t>order_date</a:t>
            </a:r>
            <a:r>
              <a:rPr lang="en-US" sz="1050" dirty="0">
                <a:solidFill>
                  <a:srgbClr val="D4D4D4"/>
                </a:solidFill>
                <a:latin typeface="Courier New"/>
                <a:cs typeface="Courier New"/>
              </a:rPr>
              <a:t>,</a:t>
            </a:r>
            <a:r>
              <a:rPr lang="en-US" sz="1050" dirty="0">
                <a:solidFill>
                  <a:srgbClr val="D4D4D4"/>
                </a:solidFill>
                <a:latin typeface="Courier New"/>
                <a:cs typeface="Courier New"/>
              </a:rPr>
              <a:t>amount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3</a:t>
            </a:r>
            <a:r>
              <a:rPr lang="en-US" sz="1050" dirty="0">
                <a:solidFill>
                  <a:srgbClr val="D4D4D4"/>
                </a:solidFill>
                <a:latin typeface="Courier New"/>
                <a:cs typeface="Courier New"/>
              </a:rPr>
              <a:t>,</a:t>
            </a:r>
            <a:r>
              <a:rPr lang="en-US" sz="1050" dirty="0">
                <a:solidFill>
                  <a:srgbClr val="CE9178"/>
                </a:solidFill>
                <a:latin typeface="Courier New"/>
                <a:cs typeface="Courier New"/>
              </a:rPr>
              <a:t>"Initech"</a:t>
            </a:r>
            <a:r>
              <a:rPr lang="en-US" sz="1050" dirty="0">
                <a:solidFill>
                  <a:srgbClr val="D4D4D4"/>
                </a:solidFill>
                <a:latin typeface="Courier New"/>
                <a:cs typeface="Courier New"/>
              </a:rPr>
              <a:t>,</a:t>
            </a:r>
            <a:r>
              <a:rPr lang="en-US" sz="1050" dirty="0">
                <a:solidFill>
                  <a:srgbClr val="D4D4D4"/>
                </a:solidFill>
                <a:latin typeface="Courier New"/>
                <a:cs typeface="Courier New"/>
              </a:rPr>
              <a:t>2</a:t>
            </a:r>
            <a:r>
              <a:rPr lang="en-US" sz="1050" dirty="0">
                <a:solidFill>
                  <a:srgbClr val="D4D4D4"/>
                </a:solidFill>
                <a:latin typeface="Courier New"/>
                <a:cs typeface="Courier New"/>
              </a:rPr>
              <a:t>0</a:t>
            </a:r>
            <a:r>
              <a:rPr lang="en-US" sz="1050" dirty="0">
                <a:solidFill>
                  <a:srgbClr val="D4D4D4"/>
                </a:solidFill>
                <a:latin typeface="Courier New"/>
                <a:cs typeface="Courier New"/>
              </a:rPr>
              <a:t>2</a:t>
            </a:r>
            <a:r>
              <a:rPr lang="en-US" sz="1050" dirty="0">
                <a:solidFill>
                  <a:srgbClr val="D4D4D4"/>
                </a:solidFill>
                <a:latin typeface="Courier New"/>
                <a:cs typeface="Courier New"/>
              </a:rPr>
              <a:t>6</a:t>
            </a:r>
            <a:r>
              <a:rPr lang="en-US" sz="1050" dirty="0">
                <a:solidFill>
                  <a:srgbClr val="D4D4D4"/>
                </a:solidFill>
                <a:latin typeface="Courier New"/>
                <a:cs typeface="Courier New"/>
              </a:rPr>
              <a:t>-</a:t>
            </a:r>
            <a:r>
              <a:rPr lang="en-US" sz="1050" dirty="0">
                <a:solidFill>
                  <a:srgbClr val="D4D4D4"/>
                </a:solidFill>
                <a:latin typeface="Courier New"/>
                <a:cs typeface="Courier New"/>
              </a:rPr>
              <a:t>0</a:t>
            </a:r>
            <a:r>
              <a:rPr lang="en-US" sz="1050" dirty="0">
                <a:solidFill>
                  <a:srgbClr val="D4D4D4"/>
                </a:solidFill>
                <a:latin typeface="Courier New"/>
                <a:cs typeface="Courier New"/>
              </a:rPr>
              <a:t>9</a:t>
            </a:r>
            <a:r>
              <a:rPr lang="en-US" sz="1050" dirty="0">
                <a:solidFill>
                  <a:srgbClr val="D4D4D4"/>
                </a:solidFill>
                <a:latin typeface="Courier New"/>
                <a:cs typeface="Courier New"/>
              </a:rPr>
              <a:t>-</a:t>
            </a:r>
            <a:r>
              <a:rPr lang="en-US" sz="1050" dirty="0">
                <a:solidFill>
                  <a:srgbClr val="D4D4D4"/>
                </a:solidFill>
                <a:latin typeface="Courier New"/>
                <a:cs typeface="Courier New"/>
              </a:rPr>
              <a:t>0</a:t>
            </a:r>
            <a:r>
              <a:rPr lang="en-US" sz="1050" dirty="0">
                <a:solidFill>
                  <a:srgbClr val="D4D4D4"/>
                </a:solidFill>
                <a:latin typeface="Courier New"/>
                <a:cs typeface="Courier New"/>
              </a:rPr>
              <a:t>3</a:t>
            </a:r>
            <a:r>
              <a:rPr lang="en-US" sz="1050" dirty="0">
                <a:solidFill>
                  <a:srgbClr val="D4D4D4"/>
                </a:solidFill>
                <a:latin typeface="Courier New"/>
                <a:cs typeface="Courier New"/>
              </a:rPr>
              <a:t>,</a:t>
            </a:r>
            <a:r>
              <a:rPr lang="en-US" sz="1050" dirty="0">
                <a:solidFill>
                  <a:srgbClr val="D4D4D4"/>
                </a:solidFill>
                <a:latin typeface="Courier New"/>
                <a:cs typeface="Courier New"/>
              </a:rPr>
              <a:t>7</a:t>
            </a:r>
            <a:r>
              <a:rPr lang="en-US" sz="1050" dirty="0">
                <a:solidFill>
                  <a:srgbClr val="D4D4D4"/>
                </a:solidFill>
                <a:latin typeface="Courier New"/>
                <a:cs typeface="Courier New"/>
              </a:rPr>
              <a:t>8</a:t>
            </a:r>
            <a:r>
              <a:rPr lang="en-US" sz="1050" dirty="0">
                <a:solidFill>
                  <a:srgbClr val="D4D4D4"/>
                </a:solidFill>
                <a:latin typeface="Courier New"/>
                <a:cs typeface="Courier New"/>
              </a:rPr>
              <a:t>0</a:t>
            </a:r>
            <a:r>
              <a:rPr lang="en-US" sz="1050" dirty="0">
                <a:solidFill>
                  <a:srgbClr val="D4D4D4"/>
                </a:solidFill>
                <a:latin typeface="Courier New"/>
                <a:cs typeface="Courier New"/>
              </a:rPr>
              <a:t>.</a:t>
            </a:r>
            <a:r>
              <a:rPr lang="en-US" sz="1050" dirty="0">
                <a:solidFill>
                  <a:srgbClr val="D4D4D4"/>
                </a:solidFill>
                <a:latin typeface="Courier New"/>
                <a:cs typeface="Courier New"/>
              </a:rPr>
              <a:t>0</a:t>
            </a:r>
            <a:r>
              <a:rPr lang="en-US" sz="1050" dirty="0">
                <a:solidFill>
                  <a:srgbClr val="D4D4D4"/>
                </a:solidFill>
                <a:latin typeface="Courier New"/>
                <a:cs typeface="Courier New"/>
              </a:rPr>
              <a:t>0</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4</a:t>
            </a:r>
            <a:r>
              <a:rPr lang="en-US" sz="1050" dirty="0">
                <a:solidFill>
                  <a:srgbClr val="D4D4D4"/>
                </a:solidFill>
                <a:latin typeface="Courier New"/>
                <a:cs typeface="Courier New"/>
              </a:rPr>
              <a:t>,</a:t>
            </a:r>
            <a:r>
              <a:rPr lang="en-US" sz="1050" dirty="0">
                <a:solidFill>
                  <a:srgbClr val="CE9178"/>
                </a:solidFill>
                <a:latin typeface="Courier New"/>
                <a:cs typeface="Courier New"/>
              </a:rPr>
              <a:t>"Umbrella, Inc"</a:t>
            </a:r>
            <a:r>
              <a:rPr lang="en-US" sz="1050" dirty="0">
                <a:solidFill>
                  <a:srgbClr val="D4D4D4"/>
                </a:solidFill>
                <a:latin typeface="Courier New"/>
                <a:cs typeface="Courier New"/>
              </a:rPr>
              <a:t>,</a:t>
            </a:r>
            <a:r>
              <a:rPr lang="en-US" sz="1050" dirty="0">
                <a:solidFill>
                  <a:srgbClr val="D4D4D4"/>
                </a:solidFill>
                <a:latin typeface="Courier New"/>
                <a:cs typeface="Courier New"/>
              </a:rPr>
              <a:t>2</a:t>
            </a:r>
            <a:r>
              <a:rPr lang="en-US" sz="1050" dirty="0">
                <a:solidFill>
                  <a:srgbClr val="D4D4D4"/>
                </a:solidFill>
                <a:latin typeface="Courier New"/>
                <a:cs typeface="Courier New"/>
              </a:rPr>
              <a:t>0</a:t>
            </a:r>
            <a:r>
              <a:rPr lang="en-US" sz="1050" dirty="0">
                <a:solidFill>
                  <a:srgbClr val="D4D4D4"/>
                </a:solidFill>
                <a:latin typeface="Courier New"/>
                <a:cs typeface="Courier New"/>
              </a:rPr>
              <a:t>2</a:t>
            </a:r>
            <a:r>
              <a:rPr lang="en-US" sz="1050" dirty="0">
                <a:solidFill>
                  <a:srgbClr val="D4D4D4"/>
                </a:solidFill>
                <a:latin typeface="Courier New"/>
                <a:cs typeface="Courier New"/>
              </a:rPr>
              <a:t>6</a:t>
            </a:r>
            <a:r>
              <a:rPr lang="en-US" sz="1050" dirty="0">
                <a:solidFill>
                  <a:srgbClr val="D4D4D4"/>
                </a:solidFill>
                <a:latin typeface="Courier New"/>
                <a:cs typeface="Courier New"/>
              </a:rPr>
              <a:t>-</a:t>
            </a:r>
            <a:r>
              <a:rPr lang="en-US" sz="1050" dirty="0">
                <a:solidFill>
                  <a:srgbClr val="D4D4D4"/>
                </a:solidFill>
                <a:latin typeface="Courier New"/>
                <a:cs typeface="Courier New"/>
              </a:rPr>
              <a:t>0</a:t>
            </a:r>
            <a:r>
              <a:rPr lang="en-US" sz="1050" dirty="0">
                <a:solidFill>
                  <a:srgbClr val="D4D4D4"/>
                </a:solidFill>
                <a:latin typeface="Courier New"/>
                <a:cs typeface="Courier New"/>
              </a:rPr>
              <a:t>9</a:t>
            </a:r>
            <a:r>
              <a:rPr lang="en-US" sz="1050" dirty="0">
                <a:solidFill>
                  <a:srgbClr val="D4D4D4"/>
                </a:solidFill>
                <a:latin typeface="Courier New"/>
                <a:cs typeface="Courier New"/>
              </a:rPr>
              <a:t>-</a:t>
            </a:r>
            <a:r>
              <a:rPr lang="en-US" sz="1050" dirty="0">
                <a:solidFill>
                  <a:srgbClr val="D4D4D4"/>
                </a:solidFill>
                <a:latin typeface="Courier New"/>
                <a:cs typeface="Courier New"/>
              </a:rPr>
              <a:t>0</a:t>
            </a:r>
            <a:r>
              <a:rPr lang="en-US" sz="1050" dirty="0">
                <a:solidFill>
                  <a:srgbClr val="D4D4D4"/>
                </a:solidFill>
                <a:latin typeface="Courier New"/>
                <a:cs typeface="Courier New"/>
              </a:rPr>
              <a:t>4</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5</a:t>
            </a:r>
            <a:r>
              <a:rPr lang="en-US" sz="1050" dirty="0">
                <a:solidFill>
                  <a:srgbClr val="D4D4D4"/>
                </a:solidFill>
                <a:latin typeface="Courier New"/>
                <a:cs typeface="Courier New"/>
              </a:rPr>
              <a:t>,</a:t>
            </a:r>
            <a:r>
              <a:rPr lang="en-US" sz="1050" dirty="0">
                <a:solidFill>
                  <a:srgbClr val="D4D4D4"/>
                </a:solidFill>
                <a:latin typeface="Courier New"/>
                <a:cs typeface="Courier New"/>
              </a:rPr>
              <a:t>Hooli</a:t>
            </a:r>
            <a:r>
              <a:rPr lang="en-US" sz="1050" dirty="0">
                <a:solidFill>
                  <a:srgbClr val="D4D4D4"/>
                </a:solidFill>
                <a:latin typeface="Courier New"/>
                <a:cs typeface="Courier New"/>
              </a:rPr>
              <a:t>,</a:t>
            </a:r>
            <a:r>
              <a:rPr lang="en-US" sz="1050" dirty="0">
                <a:solidFill>
                  <a:srgbClr val="D4D4D4"/>
                </a:solidFill>
                <a:latin typeface="Courier New"/>
                <a:cs typeface="Courier New"/>
              </a:rPr>
              <a:t>not</a:t>
            </a:r>
            <a:r>
              <a:rPr lang="en-US" sz="1050" dirty="0">
                <a:solidFill>
                  <a:srgbClr val="D4D4D4"/>
                </a:solidFill>
                <a:latin typeface="Courier New"/>
                <a:cs typeface="Courier New"/>
              </a:rPr>
              <a:t>-</a:t>
            </a:r>
            <a:r>
              <a:rPr lang="en-US" sz="1050" dirty="0">
                <a:solidFill>
                  <a:srgbClr val="D4D4D4"/>
                </a:solidFill>
                <a:latin typeface="Courier New"/>
                <a:cs typeface="Courier New"/>
              </a:rPr>
              <a:t>a</a:t>
            </a:r>
            <a:r>
              <a:rPr lang="en-US" sz="1050" dirty="0">
                <a:solidFill>
                  <a:srgbClr val="D4D4D4"/>
                </a:solidFill>
                <a:latin typeface="Courier New"/>
                <a:cs typeface="Courier New"/>
              </a:rPr>
              <a:t>-</a:t>
            </a:r>
            <a:r>
              <a:rPr lang="en-US" sz="1050" dirty="0">
                <a:solidFill>
                  <a:srgbClr val="D4D4D4"/>
                </a:solidFill>
                <a:latin typeface="Courier New"/>
                <a:cs typeface="Courier New"/>
              </a:rPr>
              <a:t>date</a:t>
            </a:r>
            <a:r>
              <a:rPr lang="en-US" sz="1050" dirty="0">
                <a:solidFill>
                  <a:srgbClr val="D4D4D4"/>
                </a:solidFill>
                <a:latin typeface="Courier New"/>
                <a:cs typeface="Courier New"/>
              </a:rPr>
              <a:t>,</a:t>
            </a:r>
            <a:r>
              <a:rPr lang="en-US" sz="1050" dirty="0">
                <a:solidFill>
                  <a:srgbClr val="D4D4D4"/>
                </a:solidFill>
                <a:latin typeface="Courier New"/>
                <a:cs typeface="Courier New"/>
              </a:rPr>
              <a:t>9</a:t>
            </a:r>
            <a:r>
              <a:rPr lang="en-US" sz="1050" dirty="0">
                <a:solidFill>
                  <a:srgbClr val="D4D4D4"/>
                </a:solidFill>
                <a:latin typeface="Courier New"/>
                <a:cs typeface="Courier New"/>
              </a:rPr>
              <a:t>9</a:t>
            </a:r>
            <a:r>
              <a:rPr lang="en-US" sz="1050" dirty="0">
                <a:solidFill>
                  <a:srgbClr val="D4D4D4"/>
                </a:solidFill>
                <a:latin typeface="Courier New"/>
                <a:cs typeface="Courier New"/>
              </a:rPr>
              <a:t>.</a:t>
            </a:r>
            <a:r>
              <a:rPr lang="en-US" sz="1050" dirty="0">
                <a:solidFill>
                  <a:srgbClr val="D4D4D4"/>
                </a:solidFill>
                <a:latin typeface="Courier New"/>
                <a:cs typeface="Courier New"/>
              </a:rPr>
              <a:t>0</a:t>
            </a:r>
            <a:r>
              <a:rPr lang="en-US" sz="1050" dirty="0">
                <a:solidFill>
                  <a:srgbClr val="D4D4D4"/>
                </a:solidFill>
                <a:latin typeface="Courier New"/>
                <a:cs typeface="Courier New"/>
              </a:rPr>
              <a:t>0</a:t>
            </a:r>
            <a:endParaRPr lang="en-US" sz="1050" dirty="0"/>
          </a:p>
        </p:txBody>
      </p:sp>
      <p:sp>
        <p:nvSpPr>
          <p:cNvPr id="13" name="Shape 13"/>
          <p:cNvSpPr/>
          <p:nvPr/>
        </p:nvSpPr>
        <p:spPr>
          <a:xfrm>
            <a:off x="7498080" y="2834640"/>
            <a:ext cx="4160520" cy="3200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400" dirty="0" b="1">
                <a:solidFill>
                  <a:srgbClr val="11567F"/>
                </a:solidFill>
              </a:rPr>
              <a:t>COPY result</a:t>
            </a:r>
            <a:endParaRPr lang="en-US" sz="1400" dirty="0"/>
          </a:p>
        </p:txBody>
      </p:sp>
      <p:sp>
        <p:nvSpPr>
          <p:cNvPr id="14" name="Shape 14"/>
          <p:cNvSpPr/>
          <p:nvPr/>
        </p:nvSpPr>
        <p:spPr>
          <a:xfrm>
            <a:off x="7498080" y="3154680"/>
            <a:ext cx="1417320" cy="365760"/>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b="1">
                <a:solidFill>
                  <a:srgbClr val="FFFFFF"/>
                </a:solidFill>
              </a:rPr>
              <a:t>file</a:t>
            </a:r>
            <a:endParaRPr lang="en-US" sz="1050" dirty="0"/>
          </a:p>
        </p:txBody>
      </p:sp>
      <p:sp>
        <p:nvSpPr>
          <p:cNvPr id="15" name="Shape 15"/>
          <p:cNvSpPr/>
          <p:nvPr/>
        </p:nvSpPr>
        <p:spPr>
          <a:xfrm>
            <a:off x="8915400" y="3154680"/>
            <a:ext cx="914400" cy="365760"/>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b="1">
                <a:solidFill>
                  <a:srgbClr val="FFFFFF"/>
                </a:solidFill>
              </a:rPr>
              <a:t>status</a:t>
            </a:r>
            <a:endParaRPr lang="en-US" sz="1050" dirty="0"/>
          </a:p>
        </p:txBody>
      </p:sp>
      <p:sp>
        <p:nvSpPr>
          <p:cNvPr id="16" name="Shape 16"/>
          <p:cNvSpPr/>
          <p:nvPr/>
        </p:nvSpPr>
        <p:spPr>
          <a:xfrm>
            <a:off x="9829800" y="3154680"/>
            <a:ext cx="868680" cy="365760"/>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b="1">
                <a:solidFill>
                  <a:srgbClr val="FFFFFF"/>
                </a:solidFill>
              </a:rPr>
              <a:t>rows</a:t>
            </a:r>
            <a:endParaRPr lang="en-US" sz="1050" dirty="0"/>
          </a:p>
        </p:txBody>
      </p:sp>
      <p:sp>
        <p:nvSpPr>
          <p:cNvPr id="17" name="Shape 17"/>
          <p:cNvSpPr/>
          <p:nvPr/>
        </p:nvSpPr>
        <p:spPr>
          <a:xfrm>
            <a:off x="10698480" y="3154680"/>
            <a:ext cx="960120" cy="365760"/>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b="1">
                <a:solidFill>
                  <a:srgbClr val="FFFFFF"/>
                </a:solidFill>
              </a:rPr>
              <a:t>errors</a:t>
            </a:r>
            <a:endParaRPr lang="en-US" sz="1050" dirty="0"/>
          </a:p>
        </p:txBody>
      </p:sp>
      <p:sp>
        <p:nvSpPr>
          <p:cNvPr id="18" name="Shape 18"/>
          <p:cNvSpPr/>
          <p:nvPr/>
        </p:nvSpPr>
        <p:spPr>
          <a:xfrm>
            <a:off x="7498080" y="3520440"/>
            <a:ext cx="1417320" cy="56692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a:solidFill>
                  <a:srgbClr val="1F2937"/>
                </a:solidFill>
              </a:rPr>
              <a:t>orders.csv.gz</a:t>
            </a:r>
            <a:endParaRPr lang="en-US" sz="1050" dirty="0"/>
          </a:p>
        </p:txBody>
      </p:sp>
      <p:sp>
        <p:nvSpPr>
          <p:cNvPr id="19" name="Shape 19"/>
          <p:cNvSpPr/>
          <p:nvPr/>
        </p:nvSpPr>
        <p:spPr>
          <a:xfrm>
            <a:off x="8915400" y="3520440"/>
            <a:ext cx="914400" cy="56692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a:solidFill>
                  <a:srgbClr val="1F2937"/>
                </a:solidFill>
              </a:rPr>
              <a:t>PARTIALLY LOADED</a:t>
            </a:r>
            <a:endParaRPr lang="en-US" sz="1050" dirty="0"/>
          </a:p>
        </p:txBody>
      </p:sp>
      <p:sp>
        <p:nvSpPr>
          <p:cNvPr id="20" name="Shape 20"/>
          <p:cNvSpPr/>
          <p:nvPr/>
        </p:nvSpPr>
        <p:spPr>
          <a:xfrm>
            <a:off x="9829800" y="3520440"/>
            <a:ext cx="868680" cy="56692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a:solidFill>
                  <a:srgbClr val="1F2937"/>
                </a:solidFill>
              </a:rPr>
              <a:t>2</a:t>
            </a:r>
            <a:endParaRPr lang="en-US" sz="1050" dirty="0"/>
          </a:p>
        </p:txBody>
      </p:sp>
      <p:sp>
        <p:nvSpPr>
          <p:cNvPr id="21" name="Shape 21"/>
          <p:cNvSpPr/>
          <p:nvPr/>
        </p:nvSpPr>
        <p:spPr>
          <a:xfrm>
            <a:off x="10698480" y="3520440"/>
            <a:ext cx="960120" cy="566928"/>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050" dirty="0">
                <a:solidFill>
                  <a:srgbClr val="1F2937"/>
                </a:solidFill>
              </a:rPr>
              <a:t>1</a:t>
            </a:r>
            <a:endParaRPr lang="en-US" sz="1050" dirty="0"/>
          </a:p>
        </p:txBody>
      </p:sp>
      <p:sp>
        <p:nvSpPr>
          <p:cNvPr id="22" name="Shape 22"/>
          <p:cNvSpPr/>
          <p:nvPr/>
        </p:nvSpPr>
        <p:spPr>
          <a:xfrm>
            <a:off x="7498080" y="4160520"/>
            <a:ext cx="4160520" cy="1188720"/>
          </a:xfrm>
          <a:prstGeom prst="rect">
            <a:avLst/>
          </a:prstGeom>
          <a:noFill/>
          <a:ln>
            <a:noFill/>
          </a:ln>
        </p:spPr>
        <p:txBody>
          <a:bodyPr wrap="square" lIns="45720" tIns="45720" rIns="45720" bIns="45720" anchor="t" rtlCol="0">
            <a:noAutofit/>
          </a:bodyPr>
          <a:lstStyle/>
          <a:p>
            <a:pPr algn="l" marL="285750" indent="-285750">
              <a:lnSpc>
                <a:spcPct val="100000"/>
              </a:lnSpc>
              <a:spcBef>
                <a:spcPts val="300"/>
              </a:spcBef>
              <a:spcAft>
                <a:spcPts val="0"/>
              </a:spcAft>
              <a:buClr>
                <a:srgbClr val="29B5E8"/>
              </a:buClr>
              <a:buFont typeface="Arial"/>
              <a:buChar char="•"/>
            </a:pPr>
            <a:r>
              <a:rPr lang="en-US" sz="1200" dirty="0">
                <a:solidFill>
                  <a:srgbClr val="1F2937"/>
                </a:solidFill>
              </a:rPr>
              <a:t>Row 4: quoted comma kept; empty amount → </a:t>
            </a:r>
            <a:r>
              <a:rPr lang="en-US" sz="1200" dirty="0" b="1">
                <a:solidFill>
                  <a:srgbClr val="1F2937"/>
                </a:solidFill>
              </a:rPr>
              <a:t>NULL</a:t>
            </a:r>
            <a:endParaRPr lang="en-US" sz="1200" dirty="0"/>
          </a:p>
          <a:p>
            <a:pPr algn="l" marL="285750" indent="-285750">
              <a:lnSpc>
                <a:spcPct val="100000"/>
              </a:lnSpc>
              <a:spcBef>
                <a:spcPts val="300"/>
              </a:spcBef>
              <a:spcAft>
                <a:spcPts val="0"/>
              </a:spcAft>
              <a:buClr>
                <a:srgbClr val="29B5E8"/>
              </a:buClr>
              <a:buFont typeface="Arial"/>
              <a:buChar char="•"/>
            </a:pPr>
            <a:r>
              <a:rPr lang="en-US" sz="1200" dirty="0">
                <a:solidFill>
                  <a:srgbClr val="1F2937"/>
                </a:solidFill>
              </a:rPr>
              <a:t>Row 5: bad date → rejected (ON_ERROR)</a:t>
            </a:r>
            <a:endParaRPr lang="en-US" sz="1200" dirty="0"/>
          </a:p>
        </p:txBody>
      </p:sp>
      <p:sp>
        <p:nvSpPr>
          <p:cNvPr id="23" name="Shape 23"/>
          <p:cNvSpPr/>
          <p:nvPr/>
        </p:nvSpPr>
        <p:spPr>
          <a:xfrm>
            <a:off x="7498080" y="5303520"/>
            <a:ext cx="4160520" cy="868680"/>
          </a:xfrm>
          <a:prstGeom prst="roundRect">
            <a:avLst>
              <a:gd name="adj" fmla="val 10000"/>
            </a:avLst>
          </a:prstGeom>
          <a:solidFill>
            <a:srgbClr val="FFF7E6"/>
          </a:solidFill>
          <a:ln w="15875">
            <a:solidFill>
              <a:srgbClr val="F59E0B"/>
            </a:solidFill>
          </a:ln>
        </p:spPr>
        <p:txBody>
          <a:bodyPr wrap="square" lIns="91440" tIns="91440" rIns="91440" bIns="91440" anchor="t" rtlCol="0">
            <a:noAutofit/>
          </a:bodyPr>
          <a:lstStyle/>
          <a:p>
            <a:endParaRPr lang="en-US" dirty="0"/>
          </a:p>
        </p:txBody>
      </p:sp>
      <p:sp>
        <p:nvSpPr>
          <p:cNvPr id="24" name="Shape 24"/>
          <p:cNvSpPr/>
          <p:nvPr/>
        </p:nvSpPr>
        <p:spPr>
          <a:xfrm>
            <a:off x="7607808" y="5349240"/>
            <a:ext cx="3941064" cy="77724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150" dirty="0" b="1">
                <a:solidFill>
                  <a:srgbClr val="F59E0B"/>
                </a:solidFill>
              </a:rPr>
              <a:t>NOTE  </a:t>
            </a:r>
            <a:r>
              <a:rPr lang="en-US" sz="1150" dirty="0">
                <a:solidFill>
                  <a:srgbClr val="1F2937"/>
                </a:solidFill>
              </a:rPr>
              <a:t>Re-running COPY skips files already loaded (</a:t>
            </a:r>
            <a:r>
              <a:rPr lang="en-US" sz="1150" dirty="0" b="1">
                <a:solidFill>
                  <a:srgbClr val="1F2937"/>
                </a:solidFill>
              </a:rPr>
              <a:t>64-day</a:t>
            </a:r>
            <a:r>
              <a:rPr lang="en-US" sz="1150" dirty="0">
                <a:solidFill>
                  <a:srgbClr val="1F2937"/>
                </a:solidFill>
              </a:rPr>
              <a:t> load metadata).</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4 · Load from Cloud Storage (Amazon S3)</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Storage integration → external stage → COPY INTO</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18 / 26</a:t>
            </a:r>
            <a:endParaRPr lang="en-US" sz="1000" dirty="0"/>
          </a:p>
        </p:txBody>
      </p:sp>
      <p:sp>
        <p:nvSpPr>
          <p:cNvPr id="9" name="Shape 9"/>
          <p:cNvSpPr/>
          <p:nvPr/>
        </p:nvSpPr>
        <p:spPr>
          <a:xfrm>
            <a:off x="548640" y="1325880"/>
            <a:ext cx="694944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SQL</a:t>
            </a:r>
            <a:endParaRPr lang="en-US" sz="1100" dirty="0"/>
          </a:p>
        </p:txBody>
      </p:sp>
      <p:sp>
        <p:nvSpPr>
          <p:cNvPr id="10" name="Shape 10"/>
          <p:cNvSpPr/>
          <p:nvPr/>
        </p:nvSpPr>
        <p:spPr>
          <a:xfrm>
            <a:off x="548640" y="1618488"/>
            <a:ext cx="6949440" cy="455371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050" dirty="0" b="1">
                <a:solidFill>
                  <a:srgbClr val="569CD6"/>
                </a:solidFill>
                <a:latin typeface="Courier New"/>
                <a:cs typeface="Courier New"/>
              </a:rPr>
              <a:t>USE</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ACCOUNTADMIN</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CREATE</a:t>
            </a:r>
            <a:r>
              <a:rPr lang="en-US" sz="1050" dirty="0">
                <a:solidFill>
                  <a:srgbClr val="D4D4D4"/>
                </a:solidFill>
                <a:latin typeface="Courier New"/>
                <a:cs typeface="Courier New"/>
              </a:rPr>
              <a:t> </a:t>
            </a:r>
            <a:r>
              <a:rPr lang="en-US" sz="1050" dirty="0" b="1">
                <a:solidFill>
                  <a:srgbClr val="569CD6"/>
                </a:solidFill>
                <a:latin typeface="Courier New"/>
                <a:cs typeface="Courier New"/>
              </a:rPr>
              <a:t>STORAGE</a:t>
            </a:r>
            <a:r>
              <a:rPr lang="en-US" sz="1050" dirty="0">
                <a:solidFill>
                  <a:srgbClr val="D4D4D4"/>
                </a:solidFill>
                <a:latin typeface="Courier New"/>
                <a:cs typeface="Courier New"/>
              </a:rPr>
              <a:t> </a:t>
            </a:r>
            <a:r>
              <a:rPr lang="en-US" sz="1050" dirty="0" b="1">
                <a:solidFill>
                  <a:srgbClr val="569CD6"/>
                </a:solidFill>
                <a:latin typeface="Courier New"/>
                <a:cs typeface="Courier New"/>
              </a:rPr>
              <a:t>INTEGRATION</a:t>
            </a:r>
            <a:r>
              <a:rPr lang="en-US" sz="1050" dirty="0">
                <a:solidFill>
                  <a:srgbClr val="D4D4D4"/>
                </a:solidFill>
                <a:latin typeface="Courier New"/>
                <a:cs typeface="Courier New"/>
              </a:rPr>
              <a:t> </a:t>
            </a:r>
            <a:r>
              <a:rPr lang="en-US" sz="1050" dirty="0">
                <a:solidFill>
                  <a:srgbClr val="D4D4D4"/>
                </a:solidFill>
                <a:latin typeface="Courier New"/>
                <a:cs typeface="Courier New"/>
              </a:rPr>
              <a:t>s3_int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b="1">
                <a:solidFill>
                  <a:srgbClr val="569CD6"/>
                </a:solidFill>
                <a:latin typeface="Courier New"/>
                <a:cs typeface="Courier New"/>
              </a:rPr>
              <a:t>TYPE</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EXTERNAL_STAGE</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STORAGE_PROVIDER</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CE9178"/>
                </a:solidFill>
                <a:latin typeface="Courier New"/>
                <a:cs typeface="Courier New"/>
              </a:rPr>
              <a:t>'S3'</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ENABLED</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b="1">
                <a:solidFill>
                  <a:srgbClr val="569CD6"/>
                </a:solidFill>
                <a:latin typeface="Courier New"/>
                <a:cs typeface="Courier New"/>
              </a:rPr>
              <a:t>TRUE</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STORAGE_AWS_ROLE_ARN</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CE9178"/>
                </a:solidFill>
                <a:latin typeface="Courier New"/>
                <a:cs typeface="Courier New"/>
              </a:rPr>
              <a:t>'arn:aws:iam::123456789012:role/snowflake_load'</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STORAGE_ALLOWED_LOCATIONS</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CE9178"/>
                </a:solidFill>
                <a:latin typeface="Courier New"/>
                <a:cs typeface="Courier New"/>
              </a:rPr>
              <a:t>'s3://acme-data/orders/'</a:t>
            </a:r>
            <a:r>
              <a:rPr lang="en-US" sz="1050" dirty="0">
                <a:solidFill>
                  <a:srgbClr val="D4D4D4"/>
                </a:solidFill>
                <a:latin typeface="Courier New"/>
                <a:cs typeface="Courier New"/>
              </a:rPr>
              <a: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DESC</a:t>
            </a:r>
            <a:r>
              <a:rPr lang="en-US" sz="1050" dirty="0">
                <a:solidFill>
                  <a:srgbClr val="D4D4D4"/>
                </a:solidFill>
                <a:latin typeface="Courier New"/>
                <a:cs typeface="Courier New"/>
              </a:rPr>
              <a:t> </a:t>
            </a:r>
            <a:r>
              <a:rPr lang="en-US" sz="1050" dirty="0" b="1">
                <a:solidFill>
                  <a:srgbClr val="569CD6"/>
                </a:solidFill>
                <a:latin typeface="Courier New"/>
                <a:cs typeface="Courier New"/>
              </a:rPr>
              <a:t>INTEGRATION</a:t>
            </a:r>
            <a:r>
              <a:rPr lang="en-US" sz="1050" dirty="0">
                <a:solidFill>
                  <a:srgbClr val="D4D4D4"/>
                </a:solidFill>
                <a:latin typeface="Courier New"/>
                <a:cs typeface="Courier New"/>
              </a:rPr>
              <a:t> </a:t>
            </a:r>
            <a:r>
              <a:rPr lang="en-US" sz="1050" dirty="0">
                <a:solidFill>
                  <a:srgbClr val="D4D4D4"/>
                </a:solidFill>
                <a:latin typeface="Courier New"/>
                <a:cs typeface="Courier New"/>
              </a:rPr>
              <a:t>s3_int</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i="1">
                <a:solidFill>
                  <a:srgbClr val="6A9955"/>
                </a:solidFill>
                <a:latin typeface="Courier New"/>
                <a:cs typeface="Courier New"/>
              </a:rPr>
              <a:t>-- copy IAM user ARN + external ID</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GRANT</a:t>
            </a:r>
            <a:r>
              <a:rPr lang="en-US" sz="1050" dirty="0">
                <a:solidFill>
                  <a:srgbClr val="D4D4D4"/>
                </a:solidFill>
                <a:latin typeface="Courier New"/>
                <a:cs typeface="Courier New"/>
              </a:rPr>
              <a:t> </a:t>
            </a:r>
            <a:r>
              <a:rPr lang="en-US" sz="1050" dirty="0" b="1">
                <a:solidFill>
                  <a:srgbClr val="569CD6"/>
                </a:solidFill>
                <a:latin typeface="Courier New"/>
                <a:cs typeface="Courier New"/>
              </a:rPr>
              <a:t>USAGE</a:t>
            </a:r>
            <a:r>
              <a:rPr lang="en-US" sz="1050" dirty="0">
                <a:solidFill>
                  <a:srgbClr val="D4D4D4"/>
                </a:solidFill>
                <a:latin typeface="Courier New"/>
                <a:cs typeface="Courier New"/>
              </a:rPr>
              <a:t> </a:t>
            </a:r>
            <a:r>
              <a:rPr lang="en-US" sz="1050" dirty="0" b="1">
                <a:solidFill>
                  <a:srgbClr val="569CD6"/>
                </a:solidFill>
                <a:latin typeface="Courier New"/>
                <a:cs typeface="Courier New"/>
              </a:rPr>
              <a:t>ON</a:t>
            </a:r>
            <a:r>
              <a:rPr lang="en-US" sz="1050" dirty="0">
                <a:solidFill>
                  <a:srgbClr val="D4D4D4"/>
                </a:solidFill>
                <a:latin typeface="Courier New"/>
                <a:cs typeface="Courier New"/>
              </a:rPr>
              <a:t> </a:t>
            </a:r>
            <a:r>
              <a:rPr lang="en-US" sz="1050" dirty="0" b="1">
                <a:solidFill>
                  <a:srgbClr val="569CD6"/>
                </a:solidFill>
                <a:latin typeface="Courier New"/>
                <a:cs typeface="Courier New"/>
              </a:rPr>
              <a:t>INTEGRATION</a:t>
            </a:r>
            <a:r>
              <a:rPr lang="en-US" sz="1050" dirty="0">
                <a:solidFill>
                  <a:srgbClr val="D4D4D4"/>
                </a:solidFill>
                <a:latin typeface="Courier New"/>
                <a:cs typeface="Courier New"/>
              </a:rPr>
              <a:t> </a:t>
            </a:r>
            <a:r>
              <a:rPr lang="en-US" sz="1050" dirty="0">
                <a:solidFill>
                  <a:srgbClr val="D4D4D4"/>
                </a:solidFill>
                <a:latin typeface="Courier New"/>
                <a:cs typeface="Courier New"/>
              </a:rPr>
              <a:t>s3_int</a:t>
            </a:r>
            <a:r>
              <a:rPr lang="en-US" sz="1050" dirty="0">
                <a:solidFill>
                  <a:srgbClr val="D4D4D4"/>
                </a:solidFill>
                <a:latin typeface="Courier New"/>
                <a:cs typeface="Courier New"/>
              </a:rPr>
              <a:t> </a:t>
            </a:r>
            <a:r>
              <a:rPr lang="en-US" sz="1050" dirty="0" b="1">
                <a:solidFill>
                  <a:srgbClr val="569CD6"/>
                </a:solidFill>
                <a:latin typeface="Courier New"/>
                <a:cs typeface="Courier New"/>
              </a:rPr>
              <a:t>TO</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SYSADMIN</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USE</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SYSADMIN</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CREATE</a:t>
            </a:r>
            <a:r>
              <a:rPr lang="en-US" sz="1050" dirty="0">
                <a:solidFill>
                  <a:srgbClr val="D4D4D4"/>
                </a:solidFill>
                <a:latin typeface="Courier New"/>
                <a:cs typeface="Courier New"/>
              </a:rPr>
              <a:t> </a:t>
            </a:r>
            <a:r>
              <a:rPr lang="en-US" sz="1050" dirty="0" b="1">
                <a:solidFill>
                  <a:srgbClr val="569CD6"/>
                </a:solidFill>
                <a:latin typeface="Courier New"/>
                <a:cs typeface="Courier New"/>
              </a:rPr>
              <a:t>OR</a:t>
            </a:r>
            <a:r>
              <a:rPr lang="en-US" sz="1050" dirty="0">
                <a:solidFill>
                  <a:srgbClr val="D4D4D4"/>
                </a:solidFill>
                <a:latin typeface="Courier New"/>
                <a:cs typeface="Courier New"/>
              </a:rPr>
              <a:t> </a:t>
            </a:r>
            <a:r>
              <a:rPr lang="en-US" sz="1050" dirty="0" b="1">
                <a:solidFill>
                  <a:srgbClr val="569CD6"/>
                </a:solidFill>
                <a:latin typeface="Courier New"/>
                <a:cs typeface="Courier New"/>
              </a:rPr>
              <a:t>REPLACE</a:t>
            </a:r>
            <a:r>
              <a:rPr lang="en-US" sz="1050" dirty="0">
                <a:solidFill>
                  <a:srgbClr val="D4D4D4"/>
                </a:solidFill>
                <a:latin typeface="Courier New"/>
                <a:cs typeface="Courier New"/>
              </a:rPr>
              <a:t> </a:t>
            </a:r>
            <a:r>
              <a:rPr lang="en-US" sz="1050" dirty="0" b="1">
                <a:solidFill>
                  <a:srgbClr val="569CD6"/>
                </a:solidFill>
                <a:latin typeface="Courier New"/>
                <a:cs typeface="Courier New"/>
              </a:rPr>
              <a:t>STAGE</a:t>
            </a:r>
            <a:r>
              <a:rPr lang="en-US" sz="1050" dirty="0">
                <a:solidFill>
                  <a:srgbClr val="D4D4D4"/>
                </a:solidFill>
                <a:latin typeface="Courier New"/>
                <a:cs typeface="Courier New"/>
              </a:rPr>
              <a:t> </a:t>
            </a:r>
            <a:r>
              <a:rPr lang="en-US" sz="1050" dirty="0">
                <a:solidFill>
                  <a:srgbClr val="D4D4D4"/>
                </a:solidFill>
                <a:latin typeface="Courier New"/>
                <a:cs typeface="Courier New"/>
              </a:rPr>
              <a:t>sales_db</a:t>
            </a:r>
            <a:r>
              <a:rPr lang="en-US" sz="1050" dirty="0">
                <a:solidFill>
                  <a:srgbClr val="D4D4D4"/>
                </a:solidFill>
                <a:latin typeface="Courier New"/>
                <a:cs typeface="Courier New"/>
              </a:rPr>
              <a:t>.</a:t>
            </a:r>
            <a:r>
              <a:rPr lang="en-US" sz="1050" dirty="0">
                <a:solidFill>
                  <a:srgbClr val="D4D4D4"/>
                </a:solidFill>
                <a:latin typeface="Courier New"/>
                <a:cs typeface="Courier New"/>
              </a:rPr>
              <a:t>raw</a:t>
            </a:r>
            <a:r>
              <a:rPr lang="en-US" sz="1050" dirty="0">
                <a:solidFill>
                  <a:srgbClr val="D4D4D4"/>
                </a:solidFill>
                <a:latin typeface="Courier New"/>
                <a:cs typeface="Courier New"/>
              </a:rPr>
              <a:t>.</a:t>
            </a:r>
            <a:r>
              <a:rPr lang="en-US" sz="1050" dirty="0">
                <a:solidFill>
                  <a:srgbClr val="D4D4D4"/>
                </a:solidFill>
                <a:latin typeface="Courier New"/>
                <a:cs typeface="Courier New"/>
              </a:rPr>
              <a:t>s3_orders</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URL</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CE9178"/>
                </a:solidFill>
                <a:latin typeface="Courier New"/>
                <a:cs typeface="Courier New"/>
              </a:rPr>
              <a:t>'s3://acme-data/orders/'</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STORAGE_INTEGRATION</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s3_int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FILE_FORMAT</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my_csv_fmt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COPY</a:t>
            </a:r>
            <a:r>
              <a:rPr lang="en-US" sz="1050" dirty="0">
                <a:solidFill>
                  <a:srgbClr val="D4D4D4"/>
                </a:solidFill>
                <a:latin typeface="Courier New"/>
                <a:cs typeface="Courier New"/>
              </a:rPr>
              <a:t> </a:t>
            </a:r>
            <a:r>
              <a:rPr lang="en-US" sz="1050" dirty="0" b="1">
                <a:solidFill>
                  <a:srgbClr val="569CD6"/>
                </a:solidFill>
                <a:latin typeface="Courier New"/>
                <a:cs typeface="Courier New"/>
              </a:rPr>
              <a:t>INTO</a:t>
            </a:r>
            <a:r>
              <a:rPr lang="en-US" sz="1050" dirty="0">
                <a:solidFill>
                  <a:srgbClr val="D4D4D4"/>
                </a:solidFill>
                <a:latin typeface="Courier New"/>
                <a:cs typeface="Courier New"/>
              </a:rPr>
              <a:t> </a:t>
            </a:r>
            <a:r>
              <a:rPr lang="en-US" sz="1050" dirty="0">
                <a:solidFill>
                  <a:srgbClr val="D4D4D4"/>
                </a:solidFill>
                <a:latin typeface="Courier New"/>
                <a:cs typeface="Courier New"/>
              </a:rPr>
              <a:t>orders</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order_id</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customer</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order_date</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amount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b="1">
                <a:solidFill>
                  <a:srgbClr val="569CD6"/>
                </a:solidFill>
                <a:latin typeface="Courier New"/>
                <a:cs typeface="Courier New"/>
              </a:rPr>
              <a:t>FROM</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s3_orders</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PATTERN</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CE9178"/>
                </a:solidFill>
                <a:latin typeface="Courier New"/>
                <a:cs typeface="Courier New"/>
              </a:rPr>
              <a:t>'.*orders_2026-09.*[.]csv'</a:t>
            </a:r>
            <a:r>
              <a:rPr lang="en-US" sz="1050" dirty="0">
                <a:solidFill>
                  <a:srgbClr val="D4D4D4"/>
                </a:solidFill>
                <a:latin typeface="Courier New"/>
                <a:cs typeface="Courier New"/>
              </a:rPr>
              <a:t>;</a:t>
            </a:r>
            <a:endParaRPr lang="en-US" sz="1050" dirty="0"/>
          </a:p>
        </p:txBody>
      </p:sp>
      <p:sp>
        <p:nvSpPr>
          <p:cNvPr id="11" name="Shape 11"/>
          <p:cNvSpPr/>
          <p:nvPr/>
        </p:nvSpPr>
        <p:spPr>
          <a:xfrm>
            <a:off x="7772400" y="1325880"/>
            <a:ext cx="1234440" cy="594360"/>
          </a:xfrm>
          <a:prstGeom prst="roundRect">
            <a:avLst>
              <a:gd name="adj" fmla="val 15000"/>
            </a:avLst>
          </a:prstGeom>
          <a:solidFill>
            <a:srgbClr val="11567F"/>
          </a:solidFill>
          <a:ln>
            <a:noFill/>
          </a:ln>
        </p:spPr>
        <p:txBody>
          <a:bodyPr wrap="square" lIns="27432" tIns="27432" rIns="27432" bIns="27432" anchor="ctr" rtlCol="0">
            <a:noAutofit/>
          </a:bodyPr>
          <a:lstStyle/>
          <a:p>
            <a:pPr algn="ctr">
              <a:lnSpc>
                <a:spcPct val="100000"/>
              </a:lnSpc>
              <a:spcBef>
                <a:spcPts val="0"/>
              </a:spcBef>
              <a:spcAft>
                <a:spcPts val="0"/>
              </a:spcAft>
              <a:buNone/>
            </a:pPr>
            <a:r>
              <a:rPr lang="en-US" sz="1150" dirty="0" b="1">
                <a:solidFill>
                  <a:srgbClr val="FFFFFF"/>
                </a:solidFill>
              </a:rPr>
              <a:t>Snowflake</a:t>
            </a:r>
            <a:endParaRPr lang="en-US" sz="1150" dirty="0"/>
          </a:p>
        </p:txBody>
      </p:sp>
      <p:sp>
        <p:nvSpPr>
          <p:cNvPr id="12" name="Shape 12"/>
          <p:cNvSpPr/>
          <p:nvPr/>
        </p:nvSpPr>
        <p:spPr>
          <a:xfrm>
            <a:off x="9098280" y="1325880"/>
            <a:ext cx="2560320" cy="594360"/>
          </a:xfrm>
          <a:prstGeom prst="roundRect">
            <a:avLst>
              <a:gd name="adj" fmla="val 15000"/>
            </a:avLst>
          </a:prstGeom>
          <a:solidFill>
            <a:srgbClr val="EAF6FC"/>
          </a:solidFill>
          <a:ln>
            <a:noFill/>
          </a:ln>
        </p:spPr>
        <p:txBody>
          <a:bodyPr wrap="square" lIns="91440" tIns="91440" rIns="91440" bIns="91440" anchor="ctr" rtlCol="0">
            <a:noAutofit/>
          </a:bodyPr>
          <a:lstStyle/>
          <a:p>
            <a:pPr algn="l">
              <a:lnSpc>
                <a:spcPct val="100000"/>
              </a:lnSpc>
              <a:spcBef>
                <a:spcPts val="0"/>
              </a:spcBef>
              <a:spcAft>
                <a:spcPts val="0"/>
              </a:spcAft>
              <a:buNone/>
            </a:pPr>
            <a:r>
              <a:rPr lang="en-US" sz="1150" dirty="0">
                <a:solidFill>
                  <a:srgbClr val="1F2937"/>
                </a:solidFill>
              </a:rPr>
              <a:t>CREATE STORAGE INTEGRATION</a:t>
            </a:r>
            <a:endParaRPr lang="en-US" sz="1150" dirty="0"/>
          </a:p>
        </p:txBody>
      </p:sp>
      <p:sp>
        <p:nvSpPr>
          <p:cNvPr id="13" name="Shape 13"/>
          <p:cNvSpPr/>
          <p:nvPr/>
        </p:nvSpPr>
        <p:spPr>
          <a:xfrm>
            <a:off x="7772400" y="2084832"/>
            <a:ext cx="1234440" cy="594360"/>
          </a:xfrm>
          <a:prstGeom prst="roundRect">
            <a:avLst>
              <a:gd name="adj" fmla="val 15000"/>
            </a:avLst>
          </a:prstGeom>
          <a:solidFill>
            <a:srgbClr val="11567F"/>
          </a:solidFill>
          <a:ln>
            <a:noFill/>
          </a:ln>
        </p:spPr>
        <p:txBody>
          <a:bodyPr wrap="square" lIns="27432" tIns="27432" rIns="27432" bIns="27432" anchor="ctr" rtlCol="0">
            <a:noAutofit/>
          </a:bodyPr>
          <a:lstStyle/>
          <a:p>
            <a:pPr algn="ctr">
              <a:lnSpc>
                <a:spcPct val="100000"/>
              </a:lnSpc>
              <a:spcBef>
                <a:spcPts val="0"/>
              </a:spcBef>
              <a:spcAft>
                <a:spcPts val="0"/>
              </a:spcAft>
              <a:buNone/>
            </a:pPr>
            <a:r>
              <a:rPr lang="en-US" sz="1150" dirty="0" b="1">
                <a:solidFill>
                  <a:srgbClr val="FFFFFF"/>
                </a:solidFill>
              </a:rPr>
              <a:t>Snowflake</a:t>
            </a:r>
            <a:endParaRPr lang="en-US" sz="1150" dirty="0"/>
          </a:p>
        </p:txBody>
      </p:sp>
      <p:sp>
        <p:nvSpPr>
          <p:cNvPr id="14" name="Shape 14"/>
          <p:cNvSpPr/>
          <p:nvPr/>
        </p:nvSpPr>
        <p:spPr>
          <a:xfrm>
            <a:off x="9098280" y="2084832"/>
            <a:ext cx="2560320" cy="594360"/>
          </a:xfrm>
          <a:prstGeom prst="roundRect">
            <a:avLst>
              <a:gd name="adj" fmla="val 15000"/>
            </a:avLst>
          </a:prstGeom>
          <a:solidFill>
            <a:srgbClr val="EAF6FC"/>
          </a:solidFill>
          <a:ln>
            <a:noFill/>
          </a:ln>
        </p:spPr>
        <p:txBody>
          <a:bodyPr wrap="square" lIns="91440" tIns="91440" rIns="91440" bIns="91440" anchor="ctr" rtlCol="0">
            <a:noAutofit/>
          </a:bodyPr>
          <a:lstStyle/>
          <a:p>
            <a:pPr algn="l">
              <a:lnSpc>
                <a:spcPct val="100000"/>
              </a:lnSpc>
              <a:spcBef>
                <a:spcPts val="0"/>
              </a:spcBef>
              <a:spcAft>
                <a:spcPts val="0"/>
              </a:spcAft>
              <a:buNone/>
            </a:pPr>
            <a:r>
              <a:rPr lang="en-US" sz="1150" dirty="0">
                <a:solidFill>
                  <a:srgbClr val="1F2937"/>
                </a:solidFill>
              </a:rPr>
              <a:t>DESC INTEGRATION → ARN + ext. ID</a:t>
            </a:r>
            <a:endParaRPr lang="en-US" sz="1150" dirty="0"/>
          </a:p>
        </p:txBody>
      </p:sp>
      <p:sp>
        <p:nvSpPr>
          <p:cNvPr id="15" name="Shape 15"/>
          <p:cNvSpPr/>
          <p:nvPr/>
        </p:nvSpPr>
        <p:spPr>
          <a:xfrm>
            <a:off x="7772400" y="2843784"/>
            <a:ext cx="1234440" cy="594360"/>
          </a:xfrm>
          <a:prstGeom prst="roundRect">
            <a:avLst>
              <a:gd name="adj" fmla="val 15000"/>
            </a:avLst>
          </a:prstGeom>
          <a:solidFill>
            <a:srgbClr val="F59E0B"/>
          </a:solidFill>
          <a:ln>
            <a:noFill/>
          </a:ln>
        </p:spPr>
        <p:txBody>
          <a:bodyPr wrap="square" lIns="27432" tIns="27432" rIns="27432" bIns="27432" anchor="ctr" rtlCol="0">
            <a:noAutofit/>
          </a:bodyPr>
          <a:lstStyle/>
          <a:p>
            <a:pPr algn="ctr">
              <a:lnSpc>
                <a:spcPct val="100000"/>
              </a:lnSpc>
              <a:spcBef>
                <a:spcPts val="0"/>
              </a:spcBef>
              <a:spcAft>
                <a:spcPts val="0"/>
              </a:spcAft>
              <a:buNone/>
            </a:pPr>
            <a:r>
              <a:rPr lang="en-US" sz="1150" dirty="0" b="1">
                <a:solidFill>
                  <a:srgbClr val="FFFFFF"/>
                </a:solidFill>
              </a:rPr>
              <a:t>AWS IAM</a:t>
            </a:r>
            <a:endParaRPr lang="en-US" sz="1150" dirty="0"/>
          </a:p>
        </p:txBody>
      </p:sp>
      <p:sp>
        <p:nvSpPr>
          <p:cNvPr id="16" name="Shape 16"/>
          <p:cNvSpPr/>
          <p:nvPr/>
        </p:nvSpPr>
        <p:spPr>
          <a:xfrm>
            <a:off x="9098280" y="2843784"/>
            <a:ext cx="2560320" cy="594360"/>
          </a:xfrm>
          <a:prstGeom prst="roundRect">
            <a:avLst>
              <a:gd name="adj" fmla="val 15000"/>
            </a:avLst>
          </a:prstGeom>
          <a:solidFill>
            <a:srgbClr val="EAF6FC"/>
          </a:solidFill>
          <a:ln>
            <a:noFill/>
          </a:ln>
        </p:spPr>
        <p:txBody>
          <a:bodyPr wrap="square" lIns="91440" tIns="91440" rIns="91440" bIns="91440" anchor="ctr" rtlCol="0">
            <a:noAutofit/>
          </a:bodyPr>
          <a:lstStyle/>
          <a:p>
            <a:pPr algn="l">
              <a:lnSpc>
                <a:spcPct val="100000"/>
              </a:lnSpc>
              <a:spcBef>
                <a:spcPts val="0"/>
              </a:spcBef>
              <a:spcAft>
                <a:spcPts val="0"/>
              </a:spcAft>
              <a:buNone/>
            </a:pPr>
            <a:r>
              <a:rPr lang="en-US" sz="1150" dirty="0">
                <a:solidFill>
                  <a:srgbClr val="1F2937"/>
                </a:solidFill>
              </a:rPr>
              <a:t>Add both to the role's trust policy</a:t>
            </a:r>
            <a:endParaRPr lang="en-US" sz="1150" dirty="0"/>
          </a:p>
        </p:txBody>
      </p:sp>
      <p:sp>
        <p:nvSpPr>
          <p:cNvPr id="17" name="Shape 17"/>
          <p:cNvSpPr/>
          <p:nvPr/>
        </p:nvSpPr>
        <p:spPr>
          <a:xfrm>
            <a:off x="7772400" y="3602736"/>
            <a:ext cx="1234440" cy="594360"/>
          </a:xfrm>
          <a:prstGeom prst="roundRect">
            <a:avLst>
              <a:gd name="adj" fmla="val 15000"/>
            </a:avLst>
          </a:prstGeom>
          <a:solidFill>
            <a:srgbClr val="11567F"/>
          </a:solidFill>
          <a:ln>
            <a:noFill/>
          </a:ln>
        </p:spPr>
        <p:txBody>
          <a:bodyPr wrap="square" lIns="27432" tIns="27432" rIns="27432" bIns="27432" anchor="ctr" rtlCol="0">
            <a:noAutofit/>
          </a:bodyPr>
          <a:lstStyle/>
          <a:p>
            <a:pPr algn="ctr">
              <a:lnSpc>
                <a:spcPct val="100000"/>
              </a:lnSpc>
              <a:spcBef>
                <a:spcPts val="0"/>
              </a:spcBef>
              <a:spcAft>
                <a:spcPts val="0"/>
              </a:spcAft>
              <a:buNone/>
            </a:pPr>
            <a:r>
              <a:rPr lang="en-US" sz="1150" dirty="0" b="1">
                <a:solidFill>
                  <a:srgbClr val="FFFFFF"/>
                </a:solidFill>
              </a:rPr>
              <a:t>Snowflake</a:t>
            </a:r>
            <a:endParaRPr lang="en-US" sz="1150" dirty="0"/>
          </a:p>
        </p:txBody>
      </p:sp>
      <p:sp>
        <p:nvSpPr>
          <p:cNvPr id="18" name="Shape 18"/>
          <p:cNvSpPr/>
          <p:nvPr/>
        </p:nvSpPr>
        <p:spPr>
          <a:xfrm>
            <a:off x="9098280" y="3602736"/>
            <a:ext cx="2560320" cy="594360"/>
          </a:xfrm>
          <a:prstGeom prst="roundRect">
            <a:avLst>
              <a:gd name="adj" fmla="val 15000"/>
            </a:avLst>
          </a:prstGeom>
          <a:solidFill>
            <a:srgbClr val="EAF6FC"/>
          </a:solidFill>
          <a:ln>
            <a:noFill/>
          </a:ln>
        </p:spPr>
        <p:txBody>
          <a:bodyPr wrap="square" lIns="91440" tIns="91440" rIns="91440" bIns="91440" anchor="ctr" rtlCol="0">
            <a:noAutofit/>
          </a:bodyPr>
          <a:lstStyle/>
          <a:p>
            <a:pPr algn="l">
              <a:lnSpc>
                <a:spcPct val="100000"/>
              </a:lnSpc>
              <a:spcBef>
                <a:spcPts val="0"/>
              </a:spcBef>
              <a:spcAft>
                <a:spcPts val="0"/>
              </a:spcAft>
              <a:buNone/>
            </a:pPr>
            <a:r>
              <a:rPr lang="en-US" sz="1150" dirty="0">
                <a:solidFill>
                  <a:srgbClr val="1F2937"/>
                </a:solidFill>
              </a:rPr>
              <a:t>CREATE STAGE … URL</a:t>
            </a:r>
            <a:endParaRPr lang="en-US" sz="1150" dirty="0"/>
          </a:p>
        </p:txBody>
      </p:sp>
      <p:sp>
        <p:nvSpPr>
          <p:cNvPr id="19" name="Shape 19"/>
          <p:cNvSpPr/>
          <p:nvPr/>
        </p:nvSpPr>
        <p:spPr>
          <a:xfrm>
            <a:off x="7772400" y="4361688"/>
            <a:ext cx="1234440" cy="594360"/>
          </a:xfrm>
          <a:prstGeom prst="roundRect">
            <a:avLst>
              <a:gd name="adj" fmla="val 15000"/>
            </a:avLst>
          </a:prstGeom>
          <a:solidFill>
            <a:srgbClr val="11567F"/>
          </a:solidFill>
          <a:ln>
            <a:noFill/>
          </a:ln>
        </p:spPr>
        <p:txBody>
          <a:bodyPr wrap="square" lIns="27432" tIns="27432" rIns="27432" bIns="27432" anchor="ctr" rtlCol="0">
            <a:noAutofit/>
          </a:bodyPr>
          <a:lstStyle/>
          <a:p>
            <a:pPr algn="ctr">
              <a:lnSpc>
                <a:spcPct val="100000"/>
              </a:lnSpc>
              <a:spcBef>
                <a:spcPts val="0"/>
              </a:spcBef>
              <a:spcAft>
                <a:spcPts val="0"/>
              </a:spcAft>
              <a:buNone/>
            </a:pPr>
            <a:r>
              <a:rPr lang="en-US" sz="1150" dirty="0" b="1">
                <a:solidFill>
                  <a:srgbClr val="FFFFFF"/>
                </a:solidFill>
              </a:rPr>
              <a:t>Snowflake</a:t>
            </a:r>
            <a:endParaRPr lang="en-US" sz="1150" dirty="0"/>
          </a:p>
        </p:txBody>
      </p:sp>
      <p:sp>
        <p:nvSpPr>
          <p:cNvPr id="20" name="Shape 20"/>
          <p:cNvSpPr/>
          <p:nvPr/>
        </p:nvSpPr>
        <p:spPr>
          <a:xfrm>
            <a:off x="9098280" y="4361688"/>
            <a:ext cx="2560320" cy="594360"/>
          </a:xfrm>
          <a:prstGeom prst="roundRect">
            <a:avLst>
              <a:gd name="adj" fmla="val 15000"/>
            </a:avLst>
          </a:prstGeom>
          <a:solidFill>
            <a:srgbClr val="EAF6FC"/>
          </a:solidFill>
          <a:ln>
            <a:noFill/>
          </a:ln>
        </p:spPr>
        <p:txBody>
          <a:bodyPr wrap="square" lIns="91440" tIns="91440" rIns="91440" bIns="91440" anchor="ctr" rtlCol="0">
            <a:noAutofit/>
          </a:bodyPr>
          <a:lstStyle/>
          <a:p>
            <a:pPr algn="l">
              <a:lnSpc>
                <a:spcPct val="100000"/>
              </a:lnSpc>
              <a:spcBef>
                <a:spcPts val="0"/>
              </a:spcBef>
              <a:spcAft>
                <a:spcPts val="0"/>
              </a:spcAft>
              <a:buNone/>
            </a:pPr>
            <a:r>
              <a:rPr lang="en-US" sz="1150" dirty="0">
                <a:solidFill>
                  <a:srgbClr val="1F2937"/>
                </a:solidFill>
              </a:rPr>
              <a:t>COPY INTO … PATTERN</a:t>
            </a:r>
            <a:endParaRPr lang="en-US" sz="1150" dirty="0"/>
          </a:p>
        </p:txBody>
      </p:sp>
      <p:sp>
        <p:nvSpPr>
          <p:cNvPr id="21" name="Shape 21"/>
          <p:cNvSpPr/>
          <p:nvPr/>
        </p:nvSpPr>
        <p:spPr>
          <a:xfrm>
            <a:off x="7772400" y="5212080"/>
            <a:ext cx="3886200" cy="960120"/>
          </a:xfrm>
          <a:prstGeom prst="roundRect">
            <a:avLst>
              <a:gd name="adj" fmla="val 10000"/>
            </a:avLst>
          </a:prstGeom>
          <a:solidFill>
            <a:srgbClr val="FFF7E6"/>
          </a:solidFill>
          <a:ln w="15875">
            <a:solidFill>
              <a:srgbClr val="F59E0B"/>
            </a:solidFill>
          </a:ln>
        </p:spPr>
        <p:txBody>
          <a:bodyPr wrap="square" lIns="91440" tIns="91440" rIns="91440" bIns="91440" anchor="t" rtlCol="0">
            <a:noAutofit/>
          </a:bodyPr>
          <a:lstStyle/>
          <a:p>
            <a:endParaRPr lang="en-US" dirty="0"/>
          </a:p>
        </p:txBody>
      </p:sp>
      <p:sp>
        <p:nvSpPr>
          <p:cNvPr id="22" name="Shape 22"/>
          <p:cNvSpPr/>
          <p:nvPr/>
        </p:nvSpPr>
        <p:spPr>
          <a:xfrm>
            <a:off x="7882128" y="5257800"/>
            <a:ext cx="3666744" cy="86868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150" dirty="0" b="1">
                <a:solidFill>
                  <a:srgbClr val="F59E0B"/>
                </a:solidFill>
              </a:rPr>
              <a:t>OTHER CLOUDS  </a:t>
            </a:r>
            <a:r>
              <a:rPr lang="en-US" sz="1150" dirty="0">
                <a:solidFill>
                  <a:srgbClr val="1F2937"/>
                </a:solidFill>
              </a:rPr>
              <a:t>Azure / GCS: same steps with </a:t>
            </a:r>
            <a:r>
              <a:rPr lang="en-US" sz="1092" dirty="0" b="1">
                <a:solidFill>
                  <a:srgbClr val="11567F"/>
                </a:solidFill>
                <a:latin typeface="Courier New"/>
                <a:cs typeface="Courier New"/>
              </a:rPr>
              <a:t>STORAGE_PROVIDER='AZURE'</a:t>
            </a:r>
            <a:r>
              <a:rPr lang="en-US" sz="1150" dirty="0">
                <a:solidFill>
                  <a:srgbClr val="1F2937"/>
                </a:solidFill>
              </a:rPr>
              <a:t> or </a:t>
            </a:r>
            <a:r>
              <a:rPr lang="en-US" sz="1092" dirty="0" b="1">
                <a:solidFill>
                  <a:srgbClr val="11567F"/>
                </a:solidFill>
                <a:latin typeface="Courier New"/>
                <a:cs typeface="Courier New"/>
              </a:rPr>
              <a:t>'GCS'</a:t>
            </a:r>
            <a:r>
              <a:rPr lang="en-US" sz="1150" dirty="0">
                <a:solidFill>
                  <a:srgbClr val="1F2937"/>
                </a:solidFill>
              </a:rPr>
              <a:t>.</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5 · Query, Time Travel &amp; Cloning</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Analyze data and recover from mistakes</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19 / 26</a:t>
            </a:r>
            <a:endParaRPr lang="en-US" sz="1000" dirty="0"/>
          </a:p>
        </p:txBody>
      </p:sp>
      <p:sp>
        <p:nvSpPr>
          <p:cNvPr id="9" name="Shape 9"/>
          <p:cNvSpPr/>
          <p:nvPr/>
        </p:nvSpPr>
        <p:spPr>
          <a:xfrm>
            <a:off x="548640" y="1325880"/>
            <a:ext cx="667512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SQL</a:t>
            </a:r>
            <a:endParaRPr lang="en-US" sz="1100" dirty="0"/>
          </a:p>
        </p:txBody>
      </p:sp>
      <p:sp>
        <p:nvSpPr>
          <p:cNvPr id="10" name="Shape 10"/>
          <p:cNvSpPr/>
          <p:nvPr/>
        </p:nvSpPr>
        <p:spPr>
          <a:xfrm>
            <a:off x="548640" y="1618488"/>
            <a:ext cx="6675120" cy="455371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100" dirty="0" i="1">
                <a:solidFill>
                  <a:srgbClr val="6A9955"/>
                </a:solidFill>
                <a:latin typeface="Courier New"/>
                <a:cs typeface="Courier New"/>
              </a:rPr>
              <a:t>-- 1. Standard SQL analytics</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customer</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COUNT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AS</a:t>
            </a:r>
            <a:r>
              <a:rPr lang="en-US" sz="1100" dirty="0">
                <a:solidFill>
                  <a:srgbClr val="D4D4D4"/>
                </a:solidFill>
                <a:latin typeface="Courier New"/>
                <a:cs typeface="Courier New"/>
              </a:rPr>
              <a:t> </a:t>
            </a:r>
            <a:r>
              <a:rPr lang="en-US" sz="1100" dirty="0">
                <a:solidFill>
                  <a:srgbClr val="D4D4D4"/>
                </a:solidFill>
                <a:latin typeface="Courier New"/>
                <a:cs typeface="Courier New"/>
              </a:rPr>
              <a:t>orders</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SUM</a:t>
            </a:r>
            <a:r>
              <a:rPr lang="en-US" sz="1100" dirty="0">
                <a:solidFill>
                  <a:srgbClr val="D4D4D4"/>
                </a:solidFill>
                <a:latin typeface="Courier New"/>
                <a:cs typeface="Courier New"/>
              </a:rPr>
              <a:t>(</a:t>
            </a:r>
            <a:r>
              <a:rPr lang="en-US" sz="1100" dirty="0">
                <a:solidFill>
                  <a:srgbClr val="D4D4D4"/>
                </a:solidFill>
                <a:latin typeface="Courier New"/>
                <a:cs typeface="Courier New"/>
              </a:rPr>
              <a:t>amount</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AS</a:t>
            </a:r>
            <a:r>
              <a:rPr lang="en-US" sz="1100" dirty="0">
                <a:solidFill>
                  <a:srgbClr val="D4D4D4"/>
                </a:solidFill>
                <a:latin typeface="Courier New"/>
                <a:cs typeface="Courier New"/>
              </a:rPr>
              <a:t> </a:t>
            </a:r>
            <a:r>
              <a:rPr lang="en-US" sz="1100" dirty="0">
                <a:solidFill>
                  <a:srgbClr val="D4D4D4"/>
                </a:solidFill>
                <a:latin typeface="Courier New"/>
                <a:cs typeface="Courier New"/>
              </a:rPr>
              <a:t>revenue</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FROM</a:t>
            </a:r>
            <a:r>
              <a:rPr lang="en-US" sz="1100" dirty="0">
                <a:solidFill>
                  <a:srgbClr val="D4D4D4"/>
                </a:solidFill>
                <a:latin typeface="Courier New"/>
                <a:cs typeface="Courier New"/>
              </a:rPr>
              <a:t>   </a:t>
            </a:r>
            <a:r>
              <a:rPr lang="en-US" sz="1100" dirty="0">
                <a:solidFill>
                  <a:srgbClr val="D4D4D4"/>
                </a:solidFill>
                <a:latin typeface="Courier New"/>
                <a:cs typeface="Courier New"/>
              </a:rPr>
              <a:t>orders</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GROUP</a:t>
            </a:r>
            <a:r>
              <a:rPr lang="en-US" sz="1100" dirty="0">
                <a:solidFill>
                  <a:srgbClr val="D4D4D4"/>
                </a:solidFill>
                <a:latin typeface="Courier New"/>
                <a:cs typeface="Courier New"/>
              </a:rPr>
              <a:t>  </a:t>
            </a:r>
            <a:r>
              <a:rPr lang="en-US" sz="1100" dirty="0" b="1">
                <a:solidFill>
                  <a:srgbClr val="569CD6"/>
                </a:solidFill>
                <a:latin typeface="Courier New"/>
                <a:cs typeface="Courier New"/>
              </a:rPr>
              <a:t>BY</a:t>
            </a:r>
            <a:r>
              <a:rPr lang="en-US" sz="1100" dirty="0">
                <a:solidFill>
                  <a:srgbClr val="D4D4D4"/>
                </a:solidFill>
                <a:latin typeface="Courier New"/>
                <a:cs typeface="Courier New"/>
              </a:rPr>
              <a:t> </a:t>
            </a:r>
            <a:r>
              <a:rPr lang="en-US" sz="1100" dirty="0">
                <a:solidFill>
                  <a:srgbClr val="D4D4D4"/>
                </a:solidFill>
                <a:latin typeface="Courier New"/>
                <a:cs typeface="Courier New"/>
              </a:rPr>
              <a:t>customer</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ORDER</a:t>
            </a:r>
            <a:r>
              <a:rPr lang="en-US" sz="1100" dirty="0">
                <a:solidFill>
                  <a:srgbClr val="D4D4D4"/>
                </a:solidFill>
                <a:latin typeface="Courier New"/>
                <a:cs typeface="Courier New"/>
              </a:rPr>
              <a:t>  </a:t>
            </a:r>
            <a:r>
              <a:rPr lang="en-US" sz="1100" dirty="0" b="1">
                <a:solidFill>
                  <a:srgbClr val="569CD6"/>
                </a:solidFill>
                <a:latin typeface="Courier New"/>
                <a:cs typeface="Courier New"/>
              </a:rPr>
              <a:t>BY</a:t>
            </a:r>
            <a:r>
              <a:rPr lang="en-US" sz="1100" dirty="0">
                <a:solidFill>
                  <a:srgbClr val="D4D4D4"/>
                </a:solidFill>
                <a:latin typeface="Courier New"/>
                <a:cs typeface="Courier New"/>
              </a:rPr>
              <a:t> </a:t>
            </a:r>
            <a:r>
              <a:rPr lang="en-US" sz="1100" dirty="0">
                <a:solidFill>
                  <a:srgbClr val="D4D4D4"/>
                </a:solidFill>
                <a:latin typeface="Courier New"/>
                <a:cs typeface="Courier New"/>
              </a:rPr>
              <a:t>revenue</a:t>
            </a:r>
            <a:r>
              <a:rPr lang="en-US" sz="1100" dirty="0">
                <a:solidFill>
                  <a:srgbClr val="D4D4D4"/>
                </a:solidFill>
                <a:latin typeface="Courier New"/>
                <a:cs typeface="Courier New"/>
              </a:rPr>
              <a:t> </a:t>
            </a:r>
            <a:r>
              <a:rPr lang="en-US" sz="1100" dirty="0" b="1">
                <a:solidFill>
                  <a:srgbClr val="569CD6"/>
                </a:solidFill>
                <a:latin typeface="Courier New"/>
                <a:cs typeface="Courier New"/>
              </a:rPr>
              <a:t>DESC</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endParaRPr lang="en-US" sz="1100" dirty="0"/>
          </a:p>
          <a:p>
            <a:pPr algn="l">
              <a:lnSpc>
                <a:spcPct val="100000"/>
              </a:lnSpc>
              <a:spcBef>
                <a:spcPts val="0"/>
              </a:spcBef>
              <a:spcAft>
                <a:spcPts val="0"/>
              </a:spcAft>
              <a:buNone/>
            </a:pPr>
            <a:r>
              <a:rPr lang="en-US" sz="1100" dirty="0" i="1">
                <a:solidFill>
                  <a:srgbClr val="6A9955"/>
                </a:solidFill>
                <a:latin typeface="Courier New"/>
                <a:cs typeface="Courier New"/>
              </a:rPr>
              <a:t>-- 2. Built-in sample data (read-only share)</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c_mktsegment</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COUNT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AS</a:t>
            </a:r>
            <a:r>
              <a:rPr lang="en-US" sz="1100" dirty="0">
                <a:solidFill>
                  <a:srgbClr val="D4D4D4"/>
                </a:solidFill>
                <a:latin typeface="Courier New"/>
                <a:cs typeface="Courier New"/>
              </a:rPr>
              <a:t> </a:t>
            </a:r>
            <a:r>
              <a:rPr lang="en-US" sz="1100" dirty="0">
                <a:solidFill>
                  <a:srgbClr val="D4D4D4"/>
                </a:solidFill>
                <a:latin typeface="Courier New"/>
                <a:cs typeface="Courier New"/>
              </a:rPr>
              <a:t>customers</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FROM</a:t>
            </a:r>
            <a:r>
              <a:rPr lang="en-US" sz="1100" dirty="0">
                <a:solidFill>
                  <a:srgbClr val="D4D4D4"/>
                </a:solidFill>
                <a:latin typeface="Courier New"/>
                <a:cs typeface="Courier New"/>
              </a:rPr>
              <a:t>   </a:t>
            </a:r>
            <a:r>
              <a:rPr lang="en-US" sz="1100" dirty="0">
                <a:solidFill>
                  <a:srgbClr val="D4D4D4"/>
                </a:solidFill>
                <a:latin typeface="Courier New"/>
                <a:cs typeface="Courier New"/>
              </a:rPr>
              <a:t>snowflake_sample_data</a:t>
            </a:r>
            <a:r>
              <a:rPr lang="en-US" sz="1100" dirty="0">
                <a:solidFill>
                  <a:srgbClr val="D4D4D4"/>
                </a:solidFill>
                <a:latin typeface="Courier New"/>
                <a:cs typeface="Courier New"/>
              </a:rPr>
              <a:t>.</a:t>
            </a:r>
            <a:r>
              <a:rPr lang="en-US" sz="1100" dirty="0">
                <a:solidFill>
                  <a:srgbClr val="D4D4D4"/>
                </a:solidFill>
                <a:latin typeface="Courier New"/>
                <a:cs typeface="Courier New"/>
              </a:rPr>
              <a:t>tpch_sf1</a:t>
            </a:r>
            <a:r>
              <a:rPr lang="en-US" sz="1100" dirty="0">
                <a:solidFill>
                  <a:srgbClr val="D4D4D4"/>
                </a:solidFill>
                <a:latin typeface="Courier New"/>
                <a:cs typeface="Courier New"/>
              </a:rPr>
              <a:t>.</a:t>
            </a:r>
            <a:r>
              <a:rPr lang="en-US" sz="1100" dirty="0">
                <a:solidFill>
                  <a:srgbClr val="D4D4D4"/>
                </a:solidFill>
                <a:latin typeface="Courier New"/>
                <a:cs typeface="Courier New"/>
              </a:rPr>
              <a:t>customer</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GROUP</a:t>
            </a:r>
            <a:r>
              <a:rPr lang="en-US" sz="1100" dirty="0">
                <a:solidFill>
                  <a:srgbClr val="D4D4D4"/>
                </a:solidFill>
                <a:latin typeface="Courier New"/>
                <a:cs typeface="Courier New"/>
              </a:rPr>
              <a:t>  </a:t>
            </a:r>
            <a:r>
              <a:rPr lang="en-US" sz="1100" dirty="0" b="1">
                <a:solidFill>
                  <a:srgbClr val="569CD6"/>
                </a:solidFill>
                <a:latin typeface="Courier New"/>
                <a:cs typeface="Courier New"/>
              </a:rPr>
              <a:t>BY</a:t>
            </a:r>
            <a:r>
              <a:rPr lang="en-US" sz="1100" dirty="0">
                <a:solidFill>
                  <a:srgbClr val="D4D4D4"/>
                </a:solidFill>
                <a:latin typeface="Courier New"/>
                <a:cs typeface="Courier New"/>
              </a:rPr>
              <a:t> </a:t>
            </a:r>
            <a:r>
              <a:rPr lang="en-US" sz="1100" dirty="0">
                <a:solidFill>
                  <a:srgbClr val="D4D4D4"/>
                </a:solidFill>
                <a:latin typeface="Courier New"/>
                <a:cs typeface="Courier New"/>
              </a:rPr>
              <a:t>1</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endParaRPr lang="en-US" sz="1100" dirty="0"/>
          </a:p>
          <a:p>
            <a:pPr algn="l">
              <a:lnSpc>
                <a:spcPct val="100000"/>
              </a:lnSpc>
              <a:spcBef>
                <a:spcPts val="0"/>
              </a:spcBef>
              <a:spcAft>
                <a:spcPts val="0"/>
              </a:spcAft>
              <a:buNone/>
            </a:pPr>
            <a:r>
              <a:rPr lang="en-US" sz="1100" dirty="0" i="1">
                <a:solidFill>
                  <a:srgbClr val="6A9955"/>
                </a:solidFill>
                <a:latin typeface="Courier New"/>
                <a:cs typeface="Courier New"/>
              </a:rPr>
              <a:t>-- 3. Time Travel: the table 30 minutes ago</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FROM</a:t>
            </a:r>
            <a:r>
              <a:rPr lang="en-US" sz="1100" dirty="0">
                <a:solidFill>
                  <a:srgbClr val="D4D4D4"/>
                </a:solidFill>
                <a:latin typeface="Courier New"/>
                <a:cs typeface="Courier New"/>
              </a:rPr>
              <a:t> </a:t>
            </a:r>
            <a:r>
              <a:rPr lang="en-US" sz="1100" dirty="0">
                <a:solidFill>
                  <a:srgbClr val="D4D4D4"/>
                </a:solidFill>
                <a:latin typeface="Courier New"/>
                <a:cs typeface="Courier New"/>
              </a:rPr>
              <a:t>orders</a:t>
            </a:r>
            <a:r>
              <a:rPr lang="en-US" sz="1100" dirty="0">
                <a:solidFill>
                  <a:srgbClr val="D4D4D4"/>
                </a:solidFill>
                <a:latin typeface="Courier New"/>
                <a:cs typeface="Courier New"/>
              </a:rPr>
              <a:t> </a:t>
            </a:r>
            <a:r>
              <a:rPr lang="en-US" sz="1100" dirty="0" b="1">
                <a:solidFill>
                  <a:srgbClr val="569CD6"/>
                </a:solidFill>
                <a:latin typeface="Courier New"/>
                <a:cs typeface="Courier New"/>
              </a:rPr>
              <a:t>AT</a:t>
            </a:r>
            <a:r>
              <a:rPr lang="en-US" sz="1100" dirty="0">
                <a:solidFill>
                  <a:srgbClr val="D4D4D4"/>
                </a:solidFill>
                <a:latin typeface="Courier New"/>
                <a:cs typeface="Courier New"/>
              </a:rPr>
              <a:t>(</a:t>
            </a:r>
            <a:r>
              <a:rPr lang="en-US" sz="1100" dirty="0" b="1">
                <a:solidFill>
                  <a:srgbClr val="569CD6"/>
                </a:solidFill>
                <a:latin typeface="Courier New"/>
                <a:cs typeface="Courier New"/>
              </a:rPr>
              <a:t>OFFSET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&gt;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6</a:t>
            </a:r>
            <a:r>
              <a:rPr lang="en-US" sz="1100" dirty="0">
                <a:solidFill>
                  <a:srgbClr val="D4D4D4"/>
                </a:solidFill>
                <a:latin typeface="Courier New"/>
                <a:cs typeface="Courier New"/>
              </a:rPr>
              <a:t>0</a:t>
            </a:r>
            <a:r>
              <a:rPr lang="en-US" sz="1100" dirty="0">
                <a:solidFill>
                  <a:srgbClr val="D4D4D4"/>
                </a:solidFill>
                <a:latin typeface="Courier New"/>
                <a:cs typeface="Courier New"/>
              </a:rPr>
              <a:t>*</a:t>
            </a:r>
            <a:r>
              <a:rPr lang="en-US" sz="1100" dirty="0">
                <a:solidFill>
                  <a:srgbClr val="D4D4D4"/>
                </a:solidFill>
                <a:latin typeface="Courier New"/>
                <a:cs typeface="Courier New"/>
              </a:rPr>
              <a:t>3</a:t>
            </a:r>
            <a:r>
              <a:rPr lang="en-US" sz="1100" dirty="0">
                <a:solidFill>
                  <a:srgbClr val="D4D4D4"/>
                </a:solidFill>
                <a:latin typeface="Courier New"/>
                <a:cs typeface="Courier New"/>
              </a:rPr>
              <a:t>0</a:t>
            </a:r>
            <a:r>
              <a:rPr lang="en-US" sz="1100" dirty="0">
                <a:solidFill>
                  <a:srgbClr val="D4D4D4"/>
                </a:solidFill>
                <a:latin typeface="Courier New"/>
                <a:cs typeface="Courier New"/>
              </a:rPr>
              <a:t>)</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endParaRPr lang="en-US" sz="1100" dirty="0"/>
          </a:p>
          <a:p>
            <a:pPr algn="l">
              <a:lnSpc>
                <a:spcPct val="100000"/>
              </a:lnSpc>
              <a:spcBef>
                <a:spcPts val="0"/>
              </a:spcBef>
              <a:spcAft>
                <a:spcPts val="0"/>
              </a:spcAft>
              <a:buNone/>
            </a:pPr>
            <a:r>
              <a:rPr lang="en-US" sz="1100" dirty="0" i="1">
                <a:solidFill>
                  <a:srgbClr val="6A9955"/>
                </a:solidFill>
                <a:latin typeface="Courier New"/>
                <a:cs typeface="Courier New"/>
              </a:rPr>
              <a:t>-- 4. Undo an accidental drop</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DROP</a:t>
            </a:r>
            <a:r>
              <a:rPr lang="en-US" sz="1100" dirty="0">
                <a:solidFill>
                  <a:srgbClr val="D4D4D4"/>
                </a:solidFill>
                <a:latin typeface="Courier New"/>
                <a:cs typeface="Courier New"/>
              </a:rPr>
              <a:t> </a:t>
            </a:r>
            <a:r>
              <a:rPr lang="en-US" sz="1100" dirty="0" b="1">
                <a:solidFill>
                  <a:srgbClr val="569CD6"/>
                </a:solidFill>
                <a:latin typeface="Courier New"/>
                <a:cs typeface="Courier New"/>
              </a:rPr>
              <a:t>TABLE</a:t>
            </a:r>
            <a:r>
              <a:rPr lang="en-US" sz="1100" dirty="0">
                <a:solidFill>
                  <a:srgbClr val="D4D4D4"/>
                </a:solidFill>
                <a:latin typeface="Courier New"/>
                <a:cs typeface="Courier New"/>
              </a:rPr>
              <a:t> </a:t>
            </a:r>
            <a:r>
              <a:rPr lang="en-US" sz="1100" dirty="0">
                <a:solidFill>
                  <a:srgbClr val="D4D4D4"/>
                </a:solidFill>
                <a:latin typeface="Courier New"/>
                <a:cs typeface="Courier New"/>
              </a:rPr>
              <a:t>orders</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UNDROP</a:t>
            </a:r>
            <a:r>
              <a:rPr lang="en-US" sz="1100" dirty="0">
                <a:solidFill>
                  <a:srgbClr val="D4D4D4"/>
                </a:solidFill>
                <a:latin typeface="Courier New"/>
                <a:cs typeface="Courier New"/>
              </a:rPr>
              <a:t> </a:t>
            </a:r>
            <a:r>
              <a:rPr lang="en-US" sz="1100" dirty="0" b="1">
                <a:solidFill>
                  <a:srgbClr val="569CD6"/>
                </a:solidFill>
                <a:latin typeface="Courier New"/>
                <a:cs typeface="Courier New"/>
              </a:rPr>
              <a:t>TABLE</a:t>
            </a:r>
            <a:r>
              <a:rPr lang="en-US" sz="1100" dirty="0">
                <a:solidFill>
                  <a:srgbClr val="D4D4D4"/>
                </a:solidFill>
                <a:latin typeface="Courier New"/>
                <a:cs typeface="Courier New"/>
              </a:rPr>
              <a:t> </a:t>
            </a:r>
            <a:r>
              <a:rPr lang="en-US" sz="1100" dirty="0">
                <a:solidFill>
                  <a:srgbClr val="D4D4D4"/>
                </a:solidFill>
                <a:latin typeface="Courier New"/>
                <a:cs typeface="Courier New"/>
              </a:rPr>
              <a:t>orders</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endParaRPr lang="en-US" sz="1100" dirty="0"/>
          </a:p>
          <a:p>
            <a:pPr algn="l">
              <a:lnSpc>
                <a:spcPct val="100000"/>
              </a:lnSpc>
              <a:spcBef>
                <a:spcPts val="0"/>
              </a:spcBef>
              <a:spcAft>
                <a:spcPts val="0"/>
              </a:spcAft>
              <a:buNone/>
            </a:pPr>
            <a:r>
              <a:rPr lang="en-US" sz="1100" dirty="0" i="1">
                <a:solidFill>
                  <a:srgbClr val="6A9955"/>
                </a:solidFill>
                <a:latin typeface="Courier New"/>
                <a:cs typeface="Courier New"/>
              </a:rPr>
              <a:t>-- 5. Instant zero-copy clone for testing</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CREATE</a:t>
            </a:r>
            <a:r>
              <a:rPr lang="en-US" sz="1100" dirty="0">
                <a:solidFill>
                  <a:srgbClr val="D4D4D4"/>
                </a:solidFill>
                <a:latin typeface="Courier New"/>
                <a:cs typeface="Courier New"/>
              </a:rPr>
              <a:t> </a:t>
            </a:r>
            <a:r>
              <a:rPr lang="en-US" sz="1100" dirty="0" b="1">
                <a:solidFill>
                  <a:srgbClr val="569CD6"/>
                </a:solidFill>
                <a:latin typeface="Courier New"/>
                <a:cs typeface="Courier New"/>
              </a:rPr>
              <a:t>TABLE</a:t>
            </a:r>
            <a:r>
              <a:rPr lang="en-US" sz="1100" dirty="0">
                <a:solidFill>
                  <a:srgbClr val="D4D4D4"/>
                </a:solidFill>
                <a:latin typeface="Courier New"/>
                <a:cs typeface="Courier New"/>
              </a:rPr>
              <a:t> </a:t>
            </a:r>
            <a:r>
              <a:rPr lang="en-US" sz="1100" dirty="0">
                <a:solidFill>
                  <a:srgbClr val="D4D4D4"/>
                </a:solidFill>
                <a:latin typeface="Courier New"/>
                <a:cs typeface="Courier New"/>
              </a:rPr>
              <a:t>orders_dev</a:t>
            </a:r>
            <a:r>
              <a:rPr lang="en-US" sz="1100" dirty="0">
                <a:solidFill>
                  <a:srgbClr val="D4D4D4"/>
                </a:solidFill>
                <a:latin typeface="Courier New"/>
                <a:cs typeface="Courier New"/>
              </a:rPr>
              <a:t> </a:t>
            </a:r>
            <a:r>
              <a:rPr lang="en-US" sz="1100" dirty="0" b="1">
                <a:solidFill>
                  <a:srgbClr val="569CD6"/>
                </a:solidFill>
                <a:latin typeface="Courier New"/>
                <a:cs typeface="Courier New"/>
              </a:rPr>
              <a:t>CLONE</a:t>
            </a:r>
            <a:r>
              <a:rPr lang="en-US" sz="1100" dirty="0">
                <a:solidFill>
                  <a:srgbClr val="D4D4D4"/>
                </a:solidFill>
                <a:latin typeface="Courier New"/>
                <a:cs typeface="Courier New"/>
              </a:rPr>
              <a:t> </a:t>
            </a:r>
            <a:r>
              <a:rPr lang="en-US" sz="1100" dirty="0">
                <a:solidFill>
                  <a:srgbClr val="D4D4D4"/>
                </a:solidFill>
                <a:latin typeface="Courier New"/>
                <a:cs typeface="Courier New"/>
              </a:rPr>
              <a:t>orders</a:t>
            </a:r>
            <a:r>
              <a:rPr lang="en-US" sz="1100" dirty="0">
                <a:solidFill>
                  <a:srgbClr val="D4D4D4"/>
                </a:solidFill>
                <a:latin typeface="Courier New"/>
                <a:cs typeface="Courier New"/>
              </a:rPr>
              <a:t>;</a:t>
            </a:r>
            <a:endParaRPr lang="en-US" sz="1100" dirty="0"/>
          </a:p>
        </p:txBody>
      </p:sp>
      <p:sp>
        <p:nvSpPr>
          <p:cNvPr id="11" name="Shape 11"/>
          <p:cNvSpPr/>
          <p:nvPr/>
        </p:nvSpPr>
        <p:spPr>
          <a:xfrm>
            <a:off x="7498080" y="1325880"/>
            <a:ext cx="4160520" cy="3200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400" dirty="0" b="1">
                <a:solidFill>
                  <a:srgbClr val="11567F"/>
                </a:solidFill>
              </a:rPr>
              <a:t>Result of query 1</a:t>
            </a:r>
            <a:endParaRPr lang="en-US" sz="1400" dirty="0"/>
          </a:p>
        </p:txBody>
      </p:sp>
      <p:sp>
        <p:nvSpPr>
          <p:cNvPr id="12" name="Shape 12"/>
          <p:cNvSpPr/>
          <p:nvPr/>
        </p:nvSpPr>
        <p:spPr>
          <a:xfrm>
            <a:off x="7498080" y="1691640"/>
            <a:ext cx="1600200" cy="347472"/>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b="1">
                <a:solidFill>
                  <a:srgbClr val="FFFFFF"/>
                </a:solidFill>
              </a:rPr>
              <a:t>CUSTOMER</a:t>
            </a:r>
            <a:endParaRPr lang="en-US" sz="1100" dirty="0"/>
          </a:p>
        </p:txBody>
      </p:sp>
      <p:sp>
        <p:nvSpPr>
          <p:cNvPr id="13" name="Shape 13"/>
          <p:cNvSpPr/>
          <p:nvPr/>
        </p:nvSpPr>
        <p:spPr>
          <a:xfrm>
            <a:off x="9098280" y="1691640"/>
            <a:ext cx="1097280" cy="347472"/>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b="1">
                <a:solidFill>
                  <a:srgbClr val="FFFFFF"/>
                </a:solidFill>
              </a:rPr>
              <a:t>ORDERS</a:t>
            </a:r>
            <a:endParaRPr lang="en-US" sz="1100" dirty="0"/>
          </a:p>
        </p:txBody>
      </p:sp>
      <p:sp>
        <p:nvSpPr>
          <p:cNvPr id="14" name="Shape 14"/>
          <p:cNvSpPr/>
          <p:nvPr/>
        </p:nvSpPr>
        <p:spPr>
          <a:xfrm>
            <a:off x="10195560" y="1691640"/>
            <a:ext cx="1463040" cy="347472"/>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b="1">
                <a:solidFill>
                  <a:srgbClr val="FFFFFF"/>
                </a:solidFill>
              </a:rPr>
              <a:t>REVENUE</a:t>
            </a:r>
            <a:endParaRPr lang="en-US" sz="1100" dirty="0"/>
          </a:p>
        </p:txBody>
      </p:sp>
      <p:sp>
        <p:nvSpPr>
          <p:cNvPr id="15" name="Shape 15"/>
          <p:cNvSpPr/>
          <p:nvPr/>
        </p:nvSpPr>
        <p:spPr>
          <a:xfrm>
            <a:off x="7498080" y="2039112"/>
            <a:ext cx="1600200" cy="34747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Umbrella, Inc</a:t>
            </a:r>
            <a:endParaRPr lang="en-US" sz="1100" dirty="0"/>
          </a:p>
        </p:txBody>
      </p:sp>
      <p:sp>
        <p:nvSpPr>
          <p:cNvPr id="16" name="Shape 16"/>
          <p:cNvSpPr/>
          <p:nvPr/>
        </p:nvSpPr>
        <p:spPr>
          <a:xfrm>
            <a:off x="9098280" y="2039112"/>
            <a:ext cx="1097280" cy="34747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1</a:t>
            </a:r>
            <a:endParaRPr lang="en-US" sz="1100" dirty="0"/>
          </a:p>
        </p:txBody>
      </p:sp>
      <p:sp>
        <p:nvSpPr>
          <p:cNvPr id="17" name="Shape 17"/>
          <p:cNvSpPr/>
          <p:nvPr/>
        </p:nvSpPr>
        <p:spPr>
          <a:xfrm>
            <a:off x="10195560" y="2039112"/>
            <a:ext cx="1463040" cy="34747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NULL</a:t>
            </a:r>
            <a:endParaRPr lang="en-US" sz="1100" dirty="0"/>
          </a:p>
        </p:txBody>
      </p:sp>
      <p:sp>
        <p:nvSpPr>
          <p:cNvPr id="18" name="Shape 18"/>
          <p:cNvSpPr/>
          <p:nvPr/>
        </p:nvSpPr>
        <p:spPr>
          <a:xfrm>
            <a:off x="7498080" y="2386584"/>
            <a:ext cx="1600200" cy="34747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Acme Corp</a:t>
            </a:r>
            <a:endParaRPr lang="en-US" sz="1100" dirty="0"/>
          </a:p>
        </p:txBody>
      </p:sp>
      <p:sp>
        <p:nvSpPr>
          <p:cNvPr id="19" name="Shape 19"/>
          <p:cNvSpPr/>
          <p:nvPr/>
        </p:nvSpPr>
        <p:spPr>
          <a:xfrm>
            <a:off x="9098280" y="2386584"/>
            <a:ext cx="1097280" cy="34747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1</a:t>
            </a:r>
            <a:endParaRPr lang="en-US" sz="1100" dirty="0"/>
          </a:p>
        </p:txBody>
      </p:sp>
      <p:sp>
        <p:nvSpPr>
          <p:cNvPr id="20" name="Shape 20"/>
          <p:cNvSpPr/>
          <p:nvPr/>
        </p:nvSpPr>
        <p:spPr>
          <a:xfrm>
            <a:off x="10195560" y="2386584"/>
            <a:ext cx="1463040" cy="34747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1250.00</a:t>
            </a:r>
            <a:endParaRPr lang="en-US" sz="1100" dirty="0"/>
          </a:p>
        </p:txBody>
      </p:sp>
      <p:sp>
        <p:nvSpPr>
          <p:cNvPr id="21" name="Shape 21"/>
          <p:cNvSpPr/>
          <p:nvPr/>
        </p:nvSpPr>
        <p:spPr>
          <a:xfrm>
            <a:off x="7498080" y="2734056"/>
            <a:ext cx="1600200" cy="34747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Initech</a:t>
            </a:r>
            <a:endParaRPr lang="en-US" sz="1100" dirty="0"/>
          </a:p>
        </p:txBody>
      </p:sp>
      <p:sp>
        <p:nvSpPr>
          <p:cNvPr id="22" name="Shape 22"/>
          <p:cNvSpPr/>
          <p:nvPr/>
        </p:nvSpPr>
        <p:spPr>
          <a:xfrm>
            <a:off x="9098280" y="2734056"/>
            <a:ext cx="1097280" cy="34747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1</a:t>
            </a:r>
            <a:endParaRPr lang="en-US" sz="1100" dirty="0"/>
          </a:p>
        </p:txBody>
      </p:sp>
      <p:sp>
        <p:nvSpPr>
          <p:cNvPr id="23" name="Shape 23"/>
          <p:cNvSpPr/>
          <p:nvPr/>
        </p:nvSpPr>
        <p:spPr>
          <a:xfrm>
            <a:off x="10195560" y="2734056"/>
            <a:ext cx="1463040" cy="34747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780.00</a:t>
            </a:r>
            <a:endParaRPr lang="en-US" sz="1100" dirty="0"/>
          </a:p>
        </p:txBody>
      </p:sp>
      <p:sp>
        <p:nvSpPr>
          <p:cNvPr id="24" name="Shape 24"/>
          <p:cNvSpPr/>
          <p:nvPr/>
        </p:nvSpPr>
        <p:spPr>
          <a:xfrm>
            <a:off x="7498080" y="3081528"/>
            <a:ext cx="1600200" cy="34747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Globex</a:t>
            </a:r>
            <a:endParaRPr lang="en-US" sz="1100" dirty="0"/>
          </a:p>
        </p:txBody>
      </p:sp>
      <p:sp>
        <p:nvSpPr>
          <p:cNvPr id="25" name="Shape 25"/>
          <p:cNvSpPr/>
          <p:nvPr/>
        </p:nvSpPr>
        <p:spPr>
          <a:xfrm>
            <a:off x="9098280" y="3081528"/>
            <a:ext cx="1097280" cy="34747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1</a:t>
            </a:r>
            <a:endParaRPr lang="en-US" sz="1100" dirty="0"/>
          </a:p>
        </p:txBody>
      </p:sp>
      <p:sp>
        <p:nvSpPr>
          <p:cNvPr id="26" name="Shape 26"/>
          <p:cNvSpPr/>
          <p:nvPr/>
        </p:nvSpPr>
        <p:spPr>
          <a:xfrm>
            <a:off x="10195560" y="3081528"/>
            <a:ext cx="1463040" cy="34747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00" dirty="0">
                <a:solidFill>
                  <a:srgbClr val="1F2937"/>
                </a:solidFill>
              </a:rPr>
              <a:t>310.50</a:t>
            </a:r>
            <a:endParaRPr lang="en-US" sz="1100" dirty="0"/>
          </a:p>
        </p:txBody>
      </p:sp>
      <p:sp>
        <p:nvSpPr>
          <p:cNvPr id="27" name="Shape 27"/>
          <p:cNvSpPr/>
          <p:nvPr/>
        </p:nvSpPr>
        <p:spPr>
          <a:xfrm>
            <a:off x="7498080" y="3566160"/>
            <a:ext cx="4160520" cy="3200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400" dirty="0" b="1">
                <a:solidFill>
                  <a:srgbClr val="11567F"/>
                </a:solidFill>
              </a:rPr>
              <a:t>Data protection timeline</a:t>
            </a:r>
            <a:endParaRPr lang="en-US" sz="1400" dirty="0"/>
          </a:p>
        </p:txBody>
      </p:sp>
      <p:sp>
        <p:nvSpPr>
          <p:cNvPr id="28" name="Shape 28"/>
          <p:cNvSpPr/>
          <p:nvPr/>
        </p:nvSpPr>
        <p:spPr>
          <a:xfrm>
            <a:off x="7498080" y="3931920"/>
            <a:ext cx="2651760" cy="548640"/>
          </a:xfrm>
          <a:prstGeom prst="rect">
            <a:avLst/>
          </a:prstGeom>
          <a:solidFill>
            <a:srgbClr val="2E9E6A"/>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150" dirty="0" b="1">
                <a:solidFill>
                  <a:srgbClr val="FFFFFF"/>
                </a:solidFill>
              </a:rPr>
              <a:t>Time Travel · 1–90 days</a:t>
            </a:r>
            <a:endParaRPr lang="en-US" sz="1150" dirty="0"/>
          </a:p>
        </p:txBody>
      </p:sp>
      <p:sp>
        <p:nvSpPr>
          <p:cNvPr id="29" name="Shape 29"/>
          <p:cNvSpPr/>
          <p:nvPr/>
        </p:nvSpPr>
        <p:spPr>
          <a:xfrm>
            <a:off x="10149840" y="3931920"/>
            <a:ext cx="1508760" cy="548640"/>
          </a:xfrm>
          <a:prstGeom prst="rect">
            <a:avLst/>
          </a:prstGeom>
          <a:solidFill>
            <a:srgbClr val="F59E0B"/>
          </a:solidFill>
          <a:ln>
            <a:noFill/>
          </a:ln>
        </p:spPr>
        <p:txBody>
          <a:bodyPr wrap="square" lIns="91440" tIns="91440" rIns="91440" bIns="91440" anchor="ctr" rtlCol="0">
            <a:noAutofit/>
          </a:bodyPr>
          <a:lstStyle/>
          <a:p>
            <a:pPr algn="ctr">
              <a:lnSpc>
                <a:spcPct val="100000"/>
              </a:lnSpc>
              <a:spcBef>
                <a:spcPts val="0"/>
              </a:spcBef>
              <a:spcAft>
                <a:spcPts val="0"/>
              </a:spcAft>
              <a:buNone/>
            </a:pPr>
            <a:r>
              <a:rPr lang="en-US" sz="1150" dirty="0" b="1">
                <a:solidFill>
                  <a:srgbClr val="FFFFFF"/>
                </a:solidFill>
              </a:rPr>
              <a:t>Fail-safe · 7 d</a:t>
            </a:r>
            <a:endParaRPr lang="en-US" sz="1150" dirty="0"/>
          </a:p>
        </p:txBody>
      </p:sp>
      <p:sp>
        <p:nvSpPr>
          <p:cNvPr id="30" name="Shape 30"/>
          <p:cNvSpPr/>
          <p:nvPr/>
        </p:nvSpPr>
        <p:spPr>
          <a:xfrm>
            <a:off x="7498080" y="4526280"/>
            <a:ext cx="4160520" cy="64008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100" dirty="0">
                <a:solidFill>
                  <a:srgbClr val="6B7280"/>
                </a:solidFill>
              </a:rPr>
              <a:t>You can query, UNDROP and CLONE during Time Travel. Only Snowflake Support can recover data from Fail-safe.</a:t>
            </a:r>
            <a:endParaRPr lang="en-US" sz="1100" dirty="0"/>
          </a:p>
        </p:txBody>
      </p:sp>
      <p:sp>
        <p:nvSpPr>
          <p:cNvPr id="31" name="Shape 31"/>
          <p:cNvSpPr/>
          <p:nvPr/>
        </p:nvSpPr>
        <p:spPr>
          <a:xfrm>
            <a:off x="7498080" y="5257800"/>
            <a:ext cx="4160520" cy="914400"/>
          </a:xfrm>
          <a:prstGeom prst="roundRect">
            <a:avLst>
              <a:gd name="adj" fmla="val 10000"/>
            </a:avLst>
          </a:prstGeom>
          <a:solidFill>
            <a:srgbClr val="FFF7E6"/>
          </a:solidFill>
          <a:ln w="15875">
            <a:solidFill>
              <a:srgbClr val="F59E0B"/>
            </a:solidFill>
          </a:ln>
        </p:spPr>
        <p:txBody>
          <a:bodyPr wrap="square" lIns="91440" tIns="91440" rIns="91440" bIns="91440" anchor="t" rtlCol="0">
            <a:noAutofit/>
          </a:bodyPr>
          <a:lstStyle/>
          <a:p>
            <a:endParaRPr lang="en-US" dirty="0"/>
          </a:p>
        </p:txBody>
      </p:sp>
      <p:sp>
        <p:nvSpPr>
          <p:cNvPr id="32" name="Shape 32"/>
          <p:cNvSpPr/>
          <p:nvPr/>
        </p:nvSpPr>
        <p:spPr>
          <a:xfrm>
            <a:off x="7607808" y="5303520"/>
            <a:ext cx="3941064" cy="8229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150" dirty="0" b="1">
                <a:solidFill>
                  <a:srgbClr val="F59E0B"/>
                </a:solidFill>
              </a:rPr>
              <a:t>CACHE  </a:t>
            </a:r>
            <a:r>
              <a:rPr lang="en-US" sz="1150" dirty="0">
                <a:solidFill>
                  <a:srgbClr val="1F2937"/>
                </a:solidFill>
              </a:rPr>
              <a:t>Identical queries within </a:t>
            </a:r>
            <a:r>
              <a:rPr lang="en-US" sz="1150" dirty="0" b="1">
                <a:solidFill>
                  <a:srgbClr val="1F2937"/>
                </a:solidFill>
              </a:rPr>
              <a:t>24 h</a:t>
            </a:r>
            <a:r>
              <a:rPr lang="en-US" sz="1150" dirty="0">
                <a:solidFill>
                  <a:srgbClr val="1F2937"/>
                </a:solidFill>
              </a:rPr>
              <a:t> can come from the </a:t>
            </a:r>
            <a:r>
              <a:rPr lang="en-US" sz="1150" dirty="0" b="1">
                <a:solidFill>
                  <a:srgbClr val="1F2937"/>
                </a:solidFill>
              </a:rPr>
              <a:t>result cache</a:t>
            </a:r>
            <a:r>
              <a:rPr lang="en-US" sz="1150" dirty="0">
                <a:solidFill>
                  <a:srgbClr val="1F2937"/>
                </a:solidFill>
              </a:rPr>
              <a:t>: instant and no warehouse cost.</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6 · Semi-Structured Data (JSON)</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VARIANT column, path notation, FLATTEN</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20 / 26</a:t>
            </a:r>
            <a:endParaRPr lang="en-US" sz="1000" dirty="0"/>
          </a:p>
        </p:txBody>
      </p:sp>
      <p:sp>
        <p:nvSpPr>
          <p:cNvPr id="9" name="Shape 9"/>
          <p:cNvSpPr/>
          <p:nvPr/>
        </p:nvSpPr>
        <p:spPr>
          <a:xfrm>
            <a:off x="548640" y="1325880"/>
            <a:ext cx="667512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SQL</a:t>
            </a:r>
            <a:endParaRPr lang="en-US" sz="1100" dirty="0"/>
          </a:p>
        </p:txBody>
      </p:sp>
      <p:sp>
        <p:nvSpPr>
          <p:cNvPr id="10" name="Shape 10"/>
          <p:cNvSpPr/>
          <p:nvPr/>
        </p:nvSpPr>
        <p:spPr>
          <a:xfrm>
            <a:off x="548640" y="1618488"/>
            <a:ext cx="6675120" cy="455371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100" dirty="0" b="1">
                <a:solidFill>
                  <a:srgbClr val="569CD6"/>
                </a:solidFill>
                <a:latin typeface="Courier New"/>
                <a:cs typeface="Courier New"/>
              </a:rPr>
              <a:t>CREATE</a:t>
            </a:r>
            <a:r>
              <a:rPr lang="en-US" sz="1100" dirty="0">
                <a:solidFill>
                  <a:srgbClr val="D4D4D4"/>
                </a:solidFill>
                <a:latin typeface="Courier New"/>
                <a:cs typeface="Courier New"/>
              </a:rPr>
              <a:t> </a:t>
            </a:r>
            <a:r>
              <a:rPr lang="en-US" sz="1100" dirty="0" b="1">
                <a:solidFill>
                  <a:srgbClr val="569CD6"/>
                </a:solidFill>
                <a:latin typeface="Courier New"/>
                <a:cs typeface="Courier New"/>
              </a:rPr>
              <a:t>OR</a:t>
            </a:r>
            <a:r>
              <a:rPr lang="en-US" sz="1100" dirty="0">
                <a:solidFill>
                  <a:srgbClr val="D4D4D4"/>
                </a:solidFill>
                <a:latin typeface="Courier New"/>
                <a:cs typeface="Courier New"/>
              </a:rPr>
              <a:t> </a:t>
            </a:r>
            <a:r>
              <a:rPr lang="en-US" sz="1100" dirty="0" b="1">
                <a:solidFill>
                  <a:srgbClr val="569CD6"/>
                </a:solidFill>
                <a:latin typeface="Courier New"/>
                <a:cs typeface="Courier New"/>
              </a:rPr>
              <a:t>REPLACE</a:t>
            </a:r>
            <a:r>
              <a:rPr lang="en-US" sz="1100" dirty="0">
                <a:solidFill>
                  <a:srgbClr val="D4D4D4"/>
                </a:solidFill>
                <a:latin typeface="Courier New"/>
                <a:cs typeface="Courier New"/>
              </a:rPr>
              <a:t> </a:t>
            </a:r>
            <a:r>
              <a:rPr lang="en-US" sz="1100" dirty="0" b="1">
                <a:solidFill>
                  <a:srgbClr val="569CD6"/>
                </a:solidFill>
                <a:latin typeface="Courier New"/>
                <a:cs typeface="Courier New"/>
              </a:rPr>
              <a:t>TABLE</a:t>
            </a:r>
            <a:r>
              <a:rPr lang="en-US" sz="1100" dirty="0">
                <a:solidFill>
                  <a:srgbClr val="D4D4D4"/>
                </a:solidFill>
                <a:latin typeface="Courier New"/>
                <a:cs typeface="Courier New"/>
              </a:rPr>
              <a:t> </a:t>
            </a:r>
            <a:r>
              <a:rPr lang="en-US" sz="1100" dirty="0">
                <a:solidFill>
                  <a:srgbClr val="D4D4D4"/>
                </a:solidFill>
                <a:latin typeface="Courier New"/>
                <a:cs typeface="Courier New"/>
              </a:rPr>
              <a:t>raw_events</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v</a:t>
            </a:r>
            <a:r>
              <a:rPr lang="en-US" sz="1100" dirty="0">
                <a:solidFill>
                  <a:srgbClr val="D4D4D4"/>
                </a:solidFill>
                <a:latin typeface="Courier New"/>
                <a:cs typeface="Courier New"/>
              </a:rPr>
              <a:t> </a:t>
            </a:r>
            <a:r>
              <a:rPr lang="en-US" sz="1100" dirty="0" b="1">
                <a:solidFill>
                  <a:srgbClr val="569CD6"/>
                </a:solidFill>
                <a:latin typeface="Courier New"/>
                <a:cs typeface="Courier New"/>
              </a:rPr>
              <a:t>VARIANT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INSERT</a:t>
            </a:r>
            <a:r>
              <a:rPr lang="en-US" sz="1100" dirty="0">
                <a:solidFill>
                  <a:srgbClr val="D4D4D4"/>
                </a:solidFill>
                <a:latin typeface="Courier New"/>
                <a:cs typeface="Courier New"/>
              </a:rPr>
              <a:t> </a:t>
            </a:r>
            <a:r>
              <a:rPr lang="en-US" sz="1100" dirty="0" b="1">
                <a:solidFill>
                  <a:srgbClr val="569CD6"/>
                </a:solidFill>
                <a:latin typeface="Courier New"/>
                <a:cs typeface="Courier New"/>
              </a:rPr>
              <a:t>INTO</a:t>
            </a:r>
            <a:r>
              <a:rPr lang="en-US" sz="1100" dirty="0">
                <a:solidFill>
                  <a:srgbClr val="D4D4D4"/>
                </a:solidFill>
                <a:latin typeface="Courier New"/>
                <a:cs typeface="Courier New"/>
              </a:rPr>
              <a:t> </a:t>
            </a:r>
            <a:r>
              <a:rPr lang="en-US" sz="1100" dirty="0">
                <a:solidFill>
                  <a:srgbClr val="D4D4D4"/>
                </a:solidFill>
                <a:latin typeface="Courier New"/>
                <a:cs typeface="Courier New"/>
              </a:rPr>
              <a:t>raw_events</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PARSE_JSON</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r>
              <a:rPr lang="en-US" sz="1100" dirty="0">
                <a:solidFill>
                  <a:srgbClr val="CE9178"/>
                </a:solidFill>
                <a:latin typeface="Courier New"/>
                <a:cs typeface="Courier New"/>
              </a:rPr>
              <a:t>"user"</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CE9178"/>
                </a:solidFill>
                <a:latin typeface="Courier New"/>
                <a:cs typeface="Courier New"/>
              </a:rPr>
              <a:t>"jdoe"</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r>
              <a:rPr lang="en-US" sz="1100" dirty="0">
                <a:solidFill>
                  <a:srgbClr val="CE9178"/>
                </a:solidFill>
                <a:latin typeface="Courier New"/>
                <a:cs typeface="Courier New"/>
              </a:rPr>
              <a:t>"device"</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CE9178"/>
                </a:solidFill>
                <a:latin typeface="Courier New"/>
                <a:cs typeface="Courier New"/>
              </a:rPr>
              <a:t>"os"</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CE9178"/>
                </a:solidFill>
                <a:latin typeface="Courier New"/>
                <a:cs typeface="Courier New"/>
              </a:rPr>
              <a:t>"iOS"</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CE9178"/>
                </a:solidFill>
                <a:latin typeface="Courier New"/>
                <a:cs typeface="Courier New"/>
              </a:rPr>
              <a:t>"ver"</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CE9178"/>
                </a:solidFill>
                <a:latin typeface="Courier New"/>
                <a:cs typeface="Courier New"/>
              </a:rPr>
              <a:t>"26.0"</a:t>
            </a:r>
            <a:r>
              <a:rPr lang="en-US" sz="1100" dirty="0">
                <a:solidFill>
                  <a:srgbClr val="D4D4D4"/>
                </a:solidFill>
                <a:latin typeface="Courier New"/>
                <a:cs typeface="Courier New"/>
              </a:rPr>
              <a:t>}</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r>
              <a:rPr lang="en-US" sz="1100" dirty="0">
                <a:solidFill>
                  <a:srgbClr val="CE9178"/>
                </a:solidFill>
                <a:latin typeface="Courier New"/>
                <a:cs typeface="Courier New"/>
              </a:rPr>
              <a:t>"items"</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CE9178"/>
                </a:solidFill>
                <a:latin typeface="Courier New"/>
                <a:cs typeface="Courier New"/>
              </a:rPr>
              <a:t>"sku"</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CE9178"/>
                </a:solidFill>
                <a:latin typeface="Courier New"/>
                <a:cs typeface="Courier New"/>
              </a:rPr>
              <a:t>"A1"</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CE9178"/>
                </a:solidFill>
                <a:latin typeface="Courier New"/>
                <a:cs typeface="Courier New"/>
              </a:rPr>
              <a:t>"qty"</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D4D4D4"/>
                </a:solidFill>
                <a:latin typeface="Courier New"/>
                <a:cs typeface="Courier New"/>
              </a:rPr>
              <a:t>2</a:t>
            </a:r>
            <a:r>
              <a:rPr lang="en-US" sz="1100" dirty="0">
                <a:solidFill>
                  <a:srgbClr val="D4D4D4"/>
                </a:solidFill>
                <a:latin typeface="Courier New"/>
                <a:cs typeface="Courier New"/>
              </a:rPr>
              <a:t>}</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CE9178"/>
                </a:solidFill>
                <a:latin typeface="Courier New"/>
                <a:cs typeface="Courier New"/>
              </a:rPr>
              <a:t>"sku"</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CE9178"/>
                </a:solidFill>
                <a:latin typeface="Courier New"/>
                <a:cs typeface="Courier New"/>
              </a:rPr>
              <a:t>"B7"</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CE9178"/>
                </a:solidFill>
                <a:latin typeface="Courier New"/>
                <a:cs typeface="Courier New"/>
              </a:rPr>
              <a:t>"qty"</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D4D4D4"/>
                </a:solidFill>
                <a:latin typeface="Courier New"/>
                <a:cs typeface="Courier New"/>
              </a:rPr>
              <a:t>1</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endParaRPr lang="en-US" sz="1100" dirty="0"/>
          </a:p>
          <a:p>
            <a:pPr algn="l">
              <a:lnSpc>
                <a:spcPct val="100000"/>
              </a:lnSpc>
              <a:spcBef>
                <a:spcPts val="0"/>
              </a:spcBef>
              <a:spcAft>
                <a:spcPts val="0"/>
              </a:spcAft>
              <a:buNone/>
            </a:pPr>
            <a:r>
              <a:rPr lang="en-US" sz="1100" dirty="0" i="1">
                <a:solidFill>
                  <a:srgbClr val="6A9955"/>
                </a:solidFill>
                <a:latin typeface="Courier New"/>
                <a:cs typeface="Courier New"/>
              </a:rPr>
              <a:t>-- Path notation + cast to SQL types</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v</a:t>
            </a:r>
            <a:r>
              <a:rPr lang="en-US" sz="1100" dirty="0">
                <a:solidFill>
                  <a:srgbClr val="D4D4D4"/>
                </a:solidFill>
                <a:latin typeface="Courier New"/>
                <a:cs typeface="Courier New"/>
              </a:rPr>
              <a:t>:</a:t>
            </a:r>
            <a:r>
              <a:rPr lang="en-US" sz="1100" dirty="0">
                <a:solidFill>
                  <a:srgbClr val="D4D4D4"/>
                </a:solidFill>
                <a:latin typeface="Courier New"/>
                <a:cs typeface="Courier New"/>
              </a:rPr>
              <a:t>user</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b="1">
                <a:solidFill>
                  <a:srgbClr val="569CD6"/>
                </a:solidFill>
                <a:latin typeface="Courier New"/>
                <a:cs typeface="Courier New"/>
              </a:rPr>
              <a:t>STRING</a:t>
            </a:r>
            <a:r>
              <a:rPr lang="en-US" sz="1100" dirty="0">
                <a:solidFill>
                  <a:srgbClr val="D4D4D4"/>
                </a:solidFill>
                <a:latin typeface="Courier New"/>
                <a:cs typeface="Courier New"/>
              </a:rPr>
              <a:t>      </a:t>
            </a:r>
            <a:r>
              <a:rPr lang="en-US" sz="1100" dirty="0" b="1">
                <a:solidFill>
                  <a:srgbClr val="569CD6"/>
                </a:solidFill>
                <a:latin typeface="Courier New"/>
                <a:cs typeface="Courier New"/>
              </a:rPr>
              <a:t>AS</a:t>
            </a:r>
            <a:r>
              <a:rPr lang="en-US" sz="1100" dirty="0">
                <a:solidFill>
                  <a:srgbClr val="D4D4D4"/>
                </a:solidFill>
                <a:latin typeface="Courier New"/>
                <a:cs typeface="Courier New"/>
              </a:rPr>
              <a:t> </a:t>
            </a:r>
            <a:r>
              <a:rPr lang="en-US" sz="1100" dirty="0">
                <a:solidFill>
                  <a:srgbClr val="D4D4D4"/>
                </a:solidFill>
                <a:latin typeface="Courier New"/>
                <a:cs typeface="Courier New"/>
              </a:rPr>
              <a:t>user_name</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r>
              <a:rPr lang="en-US" sz="1100" dirty="0">
                <a:solidFill>
                  <a:srgbClr val="D4D4D4"/>
                </a:solidFill>
                <a:latin typeface="Courier New"/>
                <a:cs typeface="Courier New"/>
              </a:rPr>
              <a:t>v</a:t>
            </a:r>
            <a:r>
              <a:rPr lang="en-US" sz="1100" dirty="0">
                <a:solidFill>
                  <a:srgbClr val="D4D4D4"/>
                </a:solidFill>
                <a:latin typeface="Courier New"/>
                <a:cs typeface="Courier New"/>
              </a:rPr>
              <a:t>:</a:t>
            </a:r>
            <a:r>
              <a:rPr lang="en-US" sz="1100" dirty="0">
                <a:solidFill>
                  <a:srgbClr val="D4D4D4"/>
                </a:solidFill>
                <a:latin typeface="Courier New"/>
                <a:cs typeface="Courier New"/>
              </a:rPr>
              <a:t>device</a:t>
            </a:r>
            <a:r>
              <a:rPr lang="en-US" sz="1100" dirty="0">
                <a:solidFill>
                  <a:srgbClr val="D4D4D4"/>
                </a:solidFill>
                <a:latin typeface="Courier New"/>
                <a:cs typeface="Courier New"/>
              </a:rPr>
              <a:t>.</a:t>
            </a:r>
            <a:r>
              <a:rPr lang="en-US" sz="1100" dirty="0">
                <a:solidFill>
                  <a:srgbClr val="D4D4D4"/>
                </a:solidFill>
                <a:latin typeface="Courier New"/>
                <a:cs typeface="Courier New"/>
              </a:rPr>
              <a:t>os</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b="1">
                <a:solidFill>
                  <a:srgbClr val="569CD6"/>
                </a:solidFill>
                <a:latin typeface="Courier New"/>
                <a:cs typeface="Courier New"/>
              </a:rPr>
              <a:t>STRING</a:t>
            </a:r>
            <a:r>
              <a:rPr lang="en-US" sz="1100" dirty="0">
                <a:solidFill>
                  <a:srgbClr val="D4D4D4"/>
                </a:solidFill>
                <a:latin typeface="Courier New"/>
                <a:cs typeface="Courier New"/>
              </a:rPr>
              <a:t> </a:t>
            </a:r>
            <a:r>
              <a:rPr lang="en-US" sz="1100" dirty="0" b="1">
                <a:solidFill>
                  <a:srgbClr val="569CD6"/>
                </a:solidFill>
                <a:latin typeface="Courier New"/>
                <a:cs typeface="Courier New"/>
              </a:rPr>
              <a:t>AS</a:t>
            </a:r>
            <a:r>
              <a:rPr lang="en-US" sz="1100" dirty="0">
                <a:solidFill>
                  <a:srgbClr val="D4D4D4"/>
                </a:solidFill>
                <a:latin typeface="Courier New"/>
                <a:cs typeface="Courier New"/>
              </a:rPr>
              <a:t> </a:t>
            </a:r>
            <a:r>
              <a:rPr lang="en-US" sz="1100" dirty="0">
                <a:solidFill>
                  <a:srgbClr val="D4D4D4"/>
                </a:solidFill>
                <a:latin typeface="Courier New"/>
                <a:cs typeface="Courier New"/>
              </a:rPr>
              <a:t>os</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FROM</a:t>
            </a:r>
            <a:r>
              <a:rPr lang="en-US" sz="1100" dirty="0">
                <a:solidFill>
                  <a:srgbClr val="D4D4D4"/>
                </a:solidFill>
                <a:latin typeface="Courier New"/>
                <a:cs typeface="Courier New"/>
              </a:rPr>
              <a:t>   </a:t>
            </a:r>
            <a:r>
              <a:rPr lang="en-US" sz="1100" dirty="0">
                <a:solidFill>
                  <a:srgbClr val="D4D4D4"/>
                </a:solidFill>
                <a:latin typeface="Courier New"/>
                <a:cs typeface="Courier New"/>
              </a:rPr>
              <a:t>raw_events</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endParaRPr lang="en-US" sz="1100" dirty="0"/>
          </a:p>
          <a:p>
            <a:pPr algn="l">
              <a:lnSpc>
                <a:spcPct val="100000"/>
              </a:lnSpc>
              <a:spcBef>
                <a:spcPts val="0"/>
              </a:spcBef>
              <a:spcAft>
                <a:spcPts val="0"/>
              </a:spcAft>
              <a:buNone/>
            </a:pPr>
            <a:r>
              <a:rPr lang="en-US" sz="1100" dirty="0" i="1">
                <a:solidFill>
                  <a:srgbClr val="6A9955"/>
                </a:solidFill>
                <a:latin typeface="Courier New"/>
                <a:cs typeface="Courier New"/>
              </a:rPr>
              <a:t>-- Explode the array: one row per item</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v</a:t>
            </a:r>
            <a:r>
              <a:rPr lang="en-US" sz="1100" dirty="0">
                <a:solidFill>
                  <a:srgbClr val="D4D4D4"/>
                </a:solidFill>
                <a:latin typeface="Courier New"/>
                <a:cs typeface="Courier New"/>
              </a:rPr>
              <a:t>:</a:t>
            </a:r>
            <a:r>
              <a:rPr lang="en-US" sz="1100" dirty="0">
                <a:solidFill>
                  <a:srgbClr val="D4D4D4"/>
                </a:solidFill>
                <a:latin typeface="Courier New"/>
                <a:cs typeface="Courier New"/>
              </a:rPr>
              <a:t>user</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b="1">
                <a:solidFill>
                  <a:srgbClr val="569CD6"/>
                </a:solidFill>
                <a:latin typeface="Courier New"/>
                <a:cs typeface="Courier New"/>
              </a:rPr>
              <a:t>STRING</a:t>
            </a:r>
            <a:r>
              <a:rPr lang="en-US" sz="1100" dirty="0">
                <a:solidFill>
                  <a:srgbClr val="D4D4D4"/>
                </a:solidFill>
                <a:latin typeface="Courier New"/>
                <a:cs typeface="Courier New"/>
              </a:rPr>
              <a:t>      </a:t>
            </a:r>
            <a:r>
              <a:rPr lang="en-US" sz="1100" dirty="0" b="1">
                <a:solidFill>
                  <a:srgbClr val="569CD6"/>
                </a:solidFill>
                <a:latin typeface="Courier New"/>
                <a:cs typeface="Courier New"/>
              </a:rPr>
              <a:t>AS</a:t>
            </a:r>
            <a:r>
              <a:rPr lang="en-US" sz="1100" dirty="0">
                <a:solidFill>
                  <a:srgbClr val="D4D4D4"/>
                </a:solidFill>
                <a:latin typeface="Courier New"/>
                <a:cs typeface="Courier New"/>
              </a:rPr>
              <a:t> </a:t>
            </a:r>
            <a:r>
              <a:rPr lang="en-US" sz="1100" dirty="0">
                <a:solidFill>
                  <a:srgbClr val="D4D4D4"/>
                </a:solidFill>
                <a:latin typeface="Courier New"/>
                <a:cs typeface="Courier New"/>
              </a:rPr>
              <a:t>user_name</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r>
              <a:rPr lang="en-US" sz="1100" dirty="0">
                <a:solidFill>
                  <a:srgbClr val="D4D4D4"/>
                </a:solidFill>
                <a:latin typeface="Courier New"/>
                <a:cs typeface="Courier New"/>
              </a:rPr>
              <a:t>i</a:t>
            </a:r>
            <a:r>
              <a:rPr lang="en-US" sz="1100" dirty="0">
                <a:solidFill>
                  <a:srgbClr val="D4D4D4"/>
                </a:solidFill>
                <a:latin typeface="Courier New"/>
                <a:cs typeface="Courier New"/>
              </a:rPr>
              <a:t>.</a:t>
            </a:r>
            <a:r>
              <a:rPr lang="en-US" sz="1100" dirty="0">
                <a:solidFill>
                  <a:srgbClr val="D4D4D4"/>
                </a:solidFill>
                <a:latin typeface="Courier New"/>
                <a:cs typeface="Courier New"/>
              </a:rPr>
              <a:t>value</a:t>
            </a:r>
            <a:r>
              <a:rPr lang="en-US" sz="1100" dirty="0">
                <a:solidFill>
                  <a:srgbClr val="D4D4D4"/>
                </a:solidFill>
                <a:latin typeface="Courier New"/>
                <a:cs typeface="Courier New"/>
              </a:rPr>
              <a:t>:</a:t>
            </a:r>
            <a:r>
              <a:rPr lang="en-US" sz="1100" dirty="0">
                <a:solidFill>
                  <a:srgbClr val="D4D4D4"/>
                </a:solidFill>
                <a:latin typeface="Courier New"/>
                <a:cs typeface="Courier New"/>
              </a:rPr>
              <a:t>sku</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b="1">
                <a:solidFill>
                  <a:srgbClr val="569CD6"/>
                </a:solidFill>
                <a:latin typeface="Courier New"/>
                <a:cs typeface="Courier New"/>
              </a:rPr>
              <a:t>STRING</a:t>
            </a:r>
            <a:r>
              <a:rPr lang="en-US" sz="1100" dirty="0">
                <a:solidFill>
                  <a:srgbClr val="D4D4D4"/>
                </a:solidFill>
                <a:latin typeface="Courier New"/>
                <a:cs typeface="Courier New"/>
              </a:rPr>
              <a:t> </a:t>
            </a:r>
            <a:r>
              <a:rPr lang="en-US" sz="1100" dirty="0" b="1">
                <a:solidFill>
                  <a:srgbClr val="569CD6"/>
                </a:solidFill>
                <a:latin typeface="Courier New"/>
                <a:cs typeface="Courier New"/>
              </a:rPr>
              <a:t>AS</a:t>
            </a:r>
            <a:r>
              <a:rPr lang="en-US" sz="1100" dirty="0">
                <a:solidFill>
                  <a:srgbClr val="D4D4D4"/>
                </a:solidFill>
                <a:latin typeface="Courier New"/>
                <a:cs typeface="Courier New"/>
              </a:rPr>
              <a:t> </a:t>
            </a:r>
            <a:r>
              <a:rPr lang="en-US" sz="1100" dirty="0">
                <a:solidFill>
                  <a:srgbClr val="D4D4D4"/>
                </a:solidFill>
                <a:latin typeface="Courier New"/>
                <a:cs typeface="Courier New"/>
              </a:rPr>
              <a:t>sku</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r>
              <a:rPr lang="en-US" sz="1100" dirty="0">
                <a:solidFill>
                  <a:srgbClr val="D4D4D4"/>
                </a:solidFill>
                <a:latin typeface="Courier New"/>
                <a:cs typeface="Courier New"/>
              </a:rPr>
              <a:t>i</a:t>
            </a:r>
            <a:r>
              <a:rPr lang="en-US" sz="1100" dirty="0">
                <a:solidFill>
                  <a:srgbClr val="D4D4D4"/>
                </a:solidFill>
                <a:latin typeface="Courier New"/>
                <a:cs typeface="Courier New"/>
              </a:rPr>
              <a:t>.</a:t>
            </a:r>
            <a:r>
              <a:rPr lang="en-US" sz="1100" dirty="0">
                <a:solidFill>
                  <a:srgbClr val="D4D4D4"/>
                </a:solidFill>
                <a:latin typeface="Courier New"/>
                <a:cs typeface="Courier New"/>
              </a:rPr>
              <a:t>value</a:t>
            </a:r>
            <a:r>
              <a:rPr lang="en-US" sz="1100" dirty="0">
                <a:solidFill>
                  <a:srgbClr val="D4D4D4"/>
                </a:solidFill>
                <a:latin typeface="Courier New"/>
                <a:cs typeface="Courier New"/>
              </a:rPr>
              <a:t>:</a:t>
            </a:r>
            <a:r>
              <a:rPr lang="en-US" sz="1100" dirty="0">
                <a:solidFill>
                  <a:srgbClr val="D4D4D4"/>
                </a:solidFill>
                <a:latin typeface="Courier New"/>
                <a:cs typeface="Courier New"/>
              </a:rPr>
              <a:t>qty</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b="1">
                <a:solidFill>
                  <a:srgbClr val="569CD6"/>
                </a:solidFill>
                <a:latin typeface="Courier New"/>
                <a:cs typeface="Courier New"/>
              </a:rPr>
              <a:t>INT</a:t>
            </a:r>
            <a:r>
              <a:rPr lang="en-US" sz="1100" dirty="0">
                <a:solidFill>
                  <a:srgbClr val="D4D4D4"/>
                </a:solidFill>
                <a:latin typeface="Courier New"/>
                <a:cs typeface="Courier New"/>
              </a:rPr>
              <a:t>    </a:t>
            </a:r>
            <a:r>
              <a:rPr lang="en-US" sz="1100" dirty="0" b="1">
                <a:solidFill>
                  <a:srgbClr val="569CD6"/>
                </a:solidFill>
                <a:latin typeface="Courier New"/>
                <a:cs typeface="Courier New"/>
              </a:rPr>
              <a:t>AS</a:t>
            </a:r>
            <a:r>
              <a:rPr lang="en-US" sz="1100" dirty="0">
                <a:solidFill>
                  <a:srgbClr val="D4D4D4"/>
                </a:solidFill>
                <a:latin typeface="Courier New"/>
                <a:cs typeface="Courier New"/>
              </a:rPr>
              <a:t> </a:t>
            </a:r>
            <a:r>
              <a:rPr lang="en-US" sz="1100" dirty="0">
                <a:solidFill>
                  <a:srgbClr val="D4D4D4"/>
                </a:solidFill>
                <a:latin typeface="Courier New"/>
                <a:cs typeface="Courier New"/>
              </a:rPr>
              <a:t>qty</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FROM</a:t>
            </a:r>
            <a:r>
              <a:rPr lang="en-US" sz="1100" dirty="0">
                <a:solidFill>
                  <a:srgbClr val="D4D4D4"/>
                </a:solidFill>
                <a:latin typeface="Courier New"/>
                <a:cs typeface="Courier New"/>
              </a:rPr>
              <a:t>   </a:t>
            </a:r>
            <a:r>
              <a:rPr lang="en-US" sz="1100" dirty="0">
                <a:solidFill>
                  <a:srgbClr val="D4D4D4"/>
                </a:solidFill>
                <a:latin typeface="Courier New"/>
                <a:cs typeface="Courier New"/>
              </a:rPr>
              <a:t>raw_events</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r>
              <a:rPr lang="en-US" sz="1100" dirty="0" b="1">
                <a:solidFill>
                  <a:srgbClr val="569CD6"/>
                </a:solidFill>
                <a:latin typeface="Courier New"/>
                <a:cs typeface="Courier New"/>
              </a:rPr>
              <a:t>LATERAL</a:t>
            </a:r>
            <a:r>
              <a:rPr lang="en-US" sz="1100" dirty="0">
                <a:solidFill>
                  <a:srgbClr val="D4D4D4"/>
                </a:solidFill>
                <a:latin typeface="Courier New"/>
                <a:cs typeface="Courier New"/>
              </a:rPr>
              <a:t> </a:t>
            </a:r>
            <a:r>
              <a:rPr lang="en-US" sz="1100" dirty="0" b="1">
                <a:solidFill>
                  <a:srgbClr val="569CD6"/>
                </a:solidFill>
                <a:latin typeface="Courier New"/>
                <a:cs typeface="Courier New"/>
              </a:rPr>
              <a:t>FLATTEN</a:t>
            </a:r>
            <a:r>
              <a:rPr lang="en-US" sz="1100" dirty="0">
                <a:solidFill>
                  <a:srgbClr val="D4D4D4"/>
                </a:solidFill>
                <a:latin typeface="Courier New"/>
                <a:cs typeface="Courier New"/>
              </a:rPr>
              <a:t>(</a:t>
            </a:r>
            <a:r>
              <a:rPr lang="en-US" sz="1100" dirty="0">
                <a:solidFill>
                  <a:srgbClr val="D4D4D4"/>
                </a:solidFill>
                <a:latin typeface="Courier New"/>
                <a:cs typeface="Courier New"/>
              </a:rPr>
              <a:t>input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&gt;</a:t>
            </a:r>
            <a:r>
              <a:rPr lang="en-US" sz="1100" dirty="0">
                <a:solidFill>
                  <a:srgbClr val="D4D4D4"/>
                </a:solidFill>
                <a:latin typeface="Courier New"/>
                <a:cs typeface="Courier New"/>
              </a:rPr>
              <a:t> </a:t>
            </a:r>
            <a:r>
              <a:rPr lang="en-US" sz="1100" dirty="0">
                <a:solidFill>
                  <a:srgbClr val="D4D4D4"/>
                </a:solidFill>
                <a:latin typeface="Courier New"/>
                <a:cs typeface="Courier New"/>
              </a:rPr>
              <a:t>v</a:t>
            </a:r>
            <a:r>
              <a:rPr lang="en-US" sz="1100" dirty="0">
                <a:solidFill>
                  <a:srgbClr val="D4D4D4"/>
                </a:solidFill>
                <a:latin typeface="Courier New"/>
                <a:cs typeface="Courier New"/>
              </a:rPr>
              <a:t>:</a:t>
            </a:r>
            <a:r>
              <a:rPr lang="en-US" sz="1100" dirty="0">
                <a:solidFill>
                  <a:srgbClr val="D4D4D4"/>
                </a:solidFill>
                <a:latin typeface="Courier New"/>
                <a:cs typeface="Courier New"/>
              </a:rPr>
              <a:t>items</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D4D4D4"/>
                </a:solidFill>
                <a:latin typeface="Courier New"/>
                <a:cs typeface="Courier New"/>
              </a:rPr>
              <a:t>i</a:t>
            </a:r>
            <a:r>
              <a:rPr lang="en-US" sz="1100" dirty="0">
                <a:solidFill>
                  <a:srgbClr val="D4D4D4"/>
                </a:solidFill>
                <a:latin typeface="Courier New"/>
                <a:cs typeface="Courier New"/>
              </a:rPr>
              <a:t>;</a:t>
            </a:r>
            <a:endParaRPr lang="en-US" sz="1100" dirty="0"/>
          </a:p>
        </p:txBody>
      </p:sp>
      <p:sp>
        <p:nvSpPr>
          <p:cNvPr id="11" name="Shape 11"/>
          <p:cNvSpPr/>
          <p:nvPr/>
        </p:nvSpPr>
        <p:spPr>
          <a:xfrm>
            <a:off x="7498080" y="1325880"/>
            <a:ext cx="4160520" cy="3200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400" dirty="0" b="1">
                <a:solidFill>
                  <a:srgbClr val="11567F"/>
                </a:solidFill>
              </a:rPr>
              <a:t>Path query result</a:t>
            </a:r>
            <a:endParaRPr lang="en-US" sz="1400" dirty="0"/>
          </a:p>
        </p:txBody>
      </p:sp>
      <p:sp>
        <p:nvSpPr>
          <p:cNvPr id="12" name="Shape 12"/>
          <p:cNvSpPr/>
          <p:nvPr/>
        </p:nvSpPr>
        <p:spPr>
          <a:xfrm>
            <a:off x="7498080" y="1691640"/>
            <a:ext cx="2103120" cy="365760"/>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50" dirty="0" b="1">
                <a:solidFill>
                  <a:srgbClr val="FFFFFF"/>
                </a:solidFill>
              </a:rPr>
              <a:t>USER_NAME</a:t>
            </a:r>
            <a:endParaRPr lang="en-US" sz="1150" dirty="0"/>
          </a:p>
        </p:txBody>
      </p:sp>
      <p:sp>
        <p:nvSpPr>
          <p:cNvPr id="13" name="Shape 13"/>
          <p:cNvSpPr/>
          <p:nvPr/>
        </p:nvSpPr>
        <p:spPr>
          <a:xfrm>
            <a:off x="9601200" y="1691640"/>
            <a:ext cx="2057400" cy="365760"/>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50" dirty="0" b="1">
                <a:solidFill>
                  <a:srgbClr val="FFFFFF"/>
                </a:solidFill>
              </a:rPr>
              <a:t>OS</a:t>
            </a:r>
            <a:endParaRPr lang="en-US" sz="1150" dirty="0"/>
          </a:p>
        </p:txBody>
      </p:sp>
      <p:sp>
        <p:nvSpPr>
          <p:cNvPr id="14" name="Shape 14"/>
          <p:cNvSpPr/>
          <p:nvPr/>
        </p:nvSpPr>
        <p:spPr>
          <a:xfrm>
            <a:off x="7498080" y="2057400"/>
            <a:ext cx="2103120" cy="365760"/>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50" dirty="0">
                <a:solidFill>
                  <a:srgbClr val="1F2937"/>
                </a:solidFill>
              </a:rPr>
              <a:t>jdoe</a:t>
            </a:r>
            <a:endParaRPr lang="en-US" sz="1150" dirty="0"/>
          </a:p>
        </p:txBody>
      </p:sp>
      <p:sp>
        <p:nvSpPr>
          <p:cNvPr id="15" name="Shape 15"/>
          <p:cNvSpPr/>
          <p:nvPr/>
        </p:nvSpPr>
        <p:spPr>
          <a:xfrm>
            <a:off x="9601200" y="2057400"/>
            <a:ext cx="2057400" cy="365760"/>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50" dirty="0">
                <a:solidFill>
                  <a:srgbClr val="1F2937"/>
                </a:solidFill>
              </a:rPr>
              <a:t>iOS</a:t>
            </a:r>
            <a:endParaRPr lang="en-US" sz="1150" dirty="0"/>
          </a:p>
        </p:txBody>
      </p:sp>
      <p:sp>
        <p:nvSpPr>
          <p:cNvPr id="16" name="Shape 16"/>
          <p:cNvSpPr/>
          <p:nvPr/>
        </p:nvSpPr>
        <p:spPr>
          <a:xfrm>
            <a:off x="7498080" y="2560320"/>
            <a:ext cx="4160520" cy="3200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400" dirty="0" b="1">
                <a:solidFill>
                  <a:srgbClr val="11567F"/>
                </a:solidFill>
              </a:rPr>
              <a:t>FLATTEN result</a:t>
            </a:r>
            <a:endParaRPr lang="en-US" sz="1400" dirty="0"/>
          </a:p>
        </p:txBody>
      </p:sp>
      <p:sp>
        <p:nvSpPr>
          <p:cNvPr id="17" name="Shape 17"/>
          <p:cNvSpPr/>
          <p:nvPr/>
        </p:nvSpPr>
        <p:spPr>
          <a:xfrm>
            <a:off x="7498080" y="2926080"/>
            <a:ext cx="1645920" cy="365760"/>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50" dirty="0" b="1">
                <a:solidFill>
                  <a:srgbClr val="FFFFFF"/>
                </a:solidFill>
              </a:rPr>
              <a:t>USER_NAME</a:t>
            </a:r>
            <a:endParaRPr lang="en-US" sz="1150" dirty="0"/>
          </a:p>
        </p:txBody>
      </p:sp>
      <p:sp>
        <p:nvSpPr>
          <p:cNvPr id="18" name="Shape 18"/>
          <p:cNvSpPr/>
          <p:nvPr/>
        </p:nvSpPr>
        <p:spPr>
          <a:xfrm>
            <a:off x="9144000" y="2926080"/>
            <a:ext cx="1280160" cy="365760"/>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50" dirty="0" b="1">
                <a:solidFill>
                  <a:srgbClr val="FFFFFF"/>
                </a:solidFill>
              </a:rPr>
              <a:t>SKU</a:t>
            </a:r>
            <a:endParaRPr lang="en-US" sz="1150" dirty="0"/>
          </a:p>
        </p:txBody>
      </p:sp>
      <p:sp>
        <p:nvSpPr>
          <p:cNvPr id="19" name="Shape 19"/>
          <p:cNvSpPr/>
          <p:nvPr/>
        </p:nvSpPr>
        <p:spPr>
          <a:xfrm>
            <a:off x="10424160" y="2926080"/>
            <a:ext cx="1234440" cy="365760"/>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50" dirty="0" b="1">
                <a:solidFill>
                  <a:srgbClr val="FFFFFF"/>
                </a:solidFill>
              </a:rPr>
              <a:t>QTY</a:t>
            </a:r>
            <a:endParaRPr lang="en-US" sz="1150" dirty="0"/>
          </a:p>
        </p:txBody>
      </p:sp>
      <p:sp>
        <p:nvSpPr>
          <p:cNvPr id="20" name="Shape 20"/>
          <p:cNvSpPr/>
          <p:nvPr/>
        </p:nvSpPr>
        <p:spPr>
          <a:xfrm>
            <a:off x="7498080" y="3291840"/>
            <a:ext cx="1645920" cy="365760"/>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50" dirty="0">
                <a:solidFill>
                  <a:srgbClr val="1F2937"/>
                </a:solidFill>
              </a:rPr>
              <a:t>jdoe</a:t>
            </a:r>
            <a:endParaRPr lang="en-US" sz="1150" dirty="0"/>
          </a:p>
        </p:txBody>
      </p:sp>
      <p:sp>
        <p:nvSpPr>
          <p:cNvPr id="21" name="Shape 21"/>
          <p:cNvSpPr/>
          <p:nvPr/>
        </p:nvSpPr>
        <p:spPr>
          <a:xfrm>
            <a:off x="9144000" y="3291840"/>
            <a:ext cx="1280160" cy="365760"/>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50" dirty="0">
                <a:solidFill>
                  <a:srgbClr val="1F2937"/>
                </a:solidFill>
              </a:rPr>
              <a:t>A1</a:t>
            </a:r>
            <a:endParaRPr lang="en-US" sz="1150" dirty="0"/>
          </a:p>
        </p:txBody>
      </p:sp>
      <p:sp>
        <p:nvSpPr>
          <p:cNvPr id="22" name="Shape 22"/>
          <p:cNvSpPr/>
          <p:nvPr/>
        </p:nvSpPr>
        <p:spPr>
          <a:xfrm>
            <a:off x="10424160" y="3291840"/>
            <a:ext cx="1234440" cy="365760"/>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50" dirty="0">
                <a:solidFill>
                  <a:srgbClr val="1F2937"/>
                </a:solidFill>
              </a:rPr>
              <a:t>2</a:t>
            </a:r>
            <a:endParaRPr lang="en-US" sz="1150" dirty="0"/>
          </a:p>
        </p:txBody>
      </p:sp>
      <p:sp>
        <p:nvSpPr>
          <p:cNvPr id="23" name="Shape 23"/>
          <p:cNvSpPr/>
          <p:nvPr/>
        </p:nvSpPr>
        <p:spPr>
          <a:xfrm>
            <a:off x="7498080" y="3657600"/>
            <a:ext cx="1645920" cy="365760"/>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50" dirty="0">
                <a:solidFill>
                  <a:srgbClr val="1F2937"/>
                </a:solidFill>
              </a:rPr>
              <a:t>jdoe</a:t>
            </a:r>
            <a:endParaRPr lang="en-US" sz="1150" dirty="0"/>
          </a:p>
        </p:txBody>
      </p:sp>
      <p:sp>
        <p:nvSpPr>
          <p:cNvPr id="24" name="Shape 24"/>
          <p:cNvSpPr/>
          <p:nvPr/>
        </p:nvSpPr>
        <p:spPr>
          <a:xfrm>
            <a:off x="9144000" y="3657600"/>
            <a:ext cx="1280160" cy="365760"/>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50" dirty="0">
                <a:solidFill>
                  <a:srgbClr val="1F2937"/>
                </a:solidFill>
              </a:rPr>
              <a:t>B7</a:t>
            </a:r>
            <a:endParaRPr lang="en-US" sz="1150" dirty="0"/>
          </a:p>
        </p:txBody>
      </p:sp>
      <p:sp>
        <p:nvSpPr>
          <p:cNvPr id="25" name="Shape 25"/>
          <p:cNvSpPr/>
          <p:nvPr/>
        </p:nvSpPr>
        <p:spPr>
          <a:xfrm>
            <a:off x="10424160" y="3657600"/>
            <a:ext cx="1234440" cy="365760"/>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50" dirty="0">
                <a:solidFill>
                  <a:srgbClr val="1F2937"/>
                </a:solidFill>
              </a:rPr>
              <a:t>1</a:t>
            </a:r>
            <a:endParaRPr lang="en-US" sz="1150" dirty="0"/>
          </a:p>
        </p:txBody>
      </p:sp>
      <p:sp>
        <p:nvSpPr>
          <p:cNvPr id="26" name="Shape 26"/>
          <p:cNvSpPr/>
          <p:nvPr/>
        </p:nvSpPr>
        <p:spPr>
          <a:xfrm>
            <a:off x="7498080" y="4114800"/>
            <a:ext cx="4160520" cy="2103120"/>
          </a:xfrm>
          <a:prstGeom prst="rect">
            <a:avLst/>
          </a:prstGeom>
          <a:noFill/>
          <a:ln>
            <a:noFill/>
          </a:ln>
        </p:spPr>
        <p:txBody>
          <a:bodyPr wrap="square" lIns="45720" tIns="45720" rIns="45720" bIns="45720" anchor="t" rtlCol="0">
            <a:noAutofit/>
          </a:bodyPr>
          <a:lstStyle/>
          <a:p>
            <a:pPr algn="l" marL="285750" indent="-285750">
              <a:lnSpc>
                <a:spcPct val="100000"/>
              </a:lnSpc>
              <a:spcBef>
                <a:spcPts val="500"/>
              </a:spcBef>
              <a:spcAft>
                <a:spcPts val="0"/>
              </a:spcAft>
              <a:buClr>
                <a:srgbClr val="29B5E8"/>
              </a:buClr>
              <a:buFont typeface="Arial"/>
              <a:buChar char="•"/>
            </a:pPr>
            <a:r>
              <a:rPr lang="en-US" sz="1187" dirty="0" b="1">
                <a:solidFill>
                  <a:srgbClr val="11567F"/>
                </a:solidFill>
                <a:latin typeface="Courier New"/>
                <a:cs typeface="Courier New"/>
              </a:rPr>
              <a:t>:</a:t>
            </a:r>
            <a:r>
              <a:rPr lang="en-US" sz="1250" dirty="0">
                <a:solidFill>
                  <a:srgbClr val="1F2937"/>
                </a:solidFill>
              </a:rPr>
              <a:t> reads a key, </a:t>
            </a:r>
            <a:r>
              <a:rPr lang="en-US" sz="1187" dirty="0" b="1">
                <a:solidFill>
                  <a:srgbClr val="11567F"/>
                </a:solidFill>
                <a:latin typeface="Courier New"/>
                <a:cs typeface="Courier New"/>
              </a:rPr>
              <a:t>.</a:t>
            </a:r>
            <a:r>
              <a:rPr lang="en-US" sz="1250" dirty="0">
                <a:solidFill>
                  <a:srgbClr val="1F2937"/>
                </a:solidFill>
              </a:rPr>
              <a:t> goes deeper, </a:t>
            </a:r>
            <a:r>
              <a:rPr lang="en-US" sz="1187" dirty="0" b="1">
                <a:solidFill>
                  <a:srgbClr val="11567F"/>
                </a:solidFill>
                <a:latin typeface="Courier New"/>
                <a:cs typeface="Courier New"/>
              </a:rPr>
              <a:t>[0]</a:t>
            </a:r>
            <a:r>
              <a:rPr lang="en-US" sz="1250" dirty="0">
                <a:solidFill>
                  <a:srgbClr val="1F2937"/>
                </a:solidFill>
              </a:rPr>
              <a:t> indexes arrays</a:t>
            </a:r>
            <a:endParaRPr lang="en-US" sz="1250" dirty="0"/>
          </a:p>
          <a:p>
            <a:pPr algn="l" marL="285750" indent="-285750">
              <a:lnSpc>
                <a:spcPct val="100000"/>
              </a:lnSpc>
              <a:spcBef>
                <a:spcPts val="500"/>
              </a:spcBef>
              <a:spcAft>
                <a:spcPts val="0"/>
              </a:spcAft>
              <a:buClr>
                <a:srgbClr val="29B5E8"/>
              </a:buClr>
              <a:buFont typeface="Arial"/>
              <a:buChar char="•"/>
            </a:pPr>
            <a:r>
              <a:rPr lang="en-US" sz="1250" dirty="0">
                <a:solidFill>
                  <a:srgbClr val="1F2937"/>
                </a:solidFill>
              </a:rPr>
              <a:t>JSON keys are </a:t>
            </a:r>
            <a:r>
              <a:rPr lang="en-US" sz="1250" dirty="0" b="1">
                <a:solidFill>
                  <a:srgbClr val="1F2937"/>
                </a:solidFill>
              </a:rPr>
              <a:t>case-sensitive</a:t>
            </a:r>
            <a:endParaRPr lang="en-US" sz="1250" dirty="0"/>
          </a:p>
          <a:p>
            <a:pPr algn="l" marL="285750" indent="-285750">
              <a:lnSpc>
                <a:spcPct val="100000"/>
              </a:lnSpc>
              <a:spcBef>
                <a:spcPts val="500"/>
              </a:spcBef>
              <a:spcAft>
                <a:spcPts val="0"/>
              </a:spcAft>
              <a:buClr>
                <a:srgbClr val="29B5E8"/>
              </a:buClr>
              <a:buFont typeface="Arial"/>
              <a:buChar char="•"/>
            </a:pPr>
            <a:r>
              <a:rPr lang="en-US" sz="1250" dirty="0">
                <a:solidFill>
                  <a:srgbClr val="1F2937"/>
                </a:solidFill>
              </a:rPr>
              <a:t>Always cast (</a:t>
            </a:r>
            <a:r>
              <a:rPr lang="en-US" sz="1187" dirty="0" b="1">
                <a:solidFill>
                  <a:srgbClr val="11567F"/>
                </a:solidFill>
                <a:latin typeface="Courier New"/>
                <a:cs typeface="Courier New"/>
              </a:rPr>
              <a:t>::STRING</a:t>
            </a:r>
            <a:r>
              <a:rPr lang="en-US" sz="1250" dirty="0">
                <a:solidFill>
                  <a:srgbClr val="1F2937"/>
                </a:solidFill>
              </a:rPr>
              <a:t>) to drop JSON quotes</a:t>
            </a:r>
            <a:endParaRPr lang="en-US" sz="1250" dirty="0"/>
          </a:p>
          <a:p>
            <a:pPr algn="l" marL="285750" indent="-285750">
              <a:lnSpc>
                <a:spcPct val="100000"/>
              </a:lnSpc>
              <a:spcBef>
                <a:spcPts val="500"/>
              </a:spcBef>
              <a:spcAft>
                <a:spcPts val="0"/>
              </a:spcAft>
              <a:buClr>
                <a:srgbClr val="29B5E8"/>
              </a:buClr>
              <a:buFont typeface="Arial"/>
              <a:buChar char="•"/>
            </a:pPr>
            <a:r>
              <a:rPr lang="en-US" sz="1250" dirty="0">
                <a:solidFill>
                  <a:srgbClr val="1F2937"/>
                </a:solidFill>
              </a:rPr>
              <a:t>Load files with </a:t>
            </a:r>
            <a:r>
              <a:rPr lang="en-US" sz="1187" dirty="0" b="1">
                <a:solidFill>
                  <a:srgbClr val="11567F"/>
                </a:solidFill>
                <a:latin typeface="Courier New"/>
                <a:cs typeface="Courier New"/>
              </a:rPr>
              <a:t>FILE_FORMAT = (TYPE = JSON)</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7 · Create a User &amp; Grant Access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Least-privilege read access for an analyst</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21 / 26</a:t>
            </a:r>
            <a:endParaRPr lang="en-US" sz="1000" dirty="0"/>
          </a:p>
        </p:txBody>
      </p:sp>
      <p:sp>
        <p:nvSpPr>
          <p:cNvPr id="9" name="Shape 9"/>
          <p:cNvSpPr/>
          <p:nvPr/>
        </p:nvSpPr>
        <p:spPr>
          <a:xfrm>
            <a:off x="548640" y="1325880"/>
            <a:ext cx="694944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SQL</a:t>
            </a:r>
            <a:endParaRPr lang="en-US" sz="1100" dirty="0"/>
          </a:p>
        </p:txBody>
      </p:sp>
      <p:sp>
        <p:nvSpPr>
          <p:cNvPr id="10" name="Shape 10"/>
          <p:cNvSpPr/>
          <p:nvPr/>
        </p:nvSpPr>
        <p:spPr>
          <a:xfrm>
            <a:off x="548640" y="1618488"/>
            <a:ext cx="6949440" cy="455371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050" dirty="0" b="1">
                <a:solidFill>
                  <a:srgbClr val="569CD6"/>
                </a:solidFill>
                <a:latin typeface="Courier New"/>
                <a:cs typeface="Courier New"/>
              </a:rPr>
              <a:t>USE</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USERADMIN</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CREATE</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b="1">
                <a:solidFill>
                  <a:srgbClr val="569CD6"/>
                </a:solidFill>
                <a:latin typeface="Courier New"/>
                <a:cs typeface="Courier New"/>
              </a:rPr>
              <a:t>IF</a:t>
            </a:r>
            <a:r>
              <a:rPr lang="en-US" sz="1050" dirty="0">
                <a:solidFill>
                  <a:srgbClr val="D4D4D4"/>
                </a:solidFill>
                <a:latin typeface="Courier New"/>
                <a:cs typeface="Courier New"/>
              </a:rPr>
              <a:t> </a:t>
            </a:r>
            <a:r>
              <a:rPr lang="en-US" sz="1050" dirty="0" b="1">
                <a:solidFill>
                  <a:srgbClr val="569CD6"/>
                </a:solidFill>
                <a:latin typeface="Courier New"/>
                <a:cs typeface="Courier New"/>
              </a:rPr>
              <a:t>NOT</a:t>
            </a:r>
            <a:r>
              <a:rPr lang="en-US" sz="1050" dirty="0">
                <a:solidFill>
                  <a:srgbClr val="D4D4D4"/>
                </a:solidFill>
                <a:latin typeface="Courier New"/>
                <a:cs typeface="Courier New"/>
              </a:rPr>
              <a:t> </a:t>
            </a:r>
            <a:r>
              <a:rPr lang="en-US" sz="1050" dirty="0" b="1">
                <a:solidFill>
                  <a:srgbClr val="569CD6"/>
                </a:solidFill>
                <a:latin typeface="Courier New"/>
                <a:cs typeface="Courier New"/>
              </a:rPr>
              <a:t>EXISTS</a:t>
            </a:r>
            <a:r>
              <a:rPr lang="en-US" sz="1050" dirty="0">
                <a:solidFill>
                  <a:srgbClr val="D4D4D4"/>
                </a:solidFill>
                <a:latin typeface="Courier New"/>
                <a:cs typeface="Courier New"/>
              </a:rPr>
              <a:t> </a:t>
            </a:r>
            <a:r>
              <a:rPr lang="en-US" sz="1050" dirty="0">
                <a:solidFill>
                  <a:srgbClr val="D4D4D4"/>
                </a:solidFill>
                <a:latin typeface="Courier New"/>
                <a:cs typeface="Courier New"/>
              </a:rPr>
              <a:t>analyst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CREATE</a:t>
            </a:r>
            <a:r>
              <a:rPr lang="en-US" sz="1050" dirty="0">
                <a:solidFill>
                  <a:srgbClr val="D4D4D4"/>
                </a:solidFill>
                <a:latin typeface="Courier New"/>
                <a:cs typeface="Courier New"/>
              </a:rPr>
              <a:t> </a:t>
            </a:r>
            <a:r>
              <a:rPr lang="en-US" sz="1050" dirty="0" b="1">
                <a:solidFill>
                  <a:srgbClr val="569CD6"/>
                </a:solidFill>
                <a:latin typeface="Courier New"/>
                <a:cs typeface="Courier New"/>
              </a:rPr>
              <a:t>USER</a:t>
            </a:r>
            <a:r>
              <a:rPr lang="en-US" sz="1050" dirty="0">
                <a:solidFill>
                  <a:srgbClr val="D4D4D4"/>
                </a:solidFill>
                <a:latin typeface="Courier New"/>
                <a:cs typeface="Courier New"/>
              </a:rPr>
              <a:t> </a:t>
            </a:r>
            <a:r>
              <a:rPr lang="en-US" sz="1050" dirty="0" b="1">
                <a:solidFill>
                  <a:srgbClr val="569CD6"/>
                </a:solidFill>
                <a:latin typeface="Courier New"/>
                <a:cs typeface="Courier New"/>
              </a:rPr>
              <a:t>IF</a:t>
            </a:r>
            <a:r>
              <a:rPr lang="en-US" sz="1050" dirty="0">
                <a:solidFill>
                  <a:srgbClr val="D4D4D4"/>
                </a:solidFill>
                <a:latin typeface="Courier New"/>
                <a:cs typeface="Courier New"/>
              </a:rPr>
              <a:t> </a:t>
            </a:r>
            <a:r>
              <a:rPr lang="en-US" sz="1050" dirty="0" b="1">
                <a:solidFill>
                  <a:srgbClr val="569CD6"/>
                </a:solidFill>
                <a:latin typeface="Courier New"/>
                <a:cs typeface="Courier New"/>
              </a:rPr>
              <a:t>NOT</a:t>
            </a:r>
            <a:r>
              <a:rPr lang="en-US" sz="1050" dirty="0">
                <a:solidFill>
                  <a:srgbClr val="D4D4D4"/>
                </a:solidFill>
                <a:latin typeface="Courier New"/>
                <a:cs typeface="Courier New"/>
              </a:rPr>
              <a:t> </a:t>
            </a:r>
            <a:r>
              <a:rPr lang="en-US" sz="1050" dirty="0" b="1">
                <a:solidFill>
                  <a:srgbClr val="569CD6"/>
                </a:solidFill>
                <a:latin typeface="Courier New"/>
                <a:cs typeface="Courier New"/>
              </a:rPr>
              <a:t>EXISTS</a:t>
            </a:r>
            <a:r>
              <a:rPr lang="en-US" sz="1050" dirty="0">
                <a:solidFill>
                  <a:srgbClr val="D4D4D4"/>
                </a:solidFill>
                <a:latin typeface="Courier New"/>
                <a:cs typeface="Courier New"/>
              </a:rPr>
              <a:t> </a:t>
            </a:r>
            <a:r>
              <a:rPr lang="en-US" sz="1050" dirty="0">
                <a:solidFill>
                  <a:srgbClr val="D4D4D4"/>
                </a:solidFill>
                <a:latin typeface="Courier New"/>
                <a:cs typeface="Courier New"/>
              </a:rPr>
              <a:t>jdoe</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PASSWORD</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CE9178"/>
                </a:solidFill>
                <a:latin typeface="Courier New"/>
                <a:cs typeface="Courier New"/>
              </a:rPr>
              <a:t>'&lt;strong-temp-password&gt;'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DEFAULT_ROLE</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analyst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DEFAULT_WAREHOUSE</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demo_wh</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MUST_CHANGE_PASSWORD</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b="1">
                <a:solidFill>
                  <a:srgbClr val="569CD6"/>
                </a:solidFill>
                <a:latin typeface="Courier New"/>
                <a:cs typeface="Courier New"/>
              </a:rPr>
              <a:t>TRUE</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GRANT</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analyst</a:t>
            </a:r>
            <a:r>
              <a:rPr lang="en-US" sz="1050" dirty="0">
                <a:solidFill>
                  <a:srgbClr val="D4D4D4"/>
                </a:solidFill>
                <a:latin typeface="Courier New"/>
                <a:cs typeface="Courier New"/>
              </a:rPr>
              <a:t> </a:t>
            </a:r>
            <a:r>
              <a:rPr lang="en-US" sz="1050" dirty="0" b="1">
                <a:solidFill>
                  <a:srgbClr val="569CD6"/>
                </a:solidFill>
                <a:latin typeface="Courier New"/>
                <a:cs typeface="Courier New"/>
              </a:rPr>
              <a:t>TO</a:t>
            </a:r>
            <a:r>
              <a:rPr lang="en-US" sz="1050" dirty="0">
                <a:solidFill>
                  <a:srgbClr val="D4D4D4"/>
                </a:solidFill>
                <a:latin typeface="Courier New"/>
                <a:cs typeface="Courier New"/>
              </a:rPr>
              <a:t> </a:t>
            </a:r>
            <a:r>
              <a:rPr lang="en-US" sz="1050" dirty="0" b="1">
                <a:solidFill>
                  <a:srgbClr val="569CD6"/>
                </a:solidFill>
                <a:latin typeface="Courier New"/>
                <a:cs typeface="Courier New"/>
              </a:rPr>
              <a:t>USER</a:t>
            </a:r>
            <a:r>
              <a:rPr lang="en-US" sz="1050" dirty="0">
                <a:solidFill>
                  <a:srgbClr val="D4D4D4"/>
                </a:solidFill>
                <a:latin typeface="Courier New"/>
                <a:cs typeface="Courier New"/>
              </a:rPr>
              <a:t> </a:t>
            </a:r>
            <a:r>
              <a:rPr lang="en-US" sz="1050" dirty="0">
                <a:solidFill>
                  <a:srgbClr val="D4D4D4"/>
                </a:solidFill>
                <a:latin typeface="Courier New"/>
                <a:cs typeface="Courier New"/>
              </a:rPr>
              <a:t>jdoe</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USE</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SECURITYADMIN</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GRANT</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analyst</a:t>
            </a:r>
            <a:r>
              <a:rPr lang="en-US" sz="1050" dirty="0">
                <a:solidFill>
                  <a:srgbClr val="D4D4D4"/>
                </a:solidFill>
                <a:latin typeface="Courier New"/>
                <a:cs typeface="Courier New"/>
              </a:rPr>
              <a:t> </a:t>
            </a:r>
            <a:r>
              <a:rPr lang="en-US" sz="1050" dirty="0" b="1">
                <a:solidFill>
                  <a:srgbClr val="569CD6"/>
                </a:solidFill>
                <a:latin typeface="Courier New"/>
                <a:cs typeface="Courier New"/>
              </a:rPr>
              <a:t>TO</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SYSADMIN</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i="1">
                <a:solidFill>
                  <a:srgbClr val="6A9955"/>
                </a:solidFill>
                <a:latin typeface="Courier New"/>
                <a:cs typeface="Courier New"/>
              </a:rPr>
              <a:t>-- keep hierarchy</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GRANT</a:t>
            </a:r>
            <a:r>
              <a:rPr lang="en-US" sz="1050" dirty="0">
                <a:solidFill>
                  <a:srgbClr val="D4D4D4"/>
                </a:solidFill>
                <a:latin typeface="Courier New"/>
                <a:cs typeface="Courier New"/>
              </a:rPr>
              <a:t> </a:t>
            </a:r>
            <a:r>
              <a:rPr lang="en-US" sz="1050" dirty="0" b="1">
                <a:solidFill>
                  <a:srgbClr val="569CD6"/>
                </a:solidFill>
                <a:latin typeface="Courier New"/>
                <a:cs typeface="Courier New"/>
              </a:rPr>
              <a:t>USAGE</a:t>
            </a:r>
            <a:r>
              <a:rPr lang="en-US" sz="1050" dirty="0">
                <a:solidFill>
                  <a:srgbClr val="D4D4D4"/>
                </a:solidFill>
                <a:latin typeface="Courier New"/>
                <a:cs typeface="Courier New"/>
              </a:rPr>
              <a:t> </a:t>
            </a:r>
            <a:r>
              <a:rPr lang="en-US" sz="1050" dirty="0" b="1">
                <a:solidFill>
                  <a:srgbClr val="569CD6"/>
                </a:solidFill>
                <a:latin typeface="Courier New"/>
                <a:cs typeface="Courier New"/>
              </a:rPr>
              <a:t>ON</a:t>
            </a:r>
            <a:r>
              <a:rPr lang="en-US" sz="1050" dirty="0">
                <a:solidFill>
                  <a:srgbClr val="D4D4D4"/>
                </a:solidFill>
                <a:latin typeface="Courier New"/>
                <a:cs typeface="Courier New"/>
              </a:rPr>
              <a:t> </a:t>
            </a:r>
            <a:r>
              <a:rPr lang="en-US" sz="1050" dirty="0" b="1">
                <a:solidFill>
                  <a:srgbClr val="569CD6"/>
                </a:solidFill>
                <a:latin typeface="Courier New"/>
                <a:cs typeface="Courier New"/>
              </a:rPr>
              <a:t>WAREHOUSE</a:t>
            </a:r>
            <a:r>
              <a:rPr lang="en-US" sz="1050" dirty="0">
                <a:solidFill>
                  <a:srgbClr val="D4D4D4"/>
                </a:solidFill>
                <a:latin typeface="Courier New"/>
                <a:cs typeface="Courier New"/>
              </a:rPr>
              <a:t> </a:t>
            </a:r>
            <a:r>
              <a:rPr lang="en-US" sz="1050" dirty="0">
                <a:solidFill>
                  <a:srgbClr val="D4D4D4"/>
                </a:solidFill>
                <a:latin typeface="Courier New"/>
                <a:cs typeface="Courier New"/>
              </a:rPr>
              <a:t>demo_wh</a:t>
            </a:r>
            <a:r>
              <a:rPr lang="en-US" sz="1050" dirty="0">
                <a:solidFill>
                  <a:srgbClr val="D4D4D4"/>
                </a:solidFill>
                <a:latin typeface="Courier New"/>
                <a:cs typeface="Courier New"/>
              </a:rPr>
              <a:t>      </a:t>
            </a:r>
            <a:r>
              <a:rPr lang="en-US" sz="1050" dirty="0" b="1">
                <a:solidFill>
                  <a:srgbClr val="569CD6"/>
                </a:solidFill>
                <a:latin typeface="Courier New"/>
                <a:cs typeface="Courier New"/>
              </a:rPr>
              <a:t>TO</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analyst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GRANT</a:t>
            </a:r>
            <a:r>
              <a:rPr lang="en-US" sz="1050" dirty="0">
                <a:solidFill>
                  <a:srgbClr val="D4D4D4"/>
                </a:solidFill>
                <a:latin typeface="Courier New"/>
                <a:cs typeface="Courier New"/>
              </a:rPr>
              <a:t> </a:t>
            </a:r>
            <a:r>
              <a:rPr lang="en-US" sz="1050" dirty="0" b="1">
                <a:solidFill>
                  <a:srgbClr val="569CD6"/>
                </a:solidFill>
                <a:latin typeface="Courier New"/>
                <a:cs typeface="Courier New"/>
              </a:rPr>
              <a:t>USAGE</a:t>
            </a:r>
            <a:r>
              <a:rPr lang="en-US" sz="1050" dirty="0">
                <a:solidFill>
                  <a:srgbClr val="D4D4D4"/>
                </a:solidFill>
                <a:latin typeface="Courier New"/>
                <a:cs typeface="Courier New"/>
              </a:rPr>
              <a:t> </a:t>
            </a:r>
            <a:r>
              <a:rPr lang="en-US" sz="1050" dirty="0" b="1">
                <a:solidFill>
                  <a:srgbClr val="569CD6"/>
                </a:solidFill>
                <a:latin typeface="Courier New"/>
                <a:cs typeface="Courier New"/>
              </a:rPr>
              <a:t>ON</a:t>
            </a:r>
            <a:r>
              <a:rPr lang="en-US" sz="1050" dirty="0">
                <a:solidFill>
                  <a:srgbClr val="D4D4D4"/>
                </a:solidFill>
                <a:latin typeface="Courier New"/>
                <a:cs typeface="Courier New"/>
              </a:rPr>
              <a:t> </a:t>
            </a:r>
            <a:r>
              <a:rPr lang="en-US" sz="1050" dirty="0" b="1">
                <a:solidFill>
                  <a:srgbClr val="569CD6"/>
                </a:solidFill>
                <a:latin typeface="Courier New"/>
                <a:cs typeface="Courier New"/>
              </a:rPr>
              <a:t>DATABASE</a:t>
            </a:r>
            <a:r>
              <a:rPr lang="en-US" sz="1050" dirty="0">
                <a:solidFill>
                  <a:srgbClr val="D4D4D4"/>
                </a:solidFill>
                <a:latin typeface="Courier New"/>
                <a:cs typeface="Courier New"/>
              </a:rPr>
              <a:t>  </a:t>
            </a:r>
            <a:r>
              <a:rPr lang="en-US" sz="1050" dirty="0">
                <a:solidFill>
                  <a:srgbClr val="D4D4D4"/>
                </a:solidFill>
                <a:latin typeface="Courier New"/>
                <a:cs typeface="Courier New"/>
              </a:rPr>
              <a:t>sales_db</a:t>
            </a:r>
            <a:r>
              <a:rPr lang="en-US" sz="1050" dirty="0">
                <a:solidFill>
                  <a:srgbClr val="D4D4D4"/>
                </a:solidFill>
                <a:latin typeface="Courier New"/>
                <a:cs typeface="Courier New"/>
              </a:rPr>
              <a:t>     </a:t>
            </a:r>
            <a:r>
              <a:rPr lang="en-US" sz="1050" dirty="0" b="1">
                <a:solidFill>
                  <a:srgbClr val="569CD6"/>
                </a:solidFill>
                <a:latin typeface="Courier New"/>
                <a:cs typeface="Courier New"/>
              </a:rPr>
              <a:t>TO</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analyst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GRANT</a:t>
            </a:r>
            <a:r>
              <a:rPr lang="en-US" sz="1050" dirty="0">
                <a:solidFill>
                  <a:srgbClr val="D4D4D4"/>
                </a:solidFill>
                <a:latin typeface="Courier New"/>
                <a:cs typeface="Courier New"/>
              </a:rPr>
              <a:t> </a:t>
            </a:r>
            <a:r>
              <a:rPr lang="en-US" sz="1050" dirty="0" b="1">
                <a:solidFill>
                  <a:srgbClr val="569CD6"/>
                </a:solidFill>
                <a:latin typeface="Courier New"/>
                <a:cs typeface="Courier New"/>
              </a:rPr>
              <a:t>USAGE</a:t>
            </a:r>
            <a:r>
              <a:rPr lang="en-US" sz="1050" dirty="0">
                <a:solidFill>
                  <a:srgbClr val="D4D4D4"/>
                </a:solidFill>
                <a:latin typeface="Courier New"/>
                <a:cs typeface="Courier New"/>
              </a:rPr>
              <a:t> </a:t>
            </a:r>
            <a:r>
              <a:rPr lang="en-US" sz="1050" dirty="0" b="1">
                <a:solidFill>
                  <a:srgbClr val="569CD6"/>
                </a:solidFill>
                <a:latin typeface="Courier New"/>
                <a:cs typeface="Courier New"/>
              </a:rPr>
              <a:t>ON</a:t>
            </a:r>
            <a:r>
              <a:rPr lang="en-US" sz="1050" dirty="0">
                <a:solidFill>
                  <a:srgbClr val="D4D4D4"/>
                </a:solidFill>
                <a:latin typeface="Courier New"/>
                <a:cs typeface="Courier New"/>
              </a:rPr>
              <a:t> </a:t>
            </a:r>
            <a:r>
              <a:rPr lang="en-US" sz="1050" dirty="0" b="1">
                <a:solidFill>
                  <a:srgbClr val="569CD6"/>
                </a:solidFill>
                <a:latin typeface="Courier New"/>
                <a:cs typeface="Courier New"/>
              </a:rPr>
              <a:t>SCHEMA</a:t>
            </a:r>
            <a:r>
              <a:rPr lang="en-US" sz="1050" dirty="0">
                <a:solidFill>
                  <a:srgbClr val="D4D4D4"/>
                </a:solidFill>
                <a:latin typeface="Courier New"/>
                <a:cs typeface="Courier New"/>
              </a:rPr>
              <a:t>    </a:t>
            </a:r>
            <a:r>
              <a:rPr lang="en-US" sz="1050" dirty="0">
                <a:solidFill>
                  <a:srgbClr val="D4D4D4"/>
                </a:solidFill>
                <a:latin typeface="Courier New"/>
                <a:cs typeface="Courier New"/>
              </a:rPr>
              <a:t>sales_db</a:t>
            </a:r>
            <a:r>
              <a:rPr lang="en-US" sz="1050" dirty="0">
                <a:solidFill>
                  <a:srgbClr val="D4D4D4"/>
                </a:solidFill>
                <a:latin typeface="Courier New"/>
                <a:cs typeface="Courier New"/>
              </a:rPr>
              <a:t>.</a:t>
            </a:r>
            <a:r>
              <a:rPr lang="en-US" sz="1050" dirty="0">
                <a:solidFill>
                  <a:srgbClr val="D4D4D4"/>
                </a:solidFill>
                <a:latin typeface="Courier New"/>
                <a:cs typeface="Courier New"/>
              </a:rPr>
              <a:t>raw</a:t>
            </a:r>
            <a:r>
              <a:rPr lang="en-US" sz="1050" dirty="0">
                <a:solidFill>
                  <a:srgbClr val="D4D4D4"/>
                </a:solidFill>
                <a:latin typeface="Courier New"/>
                <a:cs typeface="Courier New"/>
              </a:rPr>
              <a:t> </a:t>
            </a:r>
            <a:r>
              <a:rPr lang="en-US" sz="1050" dirty="0" b="1">
                <a:solidFill>
                  <a:srgbClr val="569CD6"/>
                </a:solidFill>
                <a:latin typeface="Courier New"/>
                <a:cs typeface="Courier New"/>
              </a:rPr>
              <a:t>TO</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analyst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GRANT</a:t>
            </a:r>
            <a:r>
              <a:rPr lang="en-US" sz="1050" dirty="0">
                <a:solidFill>
                  <a:srgbClr val="D4D4D4"/>
                </a:solidFill>
                <a:latin typeface="Courier New"/>
                <a:cs typeface="Courier New"/>
              </a:rPr>
              <a:t> </a:t>
            </a:r>
            <a:r>
              <a:rPr lang="en-US" sz="1050" dirty="0" b="1">
                <a:solidFill>
                  <a:srgbClr val="569CD6"/>
                </a:solidFill>
                <a:latin typeface="Courier New"/>
                <a:cs typeface="Courier New"/>
              </a:rPr>
              <a:t>SELECT</a:t>
            </a:r>
            <a:r>
              <a:rPr lang="en-US" sz="1050" dirty="0">
                <a:solidFill>
                  <a:srgbClr val="D4D4D4"/>
                </a:solidFill>
                <a:latin typeface="Courier New"/>
                <a:cs typeface="Courier New"/>
              </a:rPr>
              <a:t> </a:t>
            </a:r>
            <a:r>
              <a:rPr lang="en-US" sz="1050" dirty="0" b="1">
                <a:solidFill>
                  <a:srgbClr val="569CD6"/>
                </a:solidFill>
                <a:latin typeface="Courier New"/>
                <a:cs typeface="Courier New"/>
              </a:rPr>
              <a:t>ON</a:t>
            </a:r>
            <a:r>
              <a:rPr lang="en-US" sz="1050" dirty="0">
                <a:solidFill>
                  <a:srgbClr val="D4D4D4"/>
                </a:solidFill>
                <a:latin typeface="Courier New"/>
                <a:cs typeface="Courier New"/>
              </a:rPr>
              <a:t> </a:t>
            </a:r>
            <a:r>
              <a:rPr lang="en-US" sz="1050" dirty="0" b="1">
                <a:solidFill>
                  <a:srgbClr val="569CD6"/>
                </a:solidFill>
                <a:latin typeface="Courier New"/>
                <a:cs typeface="Courier New"/>
              </a:rPr>
              <a:t>ALL</a:t>
            </a:r>
            <a:r>
              <a:rPr lang="en-US" sz="1050" dirty="0">
                <a:solidFill>
                  <a:srgbClr val="D4D4D4"/>
                </a:solidFill>
                <a:latin typeface="Courier New"/>
                <a:cs typeface="Courier New"/>
              </a:rPr>
              <a:t> </a:t>
            </a:r>
            <a:r>
              <a:rPr lang="en-US" sz="1050" dirty="0" b="1">
                <a:solidFill>
                  <a:srgbClr val="569CD6"/>
                </a:solidFill>
                <a:latin typeface="Courier New"/>
                <a:cs typeface="Courier New"/>
              </a:rPr>
              <a:t>TABLES</a:t>
            </a:r>
            <a:r>
              <a:rPr lang="en-US" sz="1050" dirty="0">
                <a:solidFill>
                  <a:srgbClr val="D4D4D4"/>
                </a:solidFill>
                <a:latin typeface="Courier New"/>
                <a:cs typeface="Courier New"/>
              </a:rPr>
              <a:t>    </a:t>
            </a:r>
            <a:r>
              <a:rPr lang="en-US" sz="1050" dirty="0" b="1">
                <a:solidFill>
                  <a:srgbClr val="569CD6"/>
                </a:solidFill>
                <a:latin typeface="Courier New"/>
                <a:cs typeface="Courier New"/>
              </a:rPr>
              <a:t>IN</a:t>
            </a:r>
            <a:r>
              <a:rPr lang="en-US" sz="1050" dirty="0">
                <a:solidFill>
                  <a:srgbClr val="D4D4D4"/>
                </a:solidFill>
                <a:latin typeface="Courier New"/>
                <a:cs typeface="Courier New"/>
              </a:rPr>
              <a:t> </a:t>
            </a:r>
            <a:r>
              <a:rPr lang="en-US" sz="1050" dirty="0" b="1">
                <a:solidFill>
                  <a:srgbClr val="569CD6"/>
                </a:solidFill>
                <a:latin typeface="Courier New"/>
                <a:cs typeface="Courier New"/>
              </a:rPr>
              <a:t>SCHEMA</a:t>
            </a:r>
            <a:r>
              <a:rPr lang="en-US" sz="1050" dirty="0">
                <a:solidFill>
                  <a:srgbClr val="D4D4D4"/>
                </a:solidFill>
                <a:latin typeface="Courier New"/>
                <a:cs typeface="Courier New"/>
              </a:rPr>
              <a:t> </a:t>
            </a:r>
            <a:r>
              <a:rPr lang="en-US" sz="1050" dirty="0">
                <a:solidFill>
                  <a:srgbClr val="D4D4D4"/>
                </a:solidFill>
                <a:latin typeface="Courier New"/>
                <a:cs typeface="Courier New"/>
              </a:rPr>
              <a:t>sales_db</a:t>
            </a:r>
            <a:r>
              <a:rPr lang="en-US" sz="1050" dirty="0">
                <a:solidFill>
                  <a:srgbClr val="D4D4D4"/>
                </a:solidFill>
                <a:latin typeface="Courier New"/>
                <a:cs typeface="Courier New"/>
              </a:rPr>
              <a:t>.</a:t>
            </a:r>
            <a:r>
              <a:rPr lang="en-US" sz="1050" dirty="0">
                <a:solidFill>
                  <a:srgbClr val="D4D4D4"/>
                </a:solidFill>
                <a:latin typeface="Courier New"/>
                <a:cs typeface="Courier New"/>
              </a:rPr>
              <a:t>raw</a:t>
            </a:r>
            <a:r>
              <a:rPr lang="en-US" sz="1050" dirty="0">
                <a:solidFill>
                  <a:srgbClr val="D4D4D4"/>
                </a:solidFill>
                <a:latin typeface="Courier New"/>
                <a:cs typeface="Courier New"/>
              </a:rPr>
              <a:t> </a:t>
            </a:r>
            <a:r>
              <a:rPr lang="en-US" sz="1050" dirty="0" b="1">
                <a:solidFill>
                  <a:srgbClr val="569CD6"/>
                </a:solidFill>
                <a:latin typeface="Courier New"/>
                <a:cs typeface="Courier New"/>
              </a:rPr>
              <a:t>TO</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analyst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GRANT</a:t>
            </a:r>
            <a:r>
              <a:rPr lang="en-US" sz="1050" dirty="0">
                <a:solidFill>
                  <a:srgbClr val="D4D4D4"/>
                </a:solidFill>
                <a:latin typeface="Courier New"/>
                <a:cs typeface="Courier New"/>
              </a:rPr>
              <a:t> </a:t>
            </a:r>
            <a:r>
              <a:rPr lang="en-US" sz="1050" dirty="0" b="1">
                <a:solidFill>
                  <a:srgbClr val="569CD6"/>
                </a:solidFill>
                <a:latin typeface="Courier New"/>
                <a:cs typeface="Courier New"/>
              </a:rPr>
              <a:t>SELECT</a:t>
            </a:r>
            <a:r>
              <a:rPr lang="en-US" sz="1050" dirty="0">
                <a:solidFill>
                  <a:srgbClr val="D4D4D4"/>
                </a:solidFill>
                <a:latin typeface="Courier New"/>
                <a:cs typeface="Courier New"/>
              </a:rPr>
              <a:t> </a:t>
            </a:r>
            <a:r>
              <a:rPr lang="en-US" sz="1050" dirty="0" b="1">
                <a:solidFill>
                  <a:srgbClr val="569CD6"/>
                </a:solidFill>
                <a:latin typeface="Courier New"/>
                <a:cs typeface="Courier New"/>
              </a:rPr>
              <a:t>ON</a:t>
            </a:r>
            <a:r>
              <a:rPr lang="en-US" sz="1050" dirty="0">
                <a:solidFill>
                  <a:srgbClr val="D4D4D4"/>
                </a:solidFill>
                <a:latin typeface="Courier New"/>
                <a:cs typeface="Courier New"/>
              </a:rPr>
              <a:t> </a:t>
            </a:r>
            <a:r>
              <a:rPr lang="en-US" sz="1050" dirty="0" b="1">
                <a:solidFill>
                  <a:srgbClr val="569CD6"/>
                </a:solidFill>
                <a:latin typeface="Courier New"/>
                <a:cs typeface="Courier New"/>
              </a:rPr>
              <a:t>FUTURE</a:t>
            </a:r>
            <a:r>
              <a:rPr lang="en-US" sz="1050" dirty="0">
                <a:solidFill>
                  <a:srgbClr val="D4D4D4"/>
                </a:solidFill>
                <a:latin typeface="Courier New"/>
                <a:cs typeface="Courier New"/>
              </a:rPr>
              <a:t> </a:t>
            </a:r>
            <a:r>
              <a:rPr lang="en-US" sz="1050" dirty="0" b="1">
                <a:solidFill>
                  <a:srgbClr val="569CD6"/>
                </a:solidFill>
                <a:latin typeface="Courier New"/>
                <a:cs typeface="Courier New"/>
              </a:rPr>
              <a:t>TABLES</a:t>
            </a:r>
            <a:r>
              <a:rPr lang="en-US" sz="1050" dirty="0">
                <a:solidFill>
                  <a:srgbClr val="D4D4D4"/>
                </a:solidFill>
                <a:latin typeface="Courier New"/>
                <a:cs typeface="Courier New"/>
              </a:rPr>
              <a:t> </a:t>
            </a:r>
            <a:r>
              <a:rPr lang="en-US" sz="1050" dirty="0" b="1">
                <a:solidFill>
                  <a:srgbClr val="569CD6"/>
                </a:solidFill>
                <a:latin typeface="Courier New"/>
                <a:cs typeface="Courier New"/>
              </a:rPr>
              <a:t>IN</a:t>
            </a:r>
            <a:r>
              <a:rPr lang="en-US" sz="1050" dirty="0">
                <a:solidFill>
                  <a:srgbClr val="D4D4D4"/>
                </a:solidFill>
                <a:latin typeface="Courier New"/>
                <a:cs typeface="Courier New"/>
              </a:rPr>
              <a:t> </a:t>
            </a:r>
            <a:r>
              <a:rPr lang="en-US" sz="1050" dirty="0" b="1">
                <a:solidFill>
                  <a:srgbClr val="569CD6"/>
                </a:solidFill>
                <a:latin typeface="Courier New"/>
                <a:cs typeface="Courier New"/>
              </a:rPr>
              <a:t>SCHEMA</a:t>
            </a:r>
            <a:r>
              <a:rPr lang="en-US" sz="1050" dirty="0">
                <a:solidFill>
                  <a:srgbClr val="D4D4D4"/>
                </a:solidFill>
                <a:latin typeface="Courier New"/>
                <a:cs typeface="Courier New"/>
              </a:rPr>
              <a:t> </a:t>
            </a:r>
            <a:r>
              <a:rPr lang="en-US" sz="1050" dirty="0">
                <a:solidFill>
                  <a:srgbClr val="D4D4D4"/>
                </a:solidFill>
                <a:latin typeface="Courier New"/>
                <a:cs typeface="Courier New"/>
              </a:rPr>
              <a:t>sales_db</a:t>
            </a:r>
            <a:r>
              <a:rPr lang="en-US" sz="1050" dirty="0">
                <a:solidFill>
                  <a:srgbClr val="D4D4D4"/>
                </a:solidFill>
                <a:latin typeface="Courier New"/>
                <a:cs typeface="Courier New"/>
              </a:rPr>
              <a:t>.</a:t>
            </a:r>
            <a:r>
              <a:rPr lang="en-US" sz="1050" dirty="0">
                <a:solidFill>
                  <a:srgbClr val="D4D4D4"/>
                </a:solidFill>
                <a:latin typeface="Courier New"/>
                <a:cs typeface="Courier New"/>
              </a:rPr>
              <a:t>raw</a:t>
            </a:r>
            <a:r>
              <a:rPr lang="en-US" sz="1050" dirty="0">
                <a:solidFill>
                  <a:srgbClr val="D4D4D4"/>
                </a:solidFill>
                <a:latin typeface="Courier New"/>
                <a:cs typeface="Courier New"/>
              </a:rPr>
              <a:t> </a:t>
            </a:r>
            <a:r>
              <a:rPr lang="en-US" sz="1050" dirty="0" b="1">
                <a:solidFill>
                  <a:srgbClr val="569CD6"/>
                </a:solidFill>
                <a:latin typeface="Courier New"/>
                <a:cs typeface="Courier New"/>
              </a:rPr>
              <a:t>TO</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analyst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SHOW</a:t>
            </a:r>
            <a:r>
              <a:rPr lang="en-US" sz="1050" dirty="0">
                <a:solidFill>
                  <a:srgbClr val="D4D4D4"/>
                </a:solidFill>
                <a:latin typeface="Courier New"/>
                <a:cs typeface="Courier New"/>
              </a:rPr>
              <a:t> </a:t>
            </a:r>
            <a:r>
              <a:rPr lang="en-US" sz="1050" dirty="0" b="1">
                <a:solidFill>
                  <a:srgbClr val="569CD6"/>
                </a:solidFill>
                <a:latin typeface="Courier New"/>
                <a:cs typeface="Courier New"/>
              </a:rPr>
              <a:t>GRANTS</a:t>
            </a:r>
            <a:r>
              <a:rPr lang="en-US" sz="1050" dirty="0">
                <a:solidFill>
                  <a:srgbClr val="D4D4D4"/>
                </a:solidFill>
                <a:latin typeface="Courier New"/>
                <a:cs typeface="Courier New"/>
              </a:rPr>
              <a:t> </a:t>
            </a:r>
            <a:r>
              <a:rPr lang="en-US" sz="1050" dirty="0" b="1">
                <a:solidFill>
                  <a:srgbClr val="569CD6"/>
                </a:solidFill>
                <a:latin typeface="Courier New"/>
                <a:cs typeface="Courier New"/>
              </a:rPr>
              <a:t>TO</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analyst</a:t>
            </a:r>
            <a:r>
              <a:rPr lang="en-US" sz="1050" dirty="0">
                <a:solidFill>
                  <a:srgbClr val="D4D4D4"/>
                </a:solidFill>
                <a:latin typeface="Courier New"/>
                <a:cs typeface="Courier New"/>
              </a:rPr>
              <a:t>;</a:t>
            </a:r>
            <a:endParaRPr lang="en-US" sz="1050" dirty="0"/>
          </a:p>
        </p:txBody>
      </p:sp>
      <p:sp>
        <p:nvSpPr>
          <p:cNvPr id="11" name="Shape 11"/>
          <p:cNvSpPr/>
          <p:nvPr/>
        </p:nvSpPr>
        <p:spPr>
          <a:xfrm>
            <a:off x="7772400" y="1325880"/>
            <a:ext cx="3886200" cy="36576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500" dirty="0" b="1">
                <a:solidFill>
                  <a:srgbClr val="11567F"/>
                </a:solidFill>
              </a:rPr>
              <a:t>The 4 grants a reader needs</a:t>
            </a:r>
            <a:endParaRPr lang="en-US" sz="1500" dirty="0"/>
          </a:p>
        </p:txBody>
      </p:sp>
      <p:sp>
        <p:nvSpPr>
          <p:cNvPr id="12" name="Shape 12"/>
          <p:cNvSpPr/>
          <p:nvPr/>
        </p:nvSpPr>
        <p:spPr>
          <a:xfrm>
            <a:off x="7772400" y="1783080"/>
            <a:ext cx="1188720" cy="530352"/>
          </a:xfrm>
          <a:prstGeom prst="roundRect">
            <a:avLst>
              <a:gd name="adj" fmla="val 15000"/>
            </a:avLst>
          </a:prstGeom>
          <a:solidFill>
            <a:srgbClr val="11567F"/>
          </a:solidFill>
          <a:ln>
            <a:noFill/>
          </a:ln>
        </p:spPr>
        <p:txBody>
          <a:bodyPr wrap="square" lIns="27432" tIns="27432" rIns="27432" bIns="27432" anchor="ctr" rtlCol="0">
            <a:noAutofit/>
          </a:bodyPr>
          <a:lstStyle/>
          <a:p>
            <a:pPr algn="ctr">
              <a:lnSpc>
                <a:spcPct val="100000"/>
              </a:lnSpc>
              <a:spcBef>
                <a:spcPts val="0"/>
              </a:spcBef>
              <a:spcAft>
                <a:spcPts val="0"/>
              </a:spcAft>
              <a:buNone/>
            </a:pPr>
            <a:r>
              <a:rPr lang="en-US" sz="1200" dirty="0" b="1">
                <a:solidFill>
                  <a:srgbClr val="FFFFFF"/>
                </a:solidFill>
              </a:rPr>
              <a:t>USAGE</a:t>
            </a:r>
            <a:endParaRPr lang="en-US" sz="1200" dirty="0"/>
          </a:p>
        </p:txBody>
      </p:sp>
      <p:sp>
        <p:nvSpPr>
          <p:cNvPr id="13" name="Shape 13"/>
          <p:cNvSpPr/>
          <p:nvPr/>
        </p:nvSpPr>
        <p:spPr>
          <a:xfrm>
            <a:off x="9052560" y="1783080"/>
            <a:ext cx="2606040" cy="530352"/>
          </a:xfrm>
          <a:prstGeom prst="roundRect">
            <a:avLst>
              <a:gd name="adj" fmla="val 15000"/>
            </a:avLst>
          </a:prstGeom>
          <a:solidFill>
            <a:srgbClr val="EAF6FC"/>
          </a:solidFill>
          <a:ln>
            <a:noFill/>
          </a:ln>
        </p:spPr>
        <p:txBody>
          <a:bodyPr wrap="square" lIns="91440" tIns="91440" rIns="91440" bIns="91440" anchor="ctr" rtlCol="0">
            <a:noAutofit/>
          </a:bodyPr>
          <a:lstStyle/>
          <a:p>
            <a:pPr algn="l">
              <a:lnSpc>
                <a:spcPct val="100000"/>
              </a:lnSpc>
              <a:spcBef>
                <a:spcPts val="0"/>
              </a:spcBef>
              <a:spcAft>
                <a:spcPts val="0"/>
              </a:spcAft>
              <a:buNone/>
            </a:pPr>
            <a:r>
              <a:rPr lang="en-US" sz="1200" dirty="0">
                <a:solidFill>
                  <a:srgbClr val="1F2937"/>
                </a:solidFill>
              </a:rPr>
              <a:t>on WAREHOUSE: compute</a:t>
            </a:r>
            <a:endParaRPr lang="en-US" sz="1200" dirty="0"/>
          </a:p>
        </p:txBody>
      </p:sp>
      <p:sp>
        <p:nvSpPr>
          <p:cNvPr id="14" name="Shape 14"/>
          <p:cNvSpPr/>
          <p:nvPr/>
        </p:nvSpPr>
        <p:spPr>
          <a:xfrm>
            <a:off x="7772400" y="2441448"/>
            <a:ext cx="1188720" cy="530352"/>
          </a:xfrm>
          <a:prstGeom prst="roundRect">
            <a:avLst>
              <a:gd name="adj" fmla="val 15000"/>
            </a:avLst>
          </a:prstGeom>
          <a:solidFill>
            <a:srgbClr val="11567F"/>
          </a:solidFill>
          <a:ln>
            <a:noFill/>
          </a:ln>
        </p:spPr>
        <p:txBody>
          <a:bodyPr wrap="square" lIns="27432" tIns="27432" rIns="27432" bIns="27432" anchor="ctr" rtlCol="0">
            <a:noAutofit/>
          </a:bodyPr>
          <a:lstStyle/>
          <a:p>
            <a:pPr algn="ctr">
              <a:lnSpc>
                <a:spcPct val="100000"/>
              </a:lnSpc>
              <a:spcBef>
                <a:spcPts val="0"/>
              </a:spcBef>
              <a:spcAft>
                <a:spcPts val="0"/>
              </a:spcAft>
              <a:buNone/>
            </a:pPr>
            <a:r>
              <a:rPr lang="en-US" sz="1200" dirty="0" b="1">
                <a:solidFill>
                  <a:srgbClr val="FFFFFF"/>
                </a:solidFill>
              </a:rPr>
              <a:t>USAGE</a:t>
            </a:r>
            <a:endParaRPr lang="en-US" sz="1200" dirty="0"/>
          </a:p>
        </p:txBody>
      </p:sp>
      <p:sp>
        <p:nvSpPr>
          <p:cNvPr id="15" name="Shape 15"/>
          <p:cNvSpPr/>
          <p:nvPr/>
        </p:nvSpPr>
        <p:spPr>
          <a:xfrm>
            <a:off x="9052560" y="2441448"/>
            <a:ext cx="2606040" cy="530352"/>
          </a:xfrm>
          <a:prstGeom prst="roundRect">
            <a:avLst>
              <a:gd name="adj" fmla="val 15000"/>
            </a:avLst>
          </a:prstGeom>
          <a:solidFill>
            <a:srgbClr val="EAF6FC"/>
          </a:solidFill>
          <a:ln>
            <a:noFill/>
          </a:ln>
        </p:spPr>
        <p:txBody>
          <a:bodyPr wrap="square" lIns="91440" tIns="91440" rIns="91440" bIns="91440" anchor="ctr" rtlCol="0">
            <a:noAutofit/>
          </a:bodyPr>
          <a:lstStyle/>
          <a:p>
            <a:pPr algn="l">
              <a:lnSpc>
                <a:spcPct val="100000"/>
              </a:lnSpc>
              <a:spcBef>
                <a:spcPts val="0"/>
              </a:spcBef>
              <a:spcAft>
                <a:spcPts val="0"/>
              </a:spcAft>
              <a:buNone/>
            </a:pPr>
            <a:r>
              <a:rPr lang="en-US" sz="1200" dirty="0">
                <a:solidFill>
                  <a:srgbClr val="1F2937"/>
                </a:solidFill>
              </a:rPr>
              <a:t>on DATABASE</a:t>
            </a:r>
            <a:endParaRPr lang="en-US" sz="1200" dirty="0"/>
          </a:p>
        </p:txBody>
      </p:sp>
      <p:sp>
        <p:nvSpPr>
          <p:cNvPr id="16" name="Shape 16"/>
          <p:cNvSpPr/>
          <p:nvPr/>
        </p:nvSpPr>
        <p:spPr>
          <a:xfrm>
            <a:off x="7772400" y="3099816"/>
            <a:ext cx="1188720" cy="530352"/>
          </a:xfrm>
          <a:prstGeom prst="roundRect">
            <a:avLst>
              <a:gd name="adj" fmla="val 15000"/>
            </a:avLst>
          </a:prstGeom>
          <a:solidFill>
            <a:srgbClr val="11567F"/>
          </a:solidFill>
          <a:ln>
            <a:noFill/>
          </a:ln>
        </p:spPr>
        <p:txBody>
          <a:bodyPr wrap="square" lIns="27432" tIns="27432" rIns="27432" bIns="27432" anchor="ctr" rtlCol="0">
            <a:noAutofit/>
          </a:bodyPr>
          <a:lstStyle/>
          <a:p>
            <a:pPr algn="ctr">
              <a:lnSpc>
                <a:spcPct val="100000"/>
              </a:lnSpc>
              <a:spcBef>
                <a:spcPts val="0"/>
              </a:spcBef>
              <a:spcAft>
                <a:spcPts val="0"/>
              </a:spcAft>
              <a:buNone/>
            </a:pPr>
            <a:r>
              <a:rPr lang="en-US" sz="1200" dirty="0" b="1">
                <a:solidFill>
                  <a:srgbClr val="FFFFFF"/>
                </a:solidFill>
              </a:rPr>
              <a:t>USAGE</a:t>
            </a:r>
            <a:endParaRPr lang="en-US" sz="1200" dirty="0"/>
          </a:p>
        </p:txBody>
      </p:sp>
      <p:sp>
        <p:nvSpPr>
          <p:cNvPr id="17" name="Shape 17"/>
          <p:cNvSpPr/>
          <p:nvPr/>
        </p:nvSpPr>
        <p:spPr>
          <a:xfrm>
            <a:off x="9052560" y="3099816"/>
            <a:ext cx="2606040" cy="530352"/>
          </a:xfrm>
          <a:prstGeom prst="roundRect">
            <a:avLst>
              <a:gd name="adj" fmla="val 15000"/>
            </a:avLst>
          </a:prstGeom>
          <a:solidFill>
            <a:srgbClr val="EAF6FC"/>
          </a:solidFill>
          <a:ln>
            <a:noFill/>
          </a:ln>
        </p:spPr>
        <p:txBody>
          <a:bodyPr wrap="square" lIns="91440" tIns="91440" rIns="91440" bIns="91440" anchor="ctr" rtlCol="0">
            <a:noAutofit/>
          </a:bodyPr>
          <a:lstStyle/>
          <a:p>
            <a:pPr algn="l">
              <a:lnSpc>
                <a:spcPct val="100000"/>
              </a:lnSpc>
              <a:spcBef>
                <a:spcPts val="0"/>
              </a:spcBef>
              <a:spcAft>
                <a:spcPts val="0"/>
              </a:spcAft>
              <a:buNone/>
            </a:pPr>
            <a:r>
              <a:rPr lang="en-US" sz="1200" dirty="0">
                <a:solidFill>
                  <a:srgbClr val="1F2937"/>
                </a:solidFill>
              </a:rPr>
              <a:t>on SCHEMA</a:t>
            </a:r>
            <a:endParaRPr lang="en-US" sz="1200" dirty="0"/>
          </a:p>
        </p:txBody>
      </p:sp>
      <p:sp>
        <p:nvSpPr>
          <p:cNvPr id="18" name="Shape 18"/>
          <p:cNvSpPr/>
          <p:nvPr/>
        </p:nvSpPr>
        <p:spPr>
          <a:xfrm>
            <a:off x="7772400" y="3758184"/>
            <a:ext cx="1188720" cy="530352"/>
          </a:xfrm>
          <a:prstGeom prst="roundRect">
            <a:avLst>
              <a:gd name="adj" fmla="val 15000"/>
            </a:avLst>
          </a:prstGeom>
          <a:solidFill>
            <a:srgbClr val="11567F"/>
          </a:solidFill>
          <a:ln>
            <a:noFill/>
          </a:ln>
        </p:spPr>
        <p:txBody>
          <a:bodyPr wrap="square" lIns="27432" tIns="27432" rIns="27432" bIns="27432" anchor="ctr" rtlCol="0">
            <a:noAutofit/>
          </a:bodyPr>
          <a:lstStyle/>
          <a:p>
            <a:pPr algn="ctr">
              <a:lnSpc>
                <a:spcPct val="100000"/>
              </a:lnSpc>
              <a:spcBef>
                <a:spcPts val="0"/>
              </a:spcBef>
              <a:spcAft>
                <a:spcPts val="0"/>
              </a:spcAft>
              <a:buNone/>
            </a:pPr>
            <a:r>
              <a:rPr lang="en-US" sz="1200" dirty="0" b="1">
                <a:solidFill>
                  <a:srgbClr val="FFFFFF"/>
                </a:solidFill>
              </a:rPr>
              <a:t>SELECT</a:t>
            </a:r>
            <a:endParaRPr lang="en-US" sz="1200" dirty="0"/>
          </a:p>
        </p:txBody>
      </p:sp>
      <p:sp>
        <p:nvSpPr>
          <p:cNvPr id="19" name="Shape 19"/>
          <p:cNvSpPr/>
          <p:nvPr/>
        </p:nvSpPr>
        <p:spPr>
          <a:xfrm>
            <a:off x="9052560" y="3758184"/>
            <a:ext cx="2606040" cy="530352"/>
          </a:xfrm>
          <a:prstGeom prst="roundRect">
            <a:avLst>
              <a:gd name="adj" fmla="val 15000"/>
            </a:avLst>
          </a:prstGeom>
          <a:solidFill>
            <a:srgbClr val="EAF6FC"/>
          </a:solidFill>
          <a:ln>
            <a:noFill/>
          </a:ln>
        </p:spPr>
        <p:txBody>
          <a:bodyPr wrap="square" lIns="91440" tIns="91440" rIns="91440" bIns="91440" anchor="ctr" rtlCol="0">
            <a:noAutofit/>
          </a:bodyPr>
          <a:lstStyle/>
          <a:p>
            <a:pPr algn="l">
              <a:lnSpc>
                <a:spcPct val="100000"/>
              </a:lnSpc>
              <a:spcBef>
                <a:spcPts val="0"/>
              </a:spcBef>
              <a:spcAft>
                <a:spcPts val="0"/>
              </a:spcAft>
              <a:buNone/>
            </a:pPr>
            <a:r>
              <a:rPr lang="en-US" sz="1200" dirty="0">
                <a:solidFill>
                  <a:srgbClr val="1F2937"/>
                </a:solidFill>
              </a:rPr>
              <a:t>on TABLES (all + future)</a:t>
            </a:r>
            <a:endParaRPr lang="en-US" sz="1200" dirty="0"/>
          </a:p>
        </p:txBody>
      </p:sp>
      <p:sp>
        <p:nvSpPr>
          <p:cNvPr id="20" name="Shape 20"/>
          <p:cNvSpPr/>
          <p:nvPr/>
        </p:nvSpPr>
        <p:spPr>
          <a:xfrm>
            <a:off x="7772400" y="4526280"/>
            <a:ext cx="3886200" cy="731520"/>
          </a:xfrm>
          <a:prstGeom prst="roundRect">
            <a:avLst>
              <a:gd name="adj" fmla="val 10000"/>
            </a:avLst>
          </a:prstGeom>
          <a:solidFill>
            <a:srgbClr val="FFF7E6"/>
          </a:solidFill>
          <a:ln w="15875">
            <a:solidFill>
              <a:srgbClr val="F59E0B"/>
            </a:solidFill>
          </a:ln>
        </p:spPr>
        <p:txBody>
          <a:bodyPr wrap="square" lIns="91440" tIns="91440" rIns="91440" bIns="91440" anchor="t" rtlCol="0">
            <a:noAutofit/>
          </a:bodyPr>
          <a:lstStyle/>
          <a:p>
            <a:endParaRPr lang="en-US" dirty="0"/>
          </a:p>
        </p:txBody>
      </p:sp>
      <p:sp>
        <p:nvSpPr>
          <p:cNvPr id="21" name="Shape 21"/>
          <p:cNvSpPr/>
          <p:nvPr/>
        </p:nvSpPr>
        <p:spPr>
          <a:xfrm>
            <a:off x="7882128" y="4572000"/>
            <a:ext cx="3666744" cy="64008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150" dirty="0" b="1">
                <a:solidFill>
                  <a:srgbClr val="F59E0B"/>
                </a:solidFill>
              </a:rPr>
              <a:t>GOTCHA  </a:t>
            </a:r>
            <a:r>
              <a:rPr lang="en-US" sz="1150" dirty="0">
                <a:solidFill>
                  <a:srgbClr val="1F2937"/>
                </a:solidFill>
              </a:rPr>
              <a:t>Forgot </a:t>
            </a:r>
            <a:r>
              <a:rPr lang="en-US" sz="1150" dirty="0" b="1">
                <a:solidFill>
                  <a:srgbClr val="1F2937"/>
                </a:solidFill>
              </a:rPr>
              <a:t>FUTURE</a:t>
            </a:r>
            <a:r>
              <a:rPr lang="en-US" sz="1150" dirty="0">
                <a:solidFill>
                  <a:srgbClr val="1F2937"/>
                </a:solidFill>
              </a:rPr>
              <a:t> grants? New tables are invisible to analysts.</a:t>
            </a:r>
            <a:endParaRPr lang="en-US" sz="1150" dirty="0"/>
          </a:p>
        </p:txBody>
      </p:sp>
      <p:sp>
        <p:nvSpPr>
          <p:cNvPr id="22" name="Shape 22"/>
          <p:cNvSpPr/>
          <p:nvPr/>
        </p:nvSpPr>
        <p:spPr>
          <a:xfrm>
            <a:off x="7772400" y="5394960"/>
            <a:ext cx="3886200" cy="777240"/>
          </a:xfrm>
          <a:prstGeom prst="roundRect">
            <a:avLst>
              <a:gd name="adj" fmla="val 10000"/>
            </a:avLst>
          </a:prstGeom>
          <a:solidFill>
            <a:srgbClr val="FFF7E6"/>
          </a:solidFill>
          <a:ln w="15875">
            <a:solidFill>
              <a:srgbClr val="DC2626"/>
            </a:solidFill>
          </a:ln>
        </p:spPr>
        <p:txBody>
          <a:bodyPr wrap="square" lIns="91440" tIns="91440" rIns="91440" bIns="91440" anchor="t" rtlCol="0">
            <a:noAutofit/>
          </a:bodyPr>
          <a:lstStyle/>
          <a:p>
            <a:endParaRPr lang="en-US" dirty="0"/>
          </a:p>
        </p:txBody>
      </p:sp>
      <p:sp>
        <p:nvSpPr>
          <p:cNvPr id="23" name="Shape 23"/>
          <p:cNvSpPr/>
          <p:nvPr/>
        </p:nvSpPr>
        <p:spPr>
          <a:xfrm>
            <a:off x="7882128" y="5440680"/>
            <a:ext cx="3666744" cy="68580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150" dirty="0" b="1">
                <a:solidFill>
                  <a:srgbClr val="DC2626"/>
                </a:solidFill>
              </a:rPr>
              <a:t>SECURITY  </a:t>
            </a:r>
            <a:r>
              <a:rPr lang="en-US" sz="1150" dirty="0">
                <a:solidFill>
                  <a:srgbClr val="1F2937"/>
                </a:solidFill>
              </a:rPr>
              <a:t>Prefer </a:t>
            </a:r>
            <a:r>
              <a:rPr lang="en-US" sz="1150" dirty="0" b="1">
                <a:solidFill>
                  <a:srgbClr val="1F2937"/>
                </a:solidFill>
              </a:rPr>
              <a:t>SSO / key-pair</a:t>
            </a:r>
            <a:r>
              <a:rPr lang="en-US" sz="1150" dirty="0">
                <a:solidFill>
                  <a:srgbClr val="1F2937"/>
                </a:solidFill>
              </a:rPr>
              <a:t> auth; avoid password-only users.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Cost Best Practices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Keep a trial or production account under control</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22 / 26</a:t>
            </a:r>
            <a:endParaRPr lang="en-US" sz="1000" dirty="0"/>
          </a:p>
        </p:txBody>
      </p:sp>
      <p:sp>
        <p:nvSpPr>
          <p:cNvPr id="9" name="Shape 9"/>
          <p:cNvSpPr/>
          <p:nvPr/>
        </p:nvSpPr>
        <p:spPr>
          <a:xfrm>
            <a:off x="548640" y="1325880"/>
            <a:ext cx="5394960" cy="4846320"/>
          </a:xfrm>
          <a:prstGeom prst="rect">
            <a:avLst/>
          </a:prstGeom>
          <a:noFill/>
          <a:ln>
            <a:noFill/>
          </a:ln>
        </p:spPr>
        <p:txBody>
          <a:bodyPr wrap="square" lIns="45720" tIns="45720" rIns="45720" bIns="45720" anchor="t" rtlCol="0">
            <a:noAutofit/>
          </a:bodyPr>
          <a:lstStyle/>
          <a:p>
            <a:pPr algn="l" marL="285750" indent="-285750">
              <a:lnSpc>
                <a:spcPct val="100000"/>
              </a:lnSpc>
              <a:spcBef>
                <a:spcPts val="900"/>
              </a:spcBef>
              <a:spcAft>
                <a:spcPts val="0"/>
              </a:spcAft>
              <a:buClr>
                <a:srgbClr val="29B5E8"/>
              </a:buClr>
              <a:buFont typeface="Arial"/>
              <a:buChar char="•"/>
            </a:pPr>
            <a:r>
              <a:rPr lang="en-US" sz="1500" dirty="0" b="1">
                <a:solidFill>
                  <a:srgbClr val="1F2937"/>
                </a:solidFill>
              </a:rPr>
              <a:t>AUTO_SUSPEND = 60</a:t>
            </a:r>
            <a:r>
              <a:rPr lang="en-US" sz="1500" dirty="0">
                <a:solidFill>
                  <a:srgbClr val="1F2937"/>
                </a:solidFill>
              </a:rPr>
              <a:t> on ad-hoc / BI warehouses</a:t>
            </a:r>
            <a:endParaRPr lang="en-US" sz="1500" dirty="0"/>
          </a:p>
          <a:p>
            <a:pPr algn="l" marL="285750" indent="-285750">
              <a:lnSpc>
                <a:spcPct val="100000"/>
              </a:lnSpc>
              <a:spcBef>
                <a:spcPts val="900"/>
              </a:spcBef>
              <a:spcAft>
                <a:spcPts val="0"/>
              </a:spcAft>
              <a:buClr>
                <a:srgbClr val="29B5E8"/>
              </a:buClr>
              <a:buFont typeface="Arial"/>
              <a:buChar char="•"/>
            </a:pPr>
            <a:r>
              <a:rPr lang="en-US" sz="1500" dirty="0">
                <a:solidFill>
                  <a:srgbClr val="1F2937"/>
                </a:solidFill>
              </a:rPr>
              <a:t>Start </a:t>
            </a:r>
            <a:r>
              <a:rPr lang="en-US" sz="1500" dirty="0" b="1">
                <a:solidFill>
                  <a:srgbClr val="1F2937"/>
                </a:solidFill>
              </a:rPr>
              <a:t>X-Small</a:t>
            </a:r>
            <a:r>
              <a:rPr lang="en-US" sz="1500" dirty="0">
                <a:solidFill>
                  <a:srgbClr val="1F2937"/>
                </a:solidFill>
              </a:rPr>
              <a:t>; size up only when the Query Profile shows it's needed</a:t>
            </a:r>
            <a:endParaRPr lang="en-US" sz="1500" dirty="0"/>
          </a:p>
          <a:p>
            <a:pPr algn="l" marL="285750" indent="-285750">
              <a:lnSpc>
                <a:spcPct val="100000"/>
              </a:lnSpc>
              <a:spcBef>
                <a:spcPts val="900"/>
              </a:spcBef>
              <a:spcAft>
                <a:spcPts val="0"/>
              </a:spcAft>
              <a:buClr>
                <a:srgbClr val="29B5E8"/>
              </a:buClr>
              <a:buFont typeface="Arial"/>
              <a:buChar char="•"/>
            </a:pPr>
            <a:r>
              <a:rPr lang="en-US" sz="1500" dirty="0" b="1">
                <a:solidFill>
                  <a:srgbClr val="1F2937"/>
                </a:solidFill>
              </a:rPr>
              <a:t>One warehouse per workload</a:t>
            </a:r>
            <a:r>
              <a:rPr lang="en-US" sz="1500" dirty="0">
                <a:solidFill>
                  <a:srgbClr val="1F2937"/>
                </a:solidFill>
              </a:rPr>
              <a:t> (ETL / BI / DS) for isolation &amp; chargeback</a:t>
            </a:r>
            <a:endParaRPr lang="en-US" sz="1500" dirty="0"/>
          </a:p>
          <a:p>
            <a:pPr algn="l" marL="285750" indent="-285750">
              <a:lnSpc>
                <a:spcPct val="100000"/>
              </a:lnSpc>
              <a:spcBef>
                <a:spcPts val="900"/>
              </a:spcBef>
              <a:spcAft>
                <a:spcPts val="0"/>
              </a:spcAft>
              <a:buClr>
                <a:srgbClr val="29B5E8"/>
              </a:buClr>
              <a:buFont typeface="Arial"/>
              <a:buChar char="•"/>
            </a:pPr>
            <a:r>
              <a:rPr lang="en-US" sz="1500" dirty="0" b="1">
                <a:solidFill>
                  <a:srgbClr val="1F2937"/>
                </a:solidFill>
              </a:rPr>
              <a:t>Resource monitors</a:t>
            </a:r>
            <a:r>
              <a:rPr lang="en-US" sz="1500" dirty="0">
                <a:solidFill>
                  <a:srgbClr val="1F2937"/>
                </a:solidFill>
              </a:rPr>
              <a:t>: notify at 80%, suspend at 100%</a:t>
            </a:r>
            <a:endParaRPr lang="en-US" sz="1500" dirty="0"/>
          </a:p>
          <a:p>
            <a:pPr algn="l" marL="285750" indent="-285750">
              <a:lnSpc>
                <a:spcPct val="100000"/>
              </a:lnSpc>
              <a:spcBef>
                <a:spcPts val="900"/>
              </a:spcBef>
              <a:spcAft>
                <a:spcPts val="0"/>
              </a:spcAft>
              <a:buClr>
                <a:srgbClr val="29B5E8"/>
              </a:buClr>
              <a:buFont typeface="Arial"/>
              <a:buChar char="•"/>
            </a:pPr>
            <a:r>
              <a:rPr lang="en-US" sz="1500" dirty="0">
                <a:solidFill>
                  <a:srgbClr val="1F2937"/>
                </a:solidFill>
              </a:rPr>
              <a:t>Use </a:t>
            </a:r>
            <a:r>
              <a:rPr lang="en-US" sz="1500" dirty="0" b="1">
                <a:solidFill>
                  <a:srgbClr val="1F2937"/>
                </a:solidFill>
              </a:rPr>
              <a:t>TRANSIENT</a:t>
            </a:r>
            <a:r>
              <a:rPr lang="en-US" sz="1500" dirty="0">
                <a:solidFill>
                  <a:srgbClr val="1F2937"/>
                </a:solidFill>
              </a:rPr>
              <a:t> tables for re-creatable staging data (no Fail-safe)</a:t>
            </a:r>
            <a:endParaRPr lang="en-US" sz="1500" dirty="0"/>
          </a:p>
          <a:p>
            <a:pPr algn="l" marL="285750" indent="-285750">
              <a:lnSpc>
                <a:spcPct val="100000"/>
              </a:lnSpc>
              <a:spcBef>
                <a:spcPts val="900"/>
              </a:spcBef>
              <a:spcAft>
                <a:spcPts val="0"/>
              </a:spcAft>
              <a:buClr>
                <a:srgbClr val="29B5E8"/>
              </a:buClr>
              <a:buFont typeface="Arial"/>
              <a:buChar char="•"/>
            </a:pPr>
            <a:r>
              <a:rPr lang="en-US" sz="1500" dirty="0">
                <a:solidFill>
                  <a:srgbClr val="1F2937"/>
                </a:solidFill>
              </a:rPr>
              <a:t>Avoid </a:t>
            </a:r>
            <a:r>
              <a:rPr lang="en-US" sz="1425" dirty="0" b="1">
                <a:solidFill>
                  <a:srgbClr val="11567F"/>
                </a:solidFill>
                <a:latin typeface="Courier New"/>
                <a:cs typeface="Courier New"/>
              </a:rPr>
              <a:t>SELECT *</a:t>
            </a:r>
            <a:r>
              <a:rPr lang="en-US" sz="1500" dirty="0">
                <a:solidFill>
                  <a:srgbClr val="1F2937"/>
                </a:solidFill>
              </a:rPr>
              <a:t> on wide tables; filter on well-clustered columns</a:t>
            </a:r>
            <a:endParaRPr lang="en-US" sz="1500" dirty="0"/>
          </a:p>
          <a:p>
            <a:pPr algn="l" marL="285750" indent="-285750">
              <a:lnSpc>
                <a:spcPct val="100000"/>
              </a:lnSpc>
              <a:spcBef>
                <a:spcPts val="900"/>
              </a:spcBef>
              <a:spcAft>
                <a:spcPts val="0"/>
              </a:spcAft>
              <a:buClr>
                <a:srgbClr val="29B5E8"/>
              </a:buClr>
              <a:buFont typeface="Arial"/>
              <a:buChar char="•"/>
            </a:pPr>
            <a:r>
              <a:rPr lang="en-US" sz="1500" dirty="0">
                <a:solidFill>
                  <a:srgbClr val="1F2937"/>
                </a:solidFill>
              </a:rPr>
              <a:t>Review </a:t>
            </a:r>
            <a:r>
              <a:rPr lang="en-US" sz="1500" dirty="0" b="1">
                <a:solidFill>
                  <a:srgbClr val="1F2937"/>
                </a:solidFill>
              </a:rPr>
              <a:t>Admin → Cost management</a:t>
            </a:r>
            <a:r>
              <a:rPr lang="en-US" sz="1500" dirty="0">
                <a:solidFill>
                  <a:srgbClr val="1F2937"/>
                </a:solidFill>
              </a:rPr>
              <a:t> weekly</a:t>
            </a:r>
            <a:endParaRPr lang="en-US" sz="1500" dirty="0"/>
          </a:p>
        </p:txBody>
      </p:sp>
      <p:sp>
        <p:nvSpPr>
          <p:cNvPr id="10" name="Shape 10"/>
          <p:cNvSpPr/>
          <p:nvPr/>
        </p:nvSpPr>
        <p:spPr>
          <a:xfrm>
            <a:off x="6217920" y="1325880"/>
            <a:ext cx="544068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Guardrail: resource monitor</a:t>
            </a:r>
            <a:endParaRPr lang="en-US" sz="1100" dirty="0"/>
          </a:p>
        </p:txBody>
      </p:sp>
      <p:sp>
        <p:nvSpPr>
          <p:cNvPr id="11" name="Shape 11"/>
          <p:cNvSpPr/>
          <p:nvPr/>
        </p:nvSpPr>
        <p:spPr>
          <a:xfrm>
            <a:off x="6217920" y="1618488"/>
            <a:ext cx="5440680" cy="235915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050" dirty="0" b="1">
                <a:solidFill>
                  <a:srgbClr val="569CD6"/>
                </a:solidFill>
                <a:latin typeface="Courier New"/>
                <a:cs typeface="Courier New"/>
              </a:rPr>
              <a:t>USE</a:t>
            </a:r>
            <a:r>
              <a:rPr lang="en-US" sz="1050" dirty="0">
                <a:solidFill>
                  <a:srgbClr val="D4D4D4"/>
                </a:solidFill>
                <a:latin typeface="Courier New"/>
                <a:cs typeface="Courier New"/>
              </a:rPr>
              <a:t> </a:t>
            </a:r>
            <a:r>
              <a:rPr lang="en-US" sz="1050" dirty="0" b="1">
                <a:solidFill>
                  <a:srgbClr val="569CD6"/>
                </a:solidFill>
                <a:latin typeface="Courier New"/>
                <a:cs typeface="Courier New"/>
              </a:rPr>
              <a:t>ROLE</a:t>
            </a:r>
            <a:r>
              <a:rPr lang="en-US" sz="1050" dirty="0">
                <a:solidFill>
                  <a:srgbClr val="D4D4D4"/>
                </a:solidFill>
                <a:latin typeface="Courier New"/>
                <a:cs typeface="Courier New"/>
              </a:rPr>
              <a:t> </a:t>
            </a:r>
            <a:r>
              <a:rPr lang="en-US" sz="1050" dirty="0">
                <a:solidFill>
                  <a:srgbClr val="D4D4D4"/>
                </a:solidFill>
                <a:latin typeface="Courier New"/>
                <a:cs typeface="Courier New"/>
              </a:rPr>
              <a:t>ACCOUNTADMIN</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CREATE</a:t>
            </a:r>
            <a:r>
              <a:rPr lang="en-US" sz="1050" dirty="0">
                <a:solidFill>
                  <a:srgbClr val="D4D4D4"/>
                </a:solidFill>
                <a:latin typeface="Courier New"/>
                <a:cs typeface="Courier New"/>
              </a:rPr>
              <a:t> </a:t>
            </a:r>
            <a:r>
              <a:rPr lang="en-US" sz="1050" dirty="0" b="1">
                <a:solidFill>
                  <a:srgbClr val="569CD6"/>
                </a:solidFill>
                <a:latin typeface="Courier New"/>
                <a:cs typeface="Courier New"/>
              </a:rPr>
              <a:t>RESOURCE</a:t>
            </a:r>
            <a:r>
              <a:rPr lang="en-US" sz="1050" dirty="0">
                <a:solidFill>
                  <a:srgbClr val="D4D4D4"/>
                </a:solidFill>
                <a:latin typeface="Courier New"/>
                <a:cs typeface="Courier New"/>
              </a:rPr>
              <a:t> </a:t>
            </a:r>
            <a:r>
              <a:rPr lang="en-US" sz="1050" dirty="0" b="1">
                <a:solidFill>
                  <a:srgbClr val="569CD6"/>
                </a:solidFill>
                <a:latin typeface="Courier New"/>
                <a:cs typeface="Courier New"/>
              </a:rPr>
              <a:t>MONITOR</a:t>
            </a:r>
            <a:r>
              <a:rPr lang="en-US" sz="1050" dirty="0">
                <a:solidFill>
                  <a:srgbClr val="D4D4D4"/>
                </a:solidFill>
                <a:latin typeface="Courier New"/>
                <a:cs typeface="Courier New"/>
              </a:rPr>
              <a:t> </a:t>
            </a:r>
            <a:r>
              <a:rPr lang="en-US" sz="1050" dirty="0">
                <a:solidFill>
                  <a:srgbClr val="D4D4D4"/>
                </a:solidFill>
                <a:latin typeface="Courier New"/>
                <a:cs typeface="Courier New"/>
              </a:rPr>
              <a:t>monthly_cap</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b="1">
                <a:solidFill>
                  <a:srgbClr val="569CD6"/>
                </a:solidFill>
                <a:latin typeface="Courier New"/>
                <a:cs typeface="Courier New"/>
              </a:rPr>
              <a:t>WITH</a:t>
            </a:r>
            <a:r>
              <a:rPr lang="en-US" sz="1050" dirty="0">
                <a:solidFill>
                  <a:srgbClr val="D4D4D4"/>
                </a:solidFill>
                <a:latin typeface="Courier New"/>
                <a:cs typeface="Courier New"/>
              </a:rPr>
              <a:t> </a:t>
            </a:r>
            <a:r>
              <a:rPr lang="en-US" sz="1050" dirty="0">
                <a:solidFill>
                  <a:srgbClr val="D4D4D4"/>
                </a:solidFill>
                <a:latin typeface="Courier New"/>
                <a:cs typeface="Courier New"/>
              </a:rPr>
              <a:t>CREDIT_QUOTA</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1</a:t>
            </a:r>
            <a:r>
              <a:rPr lang="en-US" sz="1050" dirty="0">
                <a:solidFill>
                  <a:srgbClr val="D4D4D4"/>
                </a:solidFill>
                <a:latin typeface="Courier New"/>
                <a:cs typeface="Courier New"/>
              </a:rPr>
              <a:t>0</a:t>
            </a:r>
            <a:r>
              <a:rPr lang="en-US" sz="1050" dirty="0">
                <a:solidFill>
                  <a:srgbClr val="D4D4D4"/>
                </a:solidFill>
                <a:latin typeface="Courier New"/>
                <a:cs typeface="Courier New"/>
              </a:rPr>
              <a:t>0</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FREQUENCY</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MONTHLY</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a:solidFill>
                  <a:srgbClr val="D4D4D4"/>
                </a:solidFill>
                <a:latin typeface="Courier New"/>
                <a:cs typeface="Courier New"/>
              </a:rPr>
              <a:t>START_TIMESTAMP</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IMMEDIATELY</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b="1">
                <a:solidFill>
                  <a:srgbClr val="569CD6"/>
                </a:solidFill>
                <a:latin typeface="Courier New"/>
                <a:cs typeface="Courier New"/>
              </a:rPr>
              <a:t>TRIGGERS</a:t>
            </a:r>
            <a:r>
              <a:rPr lang="en-US" sz="1050" dirty="0">
                <a:solidFill>
                  <a:srgbClr val="D4D4D4"/>
                </a:solidFill>
                <a:latin typeface="Courier New"/>
                <a:cs typeface="Courier New"/>
              </a:rPr>
              <a:t> </a:t>
            </a:r>
            <a:r>
              <a:rPr lang="en-US" sz="1050" dirty="0" b="1">
                <a:solidFill>
                  <a:srgbClr val="569CD6"/>
                </a:solidFill>
                <a:latin typeface="Courier New"/>
                <a:cs typeface="Courier New"/>
              </a:rPr>
              <a:t>ON</a:t>
            </a:r>
            <a:r>
              <a:rPr lang="en-US" sz="1050" dirty="0">
                <a:solidFill>
                  <a:srgbClr val="D4D4D4"/>
                </a:solidFill>
                <a:latin typeface="Courier New"/>
                <a:cs typeface="Courier New"/>
              </a:rPr>
              <a:t> </a:t>
            </a:r>
            <a:r>
              <a:rPr lang="en-US" sz="1050" dirty="0">
                <a:solidFill>
                  <a:srgbClr val="D4D4D4"/>
                </a:solidFill>
                <a:latin typeface="Courier New"/>
                <a:cs typeface="Courier New"/>
              </a:rPr>
              <a:t>8</a:t>
            </a:r>
            <a:r>
              <a:rPr lang="en-US" sz="1050" dirty="0">
                <a:solidFill>
                  <a:srgbClr val="D4D4D4"/>
                </a:solidFill>
                <a:latin typeface="Courier New"/>
                <a:cs typeface="Courier New"/>
              </a:rPr>
              <a:t>0</a:t>
            </a:r>
            <a:r>
              <a:rPr lang="en-US" sz="1050" dirty="0">
                <a:solidFill>
                  <a:srgbClr val="D4D4D4"/>
                </a:solidFill>
                <a:latin typeface="Courier New"/>
                <a:cs typeface="Courier New"/>
              </a:rPr>
              <a:t>  </a:t>
            </a:r>
            <a:r>
              <a:rPr lang="en-US" sz="1050" dirty="0" b="1">
                <a:solidFill>
                  <a:srgbClr val="569CD6"/>
                </a:solidFill>
                <a:latin typeface="Courier New"/>
                <a:cs typeface="Courier New"/>
              </a:rPr>
              <a:t>PERCENT</a:t>
            </a:r>
            <a:r>
              <a:rPr lang="en-US" sz="1050" dirty="0">
                <a:solidFill>
                  <a:srgbClr val="D4D4D4"/>
                </a:solidFill>
                <a:latin typeface="Courier New"/>
                <a:cs typeface="Courier New"/>
              </a:rPr>
              <a:t> </a:t>
            </a:r>
            <a:r>
              <a:rPr lang="en-US" sz="1050" dirty="0" b="1">
                <a:solidFill>
                  <a:srgbClr val="569CD6"/>
                </a:solidFill>
                <a:latin typeface="Courier New"/>
                <a:cs typeface="Courier New"/>
              </a:rPr>
              <a:t>DO</a:t>
            </a:r>
            <a:r>
              <a:rPr lang="en-US" sz="1050" dirty="0">
                <a:solidFill>
                  <a:srgbClr val="D4D4D4"/>
                </a:solidFill>
                <a:latin typeface="Courier New"/>
                <a:cs typeface="Courier New"/>
              </a:rPr>
              <a:t> </a:t>
            </a:r>
            <a:r>
              <a:rPr lang="en-US" sz="1050" dirty="0" b="1">
                <a:solidFill>
                  <a:srgbClr val="569CD6"/>
                </a:solidFill>
                <a:latin typeface="Courier New"/>
                <a:cs typeface="Courier New"/>
              </a:rPr>
              <a:t>NOTIFY</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r>
              <a:rPr lang="en-US" sz="1050" dirty="0" b="1">
                <a:solidFill>
                  <a:srgbClr val="569CD6"/>
                </a:solidFill>
                <a:latin typeface="Courier New"/>
                <a:cs typeface="Courier New"/>
              </a:rPr>
              <a:t>ON</a:t>
            </a:r>
            <a:r>
              <a:rPr lang="en-US" sz="1050" dirty="0">
                <a:solidFill>
                  <a:srgbClr val="D4D4D4"/>
                </a:solidFill>
                <a:latin typeface="Courier New"/>
                <a:cs typeface="Courier New"/>
              </a:rPr>
              <a:t> </a:t>
            </a:r>
            <a:r>
              <a:rPr lang="en-US" sz="1050" dirty="0">
                <a:solidFill>
                  <a:srgbClr val="D4D4D4"/>
                </a:solidFill>
                <a:latin typeface="Courier New"/>
                <a:cs typeface="Courier New"/>
              </a:rPr>
              <a:t>1</a:t>
            </a:r>
            <a:r>
              <a:rPr lang="en-US" sz="1050" dirty="0">
                <a:solidFill>
                  <a:srgbClr val="D4D4D4"/>
                </a:solidFill>
                <a:latin typeface="Courier New"/>
                <a:cs typeface="Courier New"/>
              </a:rPr>
              <a:t>0</a:t>
            </a:r>
            <a:r>
              <a:rPr lang="en-US" sz="1050" dirty="0">
                <a:solidFill>
                  <a:srgbClr val="D4D4D4"/>
                </a:solidFill>
                <a:latin typeface="Courier New"/>
                <a:cs typeface="Courier New"/>
              </a:rPr>
              <a:t>0</a:t>
            </a:r>
            <a:r>
              <a:rPr lang="en-US" sz="1050" dirty="0">
                <a:solidFill>
                  <a:srgbClr val="D4D4D4"/>
                </a:solidFill>
                <a:latin typeface="Courier New"/>
                <a:cs typeface="Courier New"/>
              </a:rPr>
              <a:t> </a:t>
            </a:r>
            <a:r>
              <a:rPr lang="en-US" sz="1050" dirty="0" b="1">
                <a:solidFill>
                  <a:srgbClr val="569CD6"/>
                </a:solidFill>
                <a:latin typeface="Courier New"/>
                <a:cs typeface="Courier New"/>
              </a:rPr>
              <a:t>PERCENT</a:t>
            </a:r>
            <a:r>
              <a:rPr lang="en-US" sz="1050" dirty="0">
                <a:solidFill>
                  <a:srgbClr val="D4D4D4"/>
                </a:solidFill>
                <a:latin typeface="Courier New"/>
                <a:cs typeface="Courier New"/>
              </a:rPr>
              <a:t> </a:t>
            </a:r>
            <a:r>
              <a:rPr lang="en-US" sz="1050" dirty="0" b="1">
                <a:solidFill>
                  <a:srgbClr val="569CD6"/>
                </a:solidFill>
                <a:latin typeface="Courier New"/>
                <a:cs typeface="Courier New"/>
              </a:rPr>
              <a:t>DO</a:t>
            </a:r>
            <a:r>
              <a:rPr lang="en-US" sz="1050" dirty="0">
                <a:solidFill>
                  <a:srgbClr val="D4D4D4"/>
                </a:solidFill>
                <a:latin typeface="Courier New"/>
                <a:cs typeface="Courier New"/>
              </a:rPr>
              <a:t> </a:t>
            </a:r>
            <a:r>
              <a:rPr lang="en-US" sz="1050" dirty="0" b="1">
                <a:solidFill>
                  <a:srgbClr val="569CD6"/>
                </a:solidFill>
                <a:latin typeface="Courier New"/>
                <a:cs typeface="Courier New"/>
              </a:rPr>
              <a:t>SUSPEND</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a:solidFill>
                  <a:srgbClr val="D4D4D4"/>
                </a:solidFill>
                <a:latin typeface="Courier New"/>
                <a:cs typeface="Courier New"/>
              </a:rPr>
              <a:t> </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ALTER</a:t>
            </a:r>
            <a:r>
              <a:rPr lang="en-US" sz="1050" dirty="0">
                <a:solidFill>
                  <a:srgbClr val="D4D4D4"/>
                </a:solidFill>
                <a:latin typeface="Courier New"/>
                <a:cs typeface="Courier New"/>
              </a:rPr>
              <a:t> </a:t>
            </a:r>
            <a:r>
              <a:rPr lang="en-US" sz="1050" dirty="0" b="1">
                <a:solidFill>
                  <a:srgbClr val="569CD6"/>
                </a:solidFill>
                <a:latin typeface="Courier New"/>
                <a:cs typeface="Courier New"/>
              </a:rPr>
              <a:t>WAREHOUSE</a:t>
            </a:r>
            <a:r>
              <a:rPr lang="en-US" sz="1050" dirty="0">
                <a:solidFill>
                  <a:srgbClr val="D4D4D4"/>
                </a:solidFill>
                <a:latin typeface="Courier New"/>
                <a:cs typeface="Courier New"/>
              </a:rPr>
              <a:t> </a:t>
            </a:r>
            <a:r>
              <a:rPr lang="en-US" sz="1050" dirty="0">
                <a:solidFill>
                  <a:srgbClr val="D4D4D4"/>
                </a:solidFill>
                <a:latin typeface="Courier New"/>
                <a:cs typeface="Courier New"/>
              </a:rPr>
              <a:t>demo_wh</a:t>
            </a:r>
            <a:r>
              <a:rPr lang="en-US" sz="1050" dirty="0">
                <a:solidFill>
                  <a:srgbClr val="D4D4D4"/>
                </a:solidFill>
                <a:latin typeface="Courier New"/>
                <a:cs typeface="Courier New"/>
              </a:rPr>
              <a:t> </a:t>
            </a:r>
            <a:r>
              <a:rPr lang="en-US" sz="1050" dirty="0" b="1">
                <a:solidFill>
                  <a:srgbClr val="569CD6"/>
                </a:solidFill>
                <a:latin typeface="Courier New"/>
                <a:cs typeface="Courier New"/>
              </a:rPr>
              <a:t>SET</a:t>
            </a:r>
            <a:r>
              <a:rPr lang="en-US" sz="1050" dirty="0">
                <a:solidFill>
                  <a:srgbClr val="D4D4D4"/>
                </a:solidFill>
                <a:latin typeface="Courier New"/>
                <a:cs typeface="Courier New"/>
              </a:rPr>
              <a:t> </a:t>
            </a:r>
            <a:r>
              <a:rPr lang="en-US" sz="1050" dirty="0">
                <a:solidFill>
                  <a:srgbClr val="D4D4D4"/>
                </a:solidFill>
                <a:latin typeface="Courier New"/>
                <a:cs typeface="Courier New"/>
              </a:rPr>
              <a:t>RESOURCE_MONITOR</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monthly_cap</a:t>
            </a:r>
            <a:r>
              <a:rPr lang="en-US" sz="1050" dirty="0">
                <a:solidFill>
                  <a:srgbClr val="D4D4D4"/>
                </a:solidFill>
                <a:latin typeface="Courier New"/>
                <a:cs typeface="Courier New"/>
              </a:rPr>
              <a:t>;</a:t>
            </a:r>
            <a:endParaRPr lang="en-US" sz="1050" dirty="0"/>
          </a:p>
        </p:txBody>
      </p:sp>
      <p:sp>
        <p:nvSpPr>
          <p:cNvPr id="12" name="Shape 12"/>
          <p:cNvSpPr/>
          <p:nvPr/>
        </p:nvSpPr>
        <p:spPr>
          <a:xfrm>
            <a:off x="6217920" y="4160520"/>
            <a:ext cx="544068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Where did the credits go?</a:t>
            </a:r>
            <a:endParaRPr lang="en-US" sz="1100" dirty="0"/>
          </a:p>
        </p:txBody>
      </p:sp>
      <p:sp>
        <p:nvSpPr>
          <p:cNvPr id="13" name="Shape 13"/>
          <p:cNvSpPr/>
          <p:nvPr/>
        </p:nvSpPr>
        <p:spPr>
          <a:xfrm>
            <a:off x="6217920" y="4453128"/>
            <a:ext cx="5440680" cy="171907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050" dirty="0" i="1">
                <a:solidFill>
                  <a:srgbClr val="6A9955"/>
                </a:solidFill>
                <a:latin typeface="Courier New"/>
                <a:cs typeface="Courier New"/>
              </a:rPr>
              <a:t>-- Credits used per warehouse, last 7 days</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SELECT</a:t>
            </a:r>
            <a:r>
              <a:rPr lang="en-US" sz="1050" dirty="0">
                <a:solidFill>
                  <a:srgbClr val="D4D4D4"/>
                </a:solidFill>
                <a:latin typeface="Courier New"/>
                <a:cs typeface="Courier New"/>
              </a:rPr>
              <a:t> </a:t>
            </a:r>
            <a:r>
              <a:rPr lang="en-US" sz="1050" dirty="0">
                <a:solidFill>
                  <a:srgbClr val="D4D4D4"/>
                </a:solidFill>
                <a:latin typeface="Courier New"/>
                <a:cs typeface="Courier New"/>
              </a:rPr>
              <a:t>warehouse_name</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b="1">
                <a:solidFill>
                  <a:srgbClr val="569CD6"/>
                </a:solidFill>
                <a:latin typeface="Courier New"/>
                <a:cs typeface="Courier New"/>
              </a:rPr>
              <a:t>SUM</a:t>
            </a:r>
            <a:r>
              <a:rPr lang="en-US" sz="1050" dirty="0">
                <a:solidFill>
                  <a:srgbClr val="D4D4D4"/>
                </a:solidFill>
                <a:latin typeface="Courier New"/>
                <a:cs typeface="Courier New"/>
              </a:rPr>
              <a:t>(</a:t>
            </a:r>
            <a:r>
              <a:rPr lang="en-US" sz="1050" dirty="0">
                <a:solidFill>
                  <a:srgbClr val="D4D4D4"/>
                </a:solidFill>
                <a:latin typeface="Courier New"/>
                <a:cs typeface="Courier New"/>
              </a:rPr>
              <a:t>credits_used</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b="1">
                <a:solidFill>
                  <a:srgbClr val="569CD6"/>
                </a:solidFill>
                <a:latin typeface="Courier New"/>
                <a:cs typeface="Courier New"/>
              </a:rPr>
              <a:t>AS</a:t>
            </a:r>
            <a:r>
              <a:rPr lang="en-US" sz="1050" dirty="0">
                <a:solidFill>
                  <a:srgbClr val="D4D4D4"/>
                </a:solidFill>
                <a:latin typeface="Courier New"/>
                <a:cs typeface="Courier New"/>
              </a:rPr>
              <a:t> </a:t>
            </a:r>
            <a:r>
              <a:rPr lang="en-US" sz="1050" dirty="0">
                <a:solidFill>
                  <a:srgbClr val="D4D4D4"/>
                </a:solidFill>
                <a:latin typeface="Courier New"/>
                <a:cs typeface="Courier New"/>
              </a:rPr>
              <a:t>credits</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FROM</a:t>
            </a:r>
            <a:r>
              <a:rPr lang="en-US" sz="1050" dirty="0">
                <a:solidFill>
                  <a:srgbClr val="D4D4D4"/>
                </a:solidFill>
                <a:latin typeface="Courier New"/>
                <a:cs typeface="Courier New"/>
              </a:rPr>
              <a:t>   </a:t>
            </a:r>
            <a:r>
              <a:rPr lang="en-US" sz="1050" dirty="0">
                <a:solidFill>
                  <a:srgbClr val="D4D4D4"/>
                </a:solidFill>
                <a:latin typeface="Courier New"/>
                <a:cs typeface="Courier New"/>
              </a:rPr>
              <a:t>snowflake</a:t>
            </a:r>
            <a:r>
              <a:rPr lang="en-US" sz="1050" dirty="0">
                <a:solidFill>
                  <a:srgbClr val="D4D4D4"/>
                </a:solidFill>
                <a:latin typeface="Courier New"/>
                <a:cs typeface="Courier New"/>
              </a:rPr>
              <a:t>.</a:t>
            </a:r>
            <a:r>
              <a:rPr lang="en-US" sz="1050" dirty="0">
                <a:solidFill>
                  <a:srgbClr val="D4D4D4"/>
                </a:solidFill>
                <a:latin typeface="Courier New"/>
                <a:cs typeface="Courier New"/>
              </a:rPr>
              <a:t>account_usage</a:t>
            </a:r>
            <a:r>
              <a:rPr lang="en-US" sz="1050" dirty="0">
                <a:solidFill>
                  <a:srgbClr val="D4D4D4"/>
                </a:solidFill>
                <a:latin typeface="Courier New"/>
                <a:cs typeface="Courier New"/>
              </a:rPr>
              <a:t>.</a:t>
            </a:r>
            <a:r>
              <a:rPr lang="en-US" sz="1050" dirty="0">
                <a:solidFill>
                  <a:srgbClr val="D4D4D4"/>
                </a:solidFill>
                <a:latin typeface="Courier New"/>
                <a:cs typeface="Courier New"/>
              </a:rPr>
              <a:t>warehouse_metering_history</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WHERE</a:t>
            </a:r>
            <a:r>
              <a:rPr lang="en-US" sz="1050" dirty="0">
                <a:solidFill>
                  <a:srgbClr val="D4D4D4"/>
                </a:solidFill>
                <a:latin typeface="Courier New"/>
                <a:cs typeface="Courier New"/>
              </a:rPr>
              <a:t>  </a:t>
            </a:r>
            <a:r>
              <a:rPr lang="en-US" sz="1050" dirty="0">
                <a:solidFill>
                  <a:srgbClr val="D4D4D4"/>
                </a:solidFill>
                <a:latin typeface="Courier New"/>
                <a:cs typeface="Courier New"/>
              </a:rPr>
              <a:t>start_time</a:t>
            </a:r>
            <a:r>
              <a:rPr lang="en-US" sz="1050" dirty="0">
                <a:solidFill>
                  <a:srgbClr val="D4D4D4"/>
                </a:solidFill>
                <a:latin typeface="Courier New"/>
                <a:cs typeface="Courier New"/>
              </a:rPr>
              <a:t> </a:t>
            </a:r>
            <a:r>
              <a:rPr lang="en-US" sz="1050" dirty="0">
                <a:solidFill>
                  <a:srgbClr val="D4D4D4"/>
                </a:solidFill>
                <a:latin typeface="Courier New"/>
                <a:cs typeface="Courier New"/>
              </a:rPr>
              <a:t>&gt;</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DATEADD</a:t>
            </a:r>
            <a:r>
              <a:rPr lang="en-US" sz="1050" dirty="0">
                <a:solidFill>
                  <a:srgbClr val="D4D4D4"/>
                </a:solidFill>
                <a:latin typeface="Courier New"/>
                <a:cs typeface="Courier New"/>
              </a:rPr>
              <a:t>(</a:t>
            </a:r>
            <a:r>
              <a:rPr lang="en-US" sz="1050" dirty="0">
                <a:solidFill>
                  <a:srgbClr val="D4D4D4"/>
                </a:solidFill>
                <a:latin typeface="Courier New"/>
                <a:cs typeface="Courier New"/>
              </a:rPr>
              <a:t>day</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a:t>
            </a:r>
            <a:r>
              <a:rPr lang="en-US" sz="1050" dirty="0">
                <a:solidFill>
                  <a:srgbClr val="D4D4D4"/>
                </a:solidFill>
                <a:latin typeface="Courier New"/>
                <a:cs typeface="Courier New"/>
              </a:rPr>
              <a:t>7</a:t>
            </a:r>
            <a:r>
              <a:rPr lang="en-US" sz="1050" dirty="0">
                <a:solidFill>
                  <a:srgbClr val="D4D4D4"/>
                </a:solidFill>
                <a:latin typeface="Courier New"/>
                <a:cs typeface="Courier New"/>
              </a:rPr>
              <a:t>,</a:t>
            </a:r>
            <a:r>
              <a:rPr lang="en-US" sz="1050" dirty="0">
                <a:solidFill>
                  <a:srgbClr val="D4D4D4"/>
                </a:solidFill>
                <a:latin typeface="Courier New"/>
                <a:cs typeface="Courier New"/>
              </a:rPr>
              <a:t> </a:t>
            </a:r>
            <a:r>
              <a:rPr lang="en-US" sz="1050" dirty="0">
                <a:solidFill>
                  <a:srgbClr val="D4D4D4"/>
                </a:solidFill>
                <a:latin typeface="Courier New"/>
                <a:cs typeface="Courier New"/>
              </a:rPr>
              <a:t>CURRENT_TIMESTAMP</a:t>
            </a:r>
            <a:r>
              <a:rPr lang="en-US" sz="1050" dirty="0">
                <a:solidFill>
                  <a:srgbClr val="D4D4D4"/>
                </a:solidFill>
                <a:latin typeface="Courier New"/>
                <a:cs typeface="Courier New"/>
              </a:rPr>
              <a:t>(</a:t>
            </a:r>
            <a:r>
              <a:rPr lang="en-US" sz="1050" dirty="0">
                <a:solidFill>
                  <a:srgbClr val="D4D4D4"/>
                </a:solidFill>
                <a:latin typeface="Courier New"/>
                <a:cs typeface="Courier New"/>
              </a:rPr>
              <a:t>)</a:t>
            </a:r>
            <a:r>
              <a:rPr lang="en-US" sz="1050" dirty="0">
                <a:solidFill>
                  <a:srgbClr val="D4D4D4"/>
                </a:solidFill>
                <a:latin typeface="Courier New"/>
                <a:cs typeface="Courier New"/>
              </a:rPr>
              <a:t>)</a:t>
            </a:r>
            <a:endParaRPr lang="en-US" sz="1050" dirty="0"/>
          </a:p>
          <a:p>
            <a:pPr algn="l">
              <a:lnSpc>
                <a:spcPct val="100000"/>
              </a:lnSpc>
              <a:spcBef>
                <a:spcPts val="0"/>
              </a:spcBef>
              <a:spcAft>
                <a:spcPts val="0"/>
              </a:spcAft>
              <a:buNone/>
            </a:pPr>
            <a:r>
              <a:rPr lang="en-US" sz="1050" dirty="0" b="1">
                <a:solidFill>
                  <a:srgbClr val="569CD6"/>
                </a:solidFill>
                <a:latin typeface="Courier New"/>
                <a:cs typeface="Courier New"/>
              </a:rPr>
              <a:t>GROUP</a:t>
            </a:r>
            <a:r>
              <a:rPr lang="en-US" sz="1050" dirty="0">
                <a:solidFill>
                  <a:srgbClr val="D4D4D4"/>
                </a:solidFill>
                <a:latin typeface="Courier New"/>
                <a:cs typeface="Courier New"/>
              </a:rPr>
              <a:t>  </a:t>
            </a:r>
            <a:r>
              <a:rPr lang="en-US" sz="1050" dirty="0" b="1">
                <a:solidFill>
                  <a:srgbClr val="569CD6"/>
                </a:solidFill>
                <a:latin typeface="Courier New"/>
                <a:cs typeface="Courier New"/>
              </a:rPr>
              <a:t>BY</a:t>
            </a:r>
            <a:r>
              <a:rPr lang="en-US" sz="1050" dirty="0">
                <a:solidFill>
                  <a:srgbClr val="D4D4D4"/>
                </a:solidFill>
                <a:latin typeface="Courier New"/>
                <a:cs typeface="Courier New"/>
              </a:rPr>
              <a:t> </a:t>
            </a:r>
            <a:r>
              <a:rPr lang="en-US" sz="1050" dirty="0">
                <a:solidFill>
                  <a:srgbClr val="D4D4D4"/>
                </a:solidFill>
                <a:latin typeface="Courier New"/>
                <a:cs typeface="Courier New"/>
              </a:rPr>
              <a:t>1</a:t>
            </a:r>
            <a:r>
              <a:rPr lang="en-US" sz="1050" dirty="0">
                <a:solidFill>
                  <a:srgbClr val="D4D4D4"/>
                </a:solidFill>
                <a:latin typeface="Courier New"/>
                <a:cs typeface="Courier New"/>
              </a:rPr>
              <a:t> </a:t>
            </a:r>
            <a:r>
              <a:rPr lang="en-US" sz="1050" dirty="0" b="1">
                <a:solidFill>
                  <a:srgbClr val="569CD6"/>
                </a:solidFill>
                <a:latin typeface="Courier New"/>
                <a:cs typeface="Courier New"/>
              </a:rPr>
              <a:t>ORDER</a:t>
            </a:r>
            <a:r>
              <a:rPr lang="en-US" sz="1050" dirty="0">
                <a:solidFill>
                  <a:srgbClr val="D4D4D4"/>
                </a:solidFill>
                <a:latin typeface="Courier New"/>
                <a:cs typeface="Courier New"/>
              </a:rPr>
              <a:t> </a:t>
            </a:r>
            <a:r>
              <a:rPr lang="en-US" sz="1050" dirty="0" b="1">
                <a:solidFill>
                  <a:srgbClr val="569CD6"/>
                </a:solidFill>
                <a:latin typeface="Courier New"/>
                <a:cs typeface="Courier New"/>
              </a:rPr>
              <a:t>BY</a:t>
            </a:r>
            <a:r>
              <a:rPr lang="en-US" sz="1050" dirty="0">
                <a:solidFill>
                  <a:srgbClr val="D4D4D4"/>
                </a:solidFill>
                <a:latin typeface="Courier New"/>
                <a:cs typeface="Courier New"/>
              </a:rPr>
              <a:t> </a:t>
            </a:r>
            <a:r>
              <a:rPr lang="en-US" sz="1050" dirty="0">
                <a:solidFill>
                  <a:srgbClr val="D4D4D4"/>
                </a:solidFill>
                <a:latin typeface="Courier New"/>
                <a:cs typeface="Courier New"/>
              </a:rPr>
              <a:t>2</a:t>
            </a:r>
            <a:r>
              <a:rPr lang="en-US" sz="1050" dirty="0">
                <a:solidFill>
                  <a:srgbClr val="D4D4D4"/>
                </a:solidFill>
                <a:latin typeface="Courier New"/>
                <a:cs typeface="Courier New"/>
              </a:rPr>
              <a:t> </a:t>
            </a:r>
            <a:r>
              <a:rPr lang="en-US" sz="1050" dirty="0" b="1">
                <a:solidFill>
                  <a:srgbClr val="569CD6"/>
                </a:solidFill>
                <a:latin typeface="Courier New"/>
                <a:cs typeface="Courier New"/>
              </a:rPr>
              <a:t>DESC</a:t>
            </a:r>
            <a:r>
              <a:rPr lang="en-US" sz="1050" dirty="0">
                <a:solidFill>
                  <a:srgbClr val="D4D4D4"/>
                </a:solidFill>
                <a:latin typeface="Courier New"/>
                <a:cs typeface="Courier New"/>
              </a:rPr>
              <a:t>;</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Common Mistakes &amp; Edge Cases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Symptoms you'll see and how to fix them</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23 / 26</a:t>
            </a:r>
            <a:endParaRPr lang="en-US" sz="1000" dirty="0"/>
          </a:p>
        </p:txBody>
      </p:sp>
      <p:sp>
        <p:nvSpPr>
          <p:cNvPr id="9" name="Shape 9"/>
          <p:cNvSpPr/>
          <p:nvPr/>
        </p:nvSpPr>
        <p:spPr>
          <a:xfrm>
            <a:off x="548640" y="1325880"/>
            <a:ext cx="3063240" cy="484632"/>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FFFFFF"/>
                </a:solidFill>
              </a:rPr>
              <a:t>Mistake</a:t>
            </a:r>
            <a:endParaRPr lang="en-US" sz="1250" dirty="0"/>
          </a:p>
        </p:txBody>
      </p:sp>
      <p:sp>
        <p:nvSpPr>
          <p:cNvPr id="10" name="Shape 10"/>
          <p:cNvSpPr/>
          <p:nvPr/>
        </p:nvSpPr>
        <p:spPr>
          <a:xfrm>
            <a:off x="3611880" y="1325880"/>
            <a:ext cx="3749040" cy="484632"/>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FFFFFF"/>
                </a:solidFill>
              </a:rPr>
              <a:t>Symptom</a:t>
            </a:r>
            <a:endParaRPr lang="en-US" sz="1250" dirty="0"/>
          </a:p>
        </p:txBody>
      </p:sp>
      <p:sp>
        <p:nvSpPr>
          <p:cNvPr id="11" name="Shape 11"/>
          <p:cNvSpPr/>
          <p:nvPr/>
        </p:nvSpPr>
        <p:spPr>
          <a:xfrm>
            <a:off x="7360920" y="1325880"/>
            <a:ext cx="4297680" cy="484632"/>
          </a:xfrm>
          <a:prstGeom prst="rect">
            <a:avLst/>
          </a:prstGeom>
          <a:solidFill>
            <a:srgbClr val="11567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FFFFFF"/>
                </a:solidFill>
              </a:rPr>
              <a:t>Fix</a:t>
            </a:r>
            <a:endParaRPr lang="en-US" sz="1250" dirty="0"/>
          </a:p>
        </p:txBody>
      </p:sp>
      <p:sp>
        <p:nvSpPr>
          <p:cNvPr id="12" name="Shape 12"/>
          <p:cNvSpPr/>
          <p:nvPr/>
        </p:nvSpPr>
        <p:spPr>
          <a:xfrm>
            <a:off x="548640" y="1810512"/>
            <a:ext cx="306324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No warehouse in session</a:t>
            </a:r>
            <a:endParaRPr lang="en-US" sz="1250" dirty="0"/>
          </a:p>
        </p:txBody>
      </p:sp>
      <p:sp>
        <p:nvSpPr>
          <p:cNvPr id="13" name="Shape 13"/>
          <p:cNvSpPr/>
          <p:nvPr/>
        </p:nvSpPr>
        <p:spPr>
          <a:xfrm>
            <a:off x="3611880" y="1810512"/>
            <a:ext cx="374904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No active warehouse selected</a:t>
            </a:r>
            <a:endParaRPr lang="en-US" sz="1250" dirty="0"/>
          </a:p>
        </p:txBody>
      </p:sp>
      <p:sp>
        <p:nvSpPr>
          <p:cNvPr id="14" name="Shape 14"/>
          <p:cNvSpPr/>
          <p:nvPr/>
        </p:nvSpPr>
        <p:spPr>
          <a:xfrm>
            <a:off x="7360920" y="1810512"/>
            <a:ext cx="429768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87" dirty="0" b="1">
                <a:solidFill>
                  <a:srgbClr val="11567F"/>
                </a:solidFill>
                <a:latin typeface="Courier New"/>
                <a:cs typeface="Courier New"/>
              </a:rPr>
              <a:t>USE WAREHOUSE</a:t>
            </a:r>
            <a:r>
              <a:rPr lang="en-US" sz="1250" dirty="0">
                <a:solidFill>
                  <a:srgbClr val="1F2937"/>
                </a:solidFill>
              </a:rPr>
              <a:t>; set DEFAULT_WAREHOUSE</a:t>
            </a:r>
            <a:endParaRPr lang="en-US" sz="1250" dirty="0"/>
          </a:p>
        </p:txBody>
      </p:sp>
      <p:sp>
        <p:nvSpPr>
          <p:cNvPr id="15" name="Shape 15"/>
          <p:cNvSpPr/>
          <p:nvPr/>
        </p:nvSpPr>
        <p:spPr>
          <a:xfrm>
            <a:off x="548640" y="2295144"/>
            <a:ext cx="3063240" cy="48463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Wrong / weak role</a:t>
            </a:r>
            <a:endParaRPr lang="en-US" sz="1250" dirty="0"/>
          </a:p>
        </p:txBody>
      </p:sp>
      <p:sp>
        <p:nvSpPr>
          <p:cNvPr id="16" name="Shape 16"/>
          <p:cNvSpPr/>
          <p:nvPr/>
        </p:nvSpPr>
        <p:spPr>
          <a:xfrm>
            <a:off x="3611880" y="2295144"/>
            <a:ext cx="3749040" cy="48463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Object does not exist or not authorized</a:t>
            </a:r>
            <a:endParaRPr lang="en-US" sz="1250" dirty="0"/>
          </a:p>
        </p:txBody>
      </p:sp>
      <p:sp>
        <p:nvSpPr>
          <p:cNvPr id="17" name="Shape 17"/>
          <p:cNvSpPr/>
          <p:nvPr/>
        </p:nvSpPr>
        <p:spPr>
          <a:xfrm>
            <a:off x="7360920" y="2295144"/>
            <a:ext cx="4297680" cy="48463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87" dirty="0" b="1">
                <a:solidFill>
                  <a:srgbClr val="11567F"/>
                </a:solidFill>
                <a:latin typeface="Courier New"/>
                <a:cs typeface="Courier New"/>
              </a:rPr>
              <a:t>USE ROLE …</a:t>
            </a:r>
            <a:r>
              <a:rPr lang="en-US" sz="1250" dirty="0">
                <a:solidFill>
                  <a:srgbClr val="1F2937"/>
                </a:solidFill>
              </a:rPr>
              <a:t>; </a:t>
            </a:r>
            <a:r>
              <a:rPr lang="en-US" sz="1187" dirty="0" b="1">
                <a:solidFill>
                  <a:srgbClr val="11567F"/>
                </a:solidFill>
                <a:latin typeface="Courier New"/>
                <a:cs typeface="Courier New"/>
              </a:rPr>
              <a:t>SHOW GRANTS</a:t>
            </a:r>
            <a:endParaRPr lang="en-US" sz="1250" dirty="0"/>
          </a:p>
        </p:txBody>
      </p:sp>
      <p:sp>
        <p:nvSpPr>
          <p:cNvPr id="18" name="Shape 18"/>
          <p:cNvSpPr/>
          <p:nvPr/>
        </p:nvSpPr>
        <p:spPr>
          <a:xfrm>
            <a:off x="548640" y="2779776"/>
            <a:ext cx="306324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Quoted identifiers</a:t>
            </a:r>
            <a:endParaRPr lang="en-US" sz="1250" dirty="0"/>
          </a:p>
        </p:txBody>
      </p:sp>
      <p:sp>
        <p:nvSpPr>
          <p:cNvPr id="19" name="Shape 19"/>
          <p:cNvSpPr/>
          <p:nvPr/>
        </p:nvSpPr>
        <p:spPr>
          <a:xfrm>
            <a:off x="3611880" y="2779776"/>
            <a:ext cx="374904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"orders" ≠ ORDERS: table not found</a:t>
            </a:r>
            <a:endParaRPr lang="en-US" sz="1250" dirty="0"/>
          </a:p>
        </p:txBody>
      </p:sp>
      <p:sp>
        <p:nvSpPr>
          <p:cNvPr id="20" name="Shape 20"/>
          <p:cNvSpPr/>
          <p:nvPr/>
        </p:nvSpPr>
        <p:spPr>
          <a:xfrm>
            <a:off x="7360920" y="2779776"/>
            <a:ext cx="429768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Don't quote names; use UPPER/unquoted</a:t>
            </a:r>
            <a:endParaRPr lang="en-US" sz="1250" dirty="0"/>
          </a:p>
        </p:txBody>
      </p:sp>
      <p:sp>
        <p:nvSpPr>
          <p:cNvPr id="21" name="Shape 21"/>
          <p:cNvSpPr/>
          <p:nvPr/>
        </p:nvSpPr>
        <p:spPr>
          <a:xfrm>
            <a:off x="548640" y="3264408"/>
            <a:ext cx="3063240" cy="48463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CREATE OR REPLACE on real data</a:t>
            </a:r>
            <a:endParaRPr lang="en-US" sz="1250" dirty="0"/>
          </a:p>
        </p:txBody>
      </p:sp>
      <p:sp>
        <p:nvSpPr>
          <p:cNvPr id="22" name="Shape 22"/>
          <p:cNvSpPr/>
          <p:nvPr/>
        </p:nvSpPr>
        <p:spPr>
          <a:xfrm>
            <a:off x="3611880" y="3264408"/>
            <a:ext cx="3749040" cy="48463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Table silently emptied</a:t>
            </a:r>
            <a:endParaRPr lang="en-US" sz="1250" dirty="0"/>
          </a:p>
        </p:txBody>
      </p:sp>
      <p:sp>
        <p:nvSpPr>
          <p:cNvPr id="23" name="Shape 23"/>
          <p:cNvSpPr/>
          <p:nvPr/>
        </p:nvSpPr>
        <p:spPr>
          <a:xfrm>
            <a:off x="7360920" y="3264408"/>
            <a:ext cx="4297680" cy="48463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187" dirty="0" b="1">
                <a:solidFill>
                  <a:srgbClr val="11567F"/>
                </a:solidFill>
                <a:latin typeface="Courier New"/>
                <a:cs typeface="Courier New"/>
              </a:rPr>
              <a:t>IF NOT EXISTS</a:t>
            </a:r>
            <a:r>
              <a:rPr lang="en-US" sz="1250" dirty="0">
                <a:solidFill>
                  <a:srgbClr val="1F2937"/>
                </a:solidFill>
              </a:rPr>
              <a:t>; recover with Time Travel</a:t>
            </a:r>
            <a:endParaRPr lang="en-US" sz="1250" dirty="0"/>
          </a:p>
        </p:txBody>
      </p:sp>
      <p:sp>
        <p:nvSpPr>
          <p:cNvPr id="24" name="Shape 24"/>
          <p:cNvSpPr/>
          <p:nvPr/>
        </p:nvSpPr>
        <p:spPr>
          <a:xfrm>
            <a:off x="548640" y="3749040"/>
            <a:ext cx="306324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Re-running COPY</a:t>
            </a:r>
            <a:endParaRPr lang="en-US" sz="1250" dirty="0"/>
          </a:p>
        </p:txBody>
      </p:sp>
      <p:sp>
        <p:nvSpPr>
          <p:cNvPr id="25" name="Shape 25"/>
          <p:cNvSpPr/>
          <p:nvPr/>
        </p:nvSpPr>
        <p:spPr>
          <a:xfrm>
            <a:off x="3611880" y="3749040"/>
            <a:ext cx="374904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0 rows / LOAD_SKIPPED</a:t>
            </a:r>
            <a:endParaRPr lang="en-US" sz="1250" dirty="0"/>
          </a:p>
        </p:txBody>
      </p:sp>
      <p:sp>
        <p:nvSpPr>
          <p:cNvPr id="26" name="Shape 26"/>
          <p:cNvSpPr/>
          <p:nvPr/>
        </p:nvSpPr>
        <p:spPr>
          <a:xfrm>
            <a:off x="7360920" y="3749040"/>
            <a:ext cx="429768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64-day load metadata; </a:t>
            </a:r>
            <a:r>
              <a:rPr lang="en-US" sz="1187" dirty="0" b="1">
                <a:solidFill>
                  <a:srgbClr val="11567F"/>
                </a:solidFill>
                <a:latin typeface="Courier New"/>
                <a:cs typeface="Courier New"/>
              </a:rPr>
              <a:t>FORCE = TRUE</a:t>
            </a:r>
            <a:r>
              <a:rPr lang="en-US" sz="1250" dirty="0">
                <a:solidFill>
                  <a:srgbClr val="1F2937"/>
                </a:solidFill>
              </a:rPr>
              <a:t> with care</a:t>
            </a:r>
            <a:endParaRPr lang="en-US" sz="1250" dirty="0"/>
          </a:p>
        </p:txBody>
      </p:sp>
      <p:sp>
        <p:nvSpPr>
          <p:cNvPr id="27" name="Shape 27"/>
          <p:cNvSpPr/>
          <p:nvPr/>
        </p:nvSpPr>
        <p:spPr>
          <a:xfrm>
            <a:off x="548640" y="4233672"/>
            <a:ext cx="3063240" cy="48463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PUT in Snowsight</a:t>
            </a:r>
            <a:endParaRPr lang="en-US" sz="1250" dirty="0"/>
          </a:p>
        </p:txBody>
      </p:sp>
      <p:sp>
        <p:nvSpPr>
          <p:cNvPr id="28" name="Shape 28"/>
          <p:cNvSpPr/>
          <p:nvPr/>
        </p:nvSpPr>
        <p:spPr>
          <a:xfrm>
            <a:off x="3611880" y="4233672"/>
            <a:ext cx="3749040" cy="48463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Statement not supported</a:t>
            </a:r>
            <a:endParaRPr lang="en-US" sz="1250" dirty="0"/>
          </a:p>
        </p:txBody>
      </p:sp>
      <p:sp>
        <p:nvSpPr>
          <p:cNvPr id="29" name="Shape 29"/>
          <p:cNvSpPr/>
          <p:nvPr/>
        </p:nvSpPr>
        <p:spPr>
          <a:xfrm>
            <a:off x="7360920" y="4233672"/>
            <a:ext cx="4297680" cy="48463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Use Snowflake CLI / SnowSQL or Load Data UI</a:t>
            </a:r>
            <a:endParaRPr lang="en-US" sz="1250" dirty="0"/>
          </a:p>
        </p:txBody>
      </p:sp>
      <p:sp>
        <p:nvSpPr>
          <p:cNvPr id="30" name="Shape 30"/>
          <p:cNvSpPr/>
          <p:nvPr/>
        </p:nvSpPr>
        <p:spPr>
          <a:xfrm>
            <a:off x="548640" y="4718304"/>
            <a:ext cx="306324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Warehouse never idles</a:t>
            </a:r>
            <a:endParaRPr lang="en-US" sz="1250" dirty="0"/>
          </a:p>
        </p:txBody>
      </p:sp>
      <p:sp>
        <p:nvSpPr>
          <p:cNvPr id="31" name="Shape 31"/>
          <p:cNvSpPr/>
          <p:nvPr/>
        </p:nvSpPr>
        <p:spPr>
          <a:xfrm>
            <a:off x="3611880" y="4718304"/>
            <a:ext cx="374904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Unexpected credit burn</a:t>
            </a:r>
            <a:endParaRPr lang="en-US" sz="1250" dirty="0"/>
          </a:p>
        </p:txBody>
      </p:sp>
      <p:sp>
        <p:nvSpPr>
          <p:cNvPr id="32" name="Shape 32"/>
          <p:cNvSpPr/>
          <p:nvPr/>
        </p:nvSpPr>
        <p:spPr>
          <a:xfrm>
            <a:off x="7360920" y="4718304"/>
            <a:ext cx="429768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AUTO_SUSPEND + resource monitor</a:t>
            </a:r>
            <a:endParaRPr lang="en-US" sz="1250" dirty="0"/>
          </a:p>
        </p:txBody>
      </p:sp>
      <p:sp>
        <p:nvSpPr>
          <p:cNvPr id="33" name="Shape 33"/>
          <p:cNvSpPr/>
          <p:nvPr/>
        </p:nvSpPr>
        <p:spPr>
          <a:xfrm>
            <a:off x="548640" y="5202936"/>
            <a:ext cx="3063240" cy="48463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Daily work as ACCOUNTADMIN</a:t>
            </a:r>
            <a:endParaRPr lang="en-US" sz="1250" dirty="0"/>
          </a:p>
        </p:txBody>
      </p:sp>
      <p:sp>
        <p:nvSpPr>
          <p:cNvPr id="34" name="Shape 34"/>
          <p:cNvSpPr/>
          <p:nvPr/>
        </p:nvSpPr>
        <p:spPr>
          <a:xfrm>
            <a:off x="3611880" y="5202936"/>
            <a:ext cx="3749040" cy="48463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Objects owned by wrong role</a:t>
            </a:r>
            <a:endParaRPr lang="en-US" sz="1250" dirty="0"/>
          </a:p>
        </p:txBody>
      </p:sp>
      <p:sp>
        <p:nvSpPr>
          <p:cNvPr id="35" name="Shape 35"/>
          <p:cNvSpPr/>
          <p:nvPr/>
        </p:nvSpPr>
        <p:spPr>
          <a:xfrm>
            <a:off x="7360920" y="5202936"/>
            <a:ext cx="4297680" cy="484632"/>
          </a:xfrm>
          <a:prstGeom prst="rect">
            <a:avLst/>
          </a:prstGeom>
          <a:solidFill>
            <a:srgbClr val="EAF6FC"/>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Use SYSADMIN / custom roles</a:t>
            </a:r>
            <a:endParaRPr lang="en-US" sz="1250" dirty="0"/>
          </a:p>
        </p:txBody>
      </p:sp>
      <p:sp>
        <p:nvSpPr>
          <p:cNvPr id="36" name="Shape 36"/>
          <p:cNvSpPr/>
          <p:nvPr/>
        </p:nvSpPr>
        <p:spPr>
          <a:xfrm>
            <a:off x="548640" y="5687568"/>
            <a:ext cx="306324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b="1">
                <a:solidFill>
                  <a:srgbClr val="1F2937"/>
                </a:solidFill>
              </a:rPr>
              <a:t>Timestamp type mix-ups</a:t>
            </a:r>
            <a:endParaRPr lang="en-US" sz="1250" dirty="0"/>
          </a:p>
        </p:txBody>
      </p:sp>
      <p:sp>
        <p:nvSpPr>
          <p:cNvPr id="37" name="Shape 37"/>
          <p:cNvSpPr/>
          <p:nvPr/>
        </p:nvSpPr>
        <p:spPr>
          <a:xfrm>
            <a:off x="3611880" y="5687568"/>
            <a:ext cx="374904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Times shifted by hours</a:t>
            </a:r>
            <a:endParaRPr lang="en-US" sz="1250" dirty="0"/>
          </a:p>
        </p:txBody>
      </p:sp>
      <p:sp>
        <p:nvSpPr>
          <p:cNvPr id="38" name="Shape 38"/>
          <p:cNvSpPr/>
          <p:nvPr/>
        </p:nvSpPr>
        <p:spPr>
          <a:xfrm>
            <a:off x="7360920" y="5687568"/>
            <a:ext cx="4297680" cy="484632"/>
          </a:xfrm>
          <a:prstGeom prst="rect">
            <a:avLst/>
          </a:prstGeom>
          <a:solidFill>
            <a:srgbClr val="FFFFFF"/>
          </a:solidFill>
          <a:ln w="9525">
            <a:solidFill>
              <a:srgbClr val="D1D5DB"/>
            </a:solidFill>
          </a:ln>
        </p:spPr>
        <p:txBody>
          <a:bodyPr wrap="square" lIns="73152" tIns="73152" rIns="73152" bIns="73152" anchor="ctr" rtlCol="0">
            <a:noAutofit/>
          </a:bodyPr>
          <a:lstStyle/>
          <a:p>
            <a:pPr algn="l">
              <a:lnSpc>
                <a:spcPct val="100000"/>
              </a:lnSpc>
              <a:spcBef>
                <a:spcPts val="0"/>
              </a:spcBef>
              <a:spcAft>
                <a:spcPts val="0"/>
              </a:spcAft>
              <a:buNone/>
            </a:pPr>
            <a:r>
              <a:rPr lang="en-US" sz="1250" dirty="0">
                <a:solidFill>
                  <a:srgbClr val="1F2937"/>
                </a:solidFill>
              </a:rPr>
              <a:t>Choose NTZ / LTZ / TZ deliberately</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Tutorials &amp; Next Steps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Suggested learning path from the Getting Started section</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24 / 26</a:t>
            </a:r>
            <a:endParaRPr lang="en-US" sz="1000" dirty="0"/>
          </a:p>
        </p:txBody>
      </p:sp>
      <p:sp>
        <p:nvSpPr>
          <p:cNvPr id="9" name="Shape 9"/>
          <p:cNvSpPr/>
          <p:nvPr/>
        </p:nvSpPr>
        <p:spPr>
          <a:xfrm>
            <a:off x="548640" y="1325880"/>
            <a:ext cx="594360" cy="594360"/>
          </a:xfrm>
          <a:prstGeom prst="ellipse">
            <a:avLst/>
          </a:prstGeom>
          <a:solidFill>
            <a:srgbClr val="29B5E8"/>
          </a:solidFill>
          <a:ln>
            <a:noFill/>
          </a:ln>
        </p:spPr>
        <p:txBody>
          <a:bodyPr wrap="square" lIns="0" tIns="0" rIns="0" bIns="0" anchor="ctr" rtlCol="0">
            <a:noAutofit/>
          </a:bodyPr>
          <a:lstStyle/>
          <a:p>
            <a:pPr algn="ctr">
              <a:lnSpc>
                <a:spcPct val="100000"/>
              </a:lnSpc>
              <a:spcBef>
                <a:spcPts val="0"/>
              </a:spcBef>
              <a:spcAft>
                <a:spcPts val="0"/>
              </a:spcAft>
              <a:buNone/>
            </a:pPr>
            <a:r>
              <a:rPr lang="en-US" sz="1800" dirty="0" b="1">
                <a:solidFill>
                  <a:srgbClr val="FFFFFF"/>
                </a:solidFill>
              </a:rPr>
              <a:t>1</a:t>
            </a:r>
            <a:endParaRPr lang="en-US" sz="1800" dirty="0"/>
          </a:p>
        </p:txBody>
      </p:sp>
      <p:sp>
        <p:nvSpPr>
          <p:cNvPr id="10" name="Shape 10"/>
          <p:cNvSpPr/>
          <p:nvPr/>
        </p:nvSpPr>
        <p:spPr>
          <a:xfrm>
            <a:off x="1280160" y="1325880"/>
            <a:ext cx="5669280" cy="640080"/>
          </a:xfrm>
          <a:prstGeom prst="roundRect">
            <a:avLst>
              <a:gd name="adj" fmla="val 12000"/>
            </a:avLst>
          </a:prstGeom>
          <a:solidFill>
            <a:srgbClr val="EAF6FC"/>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450" dirty="0" b="1">
                <a:solidFill>
                  <a:srgbClr val="0B2545"/>
                </a:solidFill>
              </a:rPr>
              <a:t>Snowsight tour · Snowflake in 20 minutes</a:t>
            </a:r>
            <a:endParaRPr lang="en-US" sz="1450" dirty="0"/>
          </a:p>
          <a:p>
            <a:pPr algn="l">
              <a:lnSpc>
                <a:spcPct val="100000"/>
              </a:lnSpc>
              <a:spcBef>
                <a:spcPts val="100"/>
              </a:spcBef>
              <a:spcAft>
                <a:spcPts val="0"/>
              </a:spcAft>
              <a:buNone/>
            </a:pPr>
            <a:r>
              <a:rPr lang="en-US" sz="1150" dirty="0">
                <a:solidFill>
                  <a:srgbClr val="6B7280"/>
                </a:solidFill>
              </a:rPr>
              <a:t>UI basics; stage, load, query</a:t>
            </a:r>
            <a:endParaRPr lang="en-US" sz="1150" dirty="0"/>
          </a:p>
        </p:txBody>
      </p:sp>
      <p:sp>
        <p:nvSpPr>
          <p:cNvPr id="11" name="Shape 11"/>
          <p:cNvSpPr/>
          <p:nvPr/>
        </p:nvSpPr>
        <p:spPr>
          <a:xfrm>
            <a:off x="548640" y="2130552"/>
            <a:ext cx="594360" cy="594360"/>
          </a:xfrm>
          <a:prstGeom prst="ellipse">
            <a:avLst/>
          </a:prstGeom>
          <a:solidFill>
            <a:srgbClr val="29B5E8"/>
          </a:solidFill>
          <a:ln>
            <a:noFill/>
          </a:ln>
        </p:spPr>
        <p:txBody>
          <a:bodyPr wrap="square" lIns="0" tIns="0" rIns="0" bIns="0" anchor="ctr" rtlCol="0">
            <a:noAutofit/>
          </a:bodyPr>
          <a:lstStyle/>
          <a:p>
            <a:pPr algn="ctr">
              <a:lnSpc>
                <a:spcPct val="100000"/>
              </a:lnSpc>
              <a:spcBef>
                <a:spcPts val="0"/>
              </a:spcBef>
              <a:spcAft>
                <a:spcPts val="0"/>
              </a:spcAft>
              <a:buNone/>
            </a:pPr>
            <a:r>
              <a:rPr lang="en-US" sz="1800" dirty="0" b="1">
                <a:solidFill>
                  <a:srgbClr val="FFFFFF"/>
                </a:solidFill>
              </a:rPr>
              <a:t>2</a:t>
            </a:r>
            <a:endParaRPr lang="en-US" sz="1800" dirty="0"/>
          </a:p>
        </p:txBody>
      </p:sp>
      <p:sp>
        <p:nvSpPr>
          <p:cNvPr id="12" name="Shape 12"/>
          <p:cNvSpPr/>
          <p:nvPr/>
        </p:nvSpPr>
        <p:spPr>
          <a:xfrm>
            <a:off x="1280160" y="2130552"/>
            <a:ext cx="5669280" cy="640080"/>
          </a:xfrm>
          <a:prstGeom prst="roundRect">
            <a:avLst>
              <a:gd name="adj" fmla="val 12000"/>
            </a:avLst>
          </a:prstGeom>
          <a:solidFill>
            <a:srgbClr val="EAF6FC"/>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450" dirty="0" b="1">
                <a:solidFill>
                  <a:srgbClr val="0B2545"/>
                </a:solidFill>
              </a:rPr>
              <a:t>Create users &amp; grant roles</a:t>
            </a:r>
            <a:endParaRPr lang="en-US" sz="1450" dirty="0"/>
          </a:p>
          <a:p>
            <a:pPr algn="l">
              <a:lnSpc>
                <a:spcPct val="100000"/>
              </a:lnSpc>
              <a:spcBef>
                <a:spcPts val="100"/>
              </a:spcBef>
              <a:spcAft>
                <a:spcPts val="0"/>
              </a:spcAft>
              <a:buNone/>
            </a:pPr>
            <a:r>
              <a:rPr lang="en-US" sz="1150" dirty="0">
                <a:solidFill>
                  <a:srgbClr val="6B7280"/>
                </a:solidFill>
              </a:rPr>
              <a:t>RBAC hands-on (Example 7)</a:t>
            </a:r>
            <a:endParaRPr lang="en-US" sz="1150" dirty="0"/>
          </a:p>
        </p:txBody>
      </p:sp>
      <p:sp>
        <p:nvSpPr>
          <p:cNvPr id="13" name="Shape 13"/>
          <p:cNvSpPr/>
          <p:nvPr/>
        </p:nvSpPr>
        <p:spPr>
          <a:xfrm>
            <a:off x="548640" y="2935224"/>
            <a:ext cx="594360" cy="594360"/>
          </a:xfrm>
          <a:prstGeom prst="ellipse">
            <a:avLst/>
          </a:prstGeom>
          <a:solidFill>
            <a:srgbClr val="29B5E8"/>
          </a:solidFill>
          <a:ln>
            <a:noFill/>
          </a:ln>
        </p:spPr>
        <p:txBody>
          <a:bodyPr wrap="square" lIns="0" tIns="0" rIns="0" bIns="0" anchor="ctr" rtlCol="0">
            <a:noAutofit/>
          </a:bodyPr>
          <a:lstStyle/>
          <a:p>
            <a:pPr algn="ctr">
              <a:lnSpc>
                <a:spcPct val="100000"/>
              </a:lnSpc>
              <a:spcBef>
                <a:spcPts val="0"/>
              </a:spcBef>
              <a:spcAft>
                <a:spcPts val="0"/>
              </a:spcAft>
              <a:buNone/>
            </a:pPr>
            <a:r>
              <a:rPr lang="en-US" sz="1800" dirty="0" b="1">
                <a:solidFill>
                  <a:srgbClr val="FFFFFF"/>
                </a:solidFill>
              </a:rPr>
              <a:t>3</a:t>
            </a:r>
            <a:endParaRPr lang="en-US" sz="1800" dirty="0"/>
          </a:p>
        </p:txBody>
      </p:sp>
      <p:sp>
        <p:nvSpPr>
          <p:cNvPr id="14" name="Shape 14"/>
          <p:cNvSpPr/>
          <p:nvPr/>
        </p:nvSpPr>
        <p:spPr>
          <a:xfrm>
            <a:off x="1280160" y="2935224"/>
            <a:ext cx="5669280" cy="640080"/>
          </a:xfrm>
          <a:prstGeom prst="roundRect">
            <a:avLst>
              <a:gd name="adj" fmla="val 12000"/>
            </a:avLst>
          </a:prstGeom>
          <a:solidFill>
            <a:srgbClr val="EAF6FC"/>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450" dirty="0" b="1">
                <a:solidFill>
                  <a:srgbClr val="0B2545"/>
                </a:solidFill>
              </a:rPr>
              <a:t>Load &amp; query sample data with SQL</a:t>
            </a:r>
            <a:endParaRPr lang="en-US" sz="1450" dirty="0"/>
          </a:p>
          <a:p>
            <a:pPr algn="l">
              <a:lnSpc>
                <a:spcPct val="100000"/>
              </a:lnSpc>
              <a:spcBef>
                <a:spcPts val="100"/>
              </a:spcBef>
              <a:spcAft>
                <a:spcPts val="0"/>
              </a:spcAft>
              <a:buNone/>
            </a:pPr>
            <a:r>
              <a:rPr lang="en-US" sz="1150" dirty="0">
                <a:solidFill>
                  <a:srgbClr val="6B7280"/>
                </a:solidFill>
              </a:rPr>
              <a:t>Warehouses, tables, COPY</a:t>
            </a:r>
            <a:endParaRPr lang="en-US" sz="1150" dirty="0"/>
          </a:p>
        </p:txBody>
      </p:sp>
      <p:sp>
        <p:nvSpPr>
          <p:cNvPr id="15" name="Shape 15"/>
          <p:cNvSpPr/>
          <p:nvPr/>
        </p:nvSpPr>
        <p:spPr>
          <a:xfrm>
            <a:off x="548640" y="3739896"/>
            <a:ext cx="594360" cy="594360"/>
          </a:xfrm>
          <a:prstGeom prst="ellipse">
            <a:avLst/>
          </a:prstGeom>
          <a:solidFill>
            <a:srgbClr val="29B5E8"/>
          </a:solidFill>
          <a:ln>
            <a:noFill/>
          </a:ln>
        </p:spPr>
        <p:txBody>
          <a:bodyPr wrap="square" lIns="0" tIns="0" rIns="0" bIns="0" anchor="ctr" rtlCol="0">
            <a:noAutofit/>
          </a:bodyPr>
          <a:lstStyle/>
          <a:p>
            <a:pPr algn="ctr">
              <a:lnSpc>
                <a:spcPct val="100000"/>
              </a:lnSpc>
              <a:spcBef>
                <a:spcPts val="0"/>
              </a:spcBef>
              <a:spcAft>
                <a:spcPts val="0"/>
              </a:spcAft>
              <a:buNone/>
            </a:pPr>
            <a:r>
              <a:rPr lang="en-US" sz="1800" dirty="0" b="1">
                <a:solidFill>
                  <a:srgbClr val="FFFFFF"/>
                </a:solidFill>
              </a:rPr>
              <a:t>4</a:t>
            </a:r>
            <a:endParaRPr lang="en-US" sz="1800" dirty="0"/>
          </a:p>
        </p:txBody>
      </p:sp>
      <p:sp>
        <p:nvSpPr>
          <p:cNvPr id="16" name="Shape 16"/>
          <p:cNvSpPr/>
          <p:nvPr/>
        </p:nvSpPr>
        <p:spPr>
          <a:xfrm>
            <a:off x="1280160" y="3739896"/>
            <a:ext cx="5669280" cy="640080"/>
          </a:xfrm>
          <a:prstGeom prst="roundRect">
            <a:avLst>
              <a:gd name="adj" fmla="val 12000"/>
            </a:avLst>
          </a:prstGeom>
          <a:solidFill>
            <a:srgbClr val="EAF6FC"/>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450" dirty="0" b="1">
                <a:solidFill>
                  <a:srgbClr val="0B2545"/>
                </a:solidFill>
              </a:rPr>
              <a:t>Bulk loading: local files &amp; S3 / Azure / GCS</a:t>
            </a:r>
            <a:endParaRPr lang="en-US" sz="1450" dirty="0"/>
          </a:p>
          <a:p>
            <a:pPr algn="l">
              <a:lnSpc>
                <a:spcPct val="100000"/>
              </a:lnSpc>
              <a:spcBef>
                <a:spcPts val="100"/>
              </a:spcBef>
              <a:spcAft>
                <a:spcPts val="0"/>
              </a:spcAft>
              <a:buNone/>
            </a:pPr>
            <a:r>
              <a:rPr lang="en-US" sz="1150" dirty="0">
                <a:solidFill>
                  <a:srgbClr val="6B7280"/>
                </a:solidFill>
              </a:rPr>
              <a:t>Examples 3–4 in depth</a:t>
            </a:r>
            <a:endParaRPr lang="en-US" sz="1150" dirty="0"/>
          </a:p>
        </p:txBody>
      </p:sp>
      <p:sp>
        <p:nvSpPr>
          <p:cNvPr id="17" name="Shape 17"/>
          <p:cNvSpPr/>
          <p:nvPr/>
        </p:nvSpPr>
        <p:spPr>
          <a:xfrm>
            <a:off x="548640" y="4544568"/>
            <a:ext cx="594360" cy="594360"/>
          </a:xfrm>
          <a:prstGeom prst="ellipse">
            <a:avLst/>
          </a:prstGeom>
          <a:solidFill>
            <a:srgbClr val="29B5E8"/>
          </a:solidFill>
          <a:ln>
            <a:noFill/>
          </a:ln>
        </p:spPr>
        <p:txBody>
          <a:bodyPr wrap="square" lIns="0" tIns="0" rIns="0" bIns="0" anchor="ctr" rtlCol="0">
            <a:noAutofit/>
          </a:bodyPr>
          <a:lstStyle/>
          <a:p>
            <a:pPr algn="ctr">
              <a:lnSpc>
                <a:spcPct val="100000"/>
              </a:lnSpc>
              <a:spcBef>
                <a:spcPts val="0"/>
              </a:spcBef>
              <a:spcAft>
                <a:spcPts val="0"/>
              </a:spcAft>
              <a:buNone/>
            </a:pPr>
            <a:r>
              <a:rPr lang="en-US" sz="1800" dirty="0" b="1">
                <a:solidFill>
                  <a:srgbClr val="FFFFFF"/>
                </a:solidFill>
              </a:rPr>
              <a:t>5</a:t>
            </a:r>
            <a:endParaRPr lang="en-US" sz="1800" dirty="0"/>
          </a:p>
        </p:txBody>
      </p:sp>
      <p:sp>
        <p:nvSpPr>
          <p:cNvPr id="18" name="Shape 18"/>
          <p:cNvSpPr/>
          <p:nvPr/>
        </p:nvSpPr>
        <p:spPr>
          <a:xfrm>
            <a:off x="1280160" y="4544568"/>
            <a:ext cx="5669280" cy="640080"/>
          </a:xfrm>
          <a:prstGeom prst="roundRect">
            <a:avLst>
              <a:gd name="adj" fmla="val 12000"/>
            </a:avLst>
          </a:prstGeom>
          <a:solidFill>
            <a:srgbClr val="EAF6FC"/>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450" dirty="0" b="1">
                <a:solidFill>
                  <a:srgbClr val="0B2545"/>
                </a:solidFill>
              </a:rPr>
              <a:t>JSON basics</a:t>
            </a:r>
            <a:endParaRPr lang="en-US" sz="1450" dirty="0"/>
          </a:p>
          <a:p>
            <a:pPr algn="l">
              <a:lnSpc>
                <a:spcPct val="100000"/>
              </a:lnSpc>
              <a:spcBef>
                <a:spcPts val="100"/>
              </a:spcBef>
              <a:spcAft>
                <a:spcPts val="0"/>
              </a:spcAft>
              <a:buNone/>
            </a:pPr>
            <a:r>
              <a:rPr lang="en-US" sz="1150" dirty="0">
                <a:solidFill>
                  <a:srgbClr val="6B7280"/>
                </a:solidFill>
              </a:rPr>
              <a:t>VARIANT, FLATTEN (Example 6)</a:t>
            </a:r>
            <a:endParaRPr lang="en-US" sz="1150" dirty="0"/>
          </a:p>
        </p:txBody>
      </p:sp>
      <p:sp>
        <p:nvSpPr>
          <p:cNvPr id="19" name="Shape 19"/>
          <p:cNvSpPr/>
          <p:nvPr/>
        </p:nvSpPr>
        <p:spPr>
          <a:xfrm>
            <a:off x="548640" y="5349240"/>
            <a:ext cx="594360" cy="594360"/>
          </a:xfrm>
          <a:prstGeom prst="ellipse">
            <a:avLst/>
          </a:prstGeom>
          <a:solidFill>
            <a:srgbClr val="29B5E8"/>
          </a:solidFill>
          <a:ln>
            <a:noFill/>
          </a:ln>
        </p:spPr>
        <p:txBody>
          <a:bodyPr wrap="square" lIns="0" tIns="0" rIns="0" bIns="0" anchor="ctr" rtlCol="0">
            <a:noAutofit/>
          </a:bodyPr>
          <a:lstStyle/>
          <a:p>
            <a:pPr algn="ctr">
              <a:lnSpc>
                <a:spcPct val="100000"/>
              </a:lnSpc>
              <a:spcBef>
                <a:spcPts val="0"/>
              </a:spcBef>
              <a:spcAft>
                <a:spcPts val="0"/>
              </a:spcAft>
              <a:buNone/>
            </a:pPr>
            <a:r>
              <a:rPr lang="en-US" sz="1800" dirty="0" b="1">
                <a:solidFill>
                  <a:srgbClr val="FFFFFF"/>
                </a:solidFill>
              </a:rPr>
              <a:t>6</a:t>
            </a:r>
            <a:endParaRPr lang="en-US" sz="1800" dirty="0"/>
          </a:p>
        </p:txBody>
      </p:sp>
      <p:sp>
        <p:nvSpPr>
          <p:cNvPr id="20" name="Shape 20"/>
          <p:cNvSpPr/>
          <p:nvPr/>
        </p:nvSpPr>
        <p:spPr>
          <a:xfrm>
            <a:off x="1280160" y="5349240"/>
            <a:ext cx="5669280" cy="640080"/>
          </a:xfrm>
          <a:prstGeom prst="roundRect">
            <a:avLst>
              <a:gd name="adj" fmla="val 12000"/>
            </a:avLst>
          </a:prstGeom>
          <a:solidFill>
            <a:srgbClr val="EAF6FC"/>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450" dirty="0" b="1">
                <a:solidFill>
                  <a:srgbClr val="0B2545"/>
                </a:solidFill>
              </a:rPr>
              <a:t>Snowpark / Python notebooks</a:t>
            </a:r>
            <a:endParaRPr lang="en-US" sz="1450" dirty="0"/>
          </a:p>
          <a:p>
            <a:pPr algn="l">
              <a:lnSpc>
                <a:spcPct val="100000"/>
              </a:lnSpc>
              <a:spcBef>
                <a:spcPts val="100"/>
              </a:spcBef>
              <a:spcAft>
                <a:spcPts val="0"/>
              </a:spcAft>
              <a:buNone/>
            </a:pPr>
            <a:r>
              <a:rPr lang="en-US" sz="1150" dirty="0">
                <a:solidFill>
                  <a:srgbClr val="6B7280"/>
                </a:solidFill>
              </a:rPr>
              <a:t>DataFrames &amp; ML inside Snowflake</a:t>
            </a:r>
            <a:endParaRPr lang="en-US" sz="1150" dirty="0"/>
          </a:p>
        </p:txBody>
      </p:sp>
      <p:sp>
        <p:nvSpPr>
          <p:cNvPr id="21" name="Shape 21"/>
          <p:cNvSpPr/>
          <p:nvPr/>
        </p:nvSpPr>
        <p:spPr>
          <a:xfrm>
            <a:off x="7315200" y="1325880"/>
            <a:ext cx="4343400" cy="2240280"/>
          </a:xfrm>
          <a:prstGeom prst="roundRect">
            <a:avLst>
              <a:gd name="adj" fmla="val 6000"/>
            </a:avLst>
          </a:prstGeom>
          <a:solidFill>
            <a:srgbClr val="FFFFFF"/>
          </a:solidFill>
          <a:ln w="12700">
            <a:solidFill>
              <a:srgbClr val="D1D5DB"/>
            </a:solidFill>
          </a:ln>
          <a:effectLst>
            <a:outerShdw blurRad="50800" dist="19050" dir="5400000" algn="t" rotWithShape="0">
              <a:srgbClr val="000000">
                <a:alpha val="18000"/>
              </a:srgbClr>
            </a:outerShdw>
          </a:effectLst>
        </p:spPr>
        <p:txBody>
          <a:bodyPr wrap="square" lIns="91440" tIns="91440" rIns="91440" bIns="91440" anchor="t" rtlCol="0">
            <a:noAutofit/>
          </a:bodyPr>
          <a:lstStyle/>
          <a:p>
            <a:endParaRPr lang="en-US" dirty="0"/>
          </a:p>
        </p:txBody>
      </p:sp>
      <p:sp>
        <p:nvSpPr>
          <p:cNvPr id="22" name="Shape 22"/>
          <p:cNvSpPr/>
          <p:nvPr/>
        </p:nvSpPr>
        <p:spPr>
          <a:xfrm>
            <a:off x="7315200" y="1325880"/>
            <a:ext cx="4343400" cy="457200"/>
          </a:xfrm>
          <a:prstGeom prst="roundRect">
            <a:avLst>
              <a:gd name="adj" fmla="val 18000"/>
            </a:avLst>
          </a:prstGeom>
          <a:solidFill>
            <a:srgbClr val="11567F"/>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600" dirty="0" b="1">
                <a:solidFill>
                  <a:srgbClr val="FFFFFF"/>
                </a:solidFill>
              </a:rPr>
              <a:t>Then go further</a:t>
            </a:r>
            <a:endParaRPr lang="en-US" sz="1600" dirty="0"/>
          </a:p>
        </p:txBody>
      </p:sp>
      <p:sp>
        <p:nvSpPr>
          <p:cNvPr id="23" name="Shape 23"/>
          <p:cNvSpPr/>
          <p:nvPr/>
        </p:nvSpPr>
        <p:spPr>
          <a:xfrm>
            <a:off x="7406640" y="1856232"/>
            <a:ext cx="4160520" cy="1645920"/>
          </a:xfrm>
          <a:prstGeom prst="rect">
            <a:avLst/>
          </a:prstGeom>
          <a:noFill/>
          <a:ln>
            <a:noFill/>
          </a:ln>
        </p:spPr>
        <p:txBody>
          <a:bodyPr wrap="square" lIns="45720" tIns="45720" rIns="45720" bIns="45720" anchor="t" rtlCol="0">
            <a:noAutofit/>
          </a:bodyPr>
          <a:lstStyle/>
          <a:p>
            <a:pPr algn="l" marL="285750" indent="-285750">
              <a:lnSpc>
                <a:spcPct val="100000"/>
              </a:lnSpc>
              <a:spcBef>
                <a:spcPts val="400"/>
              </a:spcBef>
              <a:spcAft>
                <a:spcPts val="0"/>
              </a:spcAft>
              <a:buClr>
                <a:srgbClr val="29B5E8"/>
              </a:buClr>
              <a:buFont typeface="Arial"/>
              <a:buChar char="•"/>
            </a:pPr>
            <a:r>
              <a:rPr lang="en-US" sz="1300" dirty="0" b="1">
                <a:solidFill>
                  <a:srgbClr val="1F2937"/>
                </a:solidFill>
              </a:rPr>
              <a:t>Snowflake Quickstarts</a:t>
            </a:r>
            <a:r>
              <a:rPr lang="en-US" sz="1300" dirty="0">
                <a:solidFill>
                  <a:srgbClr val="1F2937"/>
                </a:solidFill>
              </a:rPr>
              <a:t>: guided labs</a:t>
            </a:r>
            <a:endParaRPr lang="en-US" sz="1300" dirty="0"/>
          </a:p>
          <a:p>
            <a:pPr algn="l" marL="285750" indent="-285750">
              <a:lnSpc>
                <a:spcPct val="100000"/>
              </a:lnSpc>
              <a:spcBef>
                <a:spcPts val="400"/>
              </a:spcBef>
              <a:spcAft>
                <a:spcPts val="0"/>
              </a:spcAft>
              <a:buClr>
                <a:srgbClr val="29B5E8"/>
              </a:buClr>
              <a:buFont typeface="Arial"/>
              <a:buChar char="•"/>
            </a:pPr>
            <a:r>
              <a:rPr lang="en-US" sz="1300" dirty="0" b="1">
                <a:solidFill>
                  <a:srgbClr val="1F2937"/>
                </a:solidFill>
              </a:rPr>
              <a:t>Snowflake Notebooks &amp; Streamlit</a:t>
            </a:r>
            <a:endParaRPr lang="en-US" sz="1300" dirty="0"/>
          </a:p>
          <a:p>
            <a:pPr algn="l" marL="285750" indent="-285750">
              <a:lnSpc>
                <a:spcPct val="100000"/>
              </a:lnSpc>
              <a:spcBef>
                <a:spcPts val="400"/>
              </a:spcBef>
              <a:spcAft>
                <a:spcPts val="0"/>
              </a:spcAft>
              <a:buClr>
                <a:srgbClr val="29B5E8"/>
              </a:buClr>
              <a:buFont typeface="Arial"/>
              <a:buChar char="•"/>
            </a:pPr>
            <a:r>
              <a:rPr lang="en-US" sz="1300" dirty="0" b="1">
                <a:solidFill>
                  <a:srgbClr val="1F2937"/>
                </a:solidFill>
              </a:rPr>
              <a:t>Cortex AI</a:t>
            </a:r>
            <a:r>
              <a:rPr lang="en-US" sz="1300" dirty="0">
                <a:solidFill>
                  <a:srgbClr val="1F2937"/>
                </a:solidFill>
              </a:rPr>
              <a:t> functions</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Community forums &amp; docs</a:t>
            </a:r>
            <a:endParaRPr lang="en-US" sz="1300" dirty="0"/>
          </a:p>
        </p:txBody>
      </p:sp>
      <p:sp>
        <p:nvSpPr>
          <p:cNvPr id="24" name="Shape 24"/>
          <p:cNvSpPr/>
          <p:nvPr/>
        </p:nvSpPr>
        <p:spPr>
          <a:xfrm>
            <a:off x="7315200" y="3749040"/>
            <a:ext cx="4343400" cy="2423160"/>
          </a:xfrm>
          <a:prstGeom prst="roundRect">
            <a:avLst>
              <a:gd name="adj" fmla="val 6000"/>
            </a:avLst>
          </a:prstGeom>
          <a:solidFill>
            <a:srgbClr val="FFFFFF"/>
          </a:solidFill>
          <a:ln w="12700">
            <a:solidFill>
              <a:srgbClr val="D1D5DB"/>
            </a:solidFill>
          </a:ln>
          <a:effectLst>
            <a:outerShdw blurRad="50800" dist="19050" dir="5400000" algn="t" rotWithShape="0">
              <a:srgbClr val="000000">
                <a:alpha val="18000"/>
              </a:srgbClr>
            </a:outerShdw>
          </a:effectLst>
        </p:spPr>
        <p:txBody>
          <a:bodyPr wrap="square" lIns="91440" tIns="91440" rIns="91440" bIns="91440" anchor="t" rtlCol="0">
            <a:noAutofit/>
          </a:bodyPr>
          <a:lstStyle/>
          <a:p>
            <a:endParaRPr lang="en-US" dirty="0"/>
          </a:p>
        </p:txBody>
      </p:sp>
      <p:sp>
        <p:nvSpPr>
          <p:cNvPr id="25" name="Shape 25"/>
          <p:cNvSpPr/>
          <p:nvPr/>
        </p:nvSpPr>
        <p:spPr>
          <a:xfrm>
            <a:off x="7315200" y="3749040"/>
            <a:ext cx="4343400" cy="457200"/>
          </a:xfrm>
          <a:prstGeom prst="roundRect">
            <a:avLst>
              <a:gd name="adj" fmla="val 18000"/>
            </a:avLst>
          </a:prstGeom>
          <a:solidFill>
            <a:srgbClr val="2E9E6A"/>
          </a:solidFill>
          <a:ln>
            <a:noFill/>
          </a:ln>
        </p:spPr>
        <p:txBody>
          <a:bodyPr wrap="square" lIns="109728" tIns="109728" rIns="109728" bIns="109728" anchor="ctr" rtlCol="0">
            <a:noAutofit/>
          </a:bodyPr>
          <a:lstStyle/>
          <a:p>
            <a:pPr algn="l">
              <a:lnSpc>
                <a:spcPct val="100000"/>
              </a:lnSpc>
              <a:spcBef>
                <a:spcPts val="0"/>
              </a:spcBef>
              <a:spcAft>
                <a:spcPts val="0"/>
              </a:spcAft>
              <a:buNone/>
            </a:pPr>
            <a:r>
              <a:rPr lang="en-US" sz="1600" dirty="0" b="1">
                <a:solidFill>
                  <a:srgbClr val="FFFFFF"/>
                </a:solidFill>
              </a:rPr>
              <a:t>Certification path</a:t>
            </a:r>
            <a:endParaRPr lang="en-US" sz="1600" dirty="0"/>
          </a:p>
        </p:txBody>
      </p:sp>
      <p:sp>
        <p:nvSpPr>
          <p:cNvPr id="26" name="Shape 26"/>
          <p:cNvSpPr/>
          <p:nvPr/>
        </p:nvSpPr>
        <p:spPr>
          <a:xfrm>
            <a:off x="7406640" y="4279392"/>
            <a:ext cx="4160520" cy="1828800"/>
          </a:xfrm>
          <a:prstGeom prst="rect">
            <a:avLst/>
          </a:prstGeom>
          <a:noFill/>
          <a:ln>
            <a:noFill/>
          </a:ln>
        </p:spPr>
        <p:txBody>
          <a:bodyPr wrap="square" lIns="45720" tIns="45720" rIns="45720" bIns="45720" anchor="t" rtlCol="0">
            <a:noAutofit/>
          </a:bodyPr>
          <a:lstStyle/>
          <a:p>
            <a:pPr algn="l" marL="285750" indent="-285750">
              <a:lnSpc>
                <a:spcPct val="100000"/>
              </a:lnSpc>
              <a:spcBef>
                <a:spcPts val="400"/>
              </a:spcBef>
              <a:spcAft>
                <a:spcPts val="0"/>
              </a:spcAft>
              <a:buClr>
                <a:srgbClr val="29B5E8"/>
              </a:buClr>
              <a:buFont typeface="Arial"/>
              <a:buChar char="•"/>
            </a:pPr>
            <a:r>
              <a:rPr lang="en-US" sz="1300" dirty="0" b="1">
                <a:solidFill>
                  <a:srgbClr val="1F2937"/>
                </a:solidFill>
              </a:rPr>
              <a:t>SnowPro Core</a:t>
            </a:r>
            <a:r>
              <a:rPr lang="en-US" sz="1300" dirty="0">
                <a:solidFill>
                  <a:srgbClr val="1F2937"/>
                </a:solidFill>
              </a:rPr>
              <a:t> (foundation)</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SnowPro Advanced: Architect / Data Engineer / Admin</a:t>
            </a:r>
            <a:endParaRPr lang="en-US" sz="1300" dirty="0"/>
          </a:p>
          <a:p>
            <a:pPr algn="l" marL="285750" indent="-285750">
              <a:lnSpc>
                <a:spcPct val="100000"/>
              </a:lnSpc>
              <a:spcBef>
                <a:spcPts val="400"/>
              </a:spcBef>
              <a:spcAft>
                <a:spcPts val="0"/>
              </a:spcAft>
              <a:buClr>
                <a:srgbClr val="29B5E8"/>
              </a:buClr>
              <a:buFont typeface="Arial"/>
              <a:buChar char="•"/>
            </a:pPr>
            <a:r>
              <a:rPr lang="en-US" sz="1300" dirty="0">
                <a:solidFill>
                  <a:srgbClr val="1F2937"/>
                </a:solidFill>
              </a:rPr>
              <a:t>Your Desktop already has </a:t>
            </a:r>
            <a:r>
              <a:rPr lang="en-US" sz="1235" dirty="0" b="1">
                <a:solidFill>
                  <a:srgbClr val="11567F"/>
                </a:solidFill>
                <a:latin typeface="Courier New"/>
                <a:cs typeface="Courier New"/>
              </a:rPr>
              <a:t>SnowproCoreAllSlides.pdf</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Quick Reference Cheat Sheet</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The commands you'll use every day</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25 / 26</a:t>
            </a:r>
            <a:endParaRPr lang="en-US" sz="1000" dirty="0"/>
          </a:p>
        </p:txBody>
      </p:sp>
      <p:sp>
        <p:nvSpPr>
          <p:cNvPr id="9" name="Shape 9"/>
          <p:cNvSpPr/>
          <p:nvPr/>
        </p:nvSpPr>
        <p:spPr>
          <a:xfrm>
            <a:off x="548640" y="1325880"/>
            <a:ext cx="548640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Context</a:t>
            </a:r>
            <a:endParaRPr lang="en-US" sz="1100" dirty="0"/>
          </a:p>
        </p:txBody>
      </p:sp>
      <p:sp>
        <p:nvSpPr>
          <p:cNvPr id="10" name="Shape 10"/>
          <p:cNvSpPr/>
          <p:nvPr/>
        </p:nvSpPr>
        <p:spPr>
          <a:xfrm>
            <a:off x="548640" y="1618488"/>
            <a:ext cx="5486400" cy="203911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100" dirty="0" b="1">
                <a:solidFill>
                  <a:srgbClr val="569CD6"/>
                </a:solidFill>
                <a:latin typeface="Courier New"/>
                <a:cs typeface="Courier New"/>
              </a:rPr>
              <a:t>USE</a:t>
            </a:r>
            <a:r>
              <a:rPr lang="en-US" sz="1100" dirty="0">
                <a:solidFill>
                  <a:srgbClr val="D4D4D4"/>
                </a:solidFill>
                <a:latin typeface="Courier New"/>
                <a:cs typeface="Courier New"/>
              </a:rPr>
              <a:t> </a:t>
            </a:r>
            <a:r>
              <a:rPr lang="en-US" sz="1100" dirty="0" b="1">
                <a:solidFill>
                  <a:srgbClr val="569CD6"/>
                </a:solidFill>
                <a:latin typeface="Courier New"/>
                <a:cs typeface="Courier New"/>
              </a:rPr>
              <a:t>ROLE</a:t>
            </a:r>
            <a:r>
              <a:rPr lang="en-US" sz="1100" dirty="0">
                <a:solidFill>
                  <a:srgbClr val="D4D4D4"/>
                </a:solidFill>
                <a:latin typeface="Courier New"/>
                <a:cs typeface="Courier New"/>
              </a:rPr>
              <a:t> </a:t>
            </a:r>
            <a:r>
              <a:rPr lang="en-US" sz="1100" dirty="0">
                <a:solidFill>
                  <a:srgbClr val="D4D4D4"/>
                </a:solidFill>
                <a:latin typeface="Courier New"/>
                <a:cs typeface="Courier New"/>
              </a:rPr>
              <a:t>sysadmin</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USE</a:t>
            </a:r>
            <a:r>
              <a:rPr lang="en-US" sz="1100" dirty="0">
                <a:solidFill>
                  <a:srgbClr val="D4D4D4"/>
                </a:solidFill>
                <a:latin typeface="Courier New"/>
                <a:cs typeface="Courier New"/>
              </a:rPr>
              <a:t> </a:t>
            </a:r>
            <a:r>
              <a:rPr lang="en-US" sz="1100" dirty="0" b="1">
                <a:solidFill>
                  <a:srgbClr val="569CD6"/>
                </a:solidFill>
                <a:latin typeface="Courier New"/>
                <a:cs typeface="Courier New"/>
              </a:rPr>
              <a:t>WAREHOUSE</a:t>
            </a:r>
            <a:r>
              <a:rPr lang="en-US" sz="1100" dirty="0">
                <a:solidFill>
                  <a:srgbClr val="D4D4D4"/>
                </a:solidFill>
                <a:latin typeface="Courier New"/>
                <a:cs typeface="Courier New"/>
              </a:rPr>
              <a:t> </a:t>
            </a:r>
            <a:r>
              <a:rPr lang="en-US" sz="1100" dirty="0">
                <a:solidFill>
                  <a:srgbClr val="D4D4D4"/>
                </a:solidFill>
                <a:latin typeface="Courier New"/>
                <a:cs typeface="Courier New"/>
              </a:rPr>
              <a:t>demo_wh</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USE</a:t>
            </a:r>
            <a:r>
              <a:rPr lang="en-US" sz="1100" dirty="0">
                <a:solidFill>
                  <a:srgbClr val="D4D4D4"/>
                </a:solidFill>
                <a:latin typeface="Courier New"/>
                <a:cs typeface="Courier New"/>
              </a:rPr>
              <a:t> </a:t>
            </a:r>
            <a:r>
              <a:rPr lang="en-US" sz="1100" dirty="0" b="1">
                <a:solidFill>
                  <a:srgbClr val="569CD6"/>
                </a:solidFill>
                <a:latin typeface="Courier New"/>
                <a:cs typeface="Courier New"/>
              </a:rPr>
              <a:t>SCHEMA</a:t>
            </a:r>
            <a:r>
              <a:rPr lang="en-US" sz="1100" dirty="0">
                <a:solidFill>
                  <a:srgbClr val="D4D4D4"/>
                </a:solidFill>
                <a:latin typeface="Courier New"/>
                <a:cs typeface="Courier New"/>
              </a:rPr>
              <a:t> </a:t>
            </a:r>
            <a:r>
              <a:rPr lang="en-US" sz="1100" dirty="0">
                <a:solidFill>
                  <a:srgbClr val="D4D4D4"/>
                </a:solidFill>
                <a:latin typeface="Courier New"/>
                <a:cs typeface="Courier New"/>
              </a:rPr>
              <a:t>sales_db</a:t>
            </a:r>
            <a:r>
              <a:rPr lang="en-US" sz="1100" dirty="0">
                <a:solidFill>
                  <a:srgbClr val="D4D4D4"/>
                </a:solidFill>
                <a:latin typeface="Courier New"/>
                <a:cs typeface="Courier New"/>
              </a:rPr>
              <a:t>.</a:t>
            </a:r>
            <a:r>
              <a:rPr lang="en-US" sz="1100" dirty="0">
                <a:solidFill>
                  <a:srgbClr val="D4D4D4"/>
                </a:solidFill>
                <a:latin typeface="Courier New"/>
                <a:cs typeface="Courier New"/>
              </a:rPr>
              <a:t>raw</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CURRENT_ROLE</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D4D4D4"/>
                </a:solidFill>
                <a:latin typeface="Courier New"/>
                <a:cs typeface="Courier New"/>
              </a:rPr>
              <a:t>CURRENT_WAREHOUSE</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a:solidFill>
                  <a:srgbClr val="D4D4D4"/>
                </a:solidFill>
                <a:latin typeface="Courier New"/>
                <a:cs typeface="Courier New"/>
              </a:rPr>
              <a:t>       </a:t>
            </a:r>
            <a:r>
              <a:rPr lang="en-US" sz="1100" dirty="0">
                <a:solidFill>
                  <a:srgbClr val="D4D4D4"/>
                </a:solidFill>
                <a:latin typeface="Courier New"/>
                <a:cs typeface="Courier New"/>
              </a:rPr>
              <a:t>CURRENT_DATABASE</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D4D4D4"/>
                </a:solidFill>
                <a:latin typeface="Courier New"/>
                <a:cs typeface="Courier New"/>
              </a:rPr>
              <a:t>CURRENT_SCHEMA</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endParaRPr lang="en-US" sz="1100" dirty="0"/>
          </a:p>
        </p:txBody>
      </p:sp>
      <p:sp>
        <p:nvSpPr>
          <p:cNvPr id="11" name="Shape 11"/>
          <p:cNvSpPr/>
          <p:nvPr/>
        </p:nvSpPr>
        <p:spPr>
          <a:xfrm>
            <a:off x="6172200" y="1325880"/>
            <a:ext cx="548640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Discover</a:t>
            </a:r>
            <a:endParaRPr lang="en-US" sz="1100" dirty="0"/>
          </a:p>
        </p:txBody>
      </p:sp>
      <p:sp>
        <p:nvSpPr>
          <p:cNvPr id="12" name="Shape 12"/>
          <p:cNvSpPr/>
          <p:nvPr/>
        </p:nvSpPr>
        <p:spPr>
          <a:xfrm>
            <a:off x="6172200" y="1618488"/>
            <a:ext cx="5486400" cy="203911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100" dirty="0" b="1">
                <a:solidFill>
                  <a:srgbClr val="569CD6"/>
                </a:solidFill>
                <a:latin typeface="Courier New"/>
                <a:cs typeface="Courier New"/>
              </a:rPr>
              <a:t>SHOW</a:t>
            </a:r>
            <a:r>
              <a:rPr lang="en-US" sz="1100" dirty="0">
                <a:solidFill>
                  <a:srgbClr val="D4D4D4"/>
                </a:solidFill>
                <a:latin typeface="Courier New"/>
                <a:cs typeface="Courier New"/>
              </a:rPr>
              <a:t> </a:t>
            </a:r>
            <a:r>
              <a:rPr lang="en-US" sz="1100" dirty="0">
                <a:solidFill>
                  <a:srgbClr val="D4D4D4"/>
                </a:solidFill>
                <a:latin typeface="Courier New"/>
                <a:cs typeface="Courier New"/>
              </a:rPr>
              <a:t>DATABASES</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SHOW</a:t>
            </a:r>
            <a:r>
              <a:rPr lang="en-US" sz="1100" dirty="0">
                <a:solidFill>
                  <a:srgbClr val="D4D4D4"/>
                </a:solidFill>
                <a:latin typeface="Courier New"/>
                <a:cs typeface="Courier New"/>
              </a:rPr>
              <a:t> </a:t>
            </a:r>
            <a:r>
              <a:rPr lang="en-US" sz="1100" dirty="0">
                <a:solidFill>
                  <a:srgbClr val="D4D4D4"/>
                </a:solidFill>
                <a:latin typeface="Courier New"/>
                <a:cs typeface="Courier New"/>
              </a:rPr>
              <a:t>SCHEMAS</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SHOW</a:t>
            </a:r>
            <a:r>
              <a:rPr lang="en-US" sz="1100" dirty="0">
                <a:solidFill>
                  <a:srgbClr val="D4D4D4"/>
                </a:solidFill>
                <a:latin typeface="Courier New"/>
                <a:cs typeface="Courier New"/>
              </a:rPr>
              <a:t> </a:t>
            </a:r>
            <a:r>
              <a:rPr lang="en-US" sz="1100" dirty="0" b="1">
                <a:solidFill>
                  <a:srgbClr val="569CD6"/>
                </a:solidFill>
                <a:latin typeface="Courier New"/>
                <a:cs typeface="Courier New"/>
              </a:rPr>
              <a:t>TABLES</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DESC</a:t>
            </a:r>
            <a:r>
              <a:rPr lang="en-US" sz="1100" dirty="0">
                <a:solidFill>
                  <a:srgbClr val="D4D4D4"/>
                </a:solidFill>
                <a:latin typeface="Courier New"/>
                <a:cs typeface="Courier New"/>
              </a:rPr>
              <a:t> </a:t>
            </a:r>
            <a:r>
              <a:rPr lang="en-US" sz="1100" dirty="0" b="1">
                <a:solidFill>
                  <a:srgbClr val="569CD6"/>
                </a:solidFill>
                <a:latin typeface="Courier New"/>
                <a:cs typeface="Courier New"/>
              </a:rPr>
              <a:t>TABLE</a:t>
            </a:r>
            <a:r>
              <a:rPr lang="en-US" sz="1100" dirty="0">
                <a:solidFill>
                  <a:srgbClr val="D4D4D4"/>
                </a:solidFill>
                <a:latin typeface="Courier New"/>
                <a:cs typeface="Courier New"/>
              </a:rPr>
              <a:t> </a:t>
            </a:r>
            <a:r>
              <a:rPr lang="en-US" sz="1100" dirty="0">
                <a:solidFill>
                  <a:srgbClr val="D4D4D4"/>
                </a:solidFill>
                <a:latin typeface="Courier New"/>
                <a:cs typeface="Courier New"/>
              </a:rPr>
              <a:t>orders</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SHOW</a:t>
            </a:r>
            <a:r>
              <a:rPr lang="en-US" sz="1100" dirty="0">
                <a:solidFill>
                  <a:srgbClr val="D4D4D4"/>
                </a:solidFill>
                <a:latin typeface="Courier New"/>
                <a:cs typeface="Courier New"/>
              </a:rPr>
              <a:t> </a:t>
            </a:r>
            <a:r>
              <a:rPr lang="en-US" sz="1100" dirty="0">
                <a:solidFill>
                  <a:srgbClr val="D4D4D4"/>
                </a:solidFill>
                <a:latin typeface="Courier New"/>
                <a:cs typeface="Courier New"/>
              </a:rPr>
              <a:t>WAREHOUSES</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SHOW</a:t>
            </a:r>
            <a:r>
              <a:rPr lang="en-US" sz="1100" dirty="0">
                <a:solidFill>
                  <a:srgbClr val="D4D4D4"/>
                </a:solidFill>
                <a:latin typeface="Courier New"/>
                <a:cs typeface="Courier New"/>
              </a:rPr>
              <a:t> </a:t>
            </a:r>
            <a:r>
              <a:rPr lang="en-US" sz="1100" dirty="0" b="1">
                <a:solidFill>
                  <a:srgbClr val="569CD6"/>
                </a:solidFill>
                <a:latin typeface="Courier New"/>
                <a:cs typeface="Courier New"/>
              </a:rPr>
              <a:t>GRANTS</a:t>
            </a:r>
            <a:r>
              <a:rPr lang="en-US" sz="1100" dirty="0">
                <a:solidFill>
                  <a:srgbClr val="D4D4D4"/>
                </a:solidFill>
                <a:latin typeface="Courier New"/>
                <a:cs typeface="Courier New"/>
              </a:rPr>
              <a:t> </a:t>
            </a:r>
            <a:r>
              <a:rPr lang="en-US" sz="1100" dirty="0" b="1">
                <a:solidFill>
                  <a:srgbClr val="569CD6"/>
                </a:solidFill>
                <a:latin typeface="Courier New"/>
                <a:cs typeface="Courier New"/>
              </a:rPr>
              <a:t>TO</a:t>
            </a:r>
            <a:r>
              <a:rPr lang="en-US" sz="1100" dirty="0">
                <a:solidFill>
                  <a:srgbClr val="D4D4D4"/>
                </a:solidFill>
                <a:latin typeface="Courier New"/>
                <a:cs typeface="Courier New"/>
              </a:rPr>
              <a:t> </a:t>
            </a:r>
            <a:r>
              <a:rPr lang="en-US" sz="1100" dirty="0" b="1">
                <a:solidFill>
                  <a:srgbClr val="569CD6"/>
                </a:solidFill>
                <a:latin typeface="Courier New"/>
                <a:cs typeface="Courier New"/>
              </a:rPr>
              <a:t>ROLE</a:t>
            </a:r>
            <a:r>
              <a:rPr lang="en-US" sz="1100" dirty="0">
                <a:solidFill>
                  <a:srgbClr val="D4D4D4"/>
                </a:solidFill>
                <a:latin typeface="Courier New"/>
                <a:cs typeface="Courier New"/>
              </a:rPr>
              <a:t> </a:t>
            </a:r>
            <a:r>
              <a:rPr lang="en-US" sz="1100" dirty="0">
                <a:solidFill>
                  <a:srgbClr val="D4D4D4"/>
                </a:solidFill>
                <a:latin typeface="Courier New"/>
                <a:cs typeface="Courier New"/>
              </a:rPr>
              <a:t>analyst</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SHOW</a:t>
            </a:r>
            <a:r>
              <a:rPr lang="en-US" sz="1100" dirty="0">
                <a:solidFill>
                  <a:srgbClr val="D4D4D4"/>
                </a:solidFill>
                <a:latin typeface="Courier New"/>
                <a:cs typeface="Courier New"/>
              </a:rPr>
              <a:t> </a:t>
            </a:r>
            <a:r>
              <a:rPr lang="en-US" sz="1100" dirty="0" b="1">
                <a:solidFill>
                  <a:srgbClr val="569CD6"/>
                </a:solidFill>
                <a:latin typeface="Courier New"/>
                <a:cs typeface="Courier New"/>
              </a:rPr>
              <a:t>GRANTS</a:t>
            </a:r>
            <a:r>
              <a:rPr lang="en-US" sz="1100" dirty="0">
                <a:solidFill>
                  <a:srgbClr val="D4D4D4"/>
                </a:solidFill>
                <a:latin typeface="Courier New"/>
                <a:cs typeface="Courier New"/>
              </a:rPr>
              <a:t> </a:t>
            </a:r>
            <a:r>
              <a:rPr lang="en-US" sz="1100" dirty="0" b="1">
                <a:solidFill>
                  <a:srgbClr val="569CD6"/>
                </a:solidFill>
                <a:latin typeface="Courier New"/>
                <a:cs typeface="Courier New"/>
              </a:rPr>
              <a:t>TO</a:t>
            </a:r>
            <a:r>
              <a:rPr lang="en-US" sz="1100" dirty="0">
                <a:solidFill>
                  <a:srgbClr val="D4D4D4"/>
                </a:solidFill>
                <a:latin typeface="Courier New"/>
                <a:cs typeface="Courier New"/>
              </a:rPr>
              <a:t> </a:t>
            </a:r>
            <a:r>
              <a:rPr lang="en-US" sz="1100" dirty="0" b="1">
                <a:solidFill>
                  <a:srgbClr val="569CD6"/>
                </a:solidFill>
                <a:latin typeface="Courier New"/>
                <a:cs typeface="Courier New"/>
              </a:rPr>
              <a:t>USER</a:t>
            </a:r>
            <a:r>
              <a:rPr lang="en-US" sz="1100" dirty="0">
                <a:solidFill>
                  <a:srgbClr val="D4D4D4"/>
                </a:solidFill>
                <a:latin typeface="Courier New"/>
                <a:cs typeface="Courier New"/>
              </a:rPr>
              <a:t> </a:t>
            </a:r>
            <a:r>
              <a:rPr lang="en-US" sz="1100" dirty="0">
                <a:solidFill>
                  <a:srgbClr val="D4D4D4"/>
                </a:solidFill>
                <a:latin typeface="Courier New"/>
                <a:cs typeface="Courier New"/>
              </a:rPr>
              <a:t>jdoe</a:t>
            </a:r>
            <a:r>
              <a:rPr lang="en-US" sz="1100" dirty="0">
                <a:solidFill>
                  <a:srgbClr val="D4D4D4"/>
                </a:solidFill>
                <a:latin typeface="Courier New"/>
                <a:cs typeface="Courier New"/>
              </a:rPr>
              <a:t>;</a:t>
            </a:r>
            <a:endParaRPr lang="en-US" sz="1100" dirty="0"/>
          </a:p>
        </p:txBody>
      </p:sp>
      <p:sp>
        <p:nvSpPr>
          <p:cNvPr id="13" name="Shape 13"/>
          <p:cNvSpPr/>
          <p:nvPr/>
        </p:nvSpPr>
        <p:spPr>
          <a:xfrm>
            <a:off x="548640" y="3794760"/>
            <a:ext cx="548640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Load &amp; compute</a:t>
            </a:r>
            <a:endParaRPr lang="en-US" sz="1100" dirty="0"/>
          </a:p>
        </p:txBody>
      </p:sp>
      <p:sp>
        <p:nvSpPr>
          <p:cNvPr id="14" name="Shape 14"/>
          <p:cNvSpPr/>
          <p:nvPr/>
        </p:nvSpPr>
        <p:spPr>
          <a:xfrm>
            <a:off x="548640" y="4087368"/>
            <a:ext cx="5486400" cy="208483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100" dirty="0" b="1">
                <a:solidFill>
                  <a:srgbClr val="569CD6"/>
                </a:solidFill>
                <a:latin typeface="Courier New"/>
                <a:cs typeface="Courier New"/>
              </a:rPr>
              <a:t>PUT</a:t>
            </a:r>
            <a:r>
              <a:rPr lang="en-US" sz="1100" dirty="0">
                <a:solidFill>
                  <a:srgbClr val="D4D4D4"/>
                </a:solidFill>
                <a:latin typeface="Courier New"/>
                <a:cs typeface="Courier New"/>
              </a:rPr>
              <a:t> </a:t>
            </a:r>
            <a:r>
              <a:rPr lang="en-US" sz="1100" dirty="0">
                <a:solidFill>
                  <a:srgbClr val="D4D4D4"/>
                </a:solidFill>
                <a:latin typeface="Courier New"/>
                <a:cs typeface="Courier New"/>
              </a:rPr>
              <a:t>file</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tmp</a:t>
            </a:r>
            <a:r>
              <a:rPr lang="en-US" sz="1100" dirty="0">
                <a:solidFill>
                  <a:srgbClr val="D4D4D4"/>
                </a:solidFill>
                <a:latin typeface="Courier New"/>
                <a:cs typeface="Courier New"/>
              </a:rPr>
              <a:t>/</a:t>
            </a:r>
            <a:r>
              <a:rPr lang="en-US" sz="1100" dirty="0">
                <a:solidFill>
                  <a:srgbClr val="D4D4D4"/>
                </a:solidFill>
                <a:latin typeface="Courier New"/>
                <a:cs typeface="Courier New"/>
              </a:rPr>
              <a:t>f</a:t>
            </a:r>
            <a:r>
              <a:rPr lang="en-US" sz="1100" dirty="0">
                <a:solidFill>
                  <a:srgbClr val="D4D4D4"/>
                </a:solidFill>
                <a:latin typeface="Courier New"/>
                <a:cs typeface="Courier New"/>
              </a:rPr>
              <a:t>.</a:t>
            </a:r>
            <a:r>
              <a:rPr lang="en-US" sz="1100" dirty="0">
                <a:solidFill>
                  <a:srgbClr val="D4D4D4"/>
                </a:solidFill>
                <a:latin typeface="Courier New"/>
                <a:cs typeface="Courier New"/>
              </a:rPr>
              <a:t>csv</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my_int_stage</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LIST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my_int_stage</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COPY</a:t>
            </a:r>
            <a:r>
              <a:rPr lang="en-US" sz="1100" dirty="0">
                <a:solidFill>
                  <a:srgbClr val="D4D4D4"/>
                </a:solidFill>
                <a:latin typeface="Courier New"/>
                <a:cs typeface="Courier New"/>
              </a:rPr>
              <a:t> </a:t>
            </a:r>
            <a:r>
              <a:rPr lang="en-US" sz="1100" dirty="0" b="1">
                <a:solidFill>
                  <a:srgbClr val="569CD6"/>
                </a:solidFill>
                <a:latin typeface="Courier New"/>
                <a:cs typeface="Courier New"/>
              </a:rPr>
              <a:t>INTO</a:t>
            </a:r>
            <a:r>
              <a:rPr lang="en-US" sz="1100" dirty="0">
                <a:solidFill>
                  <a:srgbClr val="D4D4D4"/>
                </a:solidFill>
                <a:latin typeface="Courier New"/>
                <a:cs typeface="Courier New"/>
              </a:rPr>
              <a:t> </a:t>
            </a:r>
            <a:r>
              <a:rPr lang="en-US" sz="1100" dirty="0">
                <a:solidFill>
                  <a:srgbClr val="D4D4D4"/>
                </a:solidFill>
                <a:latin typeface="Courier New"/>
                <a:cs typeface="Courier New"/>
              </a:rPr>
              <a:t>orders</a:t>
            </a:r>
            <a:r>
              <a:rPr lang="en-US" sz="1100" dirty="0">
                <a:solidFill>
                  <a:srgbClr val="D4D4D4"/>
                </a:solidFill>
                <a:latin typeface="Courier New"/>
                <a:cs typeface="Courier New"/>
              </a:rPr>
              <a:t> </a:t>
            </a:r>
            <a:r>
              <a:rPr lang="en-US" sz="1100" dirty="0" b="1">
                <a:solidFill>
                  <a:srgbClr val="569CD6"/>
                </a:solidFill>
                <a:latin typeface="Courier New"/>
                <a:cs typeface="Courier New"/>
              </a:rPr>
              <a:t>FROM</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my_int_stage</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FROM</a:t>
            </a:r>
            <a:r>
              <a:rPr lang="en-US" sz="1100" dirty="0">
                <a:solidFill>
                  <a:srgbClr val="D4D4D4"/>
                </a:solidFill>
                <a:latin typeface="Courier New"/>
                <a:cs typeface="Courier New"/>
              </a:rPr>
              <a:t> </a:t>
            </a:r>
            <a:r>
              <a:rPr lang="en-US" sz="1100" dirty="0" b="1">
                <a:solidFill>
                  <a:srgbClr val="569CD6"/>
                </a:solidFill>
                <a:latin typeface="Courier New"/>
                <a:cs typeface="Courier New"/>
              </a:rPr>
              <a:t>TABLE</a:t>
            </a:r>
            <a:r>
              <a:rPr lang="en-US" sz="1100" dirty="0">
                <a:solidFill>
                  <a:srgbClr val="D4D4D4"/>
                </a:solidFill>
                <a:latin typeface="Courier New"/>
                <a:cs typeface="Courier New"/>
              </a:rPr>
              <a:t>(</a:t>
            </a:r>
            <a:r>
              <a:rPr lang="en-US" sz="1100" dirty="0">
                <a:solidFill>
                  <a:srgbClr val="D4D4D4"/>
                </a:solidFill>
                <a:latin typeface="Courier New"/>
                <a:cs typeface="Courier New"/>
              </a:rPr>
              <a:t>VALIDATE</a:t>
            </a:r>
            <a:r>
              <a:rPr lang="en-US" sz="1100" dirty="0">
                <a:solidFill>
                  <a:srgbClr val="D4D4D4"/>
                </a:solidFill>
                <a:latin typeface="Courier New"/>
                <a:cs typeface="Courier New"/>
              </a:rPr>
              <a:t>(</a:t>
            </a:r>
            <a:r>
              <a:rPr lang="en-US" sz="1100" dirty="0">
                <a:solidFill>
                  <a:srgbClr val="D4D4D4"/>
                </a:solidFill>
                <a:latin typeface="Courier New"/>
                <a:cs typeface="Courier New"/>
              </a:rPr>
              <a:t>orders</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a:solidFill>
                  <a:srgbClr val="D4D4D4"/>
                </a:solidFill>
                <a:latin typeface="Courier New"/>
                <a:cs typeface="Courier New"/>
              </a:rPr>
              <a:t>JOB_ID</a:t>
            </a:r>
            <a:r>
              <a:rPr lang="en-US" sz="1100" dirty="0">
                <a:solidFill>
                  <a:srgbClr val="D4D4D4"/>
                </a:solidFill>
                <a:latin typeface="Courier New"/>
                <a:cs typeface="Courier New"/>
              </a:rPr>
              <a:t>=</a:t>
            </a:r>
            <a:r>
              <a:rPr lang="en-US" sz="1100" dirty="0">
                <a:solidFill>
                  <a:srgbClr val="D4D4D4"/>
                </a:solidFill>
                <a:latin typeface="Courier New"/>
                <a:cs typeface="Courier New"/>
              </a:rPr>
              <a:t>&gt;</a:t>
            </a:r>
            <a:r>
              <a:rPr lang="en-US" sz="1100" dirty="0">
                <a:solidFill>
                  <a:srgbClr val="CE9178"/>
                </a:solidFill>
                <a:latin typeface="Courier New"/>
                <a:cs typeface="Courier New"/>
              </a:rPr>
              <a:t>'_last'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ALTER</a:t>
            </a:r>
            <a:r>
              <a:rPr lang="en-US" sz="1100" dirty="0">
                <a:solidFill>
                  <a:srgbClr val="D4D4D4"/>
                </a:solidFill>
                <a:latin typeface="Courier New"/>
                <a:cs typeface="Courier New"/>
              </a:rPr>
              <a:t> </a:t>
            </a:r>
            <a:r>
              <a:rPr lang="en-US" sz="1100" dirty="0" b="1">
                <a:solidFill>
                  <a:srgbClr val="569CD6"/>
                </a:solidFill>
                <a:latin typeface="Courier New"/>
                <a:cs typeface="Courier New"/>
              </a:rPr>
              <a:t>WAREHOUSE</a:t>
            </a:r>
            <a:r>
              <a:rPr lang="en-US" sz="1100" dirty="0">
                <a:solidFill>
                  <a:srgbClr val="D4D4D4"/>
                </a:solidFill>
                <a:latin typeface="Courier New"/>
                <a:cs typeface="Courier New"/>
              </a:rPr>
              <a:t> </a:t>
            </a:r>
            <a:r>
              <a:rPr lang="en-US" sz="1100" dirty="0">
                <a:solidFill>
                  <a:srgbClr val="D4D4D4"/>
                </a:solidFill>
                <a:latin typeface="Courier New"/>
                <a:cs typeface="Courier New"/>
              </a:rPr>
              <a:t>demo_wh</a:t>
            </a:r>
            <a:r>
              <a:rPr lang="en-US" sz="1100" dirty="0">
                <a:solidFill>
                  <a:srgbClr val="D4D4D4"/>
                </a:solidFill>
                <a:latin typeface="Courier New"/>
                <a:cs typeface="Courier New"/>
              </a:rPr>
              <a:t> </a:t>
            </a:r>
            <a:r>
              <a:rPr lang="en-US" sz="1100" dirty="0" b="1">
                <a:solidFill>
                  <a:srgbClr val="569CD6"/>
                </a:solidFill>
                <a:latin typeface="Courier New"/>
                <a:cs typeface="Courier New"/>
              </a:rPr>
              <a:t>SUSPEND</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ALTER</a:t>
            </a:r>
            <a:r>
              <a:rPr lang="en-US" sz="1100" dirty="0">
                <a:solidFill>
                  <a:srgbClr val="D4D4D4"/>
                </a:solidFill>
                <a:latin typeface="Courier New"/>
                <a:cs typeface="Courier New"/>
              </a:rPr>
              <a:t> </a:t>
            </a:r>
            <a:r>
              <a:rPr lang="en-US" sz="1100" dirty="0" b="1">
                <a:solidFill>
                  <a:srgbClr val="569CD6"/>
                </a:solidFill>
                <a:latin typeface="Courier New"/>
                <a:cs typeface="Courier New"/>
              </a:rPr>
              <a:t>WAREHOUSE</a:t>
            </a:r>
            <a:r>
              <a:rPr lang="en-US" sz="1100" dirty="0">
                <a:solidFill>
                  <a:srgbClr val="D4D4D4"/>
                </a:solidFill>
                <a:latin typeface="Courier New"/>
                <a:cs typeface="Courier New"/>
              </a:rPr>
              <a:t> </a:t>
            </a:r>
            <a:r>
              <a:rPr lang="en-US" sz="1100" dirty="0">
                <a:solidFill>
                  <a:srgbClr val="D4D4D4"/>
                </a:solidFill>
                <a:latin typeface="Courier New"/>
                <a:cs typeface="Courier New"/>
              </a:rPr>
              <a:t>demo_wh</a:t>
            </a:r>
            <a:r>
              <a:rPr lang="en-US" sz="1100" dirty="0">
                <a:solidFill>
                  <a:srgbClr val="D4D4D4"/>
                </a:solidFill>
                <a:latin typeface="Courier New"/>
                <a:cs typeface="Courier New"/>
              </a:rPr>
              <a:t> </a:t>
            </a:r>
            <a:r>
              <a:rPr lang="en-US" sz="1100" dirty="0" b="1">
                <a:solidFill>
                  <a:srgbClr val="569CD6"/>
                </a:solidFill>
                <a:latin typeface="Courier New"/>
                <a:cs typeface="Courier New"/>
              </a:rPr>
              <a:t>RESUME</a:t>
            </a:r>
            <a:r>
              <a:rPr lang="en-US" sz="1100" dirty="0">
                <a:solidFill>
                  <a:srgbClr val="D4D4D4"/>
                </a:solidFill>
                <a:latin typeface="Courier New"/>
                <a:cs typeface="Courier New"/>
              </a:rPr>
              <a:t>;</a:t>
            </a:r>
            <a:endParaRPr lang="en-US" sz="1100" dirty="0"/>
          </a:p>
        </p:txBody>
      </p:sp>
      <p:sp>
        <p:nvSpPr>
          <p:cNvPr id="15" name="Shape 15"/>
          <p:cNvSpPr/>
          <p:nvPr/>
        </p:nvSpPr>
        <p:spPr>
          <a:xfrm>
            <a:off x="6172200" y="3794760"/>
            <a:ext cx="5486400" cy="292608"/>
          </a:xfrm>
          <a:prstGeom prst="rect">
            <a:avLst/>
          </a:prstGeom>
          <a:solidFill>
            <a:srgbClr val="3C3C3C"/>
          </a:solidFill>
          <a:ln>
            <a:noFill/>
          </a:ln>
        </p:spPr>
        <p:txBody>
          <a:bodyPr wrap="square" lIns="27432" tIns="27432" rIns="27432" bIns="27432" anchor="ctr" rtlCol="0">
            <a:noAutofit/>
          </a:bodyPr>
          <a:lstStyle/>
          <a:p>
            <a:pPr algn="l">
              <a:lnSpc>
                <a:spcPct val="100000"/>
              </a:lnSpc>
              <a:spcBef>
                <a:spcPts val="0"/>
              </a:spcBef>
              <a:spcAft>
                <a:spcPts val="0"/>
              </a:spcAft>
              <a:buNone/>
            </a:pPr>
            <a:r>
              <a:rPr lang="en-US" sz="1100" dirty="0" b="1">
                <a:solidFill>
                  <a:srgbClr val="FFFFFF"/>
                </a:solidFill>
              </a:rPr>
              <a:t>Recover &amp; monitor</a:t>
            </a:r>
            <a:endParaRPr lang="en-US" sz="1100" dirty="0"/>
          </a:p>
        </p:txBody>
      </p:sp>
      <p:sp>
        <p:nvSpPr>
          <p:cNvPr id="16" name="Shape 16"/>
          <p:cNvSpPr/>
          <p:nvPr/>
        </p:nvSpPr>
        <p:spPr>
          <a:xfrm>
            <a:off x="6172200" y="4087368"/>
            <a:ext cx="5486400" cy="2084832"/>
          </a:xfrm>
          <a:prstGeom prst="rect">
            <a:avLst/>
          </a:prstGeom>
          <a:solidFill>
            <a:srgbClr val="1E1E1E"/>
          </a:solidFill>
          <a:ln>
            <a:noFill/>
          </a:ln>
        </p:spPr>
        <p:txBody>
          <a:bodyPr wrap="square" lIns="128016" tIns="128016" rIns="128016" bIns="128016" anchor="t" rtlCol="0">
            <a:noAutofit/>
          </a:bodyPr>
          <a:lstStyle/>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FROM</a:t>
            </a:r>
            <a:r>
              <a:rPr lang="en-US" sz="1100" dirty="0">
                <a:solidFill>
                  <a:srgbClr val="D4D4D4"/>
                </a:solidFill>
                <a:latin typeface="Courier New"/>
                <a:cs typeface="Courier New"/>
              </a:rPr>
              <a:t> </a:t>
            </a:r>
            <a:r>
              <a:rPr lang="en-US" sz="1100" dirty="0">
                <a:solidFill>
                  <a:srgbClr val="D4D4D4"/>
                </a:solidFill>
                <a:latin typeface="Courier New"/>
                <a:cs typeface="Courier New"/>
              </a:rPr>
              <a:t>orders</a:t>
            </a:r>
            <a:r>
              <a:rPr lang="en-US" sz="1100" dirty="0">
                <a:solidFill>
                  <a:srgbClr val="D4D4D4"/>
                </a:solidFill>
                <a:latin typeface="Courier New"/>
                <a:cs typeface="Courier New"/>
              </a:rPr>
              <a:t> </a:t>
            </a:r>
            <a:r>
              <a:rPr lang="en-US" sz="1100" dirty="0" b="1">
                <a:solidFill>
                  <a:srgbClr val="569CD6"/>
                </a:solidFill>
                <a:latin typeface="Courier New"/>
                <a:cs typeface="Courier New"/>
              </a:rPr>
              <a:t>AT</a:t>
            </a:r>
            <a:r>
              <a:rPr lang="en-US" sz="1100" dirty="0">
                <a:solidFill>
                  <a:srgbClr val="D4D4D4"/>
                </a:solidFill>
                <a:latin typeface="Courier New"/>
                <a:cs typeface="Courier New"/>
              </a:rPr>
              <a:t>(</a:t>
            </a:r>
            <a:r>
              <a:rPr lang="en-US" sz="1100" dirty="0" b="1">
                <a:solidFill>
                  <a:srgbClr val="569CD6"/>
                </a:solidFill>
                <a:latin typeface="Courier New"/>
                <a:cs typeface="Courier New"/>
              </a:rPr>
              <a:t>OFFSET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&gt;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3</a:t>
            </a:r>
            <a:r>
              <a:rPr lang="en-US" sz="1100" dirty="0">
                <a:solidFill>
                  <a:srgbClr val="D4D4D4"/>
                </a:solidFill>
                <a:latin typeface="Courier New"/>
                <a:cs typeface="Courier New"/>
              </a:rPr>
              <a:t>6</a:t>
            </a:r>
            <a:r>
              <a:rPr lang="en-US" sz="1100" dirty="0">
                <a:solidFill>
                  <a:srgbClr val="D4D4D4"/>
                </a:solidFill>
                <a:latin typeface="Courier New"/>
                <a:cs typeface="Courier New"/>
              </a:rPr>
              <a:t>0</a:t>
            </a:r>
            <a:r>
              <a:rPr lang="en-US" sz="1100" dirty="0">
                <a:solidFill>
                  <a:srgbClr val="D4D4D4"/>
                </a:solidFill>
                <a:latin typeface="Courier New"/>
                <a:cs typeface="Courier New"/>
              </a:rPr>
              <a:t>0</a:t>
            </a:r>
            <a:r>
              <a:rPr lang="en-US" sz="1100" dirty="0">
                <a:solidFill>
                  <a:srgbClr val="D4D4D4"/>
                </a:solidFill>
                <a:latin typeface="Courier New"/>
                <a:cs typeface="Courier New"/>
              </a:rPr>
              <a:t>)</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UNDROP</a:t>
            </a:r>
            <a:r>
              <a:rPr lang="en-US" sz="1100" dirty="0">
                <a:solidFill>
                  <a:srgbClr val="D4D4D4"/>
                </a:solidFill>
                <a:latin typeface="Courier New"/>
                <a:cs typeface="Courier New"/>
              </a:rPr>
              <a:t> </a:t>
            </a:r>
            <a:r>
              <a:rPr lang="en-US" sz="1100" dirty="0" b="1">
                <a:solidFill>
                  <a:srgbClr val="569CD6"/>
                </a:solidFill>
                <a:latin typeface="Courier New"/>
                <a:cs typeface="Courier New"/>
              </a:rPr>
              <a:t>TABLE</a:t>
            </a:r>
            <a:r>
              <a:rPr lang="en-US" sz="1100" dirty="0">
                <a:solidFill>
                  <a:srgbClr val="D4D4D4"/>
                </a:solidFill>
                <a:latin typeface="Courier New"/>
                <a:cs typeface="Courier New"/>
              </a:rPr>
              <a:t> </a:t>
            </a:r>
            <a:r>
              <a:rPr lang="en-US" sz="1100" dirty="0">
                <a:solidFill>
                  <a:srgbClr val="D4D4D4"/>
                </a:solidFill>
                <a:latin typeface="Courier New"/>
                <a:cs typeface="Courier New"/>
              </a:rPr>
              <a:t>orders</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CREATE</a:t>
            </a:r>
            <a:r>
              <a:rPr lang="en-US" sz="1100" dirty="0">
                <a:solidFill>
                  <a:srgbClr val="D4D4D4"/>
                </a:solidFill>
                <a:latin typeface="Courier New"/>
                <a:cs typeface="Courier New"/>
              </a:rPr>
              <a:t> </a:t>
            </a:r>
            <a:r>
              <a:rPr lang="en-US" sz="1100" dirty="0" b="1">
                <a:solidFill>
                  <a:srgbClr val="569CD6"/>
                </a:solidFill>
                <a:latin typeface="Courier New"/>
                <a:cs typeface="Courier New"/>
              </a:rPr>
              <a:t>TABLE</a:t>
            </a:r>
            <a:r>
              <a:rPr lang="en-US" sz="1100" dirty="0">
                <a:solidFill>
                  <a:srgbClr val="D4D4D4"/>
                </a:solidFill>
                <a:latin typeface="Courier New"/>
                <a:cs typeface="Courier New"/>
              </a:rPr>
              <a:t> </a:t>
            </a:r>
            <a:r>
              <a:rPr lang="en-US" sz="1100" dirty="0">
                <a:solidFill>
                  <a:srgbClr val="D4D4D4"/>
                </a:solidFill>
                <a:latin typeface="Courier New"/>
                <a:cs typeface="Courier New"/>
              </a:rPr>
              <a:t>orders_dev</a:t>
            </a:r>
            <a:r>
              <a:rPr lang="en-US" sz="1100" dirty="0">
                <a:solidFill>
                  <a:srgbClr val="D4D4D4"/>
                </a:solidFill>
                <a:latin typeface="Courier New"/>
                <a:cs typeface="Courier New"/>
              </a:rPr>
              <a:t> </a:t>
            </a:r>
            <a:r>
              <a:rPr lang="en-US" sz="1100" dirty="0" b="1">
                <a:solidFill>
                  <a:srgbClr val="569CD6"/>
                </a:solidFill>
                <a:latin typeface="Courier New"/>
                <a:cs typeface="Courier New"/>
              </a:rPr>
              <a:t>CLONE</a:t>
            </a:r>
            <a:r>
              <a:rPr lang="en-US" sz="1100" dirty="0">
                <a:solidFill>
                  <a:srgbClr val="D4D4D4"/>
                </a:solidFill>
                <a:latin typeface="Courier New"/>
                <a:cs typeface="Courier New"/>
              </a:rPr>
              <a:t> </a:t>
            </a:r>
            <a:r>
              <a:rPr lang="en-US" sz="1100" dirty="0">
                <a:solidFill>
                  <a:srgbClr val="D4D4D4"/>
                </a:solidFill>
                <a:latin typeface="Courier New"/>
                <a:cs typeface="Courier New"/>
              </a:rPr>
              <a:t>orders</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a:t>
            </a:r>
            <a:r>
              <a:rPr lang="en-US" sz="1100" dirty="0">
                <a:solidFill>
                  <a:srgbClr val="D4D4D4"/>
                </a:solidFill>
                <a:latin typeface="Courier New"/>
                <a:cs typeface="Courier New"/>
              </a:rPr>
              <a:t> </a:t>
            </a:r>
            <a:r>
              <a:rPr lang="en-US" sz="1100" dirty="0" b="1">
                <a:solidFill>
                  <a:srgbClr val="569CD6"/>
                </a:solidFill>
                <a:latin typeface="Courier New"/>
                <a:cs typeface="Courier New"/>
              </a:rPr>
              <a:t>FROM</a:t>
            </a:r>
            <a:r>
              <a:rPr lang="en-US" sz="1100" dirty="0">
                <a:solidFill>
                  <a:srgbClr val="D4D4D4"/>
                </a:solidFill>
                <a:latin typeface="Courier New"/>
                <a:cs typeface="Courier New"/>
              </a:rPr>
              <a:t> </a:t>
            </a:r>
            <a:r>
              <a:rPr lang="en-US" sz="1100" dirty="0" b="1">
                <a:solidFill>
                  <a:srgbClr val="569CD6"/>
                </a:solidFill>
                <a:latin typeface="Courier New"/>
                <a:cs typeface="Courier New"/>
              </a:rPr>
              <a:t>TABLE</a:t>
            </a:r>
            <a:r>
              <a:rPr lang="en-US" sz="1100" dirty="0">
                <a:solidFill>
                  <a:srgbClr val="D4D4D4"/>
                </a:solidFill>
                <a:latin typeface="Courier New"/>
                <a:cs typeface="Courier New"/>
              </a:rPr>
              <a:t>(</a:t>
            </a:r>
            <a:r>
              <a:rPr lang="en-US" sz="1100" dirty="0">
                <a:solidFill>
                  <a:srgbClr val="D4D4D4"/>
                </a:solidFill>
                <a:latin typeface="Courier New"/>
                <a:cs typeface="Courier New"/>
              </a:rPr>
              <a:t>INFORMATION_SCHEMA</a:t>
            </a:r>
            <a:r>
              <a:rPr lang="en-US" sz="1100" dirty="0">
                <a:solidFill>
                  <a:srgbClr val="D4D4D4"/>
                </a:solidFill>
                <a:latin typeface="Courier New"/>
                <a:cs typeface="Courier New"/>
              </a:rPr>
              <a:t>.</a:t>
            </a:r>
            <a:r>
              <a:rPr lang="en-US" sz="1100" dirty="0">
                <a:solidFill>
                  <a:srgbClr val="D4D4D4"/>
                </a:solidFill>
                <a:latin typeface="Courier New"/>
                <a:cs typeface="Courier New"/>
              </a:rPr>
              <a:t>QUERY_HISTORY</a:t>
            </a:r>
            <a:r>
              <a:rPr lang="en-US" sz="1100" dirty="0">
                <a:solidFill>
                  <a:srgbClr val="D4D4D4"/>
                </a:solidFill>
                <a:latin typeface="Courier New"/>
                <a:cs typeface="Courier New"/>
              </a:rPr>
              <a: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LIMIT</a:t>
            </a:r>
            <a:r>
              <a:rPr lang="en-US" sz="1100" dirty="0">
                <a:solidFill>
                  <a:srgbClr val="D4D4D4"/>
                </a:solidFill>
                <a:latin typeface="Courier New"/>
                <a:cs typeface="Courier New"/>
              </a:rPr>
              <a:t> </a:t>
            </a:r>
            <a:r>
              <a:rPr lang="en-US" sz="1100" dirty="0">
                <a:solidFill>
                  <a:srgbClr val="D4D4D4"/>
                </a:solidFill>
                <a:latin typeface="Courier New"/>
                <a:cs typeface="Courier New"/>
              </a:rPr>
              <a:t>2</a:t>
            </a:r>
            <a:r>
              <a:rPr lang="en-US" sz="1100" dirty="0">
                <a:solidFill>
                  <a:srgbClr val="D4D4D4"/>
                </a:solidFill>
                <a:latin typeface="Courier New"/>
                <a:cs typeface="Courier New"/>
              </a:rPr>
              <a:t>0</a:t>
            </a:r>
            <a:r>
              <a:rPr lang="en-US" sz="1100" dirty="0">
                <a:solidFill>
                  <a:srgbClr val="D4D4D4"/>
                </a:solidFill>
                <a:latin typeface="Courier New"/>
                <a:cs typeface="Courier New"/>
              </a:rPr>
              <a:t>;</a:t>
            </a:r>
            <a:endParaRPr lang="en-US" sz="1100" dirty="0"/>
          </a:p>
          <a:p>
            <a:pPr algn="l">
              <a:lnSpc>
                <a:spcPct val="100000"/>
              </a:lnSpc>
              <a:spcBef>
                <a:spcPts val="0"/>
              </a:spcBef>
              <a:spcAft>
                <a:spcPts val="0"/>
              </a:spcAft>
              <a:buNone/>
            </a:pPr>
            <a:r>
              <a:rPr lang="en-US" sz="1100" dirty="0" b="1">
                <a:solidFill>
                  <a:srgbClr val="569CD6"/>
                </a:solidFill>
                <a:latin typeface="Courier New"/>
                <a:cs typeface="Courier New"/>
              </a:rPr>
              <a:t>SELECT</a:t>
            </a:r>
            <a:r>
              <a:rPr lang="en-US" sz="1100" dirty="0">
                <a:solidFill>
                  <a:srgbClr val="D4D4D4"/>
                </a:solidFill>
                <a:latin typeface="Courier New"/>
                <a:cs typeface="Courier New"/>
              </a:rPr>
              <a:t> </a:t>
            </a:r>
            <a:r>
              <a:rPr lang="en-US" sz="1100" dirty="0">
                <a:solidFill>
                  <a:srgbClr val="D4D4D4"/>
                </a:solidFill>
                <a:latin typeface="Courier New"/>
                <a:cs typeface="Courier New"/>
              </a:rPr>
              <a:t>SYSTEM$CANCEL_QUERY</a:t>
            </a:r>
            <a:r>
              <a:rPr lang="en-US" sz="1100" dirty="0">
                <a:solidFill>
                  <a:srgbClr val="D4D4D4"/>
                </a:solidFill>
                <a:latin typeface="Courier New"/>
                <a:cs typeface="Courier New"/>
              </a:rPr>
              <a:t>(</a:t>
            </a:r>
            <a:r>
              <a:rPr lang="en-US" sz="1100" dirty="0">
                <a:solidFill>
                  <a:srgbClr val="CE9178"/>
                </a:solidFill>
                <a:latin typeface="Courier New"/>
                <a:cs typeface="Courier New"/>
              </a:rPr>
              <a:t>'&lt;query_id&gt;'</a:t>
            </a:r>
            <a:r>
              <a:rPr lang="en-US" sz="1100" dirty="0">
                <a:solidFill>
                  <a:srgbClr val="D4D4D4"/>
                </a:solidFill>
                <a:latin typeface="Courier New"/>
                <a:cs typeface="Courier New"/>
              </a:rPr>
              <a:t>)</a:t>
            </a:r>
            <a:r>
              <a:rPr lang="en-US" sz="1100" dirty="0">
                <a:solidFill>
                  <a:srgbClr val="D4D4D4"/>
                </a:solidFill>
                <a:latin typeface="Courier New"/>
                <a:cs typeface="Courier New"/>
              </a:rPr>
              <a: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Summary</a:t>
            </a:r>
            <a:endParaRPr lang="en-US" sz="2800" dirty="0"/>
          </a:p>
        </p:txBody>
      </p:sp>
      <p:sp>
        <p:nvSpPr>
          <p:cNvPr id="6" name="Shape 6"/>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7" name="Shape 7"/>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26 / 26</a:t>
            </a:r>
            <a:endParaRPr lang="en-US" sz="1000" dirty="0"/>
          </a:p>
        </p:txBody>
      </p:sp>
      <p:sp>
        <p:nvSpPr>
          <p:cNvPr id="8" name="Shape 8"/>
          <p:cNvSpPr/>
          <p:nvPr/>
        </p:nvSpPr>
        <p:spPr>
          <a:xfrm>
            <a:off x="548640" y="1325880"/>
            <a:ext cx="685800" cy="685800"/>
          </a:xfrm>
          <a:prstGeom prst="ellipse">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2200" dirty="0" b="1">
                <a:solidFill>
                  <a:srgbClr val="FFFFFF"/>
                </a:solidFill>
              </a:rPr>
              <a:t>✓</a:t>
            </a:r>
            <a:endParaRPr lang="en-US" sz="2200" dirty="0"/>
          </a:p>
        </p:txBody>
      </p:sp>
      <p:sp>
        <p:nvSpPr>
          <p:cNvPr id="9" name="Shape 9"/>
          <p:cNvSpPr/>
          <p:nvPr/>
        </p:nvSpPr>
        <p:spPr>
          <a:xfrm>
            <a:off x="1417320" y="1307592"/>
            <a:ext cx="6400800" cy="7772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700" dirty="0" b="1">
                <a:solidFill>
                  <a:srgbClr val="0B2545"/>
                </a:solidFill>
              </a:rPr>
              <a:t>Storage ≠ compute</a:t>
            </a:r>
            <a:endParaRPr lang="en-US" sz="1700" dirty="0"/>
          </a:p>
          <a:p>
            <a:pPr algn="l">
              <a:lnSpc>
                <a:spcPct val="100000"/>
              </a:lnSpc>
              <a:spcBef>
                <a:spcPts val="200"/>
              </a:spcBef>
              <a:spcAft>
                <a:spcPts val="0"/>
              </a:spcAft>
              <a:buNone/>
            </a:pPr>
            <a:r>
              <a:rPr lang="en-US" sz="1300" dirty="0">
                <a:solidFill>
                  <a:srgbClr val="1F2937"/>
                </a:solidFill>
              </a:rPr>
              <a:t>Data lives once; warehouses are independent, elastic compute</a:t>
            </a:r>
            <a:endParaRPr lang="en-US" sz="1300" dirty="0"/>
          </a:p>
        </p:txBody>
      </p:sp>
      <p:sp>
        <p:nvSpPr>
          <p:cNvPr id="10" name="Shape 10"/>
          <p:cNvSpPr/>
          <p:nvPr/>
        </p:nvSpPr>
        <p:spPr>
          <a:xfrm>
            <a:off x="548640" y="2194560"/>
            <a:ext cx="685800" cy="685800"/>
          </a:xfrm>
          <a:prstGeom prst="ellipse">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2200" dirty="0" b="1">
                <a:solidFill>
                  <a:srgbClr val="FFFFFF"/>
                </a:solidFill>
              </a:rPr>
              <a:t>✓</a:t>
            </a:r>
            <a:endParaRPr lang="en-US" sz="2200" dirty="0"/>
          </a:p>
        </p:txBody>
      </p:sp>
      <p:sp>
        <p:nvSpPr>
          <p:cNvPr id="11" name="Shape 11"/>
          <p:cNvSpPr/>
          <p:nvPr/>
        </p:nvSpPr>
        <p:spPr>
          <a:xfrm>
            <a:off x="1417320" y="2176272"/>
            <a:ext cx="6400800" cy="7772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700" dirty="0" b="1">
                <a:solidFill>
                  <a:srgbClr val="0B2545"/>
                </a:solidFill>
              </a:rPr>
              <a:t>Context is everything</a:t>
            </a:r>
            <a:endParaRPr lang="en-US" sz="1700" dirty="0"/>
          </a:p>
          <a:p>
            <a:pPr algn="l">
              <a:lnSpc>
                <a:spcPct val="100000"/>
              </a:lnSpc>
              <a:spcBef>
                <a:spcPts val="200"/>
              </a:spcBef>
              <a:spcAft>
                <a:spcPts val="0"/>
              </a:spcAft>
              <a:buNone/>
            </a:pPr>
            <a:r>
              <a:rPr lang="en-US" sz="1300" dirty="0">
                <a:solidFill>
                  <a:srgbClr val="1F2937"/>
                </a:solidFill>
              </a:rPr>
              <a:t>Role + warehouse + database.schema decide what you can do</a:t>
            </a:r>
            <a:endParaRPr lang="en-US" sz="1300" dirty="0"/>
          </a:p>
        </p:txBody>
      </p:sp>
      <p:sp>
        <p:nvSpPr>
          <p:cNvPr id="12" name="Shape 12"/>
          <p:cNvSpPr/>
          <p:nvPr/>
        </p:nvSpPr>
        <p:spPr>
          <a:xfrm>
            <a:off x="548640" y="3063240"/>
            <a:ext cx="685800" cy="685800"/>
          </a:xfrm>
          <a:prstGeom prst="ellipse">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2200" dirty="0" b="1">
                <a:solidFill>
                  <a:srgbClr val="FFFFFF"/>
                </a:solidFill>
              </a:rPr>
              <a:t>✓</a:t>
            </a:r>
            <a:endParaRPr lang="en-US" sz="2200" dirty="0"/>
          </a:p>
        </p:txBody>
      </p:sp>
      <p:sp>
        <p:nvSpPr>
          <p:cNvPr id="13" name="Shape 13"/>
          <p:cNvSpPr/>
          <p:nvPr/>
        </p:nvSpPr>
        <p:spPr>
          <a:xfrm>
            <a:off x="1417320" y="3044952"/>
            <a:ext cx="6400800" cy="7772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700" dirty="0" b="1">
                <a:solidFill>
                  <a:srgbClr val="0B2545"/>
                </a:solidFill>
              </a:rPr>
              <a:t>Load through stages</a:t>
            </a:r>
            <a:endParaRPr lang="en-US" sz="1700" dirty="0"/>
          </a:p>
          <a:p>
            <a:pPr algn="l">
              <a:lnSpc>
                <a:spcPct val="100000"/>
              </a:lnSpc>
              <a:spcBef>
                <a:spcPts val="200"/>
              </a:spcBef>
              <a:spcAft>
                <a:spcPts val="0"/>
              </a:spcAft>
              <a:buNone/>
            </a:pPr>
            <a:r>
              <a:rPr lang="en-US" sz="1300" dirty="0">
                <a:solidFill>
                  <a:srgbClr val="1F2937"/>
                </a:solidFill>
              </a:rPr>
              <a:t>Files → stage → COPY INTO; Snowpipe for continuous loads</a:t>
            </a:r>
            <a:endParaRPr lang="en-US" sz="1300" dirty="0"/>
          </a:p>
        </p:txBody>
      </p:sp>
      <p:sp>
        <p:nvSpPr>
          <p:cNvPr id="14" name="Shape 14"/>
          <p:cNvSpPr/>
          <p:nvPr/>
        </p:nvSpPr>
        <p:spPr>
          <a:xfrm>
            <a:off x="548640" y="3931920"/>
            <a:ext cx="685800" cy="685800"/>
          </a:xfrm>
          <a:prstGeom prst="ellipse">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2200" dirty="0" b="1">
                <a:solidFill>
                  <a:srgbClr val="FFFFFF"/>
                </a:solidFill>
              </a:rPr>
              <a:t>✓</a:t>
            </a:r>
            <a:endParaRPr lang="en-US" sz="2200" dirty="0"/>
          </a:p>
        </p:txBody>
      </p:sp>
      <p:sp>
        <p:nvSpPr>
          <p:cNvPr id="15" name="Shape 15"/>
          <p:cNvSpPr/>
          <p:nvPr/>
        </p:nvSpPr>
        <p:spPr>
          <a:xfrm>
            <a:off x="1417320" y="3913632"/>
            <a:ext cx="6400800" cy="7772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700" dirty="0" b="1">
                <a:solidFill>
                  <a:srgbClr val="0B2545"/>
                </a:solidFill>
              </a:rPr>
              <a:t>Secure with RBAC</a:t>
            </a:r>
            <a:endParaRPr lang="en-US" sz="1700" dirty="0"/>
          </a:p>
          <a:p>
            <a:pPr algn="l">
              <a:lnSpc>
                <a:spcPct val="100000"/>
              </a:lnSpc>
              <a:spcBef>
                <a:spcPts val="200"/>
              </a:spcBef>
              <a:spcAft>
                <a:spcPts val="0"/>
              </a:spcAft>
              <a:buNone/>
            </a:pPr>
            <a:r>
              <a:rPr lang="en-US" sz="1300" dirty="0">
                <a:solidFill>
                  <a:srgbClr val="1F2937"/>
                </a:solidFill>
              </a:rPr>
              <a:t>Grant privileges to roles; USAGE up the chain + SELECT</a:t>
            </a:r>
            <a:endParaRPr lang="en-US" sz="1300" dirty="0"/>
          </a:p>
        </p:txBody>
      </p:sp>
      <p:sp>
        <p:nvSpPr>
          <p:cNvPr id="16" name="Shape 16"/>
          <p:cNvSpPr/>
          <p:nvPr/>
        </p:nvSpPr>
        <p:spPr>
          <a:xfrm>
            <a:off x="548640" y="4800600"/>
            <a:ext cx="685800" cy="685800"/>
          </a:xfrm>
          <a:prstGeom prst="ellipse">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2200" dirty="0" b="1">
                <a:solidFill>
                  <a:srgbClr val="FFFFFF"/>
                </a:solidFill>
              </a:rPr>
              <a:t>✓</a:t>
            </a:r>
            <a:endParaRPr lang="en-US" sz="2200" dirty="0"/>
          </a:p>
        </p:txBody>
      </p:sp>
      <p:sp>
        <p:nvSpPr>
          <p:cNvPr id="17" name="Shape 17"/>
          <p:cNvSpPr/>
          <p:nvPr/>
        </p:nvSpPr>
        <p:spPr>
          <a:xfrm>
            <a:off x="1417320" y="4782312"/>
            <a:ext cx="6400800" cy="7772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700" dirty="0" b="1">
                <a:solidFill>
                  <a:srgbClr val="0B2545"/>
                </a:solidFill>
              </a:rPr>
              <a:t>Guard the cost</a:t>
            </a:r>
            <a:endParaRPr lang="en-US" sz="1700" dirty="0"/>
          </a:p>
          <a:p>
            <a:pPr algn="l">
              <a:lnSpc>
                <a:spcPct val="100000"/>
              </a:lnSpc>
              <a:spcBef>
                <a:spcPts val="200"/>
              </a:spcBef>
              <a:spcAft>
                <a:spcPts val="0"/>
              </a:spcAft>
              <a:buNone/>
            </a:pPr>
            <a:r>
              <a:rPr lang="en-US" sz="1300" dirty="0">
                <a:solidFill>
                  <a:srgbClr val="1F2937"/>
                </a:solidFill>
              </a:rPr>
              <a:t>Auto-suspend, right-size, resource monitors</a:t>
            </a:r>
            <a:endParaRPr lang="en-US" sz="1300" dirty="0"/>
          </a:p>
        </p:txBody>
      </p:sp>
      <p:sp>
        <p:nvSpPr>
          <p:cNvPr id="18" name="Shape 18"/>
          <p:cNvSpPr/>
          <p:nvPr/>
        </p:nvSpPr>
        <p:spPr>
          <a:xfrm>
            <a:off x="8138160" y="1325880"/>
            <a:ext cx="3520440" cy="4251960"/>
          </a:xfrm>
          <a:prstGeom prst="roundRect">
            <a:avLst>
              <a:gd name="adj" fmla="val 6000"/>
            </a:avLst>
          </a:prstGeom>
          <a:solidFill>
            <a:srgbClr val="0B2545"/>
          </a:solidFill>
          <a:ln>
            <a:noFill/>
          </a:ln>
        </p:spPr>
        <p:txBody>
          <a:bodyPr wrap="square" lIns="91440" tIns="91440" rIns="91440" bIns="91440" anchor="t" rtlCol="0">
            <a:noAutofit/>
          </a:bodyPr>
          <a:lstStyle/>
          <a:p>
            <a:endParaRPr lang="en-US" dirty="0"/>
          </a:p>
        </p:txBody>
      </p:sp>
      <p:sp>
        <p:nvSpPr>
          <p:cNvPr id="19" name="Shape 19"/>
          <p:cNvSpPr/>
          <p:nvPr/>
        </p:nvSpPr>
        <p:spPr>
          <a:xfrm>
            <a:off x="8321040" y="1463040"/>
            <a:ext cx="3154680" cy="4023360"/>
          </a:xfrm>
          <a:prstGeom prst="rect">
            <a:avLst/>
          </a:prstGeom>
          <a:noFill/>
          <a:ln>
            <a:noFill/>
          </a:ln>
        </p:spPr>
        <p:txBody>
          <a:bodyPr wrap="square" lIns="45720" tIns="45720" rIns="45720" bIns="45720" anchor="t" rtlCol="0">
            <a:noAutofit/>
          </a:bodyPr>
          <a:lstStyle/>
          <a:p>
            <a:pPr algn="ctr">
              <a:lnSpc>
                <a:spcPct val="100000"/>
              </a:lnSpc>
              <a:spcBef>
                <a:spcPts val="4000"/>
              </a:spcBef>
              <a:spcAft>
                <a:spcPts val="0"/>
              </a:spcAft>
              <a:buNone/>
            </a:pPr>
            <a:r>
              <a:rPr lang="en-US" sz="3000" dirty="0" b="1">
                <a:solidFill>
                  <a:srgbClr val="FFFFFF"/>
                </a:solidFill>
              </a:rPr>
              <a:t>Questions?</a:t>
            </a:r>
            <a:endParaRPr lang="en-US" sz="3000" dirty="0"/>
          </a:p>
          <a:p>
            <a:pPr algn="ctr">
              <a:lnSpc>
                <a:spcPct val="100000"/>
              </a:lnSpc>
              <a:spcBef>
                <a:spcPts val="2000"/>
              </a:spcBef>
              <a:spcAft>
                <a:spcPts val="0"/>
              </a:spcAft>
              <a:buNone/>
            </a:pPr>
            <a:r>
              <a:rPr lang="en-US" sz="1400" dirty="0">
                <a:solidFill>
                  <a:srgbClr val="BFE6F7"/>
                </a:solidFill>
              </a:rPr>
              <a:t>Try it: run Examples 1–7 on a trial account</a:t>
            </a:r>
            <a:endParaRPr lang="en-US" sz="1400" dirty="0"/>
          </a:p>
          <a:p>
            <a:pPr algn="ctr">
              <a:lnSpc>
                <a:spcPct val="100000"/>
              </a:lnSpc>
              <a:spcBef>
                <a:spcPts val="1000"/>
              </a:spcBef>
              <a:spcAft>
                <a:spcPts val="0"/>
              </a:spcAft>
              <a:buNone/>
            </a:pPr>
            <a:r>
              <a:rPr lang="en-US" sz="1200" dirty="0">
                <a:solidFill>
                  <a:srgbClr val="8FB3C9"/>
                </a:solidFill>
              </a:rPr>
              <a:t>≈ 1 hour · X-Small warehouse</a:t>
            </a:r>
            <a:endParaRPr lang="en-US" sz="1200" dirty="0"/>
          </a:p>
        </p:txBody>
      </p:sp>
      <p:sp>
        <p:nvSpPr>
          <p:cNvPr id="20" name="Shape 20"/>
          <p:cNvSpPr/>
          <p:nvPr/>
        </p:nvSpPr>
        <p:spPr>
          <a:xfrm>
            <a:off x="548640" y="5806440"/>
            <a:ext cx="10972800" cy="36576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100" dirty="0">
                <a:solidFill>
                  <a:srgbClr val="6B7280"/>
                </a:solidFill>
              </a:rPr>
              <a:t>Source: docs.snowflake.com/en/user-guide-getting-started</a:t>
            </a:r>
            <a:endParaRPr lang="en-US" sz="1100" dirty="0"/>
          </a:p>
        </p:txBody>
      </p:sp>
    </p:spTree>
  </p:cSld>
  <p:clrMapOvr>
    <a:masterClrMapping/>
  </p:clrMapOvr>
</p:sld>
</file>

<file path=ppt/theme/theme1.xml><?xml version="1.0" encoding="utf-8"?>
<a:theme xmlns:a="http://schemas.openxmlformats.org/drawingml/2006/main" name="Snowflake">
  <a:themeElements>
    <a:clrScheme name="Snowflake">
      <a:dk1>
        <a:srgbClr val="1F2937"/>
      </a:dk1>
      <a:lt1>
        <a:srgbClr val="FFFFFF"/>
      </a:lt1>
      <a:dk2>
        <a:srgbClr val="0B2545"/>
      </a:dk2>
      <a:lt2>
        <a:srgbClr val="EAF6FC"/>
      </a:lt2>
      <a:accent1>
        <a:srgbClr val="29B5E8"/>
      </a:accent1>
      <a:accent2>
        <a:srgbClr val="11567F"/>
      </a:accent2>
      <a:accent3>
        <a:srgbClr val="2E9E6A"/>
      </a:accent3>
      <a:accent4>
        <a:srgbClr val="F59E0B"/>
      </a:accent4>
      <a:accent5>
        <a:srgbClr val="1B7FB5"/>
      </a:accent5>
      <a:accent6>
        <a:srgbClr val="DC2626"/>
      </a:accent6>
      <a:hlink>
        <a:srgbClr val="1B7FB5"/>
      </a:hlink>
      <a:folHlink>
        <a:srgbClr val="6B8EAD"/>
      </a:folHlink>
    </a:clrScheme>
    <a:fontScheme name="Snowflake">
      <a:majorFont>
        <a:latin typeface="Calibri"/>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Snowflake">
  <a:themeElements>
    <a:clrScheme name="Snowflake">
      <a:dk1>
        <a:srgbClr val="1F2937"/>
      </a:dk1>
      <a:lt1>
        <a:srgbClr val="FFFFFF"/>
      </a:lt1>
      <a:dk2>
        <a:srgbClr val="0B2545"/>
      </a:dk2>
      <a:lt2>
        <a:srgbClr val="EAF6FC"/>
      </a:lt2>
      <a:accent1>
        <a:srgbClr val="29B5E8"/>
      </a:accent1>
      <a:accent2>
        <a:srgbClr val="11567F"/>
      </a:accent2>
      <a:accent3>
        <a:srgbClr val="2E9E6A"/>
      </a:accent3>
      <a:accent4>
        <a:srgbClr val="F59E0B"/>
      </a:accent4>
      <a:accent5>
        <a:srgbClr val="1B7FB5"/>
      </a:accent5>
      <a:accent6>
        <a:srgbClr val="DC2626"/>
      </a:accent6>
      <a:hlink>
        <a:srgbClr val="1B7FB5"/>
      </a:hlink>
      <a:folHlink>
        <a:srgbClr val="6B8EAD"/>
      </a:folHlink>
    </a:clrScheme>
    <a:fontScheme name="Snowflake">
      <a:majorFont>
        <a:latin typeface="Calibri"/>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26</Slides>
  <Notes>26</Notes>
</Properties>
</file>

<file path=docProps/core.xml><?xml version="1.0" encoding="utf-8"?>
<cp:coreProperties xmlns:cp="http://schemas.openxmlformats.org/package/2006/metadata/core-properties" xmlns:dc="http://purl.org/dc/elements/1.1/" xmlns:dcterms="http://purl.org/dc/terms/" xmlns:xsi="http://www.w3.org/2001/XMLSchema-instance">
  <dc:title>Getting Started with Snowflake</dc:title>
  <dc:creator>MegaByte</dc:creator>
  <dcterms:created xsi:type="dcterms:W3CDTF">2026-09-23T14:58:14Z</dcterms:created>
  <dcterms:modified xsi:type="dcterms:W3CDTF">2026-09-23T14:58:14Z</dcterms:modified>
</cp:coreProperties>
</file>